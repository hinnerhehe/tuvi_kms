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56" r:id="rId2"/>
    <p:sldId id="278" r:id="rId3"/>
    <p:sldId id="279" r:id="rId4"/>
    <p:sldId id="404" r:id="rId5"/>
    <p:sldId id="449" r:id="rId6"/>
    <p:sldId id="409" r:id="rId7"/>
    <p:sldId id="441" r:id="rId8"/>
    <p:sldId id="410" r:id="rId9"/>
    <p:sldId id="411" r:id="rId10"/>
    <p:sldId id="442" r:id="rId11"/>
    <p:sldId id="412" r:id="rId12"/>
    <p:sldId id="413" r:id="rId13"/>
    <p:sldId id="414" r:id="rId14"/>
    <p:sldId id="415" r:id="rId15"/>
    <p:sldId id="443" r:id="rId16"/>
    <p:sldId id="416" r:id="rId17"/>
    <p:sldId id="417" r:id="rId18"/>
    <p:sldId id="418" r:id="rId19"/>
    <p:sldId id="419" r:id="rId20"/>
    <p:sldId id="420" r:id="rId21"/>
    <p:sldId id="421" r:id="rId22"/>
    <p:sldId id="422" r:id="rId23"/>
    <p:sldId id="423" r:id="rId24"/>
    <p:sldId id="424" r:id="rId25"/>
    <p:sldId id="425" r:id="rId26"/>
    <p:sldId id="426" r:id="rId27"/>
    <p:sldId id="427" r:id="rId28"/>
    <p:sldId id="444" r:id="rId29"/>
    <p:sldId id="428" r:id="rId30"/>
    <p:sldId id="445" r:id="rId31"/>
    <p:sldId id="429" r:id="rId32"/>
    <p:sldId id="430" r:id="rId33"/>
    <p:sldId id="431" r:id="rId34"/>
    <p:sldId id="446" r:id="rId35"/>
    <p:sldId id="322" r:id="rId36"/>
    <p:sldId id="432" r:id="rId37"/>
    <p:sldId id="452" r:id="rId38"/>
    <p:sldId id="434" r:id="rId39"/>
    <p:sldId id="436" r:id="rId40"/>
    <p:sldId id="437" r:id="rId41"/>
    <p:sldId id="439" r:id="rId42"/>
    <p:sldId id="440" r:id="rId43"/>
    <p:sldId id="325" r:id="rId44"/>
    <p:sldId id="447" r:id="rId45"/>
    <p:sldId id="326" r:id="rId46"/>
    <p:sldId id="327" r:id="rId47"/>
    <p:sldId id="45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1108" autoAdjust="0"/>
    <p:restoredTop sz="86441" autoAdjust="0"/>
  </p:normalViewPr>
  <p:slideViewPr>
    <p:cSldViewPr snapToGrid="0">
      <p:cViewPr varScale="1">
        <p:scale>
          <a:sx n="88" d="100"/>
          <a:sy n="88" d="100"/>
        </p:scale>
        <p:origin x="216" y="72"/>
      </p:cViewPr>
      <p:guideLst/>
    </p:cSldViewPr>
  </p:slideViewPr>
  <p:outlineViewPr>
    <p:cViewPr>
      <p:scale>
        <a:sx n="33" d="100"/>
        <a:sy n="33" d="100"/>
      </p:scale>
      <p:origin x="0" y="-1843"/>
    </p:cViewPr>
  </p:outlin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138758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2197641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586852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3404232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2572907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2036281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1367088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1907527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423968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2786791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2825982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82279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1206459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2242920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1538377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823316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470918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2841367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007689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482423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2867331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3171875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2776104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3247838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404080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889317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265207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196095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3167905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2713358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2485082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6257306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098907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16411732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1701643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32105472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14217691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29021844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14985893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9905143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27799657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46</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408"/>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10886"/>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12</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Knowledge Continuity Management</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Knowledge Continuity Management Process</a:t>
            </a:r>
          </a:p>
          <a:p>
            <a:pPr marL="342900" indent="-342900" algn="just">
              <a:lnSpc>
                <a:spcPct val="150000"/>
              </a:lnSpc>
              <a:spcBef>
                <a:spcPts val="600"/>
              </a:spcBef>
              <a:buClr>
                <a:srgbClr val="973735"/>
              </a:buClr>
              <a:buSzPct val="50000"/>
              <a:buFont typeface="Wingdings" pitchFamily="2" charset="2"/>
              <a:buChar char="u"/>
              <a:defRPr/>
            </a:pPr>
            <a:r>
              <a:rPr lang="en-US" dirty="0"/>
              <a:t>A Three-Tiered Approach to Knowledge Continuity</a:t>
            </a:r>
          </a:p>
          <a:p>
            <a:pPr marL="342900" indent="-342900" algn="just">
              <a:lnSpc>
                <a:spcPct val="150000"/>
              </a:lnSpc>
              <a:spcBef>
                <a:spcPts val="600"/>
              </a:spcBef>
              <a:buClr>
                <a:srgbClr val="973735"/>
              </a:buClr>
              <a:buSzPct val="50000"/>
              <a:buFont typeface="Wingdings" pitchFamily="2" charset="2"/>
              <a:buChar char="u"/>
              <a:defRPr/>
            </a:pPr>
            <a:r>
              <a:rPr lang="en-US" dirty="0"/>
              <a:t>Intergenerational Knowledge Transfer</a:t>
            </a:r>
          </a:p>
          <a:p>
            <a:pPr marL="342900" indent="-342900" algn="just">
              <a:lnSpc>
                <a:spcPct val="150000"/>
              </a:lnSpc>
              <a:spcBef>
                <a:spcPts val="600"/>
              </a:spcBef>
              <a:buClr>
                <a:srgbClr val="973735"/>
              </a:buClr>
              <a:buSzPct val="50000"/>
              <a:buFont typeface="Wingdings" pitchFamily="2" charset="2"/>
              <a:buChar char="u"/>
              <a:defRPr/>
            </a:pPr>
            <a:r>
              <a:rPr lang="en-US" dirty="0"/>
              <a:t>Success Factors for Knowledge Continuity Management</a:t>
            </a:r>
          </a:p>
          <a:p>
            <a:pPr marL="342900" indent="-342900" algn="just">
              <a:lnSpc>
                <a:spcPct val="150000"/>
              </a:lnSpc>
              <a:spcBef>
                <a:spcPts val="600"/>
              </a:spcBef>
              <a:buClr>
                <a:srgbClr val="973735"/>
              </a:buClr>
              <a:buSzPct val="50000"/>
              <a:buFont typeface="Wingdings" pitchFamily="2" charset="2"/>
              <a:buChar char="u"/>
              <a:defRPr/>
            </a:pPr>
            <a:r>
              <a:rPr lang="en-US" dirty="0"/>
              <a:t>Challenges for Knowledge Continuity Management</a:t>
            </a:r>
          </a:p>
          <a:p>
            <a:pPr marL="342900" indent="-342900" algn="just">
              <a:lnSpc>
                <a:spcPct val="150000"/>
              </a:lnSpc>
              <a:spcBef>
                <a:spcPts val="600"/>
              </a:spcBef>
              <a:buClr>
                <a:srgbClr val="973735"/>
              </a:buClr>
              <a:buSzPct val="50000"/>
              <a:buFont typeface="Wingdings" pitchFamily="2" charset="2"/>
              <a:buChar char="u"/>
              <a:defRPr/>
            </a:pPr>
            <a:r>
              <a:rPr lang="en-US" dirty="0"/>
              <a:t>Concluding Thought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664593"/>
            <a:ext cx="11804073"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What do I need to know about KM?</a:t>
            </a:r>
          </a:p>
          <a:p>
            <a:pPr marL="800100" lvl="1" indent="-342900" algn="just">
              <a:lnSpc>
                <a:spcPct val="100000"/>
              </a:lnSpc>
              <a:spcBef>
                <a:spcPts val="2400"/>
              </a:spcBef>
              <a:buClr>
                <a:srgbClr val="973735"/>
              </a:buClr>
              <a:buSzPct val="50000"/>
              <a:buFont typeface="Wingdings" pitchFamily="2" charset="2"/>
              <a:buChar char="u"/>
              <a:defRPr/>
            </a:pPr>
            <a:r>
              <a:rPr lang="en-US" sz="2600" dirty="0"/>
              <a:t>What do I need to know about KCM? </a:t>
            </a:r>
          </a:p>
          <a:p>
            <a:pPr marL="800100" lvl="1" indent="-342900" algn="just">
              <a:lnSpc>
                <a:spcPct val="100000"/>
              </a:lnSpc>
              <a:spcBef>
                <a:spcPts val="2400"/>
              </a:spcBef>
              <a:buClr>
                <a:srgbClr val="973735"/>
              </a:buClr>
              <a:buSzPct val="50000"/>
              <a:buFont typeface="Wingdings" pitchFamily="2" charset="2"/>
              <a:buChar char="u"/>
              <a:defRPr/>
            </a:pPr>
            <a:r>
              <a:rPr lang="en-US" sz="2600" dirty="0"/>
              <a:t>What do I need to know about KCM?</a:t>
            </a:r>
          </a:p>
          <a:p>
            <a:pPr marL="800100" lvl="1" indent="-342900" algn="just">
              <a:lnSpc>
                <a:spcPct val="100000"/>
              </a:lnSpc>
              <a:spcBef>
                <a:spcPts val="2400"/>
              </a:spcBef>
              <a:buClr>
                <a:srgbClr val="973735"/>
              </a:buClr>
              <a:buSzPct val="50000"/>
              <a:buFont typeface="Wingdings" pitchFamily="2" charset="2"/>
              <a:buChar char="u"/>
              <a:defRPr/>
            </a:pPr>
            <a:r>
              <a:rPr lang="en-US" sz="2600" dirty="0"/>
              <a:t> What are some steps I can take tomorrow to What are some steps I can take tomorrow to contribute to KM and KCM in my contribute to KM and KCM in my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868727"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Where do I start? </a:t>
            </a:r>
          </a:p>
          <a:p>
            <a:pPr marL="800100" lvl="1" indent="-342900" algn="just">
              <a:lnSpc>
                <a:spcPct val="100000"/>
              </a:lnSpc>
              <a:spcBef>
                <a:spcPts val="1200"/>
              </a:spcBef>
              <a:buClr>
                <a:srgbClr val="973735"/>
              </a:buClr>
              <a:buSzPct val="50000"/>
              <a:buFont typeface="Wingdings" pitchFamily="2" charset="2"/>
              <a:buChar char="u"/>
              <a:defRPr/>
            </a:pPr>
            <a:r>
              <a:rPr lang="en-US" sz="2600" dirty="0"/>
              <a:t>Define key terms such as KM, Web 2.0 Define key terms such as KM, Web 2.0 -- for your organization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Use concept analysis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888701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Where do I start?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graphicFrame>
        <p:nvGraphicFramePr>
          <p:cNvPr id="2" name="Table 4">
            <a:extLst>
              <a:ext uri="{FF2B5EF4-FFF2-40B4-BE49-F238E27FC236}">
                <a16:creationId xmlns:a16="http://schemas.microsoft.com/office/drawing/2014/main" id="{B19E5B86-D52A-848E-5E6B-A83D7D84F2EA}"/>
              </a:ext>
            </a:extLst>
          </p:cNvPr>
          <p:cNvGraphicFramePr>
            <a:graphicFrameLocks noGrp="1"/>
          </p:cNvGraphicFramePr>
          <p:nvPr>
            <p:extLst>
              <p:ext uri="{D42A27DB-BD31-4B8C-83A1-F6EECF244321}">
                <p14:modId xmlns:p14="http://schemas.microsoft.com/office/powerpoint/2010/main" val="4273359705"/>
              </p:ext>
            </p:extLst>
          </p:nvPr>
        </p:nvGraphicFramePr>
        <p:xfrm>
          <a:off x="1922868" y="2709767"/>
          <a:ext cx="9220199" cy="3127974"/>
        </p:xfrm>
        <a:graphic>
          <a:graphicData uri="http://schemas.openxmlformats.org/drawingml/2006/table">
            <a:tbl>
              <a:tblPr firstRow="1" bandRow="1">
                <a:tableStyleId>{21E4AEA4-8DFA-4A89-87EB-49C32662AFE0}</a:tableStyleId>
              </a:tblPr>
              <a:tblGrid>
                <a:gridCol w="4465768">
                  <a:extLst>
                    <a:ext uri="{9D8B030D-6E8A-4147-A177-3AD203B41FA5}">
                      <a16:colId xmlns:a16="http://schemas.microsoft.com/office/drawing/2014/main" val="136368771"/>
                    </a:ext>
                  </a:extLst>
                </a:gridCol>
                <a:gridCol w="4754431">
                  <a:extLst>
                    <a:ext uri="{9D8B030D-6E8A-4147-A177-3AD203B41FA5}">
                      <a16:colId xmlns:a16="http://schemas.microsoft.com/office/drawing/2014/main" val="444670635"/>
                    </a:ext>
                  </a:extLst>
                </a:gridCol>
              </a:tblGrid>
              <a:tr h="350080">
                <a:tc>
                  <a:txBody>
                    <a:bodyPr/>
                    <a:lstStyle/>
                    <a:p>
                      <a:r>
                        <a:rPr lang="en-US" sz="2400" dirty="0"/>
                        <a:t>List some examples </a:t>
                      </a:r>
                    </a:p>
                  </a:txBody>
                  <a:tcPr/>
                </a:tc>
                <a:tc>
                  <a:txBody>
                    <a:bodyPr/>
                    <a:lstStyle/>
                    <a:p>
                      <a:endParaRPr lang="en-US" sz="2400" dirty="0"/>
                    </a:p>
                  </a:txBody>
                  <a:tcPr/>
                </a:tc>
                <a:extLst>
                  <a:ext uri="{0D108BD9-81ED-4DB2-BD59-A6C34878D82A}">
                    <a16:rowId xmlns:a16="http://schemas.microsoft.com/office/drawing/2014/main" val="2328591756"/>
                  </a:ext>
                </a:extLst>
              </a:tr>
              <a:tr h="600924">
                <a:tc>
                  <a:txBody>
                    <a:bodyPr/>
                    <a:lstStyle/>
                    <a:p>
                      <a:r>
                        <a:rPr lang="en-US" sz="2400" dirty="0"/>
                        <a:t>-Tacit &amp; explicit knowledge</a:t>
                      </a:r>
                    </a:p>
                  </a:txBody>
                  <a:tcPr/>
                </a:tc>
                <a:tc>
                  <a:txBody>
                    <a:bodyPr/>
                    <a:lstStyle/>
                    <a:p>
                      <a:r>
                        <a:rPr lang="en-US" sz="2400" dirty="0"/>
                        <a:t>Found in people &amp; documents</a:t>
                      </a:r>
                    </a:p>
                  </a:txBody>
                  <a:tcPr/>
                </a:tc>
                <a:extLst>
                  <a:ext uri="{0D108BD9-81ED-4DB2-BD59-A6C34878D82A}">
                    <a16:rowId xmlns:a16="http://schemas.microsoft.com/office/drawing/2014/main" val="941927498"/>
                  </a:ext>
                </a:extLst>
              </a:tr>
              <a:tr h="600924">
                <a:tc>
                  <a:txBody>
                    <a:bodyPr/>
                    <a:lstStyle/>
                    <a:p>
                      <a:r>
                        <a:rPr lang="en-US" sz="2400" dirty="0"/>
                        <a:t>List some non-examples</a:t>
                      </a:r>
                    </a:p>
                  </a:txBody>
                  <a:tcPr/>
                </a:tc>
                <a:tc>
                  <a:txBody>
                    <a:bodyPr/>
                    <a:lstStyle/>
                    <a:p>
                      <a:r>
                        <a:rPr lang="en-US" sz="2400" dirty="0"/>
                        <a:t>Database, website, archive</a:t>
                      </a:r>
                    </a:p>
                  </a:txBody>
                  <a:tcPr/>
                </a:tc>
                <a:extLst>
                  <a:ext uri="{0D108BD9-81ED-4DB2-BD59-A6C34878D82A}">
                    <a16:rowId xmlns:a16="http://schemas.microsoft.com/office/drawing/2014/main" val="215531029"/>
                  </a:ext>
                </a:extLst>
              </a:tr>
              <a:tr h="868002">
                <a:tc>
                  <a:txBody>
                    <a:bodyPr/>
                    <a:lstStyle/>
                    <a:p>
                      <a:r>
                        <a:rPr lang="en-US" sz="2400" dirty="0"/>
                        <a:t>How do they differ? List these attributes</a:t>
                      </a:r>
                    </a:p>
                  </a:txBody>
                  <a:tcPr/>
                </a:tc>
                <a:tc>
                  <a:txBody>
                    <a:bodyPr/>
                    <a:lstStyle/>
                    <a:p>
                      <a:r>
                        <a:rPr lang="en-US" sz="2400" dirty="0"/>
                        <a:t> Content is experience-based Purpose is to learn form the past</a:t>
                      </a:r>
                      <a:endParaRPr lang="en-US" sz="2400" u="sng" dirty="0"/>
                    </a:p>
                  </a:txBody>
                  <a:tcPr/>
                </a:tc>
                <a:extLst>
                  <a:ext uri="{0D108BD9-81ED-4DB2-BD59-A6C34878D82A}">
                    <a16:rowId xmlns:a16="http://schemas.microsoft.com/office/drawing/2014/main" val="2125808805"/>
                  </a:ext>
                </a:extLst>
              </a:tr>
              <a:tr h="600924">
                <a:tc>
                  <a:txBody>
                    <a:bodyPr/>
                    <a:lstStyle/>
                    <a:p>
                      <a:r>
                        <a:rPr lang="en-US" sz="2400" dirty="0"/>
                        <a:t>“Formula” to define your term</a:t>
                      </a:r>
                    </a:p>
                  </a:txBody>
                  <a:tcPr/>
                </a:tc>
                <a:tc>
                  <a:txBody>
                    <a:bodyPr/>
                    <a:lstStyle/>
                    <a:p>
                      <a:r>
                        <a:rPr lang="en-US" sz="2400" dirty="0"/>
                        <a:t>Key attributes in a good definition</a:t>
                      </a:r>
                    </a:p>
                  </a:txBody>
                  <a:tcPr/>
                </a:tc>
                <a:extLst>
                  <a:ext uri="{0D108BD9-81ED-4DB2-BD59-A6C34878D82A}">
                    <a16:rowId xmlns:a16="http://schemas.microsoft.com/office/drawing/2014/main" val="1987406665"/>
                  </a:ext>
                </a:extLst>
              </a:tr>
            </a:tbl>
          </a:graphicData>
        </a:graphic>
      </p:graphicFrame>
    </p:spTree>
    <p:extLst>
      <p:ext uri="{BB962C8B-B14F-4D97-AF65-F5344CB8AC3E}">
        <p14:creationId xmlns:p14="http://schemas.microsoft.com/office/powerpoint/2010/main" val="896260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934990"/>
          </a:xfrm>
        </p:spPr>
        <p:txBody>
          <a:bodyPr>
            <a:normAutofit/>
          </a:bodyPr>
          <a:lstStyle/>
          <a:p>
            <a:pPr marL="0" indent="0" algn="just">
              <a:lnSpc>
                <a:spcPct val="100000"/>
              </a:lnSpc>
              <a:spcBef>
                <a:spcPts val="2400"/>
              </a:spcBef>
              <a:buClr>
                <a:srgbClr val="973735"/>
              </a:buClr>
              <a:buSzPct val="50000"/>
              <a:buNone/>
              <a:defRPr/>
            </a:pPr>
            <a:r>
              <a:rPr lang="en-US" sz="2800" b="1" dirty="0"/>
              <a:t>The concept “digital library digital library”</a:t>
            </a:r>
          </a:p>
          <a:p>
            <a:pPr marL="342900" indent="-342900" algn="just">
              <a:lnSpc>
                <a:spcPct val="100000"/>
              </a:lnSpc>
              <a:spcBef>
                <a:spcPts val="2400"/>
              </a:spcBef>
              <a:buClr>
                <a:srgbClr val="973735"/>
              </a:buClr>
              <a:buSzPct val="50000"/>
              <a:buFont typeface="Wingdings" pitchFamily="2" charset="2"/>
              <a:buChar char="u"/>
              <a:defRPr/>
            </a:pPr>
            <a:r>
              <a:rPr lang="en-US" sz="2600" dirty="0"/>
              <a:t>Examples: Exploratorium (multimedia collection for science education), Perseus (collection of classical texts on the ancient world)</a:t>
            </a:r>
          </a:p>
          <a:p>
            <a:pPr marL="342900" indent="-342900" algn="just">
              <a:lnSpc>
                <a:spcPct val="100000"/>
              </a:lnSpc>
              <a:spcBef>
                <a:spcPts val="2400"/>
              </a:spcBef>
              <a:buClr>
                <a:srgbClr val="973735"/>
              </a:buClr>
              <a:buSzPct val="50000"/>
              <a:buFont typeface="Wingdings" pitchFamily="2" charset="2"/>
              <a:buChar char="u"/>
              <a:defRPr/>
            </a:pPr>
            <a:r>
              <a:rPr lang="en-US" sz="2600" dirty="0"/>
              <a:t>Non-examples: a website, webcast, database, traditional library that you have to visit in person, has physical books physical books</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397969" cy="709226"/>
          </a:xfrm>
        </p:spPr>
        <p:txBody>
          <a:bodyPr>
            <a:normAutofit/>
          </a:bodyPr>
          <a:lstStyle/>
          <a:p>
            <a:r>
              <a:rPr lang="en-US" sz="4000" b="1" dirty="0"/>
              <a:t>Knowledge Continuity Management Process</a:t>
            </a:r>
          </a:p>
        </p:txBody>
      </p:sp>
    </p:spTree>
    <p:extLst>
      <p:ext uri="{BB962C8B-B14F-4D97-AF65-F5344CB8AC3E}">
        <p14:creationId xmlns:p14="http://schemas.microsoft.com/office/powerpoint/2010/main" val="3814314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934990"/>
          </a:xfrm>
        </p:spPr>
        <p:txBody>
          <a:bodyPr>
            <a:normAutofit/>
          </a:bodyPr>
          <a:lstStyle/>
          <a:p>
            <a:pPr marL="0" indent="0" algn="just">
              <a:lnSpc>
                <a:spcPct val="100000"/>
              </a:lnSpc>
              <a:spcBef>
                <a:spcPts val="2400"/>
              </a:spcBef>
              <a:buClr>
                <a:srgbClr val="973735"/>
              </a:buClr>
              <a:buSzPct val="50000"/>
              <a:buNone/>
              <a:defRPr/>
            </a:pPr>
            <a:r>
              <a:rPr lang="en-US" sz="2800" b="1" dirty="0"/>
              <a:t>The concept “digital library digital library”</a:t>
            </a:r>
          </a:p>
          <a:p>
            <a:pPr marL="342900" indent="-342900" algn="just">
              <a:lnSpc>
                <a:spcPct val="100000"/>
              </a:lnSpc>
              <a:spcBef>
                <a:spcPts val="2400"/>
              </a:spcBef>
              <a:buClr>
                <a:srgbClr val="973735"/>
              </a:buClr>
              <a:buSzPct val="50000"/>
              <a:buFont typeface="Wingdings" pitchFamily="2" charset="2"/>
              <a:buChar char="u"/>
              <a:defRPr/>
            </a:pPr>
            <a:r>
              <a:rPr lang="en-US" sz="2600" dirty="0"/>
              <a:t>Key attributes (should be in a good definition):</a:t>
            </a:r>
          </a:p>
          <a:p>
            <a:pPr marL="800100" lvl="1" indent="-342900" algn="just">
              <a:lnSpc>
                <a:spcPct val="100000"/>
              </a:lnSpc>
              <a:spcBef>
                <a:spcPts val="2400"/>
              </a:spcBef>
              <a:buClr>
                <a:srgbClr val="973735"/>
              </a:buClr>
              <a:buSzPct val="50000"/>
              <a:buFont typeface="Wingdings" pitchFamily="2" charset="2"/>
              <a:buChar char="u"/>
              <a:defRPr/>
            </a:pPr>
            <a:r>
              <a:rPr lang="en-US" sz="2600" dirty="0"/>
              <a:t>An organization that provides resources that provides resources - people</a:t>
            </a:r>
          </a:p>
          <a:p>
            <a:pPr marL="800100" lvl="1" indent="-342900" algn="just">
              <a:lnSpc>
                <a:spcPct val="100000"/>
              </a:lnSpc>
              <a:spcBef>
                <a:spcPts val="2400"/>
              </a:spcBef>
              <a:buClr>
                <a:srgbClr val="973735"/>
              </a:buClr>
              <a:buSzPct val="50000"/>
              <a:buFont typeface="Wingdings" pitchFamily="2" charset="2"/>
              <a:buChar char="u"/>
              <a:defRPr/>
            </a:pPr>
            <a:r>
              <a:rPr lang="en-US" sz="2600" dirty="0"/>
              <a:t>A collection of digital objects of digital objects - content</a:t>
            </a:r>
          </a:p>
          <a:p>
            <a:pPr marL="800100" lvl="1" indent="-342900" algn="just">
              <a:lnSpc>
                <a:spcPct val="100000"/>
              </a:lnSpc>
              <a:spcBef>
                <a:spcPts val="2400"/>
              </a:spcBef>
              <a:buClr>
                <a:srgbClr val="973735"/>
              </a:buClr>
              <a:buSzPct val="50000"/>
              <a:buFont typeface="Wingdings" pitchFamily="2" charset="2"/>
              <a:buChar char="u"/>
              <a:defRPr/>
            </a:pPr>
            <a:r>
              <a:rPr lang="en-US" sz="2600" dirty="0"/>
              <a:t>A technology - container</a:t>
            </a:r>
          </a:p>
          <a:p>
            <a:pPr marL="800100" lvl="1" indent="-342900" algn="just">
              <a:lnSpc>
                <a:spcPct val="100000"/>
              </a:lnSpc>
              <a:spcBef>
                <a:spcPts val="2400"/>
              </a:spcBef>
              <a:buClr>
                <a:srgbClr val="973735"/>
              </a:buClr>
              <a:buSzPct val="50000"/>
              <a:buFont typeface="Wingdings" pitchFamily="2" charset="2"/>
              <a:buChar char="u"/>
              <a:defRPr/>
            </a:pPr>
            <a:r>
              <a:rPr lang="en-US" sz="2600" dirty="0"/>
              <a:t>Virtual - location - independent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397969" cy="709226"/>
          </a:xfrm>
        </p:spPr>
        <p:txBody>
          <a:bodyPr>
            <a:normAutofit/>
          </a:bodyPr>
          <a:lstStyle/>
          <a:p>
            <a:r>
              <a:rPr lang="en-US" sz="4000" b="1" dirty="0"/>
              <a:t>Knowledge Continuity Management Process</a:t>
            </a:r>
          </a:p>
        </p:txBody>
      </p:sp>
    </p:spTree>
    <p:extLst>
      <p:ext uri="{BB962C8B-B14F-4D97-AF65-F5344CB8AC3E}">
        <p14:creationId xmlns:p14="http://schemas.microsoft.com/office/powerpoint/2010/main" val="3126385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610109"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The concept “digital library digital library”</a:t>
            </a:r>
          </a:p>
          <a:p>
            <a:pPr marL="800100" lvl="1" indent="-342900" algn="just">
              <a:lnSpc>
                <a:spcPct val="100000"/>
              </a:lnSpc>
              <a:spcBef>
                <a:spcPts val="2400"/>
              </a:spcBef>
              <a:buClr>
                <a:srgbClr val="973735"/>
              </a:buClr>
              <a:buSzPct val="50000"/>
              <a:buFont typeface="Wingdings" pitchFamily="2" charset="2"/>
              <a:buChar char="u"/>
              <a:defRPr/>
            </a:pPr>
            <a:r>
              <a:rPr lang="en-US" sz="2600" dirty="0"/>
              <a:t>(1) an organized collection of digital information.</a:t>
            </a:r>
          </a:p>
          <a:p>
            <a:pPr marL="800100" lvl="1" indent="-342900" algn="just">
              <a:lnSpc>
                <a:spcPct val="100000"/>
              </a:lnSpc>
              <a:spcBef>
                <a:spcPts val="2400"/>
              </a:spcBef>
              <a:buClr>
                <a:srgbClr val="973735"/>
              </a:buClr>
              <a:buSzPct val="50000"/>
              <a:buFont typeface="Wingdings" pitchFamily="2" charset="2"/>
              <a:buChar char="u"/>
              <a:defRPr/>
            </a:pPr>
            <a:r>
              <a:rPr lang="en-US" sz="2600" dirty="0"/>
              <a:t>(2) supports creation, maintenance, management, access to and preservation of digital content</a:t>
            </a:r>
          </a:p>
          <a:p>
            <a:pPr marL="800100" lvl="1" indent="-342900" algn="just">
              <a:lnSpc>
                <a:spcPct val="100000"/>
              </a:lnSpc>
              <a:spcBef>
                <a:spcPts val="2400"/>
              </a:spcBef>
              <a:buClr>
                <a:srgbClr val="973735"/>
              </a:buClr>
              <a:buSzPct val="50000"/>
              <a:buFont typeface="Wingdings" pitchFamily="2" charset="2"/>
              <a:buChar char="u"/>
              <a:defRPr/>
            </a:pPr>
            <a:r>
              <a:rPr lang="en-US" sz="2600" dirty="0"/>
              <a:t>(3) information stored in digital format available remotely over a network</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598291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4"/>
            <a:ext cx="11971176" cy="4934990"/>
          </a:xfrm>
        </p:spPr>
        <p:txBody>
          <a:bodyPr>
            <a:normAutofit/>
          </a:bodyPr>
          <a:lstStyle/>
          <a:p>
            <a:pPr marL="0" indent="0" algn="just">
              <a:lnSpc>
                <a:spcPct val="100000"/>
              </a:lnSpc>
              <a:spcBef>
                <a:spcPts val="2400"/>
              </a:spcBef>
              <a:buClr>
                <a:srgbClr val="973735"/>
              </a:buClr>
              <a:buSzPct val="50000"/>
              <a:buNone/>
              <a:defRPr/>
            </a:pPr>
            <a:r>
              <a:rPr lang="en-US" b="1" dirty="0"/>
              <a:t>KCM – key issues key issues</a:t>
            </a:r>
          </a:p>
          <a:p>
            <a:pPr marL="342900" indent="-342900">
              <a:lnSpc>
                <a:spcPct val="100000"/>
              </a:lnSpc>
              <a:spcBef>
                <a:spcPts val="2400"/>
              </a:spcBef>
              <a:buClr>
                <a:srgbClr val="973735"/>
              </a:buClr>
              <a:buSzPct val="50000"/>
              <a:buFont typeface="Wingdings" pitchFamily="2" charset="2"/>
              <a:buChar char="u"/>
              <a:defRPr/>
            </a:pPr>
            <a:r>
              <a:rPr lang="en-US" sz="2600" dirty="0"/>
              <a:t>Do you know what your intellectual assets are? </a:t>
            </a:r>
          </a:p>
          <a:p>
            <a:pPr marL="800100" lvl="1" indent="-342900" algn="just">
              <a:lnSpc>
                <a:spcPct val="100000"/>
              </a:lnSpc>
              <a:spcBef>
                <a:spcPts val="2400"/>
              </a:spcBef>
              <a:buClr>
                <a:srgbClr val="973735"/>
              </a:buClr>
              <a:buSzPct val="50000"/>
              <a:buFont typeface="Wingdings" pitchFamily="2" charset="2"/>
              <a:buChar char="u"/>
              <a:defRPr/>
            </a:pPr>
            <a:r>
              <a:rPr lang="en-US" dirty="0"/>
              <a:t>Organizational capital </a:t>
            </a:r>
          </a:p>
          <a:p>
            <a:pPr marL="800100" lvl="1" indent="-342900" algn="just">
              <a:lnSpc>
                <a:spcPct val="100000"/>
              </a:lnSpc>
              <a:spcBef>
                <a:spcPts val="2400"/>
              </a:spcBef>
              <a:buClr>
                <a:srgbClr val="973735"/>
              </a:buClr>
              <a:buSzPct val="50000"/>
              <a:buFont typeface="Wingdings" pitchFamily="2" charset="2"/>
              <a:buChar char="u"/>
              <a:defRPr/>
            </a:pPr>
            <a:r>
              <a:rPr lang="en-US" dirty="0"/>
              <a:t>Human capital </a:t>
            </a:r>
          </a:p>
          <a:p>
            <a:pPr marL="800100" lvl="1" indent="-342900" algn="just">
              <a:lnSpc>
                <a:spcPct val="100000"/>
              </a:lnSpc>
              <a:spcBef>
                <a:spcPts val="2400"/>
              </a:spcBef>
              <a:buClr>
                <a:srgbClr val="973735"/>
              </a:buClr>
              <a:buSzPct val="50000"/>
              <a:buFont typeface="Wingdings" pitchFamily="2" charset="2"/>
              <a:buChar char="u"/>
              <a:defRPr/>
            </a:pPr>
            <a:r>
              <a:rPr lang="en-US" dirty="0"/>
              <a:t>Social capital </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671830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4"/>
            <a:ext cx="11554691" cy="4934990"/>
          </a:xfrm>
        </p:spPr>
        <p:txBody>
          <a:bodyPr>
            <a:normAutofit/>
          </a:bodyPr>
          <a:lstStyle/>
          <a:p>
            <a:pPr marL="0" indent="0" algn="just">
              <a:lnSpc>
                <a:spcPct val="100000"/>
              </a:lnSpc>
              <a:spcBef>
                <a:spcPts val="2400"/>
              </a:spcBef>
              <a:buClr>
                <a:srgbClr val="973735"/>
              </a:buClr>
              <a:buSzPct val="50000"/>
              <a:buNone/>
              <a:defRPr/>
            </a:pPr>
            <a:r>
              <a:rPr lang="en-US" b="1" dirty="0"/>
              <a:t>KCM – key issues key issues</a:t>
            </a:r>
          </a:p>
          <a:p>
            <a:pPr marL="342900" indent="-342900" algn="just">
              <a:lnSpc>
                <a:spcPct val="100000"/>
              </a:lnSpc>
              <a:spcBef>
                <a:spcPts val="2400"/>
              </a:spcBef>
              <a:buClr>
                <a:srgbClr val="973735"/>
              </a:buClr>
              <a:buSzPct val="50000"/>
              <a:buFont typeface="Wingdings" pitchFamily="2" charset="2"/>
              <a:buChar char="u"/>
              <a:defRPr/>
            </a:pPr>
            <a:r>
              <a:rPr lang="en-US" sz="2600" dirty="0"/>
              <a:t>Do you know which ones are the most vulnerable? </a:t>
            </a:r>
          </a:p>
          <a:p>
            <a:pPr marL="342900" indent="-342900" algn="just">
              <a:lnSpc>
                <a:spcPct val="100000"/>
              </a:lnSpc>
              <a:spcBef>
                <a:spcPts val="2400"/>
              </a:spcBef>
              <a:buClr>
                <a:srgbClr val="973735"/>
              </a:buClr>
              <a:buSzPct val="50000"/>
              <a:buFont typeface="Wingdings" pitchFamily="2" charset="2"/>
              <a:buChar char="u"/>
              <a:defRPr/>
            </a:pPr>
            <a:r>
              <a:rPr lang="en-US" sz="2600" dirty="0"/>
              <a:t>What types of knowledge transfer and retention (KT&amp;R) strategies are best suited for each one at risk?</a:t>
            </a:r>
          </a:p>
          <a:p>
            <a:pPr marL="342900" indent="-342900" algn="just">
              <a:lnSpc>
                <a:spcPct val="100000"/>
              </a:lnSpc>
              <a:spcBef>
                <a:spcPts val="2400"/>
              </a:spcBef>
              <a:buClr>
                <a:srgbClr val="973735"/>
              </a:buClr>
              <a:buSzPct val="50000"/>
              <a:buFont typeface="Wingdings" pitchFamily="2" charset="2"/>
              <a:buChar char="u"/>
              <a:defRPr/>
            </a:pPr>
            <a:r>
              <a:rPr lang="en-US" sz="2600" dirty="0"/>
              <a:t>What are the roles played by culture? Technology? HR?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890184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0" indent="0" algn="just">
              <a:lnSpc>
                <a:spcPct val="100000"/>
              </a:lnSpc>
              <a:spcBef>
                <a:spcPts val="1800"/>
              </a:spcBef>
              <a:buClr>
                <a:srgbClr val="973735"/>
              </a:buClr>
              <a:buSzPct val="50000"/>
              <a:buNone/>
              <a:defRPr/>
            </a:pPr>
            <a:r>
              <a:rPr lang="en-US" b="1" dirty="0"/>
              <a:t>Identifying intellectual assets </a:t>
            </a:r>
          </a:p>
          <a:p>
            <a:pPr marL="342900" indent="-342900" algn="just">
              <a:lnSpc>
                <a:spcPct val="100000"/>
              </a:lnSpc>
              <a:spcBef>
                <a:spcPts val="1800"/>
              </a:spcBef>
              <a:buClr>
                <a:srgbClr val="973735"/>
              </a:buClr>
              <a:buSzPct val="50000"/>
              <a:buFont typeface="Wingdings" pitchFamily="2" charset="2"/>
              <a:buChar char="u"/>
              <a:defRPr/>
            </a:pPr>
            <a:r>
              <a:rPr lang="en-US" sz="2600" dirty="0"/>
              <a:t>Organizational capital </a:t>
            </a:r>
          </a:p>
          <a:p>
            <a:pPr marL="800100" lvl="1" indent="-342900" algn="just">
              <a:lnSpc>
                <a:spcPct val="100000"/>
              </a:lnSpc>
              <a:spcBef>
                <a:spcPts val="1800"/>
              </a:spcBef>
              <a:buClr>
                <a:srgbClr val="973735"/>
              </a:buClr>
              <a:buSzPct val="50000"/>
              <a:buFont typeface="Wingdings" pitchFamily="2" charset="2"/>
              <a:buChar char="u"/>
              <a:defRPr/>
            </a:pPr>
            <a:r>
              <a:rPr lang="en-US" dirty="0"/>
              <a:t>What remains when everyone leaves –  typically the least at risk </a:t>
            </a:r>
          </a:p>
          <a:p>
            <a:pPr marL="342900" indent="-342900" algn="just">
              <a:lnSpc>
                <a:spcPct val="100000"/>
              </a:lnSpc>
              <a:spcBef>
                <a:spcPts val="1800"/>
              </a:spcBef>
              <a:buClr>
                <a:srgbClr val="973735"/>
              </a:buClr>
              <a:buSzPct val="50000"/>
              <a:buFont typeface="Wingdings" pitchFamily="2" charset="2"/>
              <a:buChar char="u"/>
              <a:defRPr/>
            </a:pPr>
            <a:r>
              <a:rPr lang="en-US" sz="2600" dirty="0"/>
              <a:t>Human capital </a:t>
            </a:r>
          </a:p>
          <a:p>
            <a:pPr marL="800100" lvl="1" indent="-342900" algn="just">
              <a:lnSpc>
                <a:spcPct val="100000"/>
              </a:lnSpc>
              <a:spcBef>
                <a:spcPts val="1800"/>
              </a:spcBef>
              <a:buClr>
                <a:srgbClr val="973735"/>
              </a:buClr>
              <a:buSzPct val="50000"/>
              <a:buFont typeface="Wingdings" pitchFamily="2" charset="2"/>
              <a:buChar char="u"/>
              <a:defRPr/>
            </a:pPr>
            <a:r>
              <a:rPr lang="en-US" dirty="0"/>
              <a:t>Leaves at the end of the day – human know -how, skills, experience – typically at typically at the greatest risk </a:t>
            </a:r>
          </a:p>
          <a:p>
            <a:pPr marL="342900" indent="-342900" algn="just">
              <a:lnSpc>
                <a:spcPct val="100000"/>
              </a:lnSpc>
              <a:spcBef>
                <a:spcPts val="1800"/>
              </a:spcBef>
              <a:buClr>
                <a:srgbClr val="973735"/>
              </a:buClr>
              <a:buSzPct val="50000"/>
              <a:buFont typeface="Wingdings" pitchFamily="2" charset="2"/>
              <a:buChar char="u"/>
              <a:defRPr/>
            </a:pPr>
            <a:r>
              <a:rPr lang="en-US" sz="2600" dirty="0"/>
              <a:t>Social capital </a:t>
            </a:r>
          </a:p>
          <a:p>
            <a:pPr marL="800100" lvl="1" indent="-342900" algn="just">
              <a:lnSpc>
                <a:spcPct val="100000"/>
              </a:lnSpc>
              <a:spcBef>
                <a:spcPts val="1800"/>
              </a:spcBef>
              <a:buClr>
                <a:srgbClr val="973735"/>
              </a:buClr>
              <a:buSzPct val="50000"/>
              <a:buFont typeface="Wingdings" pitchFamily="2" charset="2"/>
              <a:buChar char="u"/>
              <a:defRPr/>
            </a:pPr>
            <a:r>
              <a:rPr lang="en-US" dirty="0"/>
              <a:t>Not just knowing what but knowing who–relationships, reputation, connected to a community –typically the  hardest to identify and hardest to do a risk analysis on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42240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50000"/>
              </a:lnSpc>
              <a:spcBef>
                <a:spcPts val="600"/>
              </a:spcBef>
              <a:buClr>
                <a:srgbClr val="973735"/>
              </a:buClr>
              <a:buSzPct val="50000"/>
              <a:buNone/>
              <a:defRPr/>
            </a:pPr>
            <a:r>
              <a:rPr lang="en-US" b="1" dirty="0"/>
              <a:t>Examples </a:t>
            </a:r>
          </a:p>
          <a:p>
            <a:pPr marL="0" indent="0" algn="just">
              <a:lnSpc>
                <a:spcPct val="150000"/>
              </a:lnSpc>
              <a:spcBef>
                <a:spcPts val="600"/>
              </a:spcBef>
              <a:buClr>
                <a:srgbClr val="973735"/>
              </a:buClr>
              <a:buSzPct val="50000"/>
              <a:buNone/>
              <a:defRPr/>
            </a:pPr>
            <a:endParaRPr lang="en-US" b="1"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graphicFrame>
        <p:nvGraphicFramePr>
          <p:cNvPr id="2" name="Table 4">
            <a:extLst>
              <a:ext uri="{FF2B5EF4-FFF2-40B4-BE49-F238E27FC236}">
                <a16:creationId xmlns:a16="http://schemas.microsoft.com/office/drawing/2014/main" id="{B2636B67-80E5-DDC7-A278-01B67EA0F0EF}"/>
              </a:ext>
            </a:extLst>
          </p:cNvPr>
          <p:cNvGraphicFramePr>
            <a:graphicFrameLocks noGrp="1"/>
          </p:cNvGraphicFramePr>
          <p:nvPr>
            <p:extLst>
              <p:ext uri="{D42A27DB-BD31-4B8C-83A1-F6EECF244321}">
                <p14:modId xmlns:p14="http://schemas.microsoft.com/office/powerpoint/2010/main" val="140807344"/>
              </p:ext>
            </p:extLst>
          </p:nvPr>
        </p:nvGraphicFramePr>
        <p:xfrm>
          <a:off x="1005839" y="2655146"/>
          <a:ext cx="10116048" cy="3074079"/>
        </p:xfrm>
        <a:graphic>
          <a:graphicData uri="http://schemas.openxmlformats.org/drawingml/2006/table">
            <a:tbl>
              <a:tblPr firstRow="1" bandRow="1">
                <a:tableStyleId>{21E4AEA4-8DFA-4A89-87EB-49C32662AFE0}</a:tableStyleId>
              </a:tblPr>
              <a:tblGrid>
                <a:gridCol w="3372016">
                  <a:extLst>
                    <a:ext uri="{9D8B030D-6E8A-4147-A177-3AD203B41FA5}">
                      <a16:colId xmlns:a16="http://schemas.microsoft.com/office/drawing/2014/main" val="1634470729"/>
                    </a:ext>
                  </a:extLst>
                </a:gridCol>
                <a:gridCol w="3372016">
                  <a:extLst>
                    <a:ext uri="{9D8B030D-6E8A-4147-A177-3AD203B41FA5}">
                      <a16:colId xmlns:a16="http://schemas.microsoft.com/office/drawing/2014/main" val="624258814"/>
                    </a:ext>
                  </a:extLst>
                </a:gridCol>
                <a:gridCol w="3372016">
                  <a:extLst>
                    <a:ext uri="{9D8B030D-6E8A-4147-A177-3AD203B41FA5}">
                      <a16:colId xmlns:a16="http://schemas.microsoft.com/office/drawing/2014/main" val="3122281590"/>
                    </a:ext>
                  </a:extLst>
                </a:gridCol>
              </a:tblGrid>
              <a:tr h="505997">
                <a:tc>
                  <a:txBody>
                    <a:bodyPr/>
                    <a:lstStyle/>
                    <a:p>
                      <a:r>
                        <a:rPr lang="en-US" sz="2400" dirty="0"/>
                        <a:t>Organizational capital</a:t>
                      </a:r>
                    </a:p>
                  </a:txBody>
                  <a:tcPr/>
                </a:tc>
                <a:tc>
                  <a:txBody>
                    <a:bodyPr/>
                    <a:lstStyle/>
                    <a:p>
                      <a:r>
                        <a:rPr lang="en-US" sz="2400" dirty="0"/>
                        <a:t>Human capital </a:t>
                      </a:r>
                    </a:p>
                  </a:txBody>
                  <a:tcPr/>
                </a:tc>
                <a:tc>
                  <a:txBody>
                    <a:bodyPr/>
                    <a:lstStyle/>
                    <a:p>
                      <a:r>
                        <a:rPr lang="en-US" sz="2400" dirty="0"/>
                        <a:t>Social capital</a:t>
                      </a:r>
                    </a:p>
                  </a:txBody>
                  <a:tcPr/>
                </a:tc>
                <a:extLst>
                  <a:ext uri="{0D108BD9-81ED-4DB2-BD59-A6C34878D82A}">
                    <a16:rowId xmlns:a16="http://schemas.microsoft.com/office/drawing/2014/main" val="1861966845"/>
                  </a:ext>
                </a:extLst>
              </a:tr>
              <a:tr h="505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Culture </a:t>
                      </a:r>
                    </a:p>
                  </a:txBody>
                  <a:tcPr/>
                </a:tc>
                <a:tc>
                  <a:txBody>
                    <a:bodyPr/>
                    <a:lstStyle/>
                    <a:p>
                      <a:r>
                        <a:rPr lang="en-US" sz="2400" dirty="0"/>
                        <a:t>Unique expertise </a:t>
                      </a:r>
                    </a:p>
                  </a:txBody>
                  <a:tcPr/>
                </a:tc>
                <a:tc>
                  <a:txBody>
                    <a:bodyPr/>
                    <a:lstStyle/>
                    <a:p>
                      <a:r>
                        <a:rPr lang="en-US" sz="2400" dirty="0"/>
                        <a:t>“Go to” person</a:t>
                      </a:r>
                    </a:p>
                  </a:txBody>
                  <a:tcPr/>
                </a:tc>
                <a:extLst>
                  <a:ext uri="{0D108BD9-81ED-4DB2-BD59-A6C34878D82A}">
                    <a16:rowId xmlns:a16="http://schemas.microsoft.com/office/drawing/2014/main" val="2257027041"/>
                  </a:ext>
                </a:extLst>
              </a:tr>
              <a:tr h="873365">
                <a:tc>
                  <a:txBody>
                    <a:bodyPr/>
                    <a:lstStyle/>
                    <a:p>
                      <a:r>
                        <a:rPr lang="en-US" sz="2400" dirty="0"/>
                        <a:t>Patents </a:t>
                      </a:r>
                    </a:p>
                  </a:txBody>
                  <a:tcPr/>
                </a:tc>
                <a:tc>
                  <a:txBody>
                    <a:bodyPr/>
                    <a:lstStyle/>
                    <a:p>
                      <a:r>
                        <a:rPr lang="en-US" sz="2400" dirty="0"/>
                        <a:t>Highly experienced </a:t>
                      </a:r>
                    </a:p>
                  </a:txBody>
                  <a:tcPr/>
                </a:tc>
                <a:tc>
                  <a:txBody>
                    <a:bodyPr/>
                    <a:lstStyle/>
                    <a:p>
                      <a:r>
                        <a:rPr lang="en-US" sz="2400" dirty="0"/>
                        <a:t>Connected outside the organization</a:t>
                      </a:r>
                    </a:p>
                  </a:txBody>
                  <a:tcPr/>
                </a:tc>
                <a:extLst>
                  <a:ext uri="{0D108BD9-81ED-4DB2-BD59-A6C34878D82A}">
                    <a16:rowId xmlns:a16="http://schemas.microsoft.com/office/drawing/2014/main" val="4128192427"/>
                  </a:ext>
                </a:extLst>
              </a:tr>
              <a:tr h="505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Physical inventory - chairs, tables, databases, books</a:t>
                      </a:r>
                    </a:p>
                  </a:txBody>
                  <a:tcPr/>
                </a:tc>
                <a:tc>
                  <a:txBody>
                    <a:bodyPr/>
                    <a:lstStyle/>
                    <a:p>
                      <a:r>
                        <a:rPr lang="en-US" sz="2400" dirty="0"/>
                        <a:t>Know - how </a:t>
                      </a:r>
                    </a:p>
                  </a:txBody>
                  <a:tcPr/>
                </a:tc>
                <a:tc>
                  <a:txBody>
                    <a:bodyPr/>
                    <a:lstStyle/>
                    <a:p>
                      <a:r>
                        <a:rPr lang="en-US" sz="2400" dirty="0"/>
                        <a:t>Know - who</a:t>
                      </a:r>
                    </a:p>
                  </a:txBody>
                  <a:tcPr/>
                </a:tc>
                <a:extLst>
                  <a:ext uri="{0D108BD9-81ED-4DB2-BD59-A6C34878D82A}">
                    <a16:rowId xmlns:a16="http://schemas.microsoft.com/office/drawing/2014/main" val="771344043"/>
                  </a:ext>
                </a:extLst>
              </a:tr>
            </a:tbl>
          </a:graphicData>
        </a:graphic>
      </p:graphicFrame>
    </p:spTree>
    <p:extLst>
      <p:ext uri="{BB962C8B-B14F-4D97-AF65-F5344CB8AC3E}">
        <p14:creationId xmlns:p14="http://schemas.microsoft.com/office/powerpoint/2010/main" val="266305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716378" cy="4816106"/>
          </a:xfrm>
        </p:spPr>
        <p:txBody>
          <a:bodyPr>
            <a:normAutofit/>
          </a:bodyPr>
          <a:lstStyle/>
          <a:p>
            <a:pPr marL="0" indent="0" algn="just">
              <a:lnSpc>
                <a:spcPct val="100000"/>
              </a:lnSpc>
              <a:spcBef>
                <a:spcPts val="1800"/>
              </a:spcBef>
              <a:buClr>
                <a:srgbClr val="973735"/>
              </a:buClr>
              <a:buSzPct val="50000"/>
              <a:buNone/>
              <a:defRPr/>
            </a:pPr>
            <a:r>
              <a:rPr lang="en-US" b="1" dirty="0"/>
              <a:t>How can knowledge be “at risk”?</a:t>
            </a:r>
          </a:p>
          <a:p>
            <a:pPr marL="342900" indent="-342900" algn="just">
              <a:lnSpc>
                <a:spcPct val="100000"/>
              </a:lnSpc>
              <a:spcBef>
                <a:spcPts val="1800"/>
              </a:spcBef>
              <a:buClr>
                <a:srgbClr val="973735"/>
              </a:buClr>
              <a:buSzPct val="50000"/>
              <a:buFont typeface="Wingdings" pitchFamily="2" charset="2"/>
              <a:buChar char="u"/>
              <a:defRPr/>
            </a:pPr>
            <a:r>
              <a:rPr lang="en-US" sz="2600" dirty="0"/>
              <a:t>What do we mean by knowledge at risk knowledge at risk or vulnerable knowledge? </a:t>
            </a:r>
          </a:p>
          <a:p>
            <a:pPr marL="800100" lvl="1" indent="-342900" algn="just">
              <a:lnSpc>
                <a:spcPct val="100000"/>
              </a:lnSpc>
              <a:spcBef>
                <a:spcPts val="1800"/>
              </a:spcBef>
              <a:buClr>
                <a:srgbClr val="973735"/>
              </a:buClr>
              <a:buSzPct val="50000"/>
              <a:buFont typeface="Wingdings" pitchFamily="2" charset="2"/>
              <a:buChar char="u"/>
              <a:defRPr/>
            </a:pPr>
            <a:r>
              <a:rPr lang="en-US" dirty="0"/>
              <a:t>Knowledge that is not being widely shared throughout the organization the organization – best practices not known, not shared, used only locally </a:t>
            </a:r>
          </a:p>
          <a:p>
            <a:pPr marL="800100" lvl="1" indent="-342900" algn="just">
              <a:lnSpc>
                <a:spcPct val="100000"/>
              </a:lnSpc>
              <a:spcBef>
                <a:spcPts val="1800"/>
              </a:spcBef>
              <a:buClr>
                <a:srgbClr val="973735"/>
              </a:buClr>
              <a:buSzPct val="50000"/>
              <a:buFont typeface="Wingdings" pitchFamily="2" charset="2"/>
              <a:buChar char="u"/>
              <a:defRPr/>
            </a:pPr>
            <a:r>
              <a:rPr lang="en-US" dirty="0"/>
              <a:t>Knowledge that is not being preserved in organizational memory – lost when employees leave end up having to re end up having to re-engineer our own expertise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246041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736207"/>
          </a:xfrm>
        </p:spPr>
        <p:txBody>
          <a:bodyPr>
            <a:normAutofit/>
          </a:bodyPr>
          <a:lstStyle/>
          <a:p>
            <a:pPr marL="0" indent="0" algn="just">
              <a:lnSpc>
                <a:spcPct val="100000"/>
              </a:lnSpc>
              <a:spcBef>
                <a:spcPts val="1200"/>
              </a:spcBef>
              <a:buClr>
                <a:srgbClr val="973735"/>
              </a:buClr>
              <a:buSzPct val="50000"/>
              <a:buNone/>
              <a:defRPr/>
            </a:pPr>
            <a:r>
              <a:rPr lang="en-US" b="1" dirty="0"/>
              <a:t>Which assets are the most vulnerable?</a:t>
            </a:r>
          </a:p>
          <a:p>
            <a:pPr marL="342900" indent="-342900" algn="just">
              <a:lnSpc>
                <a:spcPct val="100000"/>
              </a:lnSpc>
              <a:spcBef>
                <a:spcPts val="1200"/>
              </a:spcBef>
              <a:buClr>
                <a:srgbClr val="973735"/>
              </a:buClr>
              <a:buSzPct val="50000"/>
              <a:buFont typeface="Wingdings" pitchFamily="2" charset="2"/>
              <a:buChar char="u"/>
              <a:defRPr/>
            </a:pPr>
            <a:r>
              <a:rPr lang="en-US" sz="2600" dirty="0"/>
              <a:t>We will focus on human capital (which often will also touch on social capital)</a:t>
            </a:r>
          </a:p>
          <a:p>
            <a:pPr marL="342900" indent="-342900" algn="just">
              <a:lnSpc>
                <a:spcPct val="100000"/>
              </a:lnSpc>
              <a:spcBef>
                <a:spcPts val="1200"/>
              </a:spcBef>
              <a:buClr>
                <a:srgbClr val="973735"/>
              </a:buClr>
              <a:buSzPct val="50000"/>
              <a:buFont typeface="Wingdings" pitchFamily="2" charset="2"/>
              <a:buChar char="u"/>
              <a:defRPr/>
            </a:pPr>
            <a:r>
              <a:rPr lang="en-US" sz="2600" dirty="0"/>
              <a:t>There are 9 major criteria we can use to assess risk of losing human capital: </a:t>
            </a:r>
          </a:p>
          <a:p>
            <a:pPr marL="457200" lvl="1" indent="0" algn="just">
              <a:lnSpc>
                <a:spcPct val="100000"/>
              </a:lnSpc>
              <a:spcBef>
                <a:spcPts val="1200"/>
              </a:spcBef>
              <a:buClr>
                <a:srgbClr val="973735"/>
              </a:buClr>
              <a:buSzPct val="50000"/>
              <a:buNone/>
              <a:defRPr/>
            </a:pPr>
            <a:r>
              <a:rPr lang="en-US" dirty="0"/>
              <a:t>1. How specific is it to the organization? </a:t>
            </a:r>
          </a:p>
          <a:p>
            <a:pPr marL="457200" lvl="1" indent="0" algn="just">
              <a:lnSpc>
                <a:spcPct val="100000"/>
              </a:lnSpc>
              <a:spcBef>
                <a:spcPts val="1200"/>
              </a:spcBef>
              <a:buClr>
                <a:srgbClr val="973735"/>
              </a:buClr>
              <a:buSzPct val="50000"/>
              <a:buNone/>
              <a:defRPr/>
            </a:pPr>
            <a:r>
              <a:rPr lang="en-US" dirty="0"/>
              <a:t>2. How localized is it? Sole source? </a:t>
            </a:r>
          </a:p>
          <a:p>
            <a:pPr marL="457200" lvl="1" indent="0" algn="just">
              <a:lnSpc>
                <a:spcPct val="100000"/>
              </a:lnSpc>
              <a:spcBef>
                <a:spcPts val="1200"/>
              </a:spcBef>
              <a:buClr>
                <a:srgbClr val="973735"/>
              </a:buClr>
              <a:buSzPct val="50000"/>
              <a:buNone/>
              <a:defRPr/>
            </a:pPr>
            <a:r>
              <a:rPr lang="en-US" dirty="0"/>
              <a:t>3. How much has it already been documented? </a:t>
            </a:r>
          </a:p>
          <a:p>
            <a:pPr marL="457200" lvl="1" indent="0" algn="just">
              <a:lnSpc>
                <a:spcPct val="100000"/>
              </a:lnSpc>
              <a:spcBef>
                <a:spcPts val="1200"/>
              </a:spcBef>
              <a:buClr>
                <a:srgbClr val="973735"/>
              </a:buClr>
              <a:buSzPct val="50000"/>
              <a:buNone/>
              <a:defRPr/>
            </a:pPr>
            <a:r>
              <a:rPr lang="en-US" dirty="0"/>
              <a:t>4. How complex is it? </a:t>
            </a:r>
          </a:p>
          <a:p>
            <a:pPr marL="457200" lvl="1" indent="0" algn="just">
              <a:lnSpc>
                <a:spcPct val="120000"/>
              </a:lnSpc>
              <a:spcBef>
                <a:spcPts val="12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795830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726426" cy="4816106"/>
          </a:xfrm>
        </p:spPr>
        <p:txBody>
          <a:bodyPr>
            <a:normAutofit fontScale="92500" lnSpcReduction="20000"/>
          </a:bodyPr>
          <a:lstStyle/>
          <a:p>
            <a:pPr marL="0" indent="0" algn="just">
              <a:lnSpc>
                <a:spcPct val="120000"/>
              </a:lnSpc>
              <a:spcBef>
                <a:spcPts val="1200"/>
              </a:spcBef>
              <a:buClr>
                <a:srgbClr val="973735"/>
              </a:buClr>
              <a:buSzPct val="50000"/>
              <a:buNone/>
              <a:defRPr/>
            </a:pPr>
            <a:r>
              <a:rPr lang="en-US" sz="3000" b="1" dirty="0"/>
              <a:t>Which assets are the most vulnerable?</a:t>
            </a:r>
          </a:p>
          <a:p>
            <a:pPr marL="342900" indent="-342900" algn="just">
              <a:lnSpc>
                <a:spcPct val="120000"/>
              </a:lnSpc>
              <a:spcBef>
                <a:spcPts val="1200"/>
              </a:spcBef>
              <a:buClr>
                <a:srgbClr val="973735"/>
              </a:buClr>
              <a:buSzPct val="50000"/>
              <a:buFont typeface="Wingdings" pitchFamily="2" charset="2"/>
              <a:buChar char="u"/>
              <a:defRPr/>
            </a:pPr>
            <a:r>
              <a:rPr lang="en-US" dirty="0"/>
              <a:t>We will focus on human capital (which often will also touch on social capital)</a:t>
            </a:r>
          </a:p>
          <a:p>
            <a:pPr marL="342900" indent="-342900" algn="just">
              <a:lnSpc>
                <a:spcPct val="120000"/>
              </a:lnSpc>
              <a:spcBef>
                <a:spcPts val="1200"/>
              </a:spcBef>
              <a:buClr>
                <a:srgbClr val="973735"/>
              </a:buClr>
              <a:buSzPct val="50000"/>
              <a:buFont typeface="Wingdings" pitchFamily="2" charset="2"/>
              <a:buChar char="u"/>
              <a:defRPr/>
            </a:pPr>
            <a:r>
              <a:rPr lang="en-US" dirty="0"/>
              <a:t>There are 9 major criteria we can use to assess risk of losing human capital: </a:t>
            </a:r>
          </a:p>
          <a:p>
            <a:pPr marL="457200" lvl="1" indent="0" algn="just">
              <a:lnSpc>
                <a:spcPct val="120000"/>
              </a:lnSpc>
              <a:spcBef>
                <a:spcPts val="1200"/>
              </a:spcBef>
              <a:buClr>
                <a:srgbClr val="973735"/>
              </a:buClr>
              <a:buSzPct val="50000"/>
              <a:buNone/>
              <a:defRPr/>
            </a:pPr>
            <a:r>
              <a:rPr lang="en-US" sz="2600" dirty="0"/>
              <a:t>5. How often does the knowledge change? </a:t>
            </a:r>
          </a:p>
          <a:p>
            <a:pPr marL="457200" lvl="1" indent="0" algn="just">
              <a:lnSpc>
                <a:spcPct val="120000"/>
              </a:lnSpc>
              <a:spcBef>
                <a:spcPts val="1200"/>
              </a:spcBef>
              <a:buClr>
                <a:srgbClr val="973735"/>
              </a:buClr>
              <a:buSzPct val="50000"/>
              <a:buNone/>
              <a:defRPr/>
            </a:pPr>
            <a:r>
              <a:rPr lang="en-US" sz="2600" dirty="0"/>
              <a:t>6. How hard is it to learn? </a:t>
            </a:r>
          </a:p>
          <a:p>
            <a:pPr marL="457200" lvl="1" indent="0" algn="just">
              <a:lnSpc>
                <a:spcPct val="120000"/>
              </a:lnSpc>
              <a:spcBef>
                <a:spcPts val="1200"/>
              </a:spcBef>
              <a:buClr>
                <a:srgbClr val="973735"/>
              </a:buClr>
              <a:buSzPct val="50000"/>
              <a:buNone/>
              <a:defRPr/>
            </a:pPr>
            <a:r>
              <a:rPr lang="en-US" sz="2600" dirty="0"/>
              <a:t>7. How hard is it to hire such people? </a:t>
            </a:r>
          </a:p>
          <a:p>
            <a:pPr marL="457200" lvl="1" indent="0" algn="just">
              <a:lnSpc>
                <a:spcPct val="120000"/>
              </a:lnSpc>
              <a:spcBef>
                <a:spcPts val="1200"/>
              </a:spcBef>
              <a:buClr>
                <a:srgbClr val="973735"/>
              </a:buClr>
              <a:buSzPct val="50000"/>
              <a:buNone/>
              <a:defRPr/>
            </a:pPr>
            <a:r>
              <a:rPr lang="en-US" sz="2600" dirty="0"/>
              <a:t>8. Is it possible to subcontract? </a:t>
            </a:r>
          </a:p>
          <a:p>
            <a:pPr marL="457200" lvl="1" indent="0" algn="just">
              <a:lnSpc>
                <a:spcPct val="120000"/>
              </a:lnSpc>
              <a:spcBef>
                <a:spcPts val="1200"/>
              </a:spcBef>
              <a:buClr>
                <a:srgbClr val="973735"/>
              </a:buClr>
              <a:buSzPct val="50000"/>
              <a:buNone/>
              <a:defRPr/>
            </a:pPr>
            <a:r>
              <a:rPr lang="en-US" sz="2600" dirty="0"/>
              <a:t>9. What are the consequences of not being able to access and apply this knowledge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93009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b="1" dirty="0"/>
              <a:t>Organizational specificity </a:t>
            </a:r>
          </a:p>
          <a:p>
            <a:pPr marL="342900" indent="-342900" algn="just">
              <a:lnSpc>
                <a:spcPct val="100000"/>
              </a:lnSpc>
              <a:spcBef>
                <a:spcPts val="1800"/>
              </a:spcBef>
              <a:buClr>
                <a:srgbClr val="973735"/>
              </a:buClr>
              <a:buSzPct val="50000"/>
              <a:buFont typeface="Wingdings" pitchFamily="2" charset="2"/>
              <a:buChar char="u"/>
              <a:defRPr/>
            </a:pPr>
            <a:r>
              <a:rPr lang="en-US" sz="2600" dirty="0"/>
              <a:t>How specialized or contextual is this expertise? </a:t>
            </a:r>
          </a:p>
          <a:p>
            <a:pPr marL="342900" indent="-342900" algn="just">
              <a:lnSpc>
                <a:spcPct val="100000"/>
              </a:lnSpc>
              <a:spcBef>
                <a:spcPts val="1800"/>
              </a:spcBef>
              <a:buClr>
                <a:srgbClr val="973735"/>
              </a:buClr>
              <a:buSzPct val="50000"/>
              <a:buFont typeface="Wingdings" pitchFamily="2" charset="2"/>
              <a:buChar char="u"/>
              <a:defRPr/>
            </a:pPr>
            <a:r>
              <a:rPr lang="en-US" sz="2600" dirty="0"/>
              <a:t>Can it be found throughout the industry? Specific to this company? </a:t>
            </a:r>
          </a:p>
          <a:p>
            <a:pPr marL="342900" indent="-342900" algn="just">
              <a:lnSpc>
                <a:spcPct val="100000"/>
              </a:lnSpc>
              <a:spcBef>
                <a:spcPts val="1800"/>
              </a:spcBef>
              <a:buClr>
                <a:srgbClr val="973735"/>
              </a:buClr>
              <a:buSzPct val="50000"/>
              <a:buFont typeface="Wingdings" pitchFamily="2" charset="2"/>
              <a:buChar char="u"/>
              <a:defRPr/>
            </a:pPr>
            <a:r>
              <a:rPr lang="en-US" sz="2600" dirty="0"/>
              <a:t>For example – legal expertise </a:t>
            </a:r>
          </a:p>
          <a:p>
            <a:pPr marL="800100" lvl="1" indent="-342900" algn="just">
              <a:lnSpc>
                <a:spcPct val="100000"/>
              </a:lnSpc>
              <a:spcBef>
                <a:spcPts val="1800"/>
              </a:spcBef>
              <a:buClr>
                <a:srgbClr val="973735"/>
              </a:buClr>
              <a:buSzPct val="50000"/>
              <a:buFont typeface="Wingdings" pitchFamily="2" charset="2"/>
              <a:buChar char="u"/>
              <a:defRPr/>
            </a:pPr>
            <a:r>
              <a:rPr lang="en-US" dirty="0"/>
              <a:t>Tends to be country - specific </a:t>
            </a:r>
          </a:p>
          <a:p>
            <a:pPr marL="800100" lvl="1" indent="-342900" algn="just">
              <a:lnSpc>
                <a:spcPct val="100000"/>
              </a:lnSpc>
              <a:spcBef>
                <a:spcPts val="1800"/>
              </a:spcBef>
              <a:buClr>
                <a:srgbClr val="973735"/>
              </a:buClr>
              <a:buSzPct val="50000"/>
              <a:buFont typeface="Wingdings" pitchFamily="2" charset="2"/>
              <a:buChar char="u"/>
              <a:defRPr/>
            </a:pPr>
            <a:r>
              <a:rPr lang="en-US" dirty="0"/>
              <a:t>Except: Quebec legal system differs from the rest of Canada and actually has more in common with France (Napoleonic Law)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198991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646040" cy="4816106"/>
          </a:xfrm>
        </p:spPr>
        <p:txBody>
          <a:bodyPr>
            <a:normAutofit/>
          </a:bodyPr>
          <a:lstStyle/>
          <a:p>
            <a:pPr marL="0" indent="0" algn="just">
              <a:lnSpc>
                <a:spcPct val="100000"/>
              </a:lnSpc>
              <a:spcBef>
                <a:spcPts val="1800"/>
              </a:spcBef>
              <a:buClr>
                <a:srgbClr val="973735"/>
              </a:buClr>
              <a:buSzPct val="50000"/>
              <a:buNone/>
              <a:defRPr/>
            </a:pPr>
            <a:r>
              <a:rPr lang="en-US" b="1" dirty="0"/>
              <a:t>Level of documentation </a:t>
            </a:r>
          </a:p>
          <a:p>
            <a:pPr marL="342900" indent="-342900" algn="just">
              <a:lnSpc>
                <a:spcPct val="100000"/>
              </a:lnSpc>
              <a:spcBef>
                <a:spcPts val="1800"/>
              </a:spcBef>
              <a:buClr>
                <a:srgbClr val="973735"/>
              </a:buClr>
              <a:buSzPct val="50000"/>
              <a:buFont typeface="Wingdings" pitchFamily="2" charset="2"/>
              <a:buChar char="u"/>
              <a:defRPr/>
            </a:pPr>
            <a:r>
              <a:rPr lang="en-US" sz="2600" dirty="0"/>
              <a:t>How well documented is this expertise? </a:t>
            </a:r>
          </a:p>
          <a:p>
            <a:pPr marL="800100" lvl="1" indent="-342900" algn="just">
              <a:lnSpc>
                <a:spcPct val="100000"/>
              </a:lnSpc>
              <a:spcBef>
                <a:spcPts val="1800"/>
              </a:spcBef>
              <a:buClr>
                <a:srgbClr val="973735"/>
              </a:buClr>
              <a:buSzPct val="50000"/>
              <a:buFont typeface="Wingdings" pitchFamily="2" charset="2"/>
              <a:buChar char="u"/>
              <a:defRPr/>
            </a:pPr>
            <a:r>
              <a:rPr lang="en-US" dirty="0"/>
              <a:t>Manuals, job aids, FAQs, demos, how to guides etc. </a:t>
            </a:r>
          </a:p>
          <a:p>
            <a:pPr marL="800100" lvl="1" indent="-342900" algn="just">
              <a:lnSpc>
                <a:spcPct val="100000"/>
              </a:lnSpc>
              <a:spcBef>
                <a:spcPts val="1800"/>
              </a:spcBef>
              <a:buClr>
                <a:srgbClr val="973735"/>
              </a:buClr>
              <a:buSzPct val="50000"/>
              <a:buFont typeface="Wingdings" pitchFamily="2" charset="2"/>
              <a:buChar char="u"/>
              <a:defRPr/>
            </a:pPr>
            <a:r>
              <a:rPr lang="en-US" dirty="0"/>
              <a:t>The more procedural the know - how, the easier it is to document and the more likely that it has already been documented to some extent </a:t>
            </a:r>
          </a:p>
          <a:p>
            <a:pPr marL="342900" indent="-342900" algn="just">
              <a:lnSpc>
                <a:spcPct val="100000"/>
              </a:lnSpc>
              <a:spcBef>
                <a:spcPts val="1800"/>
              </a:spcBef>
              <a:buClr>
                <a:srgbClr val="973735"/>
              </a:buClr>
              <a:buSzPct val="50000"/>
              <a:buFont typeface="Wingdings" pitchFamily="2" charset="2"/>
              <a:buChar char="u"/>
              <a:defRPr/>
            </a:pPr>
            <a:r>
              <a:rPr lang="en-US" sz="2600" dirty="0"/>
              <a:t>If not documented, would it be easy to document? </a:t>
            </a:r>
          </a:p>
          <a:p>
            <a:pPr marL="800100" lvl="1" indent="-342900" algn="just">
              <a:lnSpc>
                <a:spcPct val="100000"/>
              </a:lnSpc>
              <a:spcBef>
                <a:spcPts val="1800"/>
              </a:spcBef>
              <a:buClr>
                <a:srgbClr val="973735"/>
              </a:buClr>
              <a:buSzPct val="50000"/>
              <a:buFont typeface="Wingdings" pitchFamily="2" charset="2"/>
              <a:buChar char="u"/>
              <a:defRPr/>
            </a:pPr>
            <a:r>
              <a:rPr lang="en-US" dirty="0"/>
              <a:t>Can explain to someone in approx. 20 minutes over the phone? </a:t>
            </a:r>
          </a:p>
          <a:p>
            <a:pPr marL="800100" lvl="1" indent="-342900" algn="just">
              <a:lnSpc>
                <a:spcPct val="100000"/>
              </a:lnSpc>
              <a:spcBef>
                <a:spcPts val="1800"/>
              </a:spcBef>
              <a:buClr>
                <a:srgbClr val="973735"/>
              </a:buClr>
              <a:buSzPct val="50000"/>
              <a:buFont typeface="Wingdings" pitchFamily="2" charset="2"/>
              <a:buChar char="u"/>
              <a:defRPr/>
            </a:pPr>
            <a:r>
              <a:rPr lang="en-US" dirty="0"/>
              <a:t>Cost/benefit of having someone write it up?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2686772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b="1" dirty="0"/>
              <a:t>Complexity</a:t>
            </a:r>
            <a:endParaRPr lang="en-US" dirty="0"/>
          </a:p>
          <a:p>
            <a:pPr marL="342900" indent="-342900" algn="just">
              <a:lnSpc>
                <a:spcPct val="100000"/>
              </a:lnSpc>
              <a:spcBef>
                <a:spcPts val="1800"/>
              </a:spcBef>
              <a:buClr>
                <a:srgbClr val="973735"/>
              </a:buClr>
              <a:buSzPct val="50000"/>
              <a:buFont typeface="Wingdings" pitchFamily="2" charset="2"/>
              <a:buChar char="u"/>
              <a:defRPr/>
            </a:pPr>
            <a:r>
              <a:rPr lang="en-US" sz="2600" dirty="0"/>
              <a:t>How complex is the expertise in question? </a:t>
            </a:r>
          </a:p>
          <a:p>
            <a:pPr marL="800100" lvl="1" indent="-342900" algn="just">
              <a:lnSpc>
                <a:spcPct val="100000"/>
              </a:lnSpc>
              <a:spcBef>
                <a:spcPts val="1800"/>
              </a:spcBef>
              <a:buClr>
                <a:srgbClr val="973735"/>
              </a:buClr>
              <a:buSzPct val="50000"/>
              <a:buFont typeface="Wingdings" pitchFamily="2" charset="2"/>
              <a:buChar char="u"/>
              <a:defRPr/>
            </a:pPr>
            <a:r>
              <a:rPr lang="en-US" dirty="0"/>
              <a:t>Does it involve multiple inter - related steps? </a:t>
            </a:r>
          </a:p>
          <a:p>
            <a:pPr marL="800100" lvl="1" indent="-342900" algn="just">
              <a:lnSpc>
                <a:spcPct val="100000"/>
              </a:lnSpc>
              <a:spcBef>
                <a:spcPts val="1800"/>
              </a:spcBef>
              <a:buClr>
                <a:srgbClr val="973735"/>
              </a:buClr>
              <a:buSzPct val="50000"/>
              <a:buFont typeface="Wingdings" pitchFamily="2" charset="2"/>
              <a:buChar char="u"/>
              <a:defRPr/>
            </a:pPr>
            <a:r>
              <a:rPr lang="en-US" dirty="0"/>
              <a:t>Does it require prerequisite knowledge? </a:t>
            </a:r>
          </a:p>
          <a:p>
            <a:pPr marL="800100" lvl="1" indent="-342900" algn="just">
              <a:lnSpc>
                <a:spcPct val="100000"/>
              </a:lnSpc>
              <a:spcBef>
                <a:spcPts val="1800"/>
              </a:spcBef>
              <a:buClr>
                <a:srgbClr val="973735"/>
              </a:buClr>
              <a:buSzPct val="50000"/>
              <a:buFont typeface="Wingdings" pitchFamily="2" charset="2"/>
              <a:buChar char="u"/>
              <a:defRPr/>
            </a:pPr>
            <a:r>
              <a:rPr lang="en-US" dirty="0"/>
              <a:t>Does it depend on others to complete different steps in the process?</a:t>
            </a:r>
          </a:p>
          <a:p>
            <a:pPr marL="342900" indent="-342900" algn="just">
              <a:lnSpc>
                <a:spcPct val="100000"/>
              </a:lnSpc>
              <a:spcBef>
                <a:spcPts val="1800"/>
              </a:spcBef>
              <a:buClr>
                <a:srgbClr val="973735"/>
              </a:buClr>
              <a:buSzPct val="50000"/>
              <a:buFont typeface="Wingdings" pitchFamily="2" charset="2"/>
              <a:buChar char="u"/>
              <a:defRPr/>
            </a:pPr>
            <a:r>
              <a:rPr lang="en-US" sz="2600" dirty="0"/>
              <a:t>An ‘easy’ to transfer type of know - how is typically how is something that you could teach or show someone else to do in less than 2 days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555466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886932"/>
          </a:xfrm>
        </p:spPr>
        <p:txBody>
          <a:bodyPr>
            <a:normAutofit/>
          </a:bodyPr>
          <a:lstStyle/>
          <a:p>
            <a:pPr marL="0" indent="0" algn="just">
              <a:lnSpc>
                <a:spcPct val="100000"/>
              </a:lnSpc>
              <a:spcBef>
                <a:spcPts val="1800"/>
              </a:spcBef>
              <a:buClr>
                <a:srgbClr val="973735"/>
              </a:buClr>
              <a:buSzPct val="50000"/>
              <a:buNone/>
              <a:defRPr/>
            </a:pPr>
            <a:r>
              <a:rPr lang="en-US" b="1" dirty="0"/>
              <a:t>Useful lifespan </a:t>
            </a:r>
          </a:p>
          <a:p>
            <a:pPr marL="342900" indent="-342900" algn="just">
              <a:lnSpc>
                <a:spcPct val="100000"/>
              </a:lnSpc>
              <a:spcBef>
                <a:spcPts val="1800"/>
              </a:spcBef>
              <a:buClr>
                <a:srgbClr val="973735"/>
              </a:buClr>
              <a:buSzPct val="50000"/>
              <a:buFont typeface="Wingdings" pitchFamily="2" charset="2"/>
              <a:buChar char="u"/>
              <a:defRPr/>
            </a:pPr>
            <a:r>
              <a:rPr lang="en-US" sz="2600" dirty="0"/>
              <a:t>How stable or enduring is the type of expertise? Alternatively, how dynamic or changeable is the demand for this know -how?</a:t>
            </a:r>
          </a:p>
          <a:p>
            <a:pPr marL="800100" lvl="1" indent="-342900" algn="just">
              <a:lnSpc>
                <a:spcPct val="100000"/>
              </a:lnSpc>
              <a:spcBef>
                <a:spcPts val="1800"/>
              </a:spcBef>
              <a:buClr>
                <a:srgbClr val="973735"/>
              </a:buClr>
              <a:buSzPct val="50000"/>
              <a:buFont typeface="Wingdings" pitchFamily="2" charset="2"/>
              <a:buChar char="u"/>
              <a:defRPr/>
            </a:pPr>
            <a:r>
              <a:rPr lang="en-US" dirty="0"/>
              <a:t>Has it changed much in the past 5 years? Past decade? Past decades?</a:t>
            </a:r>
          </a:p>
          <a:p>
            <a:pPr marL="800100" lvl="1" indent="-342900" algn="just">
              <a:lnSpc>
                <a:spcPct val="100000"/>
              </a:lnSpc>
              <a:spcBef>
                <a:spcPts val="1800"/>
              </a:spcBef>
              <a:buClr>
                <a:srgbClr val="973735"/>
              </a:buClr>
              <a:buSzPct val="50000"/>
              <a:buFont typeface="Wingdings" pitchFamily="2" charset="2"/>
              <a:buChar char="u"/>
              <a:defRPr/>
            </a:pPr>
            <a:r>
              <a:rPr lang="en-US" dirty="0"/>
              <a:t>For example: a group of Y2K specialists in a company possess expertise of a limited lifespan (or one that has an expiry date) </a:t>
            </a:r>
          </a:p>
          <a:p>
            <a:pPr marL="800100" lvl="1" indent="-342900" algn="just">
              <a:lnSpc>
                <a:spcPct val="100000"/>
              </a:lnSpc>
              <a:spcBef>
                <a:spcPts val="1800"/>
              </a:spcBef>
              <a:buClr>
                <a:srgbClr val="973735"/>
              </a:buClr>
              <a:buSzPct val="50000"/>
              <a:buFont typeface="Wingdings" pitchFamily="2" charset="2"/>
              <a:buChar char="u"/>
              <a:defRPr/>
            </a:pPr>
            <a:r>
              <a:rPr lang="en-US" dirty="0"/>
              <a:t>Someone who is specialized in mediating conflicts in teams and helping them to work well together probably will have a longer useful lifespan for their know -how</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612232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b="1" dirty="0"/>
              <a:t>Difficulty of learning </a:t>
            </a:r>
          </a:p>
          <a:p>
            <a:pPr marL="342900" indent="-342900" algn="just">
              <a:lnSpc>
                <a:spcPct val="100000"/>
              </a:lnSpc>
              <a:spcBef>
                <a:spcPts val="1800"/>
              </a:spcBef>
              <a:buClr>
                <a:srgbClr val="973735"/>
              </a:buClr>
              <a:buSzPct val="50000"/>
              <a:buFont typeface="Wingdings" pitchFamily="2" charset="2"/>
              <a:buChar char="u"/>
              <a:defRPr/>
            </a:pPr>
            <a:r>
              <a:rPr lang="en-US" sz="2600" dirty="0"/>
              <a:t>How easy or hard is it to train someone to do these tasks?</a:t>
            </a:r>
          </a:p>
          <a:p>
            <a:pPr marL="800100" lvl="1" indent="-342900" algn="just">
              <a:lnSpc>
                <a:spcPct val="100000"/>
              </a:lnSpc>
              <a:spcBef>
                <a:spcPts val="1800"/>
              </a:spcBef>
              <a:buClr>
                <a:srgbClr val="973735"/>
              </a:buClr>
              <a:buSzPct val="50000"/>
              <a:buFont typeface="Wingdings" pitchFamily="2" charset="2"/>
              <a:buChar char="u"/>
              <a:defRPr/>
            </a:pPr>
            <a:r>
              <a:rPr lang="en-US" dirty="0"/>
              <a:t>Vocational training? </a:t>
            </a:r>
          </a:p>
          <a:p>
            <a:pPr marL="800100" lvl="1" indent="-342900" algn="just">
              <a:lnSpc>
                <a:spcPct val="100000"/>
              </a:lnSpc>
              <a:spcBef>
                <a:spcPts val="1800"/>
              </a:spcBef>
              <a:buClr>
                <a:srgbClr val="973735"/>
              </a:buClr>
              <a:buSzPct val="50000"/>
              <a:buFont typeface="Wingdings" pitchFamily="2" charset="2"/>
              <a:buChar char="u"/>
              <a:defRPr/>
            </a:pPr>
            <a:r>
              <a:rPr lang="en-US" dirty="0"/>
              <a:t>University level degrees? </a:t>
            </a:r>
          </a:p>
          <a:p>
            <a:pPr marL="800100" lvl="1" indent="-342900" algn="just">
              <a:lnSpc>
                <a:spcPct val="100000"/>
              </a:lnSpc>
              <a:spcBef>
                <a:spcPts val="1800"/>
              </a:spcBef>
              <a:buClr>
                <a:srgbClr val="973735"/>
              </a:buClr>
              <a:buSzPct val="50000"/>
              <a:buFont typeface="Wingdings" pitchFamily="2" charset="2"/>
              <a:buChar char="u"/>
              <a:defRPr/>
            </a:pPr>
            <a:r>
              <a:rPr lang="en-US" dirty="0"/>
              <a:t>Professional development? </a:t>
            </a:r>
          </a:p>
          <a:p>
            <a:pPr marL="800100" lvl="1" indent="-342900" algn="just">
              <a:lnSpc>
                <a:spcPct val="100000"/>
              </a:lnSpc>
              <a:spcBef>
                <a:spcPts val="1800"/>
              </a:spcBef>
              <a:buClr>
                <a:srgbClr val="973735"/>
              </a:buClr>
              <a:buSzPct val="50000"/>
              <a:buFont typeface="Wingdings" pitchFamily="2" charset="2"/>
              <a:buChar char="u"/>
              <a:defRPr/>
            </a:pPr>
            <a:r>
              <a:rPr lang="en-US" dirty="0"/>
              <a:t>Mentoring by peers? </a:t>
            </a:r>
          </a:p>
          <a:p>
            <a:pPr marL="342900" indent="-342900" algn="just">
              <a:lnSpc>
                <a:spcPct val="100000"/>
              </a:lnSpc>
              <a:spcBef>
                <a:spcPts val="1800"/>
              </a:spcBef>
              <a:buClr>
                <a:srgbClr val="973735"/>
              </a:buClr>
              <a:buSzPct val="50000"/>
              <a:buFont typeface="Wingdings" pitchFamily="2" charset="2"/>
              <a:buChar char="u"/>
              <a:defRPr/>
            </a:pPr>
            <a:r>
              <a:rPr lang="en-US" sz="2600" dirty="0"/>
              <a:t>The easier it is to train someone ‘up’ to assume these responsibilities, the less the risk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577531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756571" cy="4816106"/>
          </a:xfrm>
        </p:spPr>
        <p:txBody>
          <a:bodyPr>
            <a:normAutofit/>
          </a:bodyPr>
          <a:lstStyle/>
          <a:p>
            <a:pPr marL="0" indent="0" algn="just">
              <a:lnSpc>
                <a:spcPct val="100000"/>
              </a:lnSpc>
              <a:spcBef>
                <a:spcPts val="1800"/>
              </a:spcBef>
              <a:buClr>
                <a:srgbClr val="973735"/>
              </a:buClr>
              <a:buSzPct val="50000"/>
              <a:buNone/>
              <a:defRPr/>
            </a:pPr>
            <a:r>
              <a:rPr lang="en-US" b="1" dirty="0"/>
              <a:t>Difficulty of recruiting </a:t>
            </a:r>
          </a:p>
          <a:p>
            <a:pPr marL="342900" indent="-342900" algn="just">
              <a:lnSpc>
                <a:spcPct val="100000"/>
              </a:lnSpc>
              <a:spcBef>
                <a:spcPts val="1800"/>
              </a:spcBef>
              <a:buClr>
                <a:srgbClr val="973735"/>
              </a:buClr>
              <a:buSzPct val="50000"/>
              <a:buFont typeface="Wingdings" pitchFamily="2" charset="2"/>
              <a:buChar char="u"/>
              <a:defRPr/>
            </a:pPr>
            <a:r>
              <a:rPr lang="en-US" sz="2600" dirty="0"/>
              <a:t>How easy or hard is it to find and hire people with this type of expertise? </a:t>
            </a:r>
          </a:p>
          <a:p>
            <a:pPr marL="800100" lvl="1" indent="-342900" algn="just">
              <a:lnSpc>
                <a:spcPct val="100000"/>
              </a:lnSpc>
              <a:spcBef>
                <a:spcPts val="1800"/>
              </a:spcBef>
              <a:buClr>
                <a:srgbClr val="973735"/>
              </a:buClr>
              <a:buSzPct val="50000"/>
              <a:buFont typeface="Wingdings" pitchFamily="2" charset="2"/>
              <a:buChar char="u"/>
              <a:defRPr/>
            </a:pPr>
            <a:r>
              <a:rPr lang="en-US" dirty="0"/>
              <a:t>Graduates – number per year </a:t>
            </a:r>
          </a:p>
          <a:p>
            <a:pPr marL="800100" lvl="1" indent="-342900" algn="just">
              <a:lnSpc>
                <a:spcPct val="100000"/>
              </a:lnSpc>
              <a:spcBef>
                <a:spcPts val="1800"/>
              </a:spcBef>
              <a:buClr>
                <a:srgbClr val="973735"/>
              </a:buClr>
              <a:buSzPct val="50000"/>
              <a:buFont typeface="Wingdings" pitchFamily="2" charset="2"/>
              <a:buChar char="u"/>
              <a:defRPr/>
            </a:pPr>
            <a:r>
              <a:rPr lang="en-US" dirty="0"/>
              <a:t>Ability to compete for qualified recruits </a:t>
            </a:r>
          </a:p>
          <a:p>
            <a:pPr marL="800100" lvl="1" indent="-342900" algn="just">
              <a:lnSpc>
                <a:spcPct val="100000"/>
              </a:lnSpc>
              <a:spcBef>
                <a:spcPts val="1800"/>
              </a:spcBef>
              <a:buClr>
                <a:srgbClr val="973735"/>
              </a:buClr>
              <a:buSzPct val="50000"/>
              <a:buFont typeface="Wingdings" pitchFamily="2" charset="2"/>
              <a:buChar char="u"/>
              <a:defRPr/>
            </a:pPr>
            <a:r>
              <a:rPr lang="en-US" dirty="0"/>
              <a:t>Ability to retain talent </a:t>
            </a:r>
          </a:p>
          <a:p>
            <a:pPr marL="342900" indent="-342900" algn="just">
              <a:lnSpc>
                <a:spcPct val="100000"/>
              </a:lnSpc>
              <a:spcBef>
                <a:spcPts val="1800"/>
              </a:spcBef>
              <a:buClr>
                <a:srgbClr val="973735"/>
              </a:buClr>
              <a:buSzPct val="50000"/>
              <a:buFont typeface="Wingdings" pitchFamily="2" charset="2"/>
              <a:buChar char="u"/>
              <a:defRPr/>
            </a:pPr>
            <a:r>
              <a:rPr lang="en-US" sz="2600" dirty="0"/>
              <a:t>For example, some sectors have difficulty attracting younger workers (Gen X, Y - millennials millennials) due to ) due to their less then rich IT environment or less than evolved organizational culture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921105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b="1" dirty="0"/>
              <a:t>Uniqueness </a:t>
            </a:r>
          </a:p>
          <a:p>
            <a:pPr marL="342900" indent="-342900" algn="just">
              <a:lnSpc>
                <a:spcPct val="100000"/>
              </a:lnSpc>
              <a:spcBef>
                <a:spcPts val="1800"/>
              </a:spcBef>
              <a:buClr>
                <a:srgbClr val="973735"/>
              </a:buClr>
              <a:buSzPct val="50000"/>
              <a:buFont typeface="Wingdings" pitchFamily="2" charset="2"/>
              <a:buChar char="u"/>
              <a:defRPr/>
            </a:pPr>
            <a:r>
              <a:rPr lang="en-US" sz="2600" dirty="0"/>
              <a:t>Level of diffusion or extent to which this expertise is shared within the organization.</a:t>
            </a:r>
          </a:p>
          <a:p>
            <a:pPr marL="800100" lvl="1" indent="-342900" algn="just">
              <a:lnSpc>
                <a:spcPct val="100000"/>
              </a:lnSpc>
              <a:spcBef>
                <a:spcPts val="1800"/>
              </a:spcBef>
              <a:buClr>
                <a:srgbClr val="973735"/>
              </a:buClr>
              <a:buSzPct val="50000"/>
              <a:buFont typeface="Wingdings" pitchFamily="2" charset="2"/>
              <a:buChar char="u"/>
              <a:defRPr/>
            </a:pPr>
            <a:r>
              <a:rPr lang="en-US" dirty="0"/>
              <a:t>How many people have the same type of expertise and can perform at the same level (e.g. mastery or very advanced skillset)?</a:t>
            </a:r>
          </a:p>
          <a:p>
            <a:pPr marL="800100" lvl="1" indent="-342900" algn="just">
              <a:lnSpc>
                <a:spcPct val="100000"/>
              </a:lnSpc>
              <a:spcBef>
                <a:spcPts val="1800"/>
              </a:spcBef>
              <a:buClr>
                <a:srgbClr val="973735"/>
              </a:buClr>
              <a:buSzPct val="50000"/>
              <a:buFont typeface="Wingdings" pitchFamily="2" charset="2"/>
              <a:buChar char="u"/>
              <a:defRPr/>
            </a:pPr>
            <a:r>
              <a:rPr lang="en-US" dirty="0"/>
              <a:t>If only one, then it is unique and it is at the greatest risk. </a:t>
            </a:r>
          </a:p>
          <a:p>
            <a:pPr marL="800100" lvl="1" indent="-342900" algn="just">
              <a:lnSpc>
                <a:spcPct val="100000"/>
              </a:lnSpc>
              <a:spcBef>
                <a:spcPts val="1800"/>
              </a:spcBef>
              <a:buClr>
                <a:srgbClr val="973735"/>
              </a:buClr>
              <a:buSzPct val="50000"/>
              <a:buFont typeface="Wingdings" pitchFamily="2" charset="2"/>
              <a:buChar char="u"/>
              <a:defRPr/>
            </a:pPr>
            <a:r>
              <a:rPr lang="en-US" dirty="0"/>
              <a:t>If shared by other similar professionals (e.g. within a network of community of professionals), then the risk is much less much less.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2616551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2400"/>
              </a:spcBef>
              <a:buClr>
                <a:srgbClr val="973735"/>
              </a:buClr>
              <a:buSzPct val="50000"/>
              <a:buNone/>
              <a:defRPr/>
            </a:pPr>
            <a:r>
              <a:rPr lang="en-US" b="1" dirty="0"/>
              <a:t>Ability to subcontract </a:t>
            </a:r>
          </a:p>
          <a:p>
            <a:pPr marL="342900" indent="-342900" algn="just">
              <a:lnSpc>
                <a:spcPct val="100000"/>
              </a:lnSpc>
              <a:spcBef>
                <a:spcPts val="2400"/>
              </a:spcBef>
              <a:buClr>
                <a:srgbClr val="973735"/>
              </a:buClr>
              <a:buSzPct val="50000"/>
              <a:buFont typeface="Wingdings" pitchFamily="2" charset="2"/>
              <a:buChar char="u"/>
              <a:defRPr/>
            </a:pPr>
            <a:r>
              <a:rPr lang="en-US" sz="2600" dirty="0"/>
              <a:t>How easy is it to find someone or a company to subcontract some or all of these tasks? </a:t>
            </a:r>
          </a:p>
          <a:p>
            <a:pPr marL="800100" lvl="1" indent="-342900" algn="just">
              <a:lnSpc>
                <a:spcPct val="100000"/>
              </a:lnSpc>
              <a:spcBef>
                <a:spcPts val="2400"/>
              </a:spcBef>
              <a:buClr>
                <a:srgbClr val="973735"/>
              </a:buClr>
              <a:buSzPct val="50000"/>
              <a:buFont typeface="Wingdings" pitchFamily="2" charset="2"/>
              <a:buChar char="u"/>
              <a:defRPr/>
            </a:pPr>
            <a:r>
              <a:rPr lang="en-US" dirty="0"/>
              <a:t>In other words, how much is this type of expertise available outside the organization? Diffused throughout an industry? Service provided by consultants? </a:t>
            </a:r>
          </a:p>
          <a:p>
            <a:pPr marL="800100" lvl="1" indent="-342900" algn="just">
              <a:lnSpc>
                <a:spcPct val="100000"/>
              </a:lnSpc>
              <a:spcBef>
                <a:spcPts val="2400"/>
              </a:spcBef>
              <a:buClr>
                <a:srgbClr val="973735"/>
              </a:buClr>
              <a:buSzPct val="50000"/>
              <a:buFont typeface="Wingdings" pitchFamily="2" charset="2"/>
              <a:buChar char="u"/>
              <a:defRPr/>
            </a:pPr>
            <a:r>
              <a:rPr lang="en-US" dirty="0"/>
              <a:t>Remember: not just technical skills but soft skills, strategic expertise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026423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2400"/>
              </a:spcBef>
              <a:buClr>
                <a:srgbClr val="973735"/>
              </a:buClr>
              <a:buSzPct val="50000"/>
              <a:buNone/>
              <a:defRPr/>
            </a:pPr>
            <a:r>
              <a:rPr lang="en-US" b="1" dirty="0"/>
              <a:t>Last but not least: Consequences </a:t>
            </a:r>
          </a:p>
          <a:p>
            <a:pPr marL="342900" indent="-342900" algn="just">
              <a:lnSpc>
                <a:spcPct val="100000"/>
              </a:lnSpc>
              <a:spcBef>
                <a:spcPts val="2400"/>
              </a:spcBef>
              <a:buClr>
                <a:srgbClr val="973735"/>
              </a:buClr>
              <a:buSzPct val="50000"/>
              <a:buFont typeface="Wingdings" pitchFamily="2" charset="2"/>
              <a:buChar char="u"/>
              <a:defRPr/>
            </a:pPr>
            <a:r>
              <a:rPr lang="en-US" sz="2600" dirty="0"/>
              <a:t>What are the consequences of not doing these tasks well?</a:t>
            </a:r>
          </a:p>
          <a:p>
            <a:pPr marL="800100" lvl="1" indent="-342900" algn="just">
              <a:lnSpc>
                <a:spcPct val="100000"/>
              </a:lnSpc>
              <a:spcBef>
                <a:spcPts val="2400"/>
              </a:spcBef>
              <a:buClr>
                <a:srgbClr val="973735"/>
              </a:buClr>
              <a:buSzPct val="50000"/>
              <a:buFont typeface="Wingdings" pitchFamily="2" charset="2"/>
              <a:buChar char="u"/>
              <a:defRPr/>
            </a:pPr>
            <a:r>
              <a:rPr lang="en-US" dirty="0"/>
              <a:t>Mission - critical?</a:t>
            </a:r>
          </a:p>
          <a:p>
            <a:pPr marL="800100" lvl="1" indent="-342900" algn="just">
              <a:lnSpc>
                <a:spcPct val="100000"/>
              </a:lnSpc>
              <a:spcBef>
                <a:spcPts val="2400"/>
              </a:spcBef>
              <a:buClr>
                <a:srgbClr val="973735"/>
              </a:buClr>
              <a:buSzPct val="50000"/>
              <a:buFont typeface="Wingdings" pitchFamily="2" charset="2"/>
              <a:buChar char="u"/>
              <a:defRPr/>
            </a:pPr>
            <a:r>
              <a:rPr lang="en-US" dirty="0"/>
              <a:t>Life-threatening? </a:t>
            </a:r>
          </a:p>
          <a:p>
            <a:pPr marL="800100" lvl="1" indent="-342900" algn="just">
              <a:lnSpc>
                <a:spcPct val="100000"/>
              </a:lnSpc>
              <a:spcBef>
                <a:spcPts val="2400"/>
              </a:spcBef>
              <a:buClr>
                <a:srgbClr val="973735"/>
              </a:buClr>
              <a:buSzPct val="50000"/>
              <a:buFont typeface="Wingdings" pitchFamily="2" charset="2"/>
              <a:buChar char="u"/>
              <a:defRPr/>
            </a:pPr>
            <a:r>
              <a:rPr lang="en-US" dirty="0"/>
              <a:t>What if they are done but not done well - suboptimal performance? </a:t>
            </a:r>
          </a:p>
          <a:p>
            <a:pPr marL="800100" lvl="1" indent="-342900" algn="just">
              <a:lnSpc>
                <a:spcPct val="100000"/>
              </a:lnSpc>
              <a:spcBef>
                <a:spcPts val="2400"/>
              </a:spcBef>
              <a:buClr>
                <a:srgbClr val="973735"/>
              </a:buClr>
              <a:buSzPct val="50000"/>
              <a:buFont typeface="Wingdings" pitchFamily="2" charset="2"/>
              <a:buChar char="u"/>
              <a:defRPr/>
            </a:pPr>
            <a:r>
              <a:rPr lang="en-US" dirty="0"/>
              <a:t>Impact on reputation Impact on reputation - media coverage etc. media coverage etc.</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832059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971176" cy="4716329"/>
          </a:xfrm>
        </p:spPr>
        <p:txBody>
          <a:bodyPr>
            <a:normAutofit lnSpcReduction="10000"/>
          </a:bodyPr>
          <a:lstStyle/>
          <a:p>
            <a:pPr marL="0" indent="0" algn="just">
              <a:lnSpc>
                <a:spcPct val="100000"/>
              </a:lnSpc>
              <a:spcBef>
                <a:spcPts val="1800"/>
              </a:spcBef>
              <a:buClr>
                <a:srgbClr val="973735"/>
              </a:buClr>
              <a:buSzPct val="50000"/>
              <a:buNone/>
              <a:defRPr/>
            </a:pPr>
            <a:r>
              <a:rPr lang="en-US" b="1" dirty="0"/>
              <a:t>Knowledge transfer and retention (KT&amp;R) strategies </a:t>
            </a:r>
          </a:p>
          <a:p>
            <a:pPr marL="342900" indent="-342900" algn="just">
              <a:lnSpc>
                <a:spcPct val="100000"/>
              </a:lnSpc>
              <a:spcBef>
                <a:spcPts val="1800"/>
              </a:spcBef>
              <a:buClr>
                <a:srgbClr val="973735"/>
              </a:buClr>
              <a:buSzPct val="50000"/>
              <a:buFont typeface="Wingdings" pitchFamily="2" charset="2"/>
              <a:buChar char="u"/>
              <a:defRPr/>
            </a:pPr>
            <a:r>
              <a:rPr lang="en-US" sz="2600" dirty="0"/>
              <a:t>How to select the best knowledge transfer and retention strategy? </a:t>
            </a:r>
          </a:p>
          <a:p>
            <a:pPr marL="342900" indent="-342900" algn="just">
              <a:lnSpc>
                <a:spcPct val="100000"/>
              </a:lnSpc>
              <a:spcBef>
                <a:spcPts val="1800"/>
              </a:spcBef>
              <a:buClr>
                <a:srgbClr val="973735"/>
              </a:buClr>
              <a:buSzPct val="50000"/>
              <a:buFont typeface="Wingdings" pitchFamily="2" charset="2"/>
              <a:buChar char="u"/>
              <a:defRPr/>
            </a:pPr>
            <a:r>
              <a:rPr lang="en-US" sz="2600" dirty="0"/>
              <a:t>Question #1: How well documented is the knowledge today?</a:t>
            </a:r>
          </a:p>
          <a:p>
            <a:pPr marL="800100" lvl="1" indent="-342900" algn="just">
              <a:lnSpc>
                <a:spcPct val="100000"/>
              </a:lnSpc>
              <a:spcBef>
                <a:spcPts val="1800"/>
              </a:spcBef>
              <a:buClr>
                <a:srgbClr val="973735"/>
              </a:buClr>
              <a:buSzPct val="50000"/>
              <a:buFont typeface="Wingdings" pitchFamily="2" charset="2"/>
              <a:buChar char="u"/>
              <a:defRPr/>
            </a:pPr>
            <a:r>
              <a:rPr lang="en-US" dirty="0"/>
              <a:t>Aide memory or a how-to fact sheet</a:t>
            </a:r>
          </a:p>
          <a:p>
            <a:pPr marL="342900" indent="-342900" algn="just">
              <a:lnSpc>
                <a:spcPct val="100000"/>
              </a:lnSpc>
              <a:spcBef>
                <a:spcPts val="1800"/>
              </a:spcBef>
              <a:buClr>
                <a:srgbClr val="973735"/>
              </a:buClr>
              <a:buSzPct val="50000"/>
              <a:buFont typeface="Wingdings" pitchFamily="2" charset="2"/>
              <a:buChar char="u"/>
              <a:defRPr/>
            </a:pPr>
            <a:r>
              <a:rPr lang="en-US" sz="2600" dirty="0"/>
              <a:t>Question #2: How many other people have this knowledge? </a:t>
            </a:r>
          </a:p>
          <a:p>
            <a:pPr marL="800100" lvl="1" indent="-342900" algn="just">
              <a:lnSpc>
                <a:spcPct val="100000"/>
              </a:lnSpc>
              <a:spcBef>
                <a:spcPts val="1800"/>
              </a:spcBef>
              <a:buClr>
                <a:srgbClr val="973735"/>
              </a:buClr>
              <a:buSzPct val="50000"/>
              <a:buFont typeface="Wingdings" pitchFamily="2" charset="2"/>
              <a:buChar char="u"/>
              <a:defRPr/>
            </a:pPr>
            <a:r>
              <a:rPr lang="en-US" dirty="0"/>
              <a:t>How diffused is it through your organization? </a:t>
            </a:r>
          </a:p>
          <a:p>
            <a:pPr marL="342900" indent="-342900" algn="just">
              <a:lnSpc>
                <a:spcPct val="100000"/>
              </a:lnSpc>
              <a:spcBef>
                <a:spcPts val="1800"/>
              </a:spcBef>
              <a:buClr>
                <a:srgbClr val="973735"/>
              </a:buClr>
              <a:buSzPct val="50000"/>
              <a:buFont typeface="Wingdings" pitchFamily="2" charset="2"/>
              <a:buChar char="u"/>
              <a:defRPr/>
            </a:pPr>
            <a:r>
              <a:rPr lang="en-US" sz="2600" dirty="0"/>
              <a:t>Question #3: How much time do you have to do the KT&amp;R?</a:t>
            </a:r>
          </a:p>
          <a:p>
            <a:pPr marL="800100" lvl="1" indent="-342900" algn="just">
              <a:lnSpc>
                <a:spcPct val="100000"/>
              </a:lnSpc>
              <a:spcBef>
                <a:spcPts val="1800"/>
              </a:spcBef>
              <a:buClr>
                <a:srgbClr val="973735"/>
              </a:buClr>
              <a:buSzPct val="50000"/>
              <a:buFont typeface="Wingdings" pitchFamily="2" charset="2"/>
              <a:buChar char="u"/>
              <a:defRPr/>
            </a:pPr>
            <a:r>
              <a:rPr lang="en-US" dirty="0"/>
              <a:t>3 years phased retirement or 2 weeks notice?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468006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5605670" cy="4255275"/>
          </a:xfrm>
        </p:spPr>
        <p:txBody>
          <a:bodyPr>
            <a:normAutofit/>
          </a:bodyPr>
          <a:lstStyle/>
          <a:p>
            <a:pPr marL="0" indent="0" algn="just">
              <a:lnSpc>
                <a:spcPct val="100000"/>
              </a:lnSpc>
              <a:spcBef>
                <a:spcPts val="1800"/>
              </a:spcBef>
              <a:buClr>
                <a:srgbClr val="973735"/>
              </a:buClr>
              <a:buSzPct val="50000"/>
              <a:buNone/>
              <a:defRPr/>
            </a:pPr>
            <a:r>
              <a:rPr lang="en-US" b="1" dirty="0"/>
              <a:t>If not documented</a:t>
            </a:r>
          </a:p>
          <a:p>
            <a:pPr marL="342900" indent="-342900" algn="just">
              <a:lnSpc>
                <a:spcPct val="100000"/>
              </a:lnSpc>
              <a:spcBef>
                <a:spcPts val="1800"/>
              </a:spcBef>
              <a:buClr>
                <a:srgbClr val="973735"/>
              </a:buClr>
              <a:buSzPct val="50000"/>
              <a:buFont typeface="Wingdings" pitchFamily="2" charset="2"/>
              <a:buChar char="u"/>
              <a:defRPr/>
            </a:pPr>
            <a:r>
              <a:rPr lang="en-US" sz="2400" dirty="0"/>
              <a:t>Knowledge mapping or knowledge codification </a:t>
            </a:r>
          </a:p>
          <a:p>
            <a:pPr marL="342900" indent="-342900" algn="just">
              <a:lnSpc>
                <a:spcPct val="100000"/>
              </a:lnSpc>
              <a:spcBef>
                <a:spcPts val="1800"/>
              </a:spcBef>
              <a:buClr>
                <a:srgbClr val="973735"/>
              </a:buClr>
              <a:buSzPct val="50000"/>
              <a:buFont typeface="Wingdings" pitchFamily="2" charset="2"/>
              <a:buChar char="u"/>
              <a:defRPr/>
            </a:pPr>
            <a:r>
              <a:rPr lang="en-US" sz="2400" dirty="0"/>
              <a:t>After action review or post -mortem</a:t>
            </a:r>
          </a:p>
          <a:p>
            <a:pPr marL="342900" indent="-342900" algn="just">
              <a:lnSpc>
                <a:spcPct val="100000"/>
              </a:lnSpc>
              <a:spcBef>
                <a:spcPts val="1800"/>
              </a:spcBef>
              <a:buClr>
                <a:srgbClr val="973735"/>
              </a:buClr>
              <a:buSzPct val="50000"/>
              <a:buFont typeface="Wingdings" pitchFamily="2" charset="2"/>
              <a:buChar char="u"/>
              <a:defRPr/>
            </a:pPr>
            <a:r>
              <a:rPr lang="en-US" sz="2400" dirty="0"/>
              <a:t>Storytelling</a:t>
            </a:r>
          </a:p>
          <a:p>
            <a:pPr marL="342900" indent="-342900" algn="just">
              <a:lnSpc>
                <a:spcPct val="100000"/>
              </a:lnSpc>
              <a:spcBef>
                <a:spcPts val="1800"/>
              </a:spcBef>
              <a:buClr>
                <a:srgbClr val="973735"/>
              </a:buClr>
              <a:buSzPct val="50000"/>
              <a:buFont typeface="Wingdings" pitchFamily="2" charset="2"/>
              <a:buChar char="u"/>
              <a:defRPr/>
            </a:pPr>
            <a:r>
              <a:rPr lang="en-US" sz="2400" dirty="0"/>
              <a:t>Group problem solving</a:t>
            </a:r>
          </a:p>
          <a:p>
            <a:pPr marL="342900" indent="-342900" algn="just">
              <a:lnSpc>
                <a:spcPct val="100000"/>
              </a:lnSpc>
              <a:spcBef>
                <a:spcPts val="1800"/>
              </a:spcBef>
              <a:buClr>
                <a:srgbClr val="973735"/>
              </a:buClr>
              <a:buSzPct val="50000"/>
              <a:buFont typeface="Wingdings" pitchFamily="2" charset="2"/>
              <a:buChar char="u"/>
              <a:defRPr/>
            </a:pPr>
            <a:r>
              <a:rPr lang="en-US" sz="2400" dirty="0"/>
              <a:t>Communities of practice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
        <p:nvSpPr>
          <p:cNvPr id="2" name="Content Placeholder 3">
            <a:extLst>
              <a:ext uri="{FF2B5EF4-FFF2-40B4-BE49-F238E27FC236}">
                <a16:creationId xmlns:a16="http://schemas.microsoft.com/office/drawing/2014/main" id="{D556FADD-8C97-590C-7637-170E3E28A3BB}"/>
              </a:ext>
            </a:extLst>
          </p:cNvPr>
          <p:cNvSpPr txBox="1">
            <a:spLocks/>
          </p:cNvSpPr>
          <p:nvPr/>
        </p:nvSpPr>
        <p:spPr>
          <a:xfrm>
            <a:off x="6371027" y="2335956"/>
            <a:ext cx="5605670" cy="4255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800"/>
              </a:spcBef>
              <a:buClr>
                <a:srgbClr val="973735"/>
              </a:buClr>
              <a:buSzPct val="50000"/>
              <a:buFont typeface="Wingdings" pitchFamily="2" charset="2"/>
              <a:buChar char="u"/>
              <a:defRPr/>
            </a:pPr>
            <a:r>
              <a:rPr lang="en-US" sz="2400" dirty="0"/>
              <a:t>Social network analysis </a:t>
            </a:r>
          </a:p>
          <a:p>
            <a:pPr marL="342900" indent="-342900" algn="just">
              <a:lnSpc>
                <a:spcPct val="100000"/>
              </a:lnSpc>
              <a:spcBef>
                <a:spcPts val="1800"/>
              </a:spcBef>
              <a:buClr>
                <a:srgbClr val="973735"/>
              </a:buClr>
              <a:buSzPct val="50000"/>
              <a:buFont typeface="Wingdings" pitchFamily="2" charset="2"/>
              <a:buChar char="u"/>
              <a:defRPr/>
            </a:pPr>
            <a:r>
              <a:rPr lang="en-US" sz="2400" dirty="0"/>
              <a:t>Yellow pages or expertise location system </a:t>
            </a:r>
          </a:p>
          <a:p>
            <a:pPr marL="342900" indent="-342900" algn="just">
              <a:lnSpc>
                <a:spcPct val="100000"/>
              </a:lnSpc>
              <a:spcBef>
                <a:spcPts val="1800"/>
              </a:spcBef>
              <a:buClr>
                <a:srgbClr val="973735"/>
              </a:buClr>
              <a:buSzPct val="50000"/>
              <a:buFont typeface="Wingdings" pitchFamily="2" charset="2"/>
              <a:buChar char="u"/>
              <a:defRPr/>
            </a:pPr>
            <a:r>
              <a:rPr lang="en-US" sz="2400" dirty="0"/>
              <a:t>Portal or organizational memory </a:t>
            </a:r>
          </a:p>
          <a:p>
            <a:pPr marL="342900" indent="-342900" algn="just">
              <a:lnSpc>
                <a:spcPct val="100000"/>
              </a:lnSpc>
              <a:spcBef>
                <a:spcPts val="1800"/>
              </a:spcBef>
              <a:buClr>
                <a:srgbClr val="973735"/>
              </a:buClr>
              <a:buSzPct val="50000"/>
              <a:buFont typeface="Wingdings" pitchFamily="2" charset="2"/>
              <a:buChar char="u"/>
              <a:defRPr/>
            </a:pPr>
            <a:r>
              <a:rPr lang="en-US" sz="2400" dirty="0"/>
              <a:t>Simulation e.g. pandemic </a:t>
            </a:r>
          </a:p>
          <a:p>
            <a:pPr marL="342900" indent="-342900" algn="just">
              <a:lnSpc>
                <a:spcPct val="100000"/>
              </a:lnSpc>
              <a:spcBef>
                <a:spcPts val="1800"/>
              </a:spcBef>
              <a:buClr>
                <a:srgbClr val="973735"/>
              </a:buClr>
              <a:buSzPct val="50000"/>
              <a:buFont typeface="Wingdings" pitchFamily="2" charset="2"/>
              <a:buChar char="u"/>
              <a:defRPr/>
            </a:pPr>
            <a:r>
              <a:rPr lang="en-US" sz="2400" dirty="0"/>
              <a:t>Mentoring, peer mentoring, coaching, job shadowing </a:t>
            </a:r>
          </a:p>
        </p:txBody>
      </p:sp>
    </p:spTree>
    <p:extLst>
      <p:ext uri="{BB962C8B-B14F-4D97-AF65-F5344CB8AC3E}">
        <p14:creationId xmlns:p14="http://schemas.microsoft.com/office/powerpoint/2010/main" val="3227740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b="1" dirty="0"/>
              <a:t>Post-mortem project mortem project review (PPR) </a:t>
            </a:r>
          </a:p>
          <a:p>
            <a:pPr marL="342900" indent="-342900" algn="just">
              <a:lnSpc>
                <a:spcPct val="100000"/>
              </a:lnSpc>
              <a:spcBef>
                <a:spcPts val="1800"/>
              </a:spcBef>
              <a:buClr>
                <a:srgbClr val="973735"/>
              </a:buClr>
              <a:buSzPct val="50000"/>
              <a:buFont typeface="Wingdings" pitchFamily="2" charset="2"/>
              <a:buChar char="u"/>
              <a:defRPr/>
            </a:pPr>
            <a:r>
              <a:rPr lang="en-US" sz="2600" dirty="0"/>
              <a:t>First, meet with project managers to get their perspective on:</a:t>
            </a:r>
          </a:p>
          <a:p>
            <a:pPr marL="800100" lvl="1" indent="-342900" algn="just">
              <a:lnSpc>
                <a:spcPct val="100000"/>
              </a:lnSpc>
              <a:spcBef>
                <a:spcPts val="1800"/>
              </a:spcBef>
              <a:buClr>
                <a:srgbClr val="973735"/>
              </a:buClr>
              <a:buSzPct val="50000"/>
              <a:buFont typeface="Wingdings" pitchFamily="2" charset="2"/>
              <a:buChar char="u"/>
              <a:defRPr/>
            </a:pPr>
            <a:r>
              <a:rPr lang="en-US" dirty="0"/>
              <a:t>What went as expected (routine)? </a:t>
            </a:r>
          </a:p>
          <a:p>
            <a:pPr marL="800100" lvl="1" indent="-342900" algn="just">
              <a:lnSpc>
                <a:spcPct val="100000"/>
              </a:lnSpc>
              <a:spcBef>
                <a:spcPts val="1800"/>
              </a:spcBef>
              <a:buClr>
                <a:srgbClr val="973735"/>
              </a:buClr>
              <a:buSzPct val="50000"/>
              <a:buFont typeface="Wingdings" pitchFamily="2" charset="2"/>
              <a:buChar char="u"/>
              <a:defRPr/>
            </a:pPr>
            <a:r>
              <a:rPr lang="en-US" dirty="0"/>
              <a:t>What was unexpected? </a:t>
            </a:r>
          </a:p>
          <a:p>
            <a:pPr marL="800100" lvl="1" indent="-342900" algn="just">
              <a:lnSpc>
                <a:spcPct val="100000"/>
              </a:lnSpc>
              <a:spcBef>
                <a:spcPts val="1800"/>
              </a:spcBef>
              <a:buClr>
                <a:srgbClr val="973735"/>
              </a:buClr>
              <a:buSzPct val="50000"/>
              <a:buFont typeface="Wingdings" pitchFamily="2" charset="2"/>
              <a:buChar char="u"/>
              <a:defRPr/>
            </a:pPr>
            <a:r>
              <a:rPr lang="en-US" dirty="0"/>
              <a:t>What went well? Better than expected? (innovations) </a:t>
            </a:r>
          </a:p>
          <a:p>
            <a:pPr marL="800100" lvl="1" indent="-342900" algn="just">
              <a:lnSpc>
                <a:spcPct val="100000"/>
              </a:lnSpc>
              <a:spcBef>
                <a:spcPts val="1800"/>
              </a:spcBef>
              <a:buClr>
                <a:srgbClr val="973735"/>
              </a:buClr>
              <a:buSzPct val="50000"/>
              <a:buFont typeface="Wingdings" pitchFamily="2" charset="2"/>
              <a:buChar char="u"/>
              <a:defRPr/>
            </a:pPr>
            <a:r>
              <a:rPr lang="en-US" dirty="0"/>
              <a:t>What did not go as well as expected and how can we ensure do better next time (lessons learned)?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974482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800"/>
              </a:spcBef>
              <a:buClr>
                <a:srgbClr val="973735"/>
              </a:buClr>
              <a:buSzPct val="50000"/>
              <a:buNone/>
              <a:defRPr/>
            </a:pPr>
            <a:r>
              <a:rPr lang="en-US" b="1" dirty="0"/>
              <a:t>Post-mortem project mortem project review (PPR) </a:t>
            </a:r>
          </a:p>
          <a:p>
            <a:pPr marL="342900" indent="-342900" algn="just">
              <a:lnSpc>
                <a:spcPct val="100000"/>
              </a:lnSpc>
              <a:spcBef>
                <a:spcPts val="1800"/>
              </a:spcBef>
              <a:buClr>
                <a:srgbClr val="973735"/>
              </a:buClr>
              <a:buSzPct val="50000"/>
              <a:buFont typeface="Wingdings" pitchFamily="2" charset="2"/>
              <a:buChar char="u"/>
              <a:defRPr/>
            </a:pPr>
            <a:r>
              <a:rPr lang="en-US" sz="2600" dirty="0"/>
              <a:t>Next have a facilitated session with the project team and ask the same questions </a:t>
            </a:r>
          </a:p>
          <a:p>
            <a:pPr marL="800100" lvl="1" indent="-342900" algn="just">
              <a:lnSpc>
                <a:spcPct val="100000"/>
              </a:lnSpc>
              <a:spcBef>
                <a:spcPts val="1800"/>
              </a:spcBef>
              <a:buClr>
                <a:srgbClr val="973735"/>
              </a:buClr>
              <a:buSzPct val="50000"/>
              <a:buFont typeface="Wingdings" pitchFamily="2" charset="2"/>
              <a:buChar char="u"/>
              <a:defRPr/>
            </a:pPr>
            <a:r>
              <a:rPr lang="en-US" dirty="0"/>
              <a:t>Facilitator should be neutral – should ensure everyone has a voice and feels  “safe” during discussion </a:t>
            </a:r>
          </a:p>
          <a:p>
            <a:pPr marL="342900" indent="-342900" algn="just">
              <a:lnSpc>
                <a:spcPct val="100000"/>
              </a:lnSpc>
              <a:spcBef>
                <a:spcPts val="1800"/>
              </a:spcBef>
              <a:buClr>
                <a:srgbClr val="973735"/>
              </a:buClr>
              <a:buSzPct val="50000"/>
              <a:buFont typeface="Wingdings" pitchFamily="2" charset="2"/>
              <a:buChar char="u"/>
              <a:defRPr/>
            </a:pPr>
            <a:r>
              <a:rPr lang="en-US" sz="2600" dirty="0"/>
              <a:t>Document best practices (innovations) and lessons learned </a:t>
            </a:r>
          </a:p>
          <a:p>
            <a:pPr marL="342900" indent="-342900" algn="just">
              <a:lnSpc>
                <a:spcPct val="100000"/>
              </a:lnSpc>
              <a:spcBef>
                <a:spcPts val="1800"/>
              </a:spcBef>
              <a:buClr>
                <a:srgbClr val="973735"/>
              </a:buClr>
              <a:buSzPct val="50000"/>
              <a:buFont typeface="Wingdings" pitchFamily="2" charset="2"/>
              <a:buChar char="u"/>
              <a:defRPr/>
            </a:pPr>
            <a:r>
              <a:rPr lang="en-US" sz="2600" dirty="0"/>
              <a:t>Diffuse (assess how generalizable and categorize)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2800477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800"/>
              </a:spcBef>
              <a:buClr>
                <a:srgbClr val="973735"/>
              </a:buClr>
              <a:buSzPct val="50000"/>
              <a:buNone/>
              <a:defRPr/>
            </a:pPr>
            <a:r>
              <a:rPr lang="en-US" b="1" dirty="0"/>
              <a:t>If you don’t have time </a:t>
            </a:r>
          </a:p>
          <a:p>
            <a:pPr marL="342900" indent="-342900" algn="just">
              <a:lnSpc>
                <a:spcPct val="100000"/>
              </a:lnSpc>
              <a:spcBef>
                <a:spcPts val="1800"/>
              </a:spcBef>
              <a:buClr>
                <a:srgbClr val="973735"/>
              </a:buClr>
              <a:buSzPct val="50000"/>
              <a:buFont typeface="Wingdings" pitchFamily="2" charset="2"/>
              <a:buChar char="u"/>
              <a:defRPr/>
            </a:pPr>
            <a:r>
              <a:rPr lang="en-US" dirty="0"/>
              <a:t> </a:t>
            </a:r>
            <a:r>
              <a:rPr lang="en-US" sz="2600" dirty="0"/>
              <a:t>If you have less than 2 months: </a:t>
            </a:r>
          </a:p>
          <a:p>
            <a:pPr marL="800100" lvl="1" indent="-342900" algn="just">
              <a:lnSpc>
                <a:spcPct val="100000"/>
              </a:lnSpc>
              <a:spcBef>
                <a:spcPts val="1800"/>
              </a:spcBef>
              <a:buClr>
                <a:srgbClr val="973735"/>
              </a:buClr>
              <a:buSzPct val="50000"/>
              <a:buFont typeface="Wingdings" pitchFamily="2" charset="2"/>
              <a:buChar char="u"/>
              <a:defRPr/>
            </a:pPr>
            <a:r>
              <a:rPr lang="en-US" dirty="0"/>
              <a:t>“Emergency or Rescue Archaeology” method is needed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Map out social network and have incumbent ‘introduce’ and vouch for successor in their professional networks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Who do you ask for help? Who do you ask for help? Who asks you for what type of asks you for what type of help?</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418524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800"/>
              </a:spcBef>
              <a:buClr>
                <a:srgbClr val="973735"/>
              </a:buClr>
              <a:buSzPct val="50000"/>
              <a:buNone/>
              <a:defRPr/>
            </a:pPr>
            <a:r>
              <a:rPr lang="en-US" b="1" dirty="0"/>
              <a:t>If you don’t have time </a:t>
            </a:r>
          </a:p>
          <a:p>
            <a:pPr marL="342900" indent="-342900" algn="just">
              <a:lnSpc>
                <a:spcPct val="100000"/>
              </a:lnSpc>
              <a:spcBef>
                <a:spcPts val="1800"/>
              </a:spcBef>
              <a:buClr>
                <a:srgbClr val="973735"/>
              </a:buClr>
              <a:buSzPct val="50000"/>
              <a:buFont typeface="Wingdings" pitchFamily="2" charset="2"/>
              <a:buChar char="u"/>
              <a:defRPr/>
            </a:pPr>
            <a:r>
              <a:rPr lang="en-US" sz="2600" dirty="0"/>
              <a:t>Good solutions: </a:t>
            </a:r>
          </a:p>
          <a:p>
            <a:pPr marL="800100" lvl="1" indent="-342900" algn="just">
              <a:lnSpc>
                <a:spcPct val="100000"/>
              </a:lnSpc>
              <a:spcBef>
                <a:spcPts val="1800"/>
              </a:spcBef>
              <a:buClr>
                <a:srgbClr val="973735"/>
              </a:buClr>
              <a:buSzPct val="50000"/>
              <a:buFont typeface="Wingdings" pitchFamily="2" charset="2"/>
              <a:buChar char="u"/>
              <a:defRPr/>
            </a:pPr>
            <a:r>
              <a:rPr lang="en-US" dirty="0"/>
              <a:t>Document/map key knowledge, key people that they know </a:t>
            </a:r>
          </a:p>
          <a:p>
            <a:pPr marL="800100" lvl="1" indent="-342900" algn="just">
              <a:lnSpc>
                <a:spcPct val="100000"/>
              </a:lnSpc>
              <a:spcBef>
                <a:spcPts val="1800"/>
              </a:spcBef>
              <a:buClr>
                <a:srgbClr val="973735"/>
              </a:buClr>
              <a:buSzPct val="50000"/>
              <a:buFont typeface="Wingdings" pitchFamily="2" charset="2"/>
              <a:buChar char="u"/>
              <a:defRPr/>
            </a:pPr>
            <a:r>
              <a:rPr lang="en-US" dirty="0"/>
              <a:t>Label everything! </a:t>
            </a:r>
          </a:p>
          <a:p>
            <a:pPr marL="800100" lvl="1" indent="-342900" algn="just">
              <a:lnSpc>
                <a:spcPct val="100000"/>
              </a:lnSpc>
              <a:spcBef>
                <a:spcPts val="1800"/>
              </a:spcBef>
              <a:buClr>
                <a:srgbClr val="973735"/>
              </a:buClr>
              <a:buSzPct val="50000"/>
              <a:buFont typeface="Wingdings" pitchFamily="2" charset="2"/>
              <a:buChar char="u"/>
              <a:defRPr/>
            </a:pPr>
            <a:r>
              <a:rPr lang="en-US" dirty="0"/>
              <a:t>Negotiate staying connected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4132041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800"/>
              </a:spcBef>
              <a:buClr>
                <a:srgbClr val="973735"/>
              </a:buClr>
              <a:buSzPct val="50000"/>
              <a:buNone/>
              <a:defRPr/>
            </a:pPr>
            <a:r>
              <a:rPr lang="en-US" b="1" dirty="0"/>
              <a:t>If knowledge is documented </a:t>
            </a:r>
          </a:p>
          <a:p>
            <a:pPr marL="342900" indent="-342900" algn="just">
              <a:lnSpc>
                <a:spcPct val="100000"/>
              </a:lnSpc>
              <a:spcBef>
                <a:spcPts val="1800"/>
              </a:spcBef>
              <a:buClr>
                <a:srgbClr val="973735"/>
              </a:buClr>
              <a:buSzPct val="50000"/>
              <a:buFont typeface="Wingdings" pitchFamily="2" charset="2"/>
              <a:buChar char="u"/>
              <a:defRPr/>
            </a:pPr>
            <a:r>
              <a:rPr lang="en-US" sz="2600" dirty="0"/>
              <a:t>If already mostly documented, focus on:</a:t>
            </a:r>
          </a:p>
          <a:p>
            <a:pPr marL="800100" lvl="1" indent="-342900" algn="just">
              <a:lnSpc>
                <a:spcPct val="100000"/>
              </a:lnSpc>
              <a:spcBef>
                <a:spcPts val="1800"/>
              </a:spcBef>
              <a:buClr>
                <a:srgbClr val="973735"/>
              </a:buClr>
              <a:buSzPct val="50000"/>
              <a:buFont typeface="Wingdings" pitchFamily="2" charset="2"/>
              <a:buChar char="u"/>
              <a:defRPr/>
            </a:pPr>
            <a:r>
              <a:rPr lang="en-US" dirty="0"/>
              <a:t>Portals, Wikis, Intranet </a:t>
            </a:r>
          </a:p>
          <a:p>
            <a:pPr marL="800100" lvl="1" indent="-342900" algn="just">
              <a:lnSpc>
                <a:spcPct val="100000"/>
              </a:lnSpc>
              <a:spcBef>
                <a:spcPts val="1800"/>
              </a:spcBef>
              <a:buClr>
                <a:srgbClr val="973735"/>
              </a:buClr>
              <a:buSzPct val="50000"/>
              <a:buFont typeface="Wingdings" pitchFamily="2" charset="2"/>
              <a:buChar char="u"/>
              <a:defRPr/>
            </a:pPr>
            <a:r>
              <a:rPr lang="en-US" dirty="0"/>
              <a:t>Taxonomy building to decide how best to organize know - how for easy future access, retrieval and application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Document the context, when to use, when not to use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Bottom-up or consensus up - based knowledge taxonomy for non -official content e.g. work in progress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762284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2"/>
            <a:ext cx="7908053" cy="5181231"/>
          </a:xfrm>
        </p:spPr>
        <p:txBody>
          <a:bodyPr>
            <a:normAutofit/>
          </a:bodyPr>
          <a:lstStyle/>
          <a:p>
            <a:pPr marL="0" indent="0" algn="just">
              <a:lnSpc>
                <a:spcPct val="110000"/>
              </a:lnSpc>
              <a:spcBef>
                <a:spcPts val="1200"/>
              </a:spcBef>
              <a:buClr>
                <a:srgbClr val="973735"/>
              </a:buClr>
              <a:buSzPct val="50000"/>
              <a:buNone/>
              <a:defRPr/>
            </a:pPr>
            <a:r>
              <a:rPr lang="en-US" b="1" dirty="0"/>
              <a:t>If knowledge is fairly rare </a:t>
            </a:r>
          </a:p>
          <a:p>
            <a:pPr marL="342900" indent="-342900" algn="just">
              <a:lnSpc>
                <a:spcPct val="110000"/>
              </a:lnSpc>
              <a:spcBef>
                <a:spcPts val="1200"/>
              </a:spcBef>
              <a:buClr>
                <a:srgbClr val="973735"/>
              </a:buClr>
              <a:buSzPct val="50000"/>
              <a:buFont typeface="Wingdings" pitchFamily="2" charset="2"/>
              <a:buChar char="u"/>
              <a:defRPr/>
            </a:pPr>
            <a:r>
              <a:rPr lang="en-US" sz="2600" dirty="0"/>
              <a:t>Focus on knowledge diffusion</a:t>
            </a:r>
          </a:p>
          <a:p>
            <a:pPr marL="800100" lvl="1" indent="-342900" algn="just">
              <a:lnSpc>
                <a:spcPct val="110000"/>
              </a:lnSpc>
              <a:spcBef>
                <a:spcPts val="1200"/>
              </a:spcBef>
              <a:buClr>
                <a:srgbClr val="973735"/>
              </a:buClr>
              <a:buSzPct val="50000"/>
              <a:buFont typeface="Wingdings" pitchFamily="2" charset="2"/>
              <a:buChar char="u"/>
              <a:defRPr/>
            </a:pPr>
            <a:r>
              <a:rPr lang="en-US" dirty="0"/>
              <a:t>Mentoring </a:t>
            </a:r>
          </a:p>
          <a:p>
            <a:pPr marL="800100" lvl="1" indent="-342900" algn="just">
              <a:lnSpc>
                <a:spcPct val="110000"/>
              </a:lnSpc>
              <a:spcBef>
                <a:spcPts val="1200"/>
              </a:spcBef>
              <a:buClr>
                <a:srgbClr val="973735"/>
              </a:buClr>
              <a:buSzPct val="50000"/>
              <a:buFont typeface="Wingdings" pitchFamily="2" charset="2"/>
              <a:buChar char="u"/>
              <a:defRPr/>
            </a:pPr>
            <a:r>
              <a:rPr lang="en-US" dirty="0"/>
              <a:t>Apprenticeship (e.g. interns) </a:t>
            </a:r>
          </a:p>
          <a:p>
            <a:pPr marL="800100" lvl="1" indent="-342900" algn="just">
              <a:lnSpc>
                <a:spcPct val="110000"/>
              </a:lnSpc>
              <a:spcBef>
                <a:spcPts val="1200"/>
              </a:spcBef>
              <a:buClr>
                <a:srgbClr val="973735"/>
              </a:buClr>
              <a:buSzPct val="50000"/>
              <a:buFont typeface="Wingdings" pitchFamily="2" charset="2"/>
              <a:buChar char="u"/>
              <a:defRPr/>
            </a:pPr>
            <a:r>
              <a:rPr lang="en-US" dirty="0"/>
              <a:t>Have them develop training seminars </a:t>
            </a:r>
          </a:p>
          <a:p>
            <a:pPr marL="800100" lvl="1" indent="-342900" algn="just">
              <a:lnSpc>
                <a:spcPct val="110000"/>
              </a:lnSpc>
              <a:spcBef>
                <a:spcPts val="1200"/>
              </a:spcBef>
              <a:buClr>
                <a:srgbClr val="973735"/>
              </a:buClr>
              <a:buSzPct val="50000"/>
              <a:buFont typeface="Wingdings" pitchFamily="2" charset="2"/>
              <a:buChar char="u"/>
              <a:defRPr/>
            </a:pPr>
            <a:r>
              <a:rPr lang="en-US" dirty="0"/>
              <a:t>Have them produce a knowledge dictionary </a:t>
            </a:r>
          </a:p>
          <a:p>
            <a:pPr marL="800100" lvl="1" indent="-342900" algn="just">
              <a:lnSpc>
                <a:spcPct val="110000"/>
              </a:lnSpc>
              <a:spcBef>
                <a:spcPts val="1200"/>
              </a:spcBef>
              <a:buClr>
                <a:srgbClr val="973735"/>
              </a:buClr>
              <a:buSzPct val="50000"/>
              <a:buFont typeface="Wingdings" pitchFamily="2" charset="2"/>
              <a:buChar char="u"/>
              <a:defRPr/>
            </a:pPr>
            <a:r>
              <a:rPr lang="en-US" dirty="0"/>
              <a:t>Set up a community of practice around them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
        <p:nvSpPr>
          <p:cNvPr id="2" name="Content Placeholder 3">
            <a:extLst>
              <a:ext uri="{FF2B5EF4-FFF2-40B4-BE49-F238E27FC236}">
                <a16:creationId xmlns:a16="http://schemas.microsoft.com/office/drawing/2014/main" id="{35BDEC77-04CA-61C9-FB30-F4968D6E12FF}"/>
              </a:ext>
            </a:extLst>
          </p:cNvPr>
          <p:cNvSpPr txBox="1">
            <a:spLocks/>
          </p:cNvSpPr>
          <p:nvPr/>
        </p:nvSpPr>
        <p:spPr>
          <a:xfrm>
            <a:off x="7340383" y="1663285"/>
            <a:ext cx="4290644" cy="51812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ts val="1200"/>
              </a:spcBef>
              <a:buClr>
                <a:srgbClr val="973735"/>
              </a:buClr>
              <a:buSzPct val="50000"/>
              <a:buFont typeface="Arial" panose="020B0604020202020204" pitchFamily="34" charset="0"/>
              <a:buNone/>
              <a:defRPr/>
            </a:pPr>
            <a:r>
              <a:rPr lang="en-US" b="1" dirty="0"/>
              <a:t> </a:t>
            </a:r>
          </a:p>
          <a:p>
            <a:pPr marL="342900" indent="-342900" algn="just">
              <a:lnSpc>
                <a:spcPct val="100000"/>
              </a:lnSpc>
              <a:spcBef>
                <a:spcPts val="1200"/>
              </a:spcBef>
              <a:buClr>
                <a:srgbClr val="973735"/>
              </a:buClr>
              <a:buSzPct val="50000"/>
              <a:buFont typeface="Wingdings" pitchFamily="2" charset="2"/>
              <a:buChar char="u"/>
              <a:defRPr/>
            </a:pPr>
            <a:r>
              <a:rPr lang="en-US" sz="2600" dirty="0"/>
              <a:t> The rarer the knowledge the more time needed </a:t>
            </a:r>
          </a:p>
          <a:p>
            <a:pPr marL="800100" lvl="1" indent="-342900" algn="just">
              <a:lnSpc>
                <a:spcPct val="100000"/>
              </a:lnSpc>
              <a:spcBef>
                <a:spcPts val="1200"/>
              </a:spcBef>
              <a:buClr>
                <a:srgbClr val="973735"/>
              </a:buClr>
              <a:buSzPct val="50000"/>
              <a:buFont typeface="Wingdings" pitchFamily="2" charset="2"/>
              <a:buChar char="u"/>
              <a:defRPr/>
            </a:pPr>
            <a:r>
              <a:rPr lang="en-US" dirty="0"/>
              <a:t>Ideally 1 -3 years </a:t>
            </a:r>
          </a:p>
        </p:txBody>
      </p:sp>
    </p:spTree>
    <p:extLst>
      <p:ext uri="{BB962C8B-B14F-4D97-AF65-F5344CB8AC3E}">
        <p14:creationId xmlns:p14="http://schemas.microsoft.com/office/powerpoint/2010/main" val="3817693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200"/>
              </a:spcBef>
              <a:buClr>
                <a:srgbClr val="973735"/>
              </a:buClr>
              <a:buSzPct val="50000"/>
              <a:buNone/>
              <a:defRPr/>
            </a:pPr>
            <a:r>
              <a:rPr lang="en-US" b="1" dirty="0"/>
              <a:t>In parallel </a:t>
            </a:r>
          </a:p>
          <a:p>
            <a:pPr marL="342900" indent="-342900" algn="just">
              <a:lnSpc>
                <a:spcPct val="100000"/>
              </a:lnSpc>
              <a:spcBef>
                <a:spcPts val="1200"/>
              </a:spcBef>
              <a:buClr>
                <a:srgbClr val="973735"/>
              </a:buClr>
              <a:buSzPct val="50000"/>
              <a:buFont typeface="Wingdings" pitchFamily="2" charset="2"/>
              <a:buChar char="u"/>
              <a:defRPr/>
            </a:pPr>
            <a:r>
              <a:rPr lang="en-US" sz="2600" dirty="0"/>
              <a:t>Strategy for the longer term: </a:t>
            </a:r>
          </a:p>
          <a:p>
            <a:pPr marL="342900" indent="-342900" algn="just">
              <a:lnSpc>
                <a:spcPct val="100000"/>
              </a:lnSpc>
              <a:spcBef>
                <a:spcPts val="1200"/>
              </a:spcBef>
              <a:buClr>
                <a:srgbClr val="973735"/>
              </a:buClr>
              <a:buSzPct val="50000"/>
              <a:buFont typeface="Wingdings" pitchFamily="2" charset="2"/>
              <a:buChar char="u"/>
              <a:defRPr/>
            </a:pPr>
            <a:r>
              <a:rPr lang="en-US" sz="2600" dirty="0"/>
              <a:t>1.Think about roles and responsibilities </a:t>
            </a:r>
          </a:p>
          <a:p>
            <a:pPr marL="800100" lvl="1" indent="-342900" algn="just">
              <a:lnSpc>
                <a:spcPct val="100000"/>
              </a:lnSpc>
              <a:spcBef>
                <a:spcPts val="1200"/>
              </a:spcBef>
              <a:buClr>
                <a:srgbClr val="973735"/>
              </a:buClr>
              <a:buSzPct val="50000"/>
              <a:buFont typeface="Wingdings" pitchFamily="2" charset="2"/>
              <a:buChar char="u"/>
              <a:defRPr/>
            </a:pPr>
            <a:r>
              <a:rPr lang="en-US" dirty="0"/>
              <a:t>Need not be dedicated KM roles </a:t>
            </a:r>
          </a:p>
          <a:p>
            <a:pPr marL="800100" lvl="1" indent="-342900" algn="just">
              <a:lnSpc>
                <a:spcPct val="100000"/>
              </a:lnSpc>
              <a:spcBef>
                <a:spcPts val="1200"/>
              </a:spcBef>
              <a:buClr>
                <a:srgbClr val="973735"/>
              </a:buClr>
              <a:buSzPct val="50000"/>
              <a:buFont typeface="Wingdings" pitchFamily="2" charset="2"/>
              <a:buChar char="u"/>
              <a:defRPr/>
            </a:pPr>
            <a:r>
              <a:rPr lang="en-US" dirty="0"/>
              <a:t>More often than not need IT and HR on board, on committees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1814882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00000"/>
              </a:lnSpc>
              <a:spcBef>
                <a:spcPts val="1200"/>
              </a:spcBef>
              <a:buClr>
                <a:srgbClr val="973735"/>
              </a:buClr>
              <a:buSzPct val="50000"/>
              <a:buNone/>
              <a:defRPr/>
            </a:pPr>
            <a:r>
              <a:rPr lang="en-US" b="1" dirty="0"/>
              <a:t>In parallel </a:t>
            </a:r>
          </a:p>
          <a:p>
            <a:pPr marL="342900" indent="-342900" algn="just">
              <a:lnSpc>
                <a:spcPct val="100000"/>
              </a:lnSpc>
              <a:spcBef>
                <a:spcPts val="1200"/>
              </a:spcBef>
              <a:buClr>
                <a:srgbClr val="973735"/>
              </a:buClr>
              <a:buSzPct val="50000"/>
              <a:buFont typeface="Wingdings" pitchFamily="2" charset="2"/>
              <a:buChar char="u"/>
              <a:defRPr/>
            </a:pPr>
            <a:r>
              <a:rPr lang="en-US" sz="2600" dirty="0"/>
              <a:t>2.Think about policies and guidelines </a:t>
            </a:r>
          </a:p>
          <a:p>
            <a:pPr marL="800100" lvl="1" indent="-342900" algn="just">
              <a:lnSpc>
                <a:spcPct val="100000"/>
              </a:lnSpc>
              <a:spcBef>
                <a:spcPts val="1200"/>
              </a:spcBef>
              <a:buClr>
                <a:srgbClr val="973735"/>
              </a:buClr>
              <a:buSzPct val="50000"/>
              <a:buFont typeface="Wingdings" pitchFamily="2" charset="2"/>
              <a:buChar char="u"/>
              <a:defRPr/>
            </a:pPr>
            <a:r>
              <a:rPr lang="en-US" dirty="0"/>
              <a:t>More often than not, will need to involve the Legal Department (IP, copyright)</a:t>
            </a:r>
          </a:p>
          <a:p>
            <a:pPr marL="800100" lvl="1" indent="-342900" algn="just">
              <a:lnSpc>
                <a:spcPct val="100000"/>
              </a:lnSpc>
              <a:spcBef>
                <a:spcPts val="1200"/>
              </a:spcBef>
              <a:buClr>
                <a:srgbClr val="973735"/>
              </a:buClr>
              <a:buSzPct val="50000"/>
              <a:buFont typeface="Wingdings" pitchFamily="2" charset="2"/>
              <a:buChar char="u"/>
              <a:defRPr/>
            </a:pPr>
            <a:r>
              <a:rPr lang="en-US" dirty="0"/>
              <a:t>But can start with Creative Commons to facilitate knowledge sharing </a:t>
            </a:r>
          </a:p>
          <a:p>
            <a:pPr marL="342900" indent="-342900" algn="just">
              <a:lnSpc>
                <a:spcPct val="100000"/>
              </a:lnSpc>
              <a:spcBef>
                <a:spcPts val="1200"/>
              </a:spcBef>
              <a:buClr>
                <a:srgbClr val="973735"/>
              </a:buClr>
              <a:buSzPct val="50000"/>
              <a:buFont typeface="Wingdings" pitchFamily="2" charset="2"/>
              <a:buChar char="u"/>
              <a:defRPr/>
            </a:pPr>
            <a:r>
              <a:rPr lang="en-US" sz="2600" dirty="0"/>
              <a:t>3.Develop a KM/KCM strategy for five years, including a one-year road map for key priorities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Continuity Management Process</a:t>
            </a:r>
          </a:p>
        </p:txBody>
      </p:sp>
    </p:spTree>
    <p:extLst>
      <p:ext uri="{BB962C8B-B14F-4D97-AF65-F5344CB8AC3E}">
        <p14:creationId xmlns:p14="http://schemas.microsoft.com/office/powerpoint/2010/main" val="3564653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999622"/>
            <a:ext cx="11867103" cy="4401178"/>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A good KCM plan is therefore one that addresses knowledge transfer at these three levels: individual, group, and organizational to ensure that tangible legacy materials are produced, shared, and fed into the corporate storehouse of intellectual capital in an ongoing and seamless manner. </a:t>
            </a:r>
          </a:p>
          <a:p>
            <a:pPr marL="342900" indent="-342900" algn="just">
              <a:lnSpc>
                <a:spcPct val="100000"/>
              </a:lnSpc>
              <a:spcBef>
                <a:spcPts val="1800"/>
              </a:spcBef>
              <a:buClr>
                <a:srgbClr val="973735"/>
              </a:buClr>
              <a:buSzPct val="50000"/>
              <a:buFont typeface="Wingdings" pitchFamily="2" charset="2"/>
              <a:buChar char="u"/>
              <a:defRPr/>
            </a:pPr>
            <a:r>
              <a:rPr lang="en-US" sz="2600" dirty="0"/>
              <a:t>KCM can help capture, transfer, and retain valuable knowledge using a three-tiered approach that addresses the individual, the networks, and the organization itself.</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273451" cy="709226"/>
          </a:xfrm>
        </p:spPr>
        <p:txBody>
          <a:bodyPr>
            <a:normAutofit fontScale="90000"/>
          </a:bodyPr>
          <a:lstStyle/>
          <a:p>
            <a:r>
              <a:rPr lang="en-US" sz="4000" b="1" dirty="0"/>
              <a:t>A Three-Tiered Approach to Knowledge Continuity</a:t>
            </a:r>
          </a:p>
        </p:txBody>
      </p:sp>
    </p:spTree>
    <p:extLst>
      <p:ext uri="{BB962C8B-B14F-4D97-AF65-F5344CB8AC3E}">
        <p14:creationId xmlns:p14="http://schemas.microsoft.com/office/powerpoint/2010/main" val="2011923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273451" cy="709226"/>
          </a:xfrm>
        </p:spPr>
        <p:txBody>
          <a:bodyPr>
            <a:normAutofit fontScale="90000"/>
          </a:bodyPr>
          <a:lstStyle/>
          <a:p>
            <a:r>
              <a:rPr lang="en-US" sz="4000" b="1" dirty="0"/>
              <a:t>A Three-Tiered Approach to Knowledge Continuity</a:t>
            </a:r>
          </a:p>
        </p:txBody>
      </p:sp>
      <p:graphicFrame>
        <p:nvGraphicFramePr>
          <p:cNvPr id="5" name="Table 6">
            <a:extLst>
              <a:ext uri="{FF2B5EF4-FFF2-40B4-BE49-F238E27FC236}">
                <a16:creationId xmlns:a16="http://schemas.microsoft.com/office/drawing/2014/main" id="{40004046-F1F3-0BFB-08C0-70A7C8555276}"/>
              </a:ext>
            </a:extLst>
          </p:cNvPr>
          <p:cNvGraphicFramePr>
            <a:graphicFrameLocks noGrp="1"/>
          </p:cNvGraphicFramePr>
          <p:nvPr>
            <p:extLst>
              <p:ext uri="{D42A27DB-BD31-4B8C-83A1-F6EECF244321}">
                <p14:modId xmlns:p14="http://schemas.microsoft.com/office/powerpoint/2010/main" val="2049939850"/>
              </p:ext>
            </p:extLst>
          </p:nvPr>
        </p:nvGraphicFramePr>
        <p:xfrm>
          <a:off x="633047" y="2407789"/>
          <a:ext cx="10952703" cy="2377440"/>
        </p:xfrm>
        <a:graphic>
          <a:graphicData uri="http://schemas.openxmlformats.org/drawingml/2006/table">
            <a:tbl>
              <a:tblPr firstRow="1" bandRow="1">
                <a:tableStyleId>{21E4AEA4-8DFA-4A89-87EB-49C32662AFE0}</a:tableStyleId>
              </a:tblPr>
              <a:tblGrid>
                <a:gridCol w="2914021">
                  <a:extLst>
                    <a:ext uri="{9D8B030D-6E8A-4147-A177-3AD203B41FA5}">
                      <a16:colId xmlns:a16="http://schemas.microsoft.com/office/drawing/2014/main" val="929732527"/>
                    </a:ext>
                  </a:extLst>
                </a:gridCol>
                <a:gridCol w="3135086">
                  <a:extLst>
                    <a:ext uri="{9D8B030D-6E8A-4147-A177-3AD203B41FA5}">
                      <a16:colId xmlns:a16="http://schemas.microsoft.com/office/drawing/2014/main" val="664418638"/>
                    </a:ext>
                  </a:extLst>
                </a:gridCol>
                <a:gridCol w="4903596">
                  <a:extLst>
                    <a:ext uri="{9D8B030D-6E8A-4147-A177-3AD203B41FA5}">
                      <a16:colId xmlns:a16="http://schemas.microsoft.com/office/drawing/2014/main" val="1263797089"/>
                    </a:ext>
                  </a:extLst>
                </a:gridCol>
              </a:tblGrid>
              <a:tr h="370840">
                <a:tc>
                  <a:txBody>
                    <a:bodyPr/>
                    <a:lstStyle/>
                    <a:p>
                      <a:pPr algn="ctr"/>
                      <a:r>
                        <a:rPr lang="en-US" dirty="0"/>
                        <a:t>Knowledge Transfer (KT) approaches</a:t>
                      </a:r>
                    </a:p>
                  </a:txBody>
                  <a:tcPr/>
                </a:tc>
                <a:tc>
                  <a:txBody>
                    <a:bodyPr/>
                    <a:lstStyle/>
                    <a:p>
                      <a:pPr algn="ctr"/>
                      <a:r>
                        <a:rPr lang="en-US" dirty="0"/>
                        <a:t>Types of knowledge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Tangible by-products</a:t>
                      </a:r>
                    </a:p>
                    <a:p>
                      <a:pPr algn="ctr"/>
                      <a:endParaRPr lang="en-US" dirty="0"/>
                    </a:p>
                  </a:txBody>
                  <a:tcPr/>
                </a:tc>
                <a:extLst>
                  <a:ext uri="{0D108BD9-81ED-4DB2-BD59-A6C34878D82A}">
                    <a16:rowId xmlns:a16="http://schemas.microsoft.com/office/drawing/2014/main" val="485097221"/>
                  </a:ext>
                </a:extLst>
              </a:tr>
              <a:tr h="370840">
                <a:tc>
                  <a:txBody>
                    <a:bodyPr/>
                    <a:lstStyle/>
                    <a:p>
                      <a:r>
                        <a:rPr lang="en-US" dirty="0"/>
                        <a:t>Individual structured interviews with experts</a:t>
                      </a:r>
                    </a:p>
                    <a:p>
                      <a:r>
                        <a:rPr lang="en-US" dirty="0"/>
                        <a:t>KT at individual level</a:t>
                      </a:r>
                    </a:p>
                  </a:txBody>
                  <a:tcPr/>
                </a:tc>
                <a:tc>
                  <a:txBody>
                    <a:bodyPr/>
                    <a:lstStyle/>
                    <a:p>
                      <a:r>
                        <a:rPr lang="en-US" dirty="0"/>
                        <a:t>Operational</a:t>
                      </a:r>
                    </a:p>
                    <a:p>
                      <a:r>
                        <a:rPr lang="en-US" dirty="0"/>
                        <a:t>Anecdotal</a:t>
                      </a:r>
                    </a:p>
                    <a:p>
                      <a:r>
                        <a:rPr lang="en-US" dirty="0"/>
                        <a:t>Lessons learned</a:t>
                      </a:r>
                    </a:p>
                    <a:p>
                      <a:r>
                        <a:rPr lang="en-US" dirty="0"/>
                        <a:t>Best practices</a:t>
                      </a:r>
                    </a:p>
                    <a:p>
                      <a:r>
                        <a:rPr lang="en-US" dirty="0"/>
                        <a:t>Where to find knowledge and experts</a:t>
                      </a:r>
                    </a:p>
                  </a:txBody>
                  <a:tcPr/>
                </a:tc>
                <a:tc>
                  <a:txBody>
                    <a:bodyPr/>
                    <a:lstStyle/>
                    <a:p>
                      <a:r>
                        <a:rPr lang="en-US" dirty="0"/>
                        <a:t>Map of key knowledge</a:t>
                      </a:r>
                    </a:p>
                    <a:p>
                      <a:r>
                        <a:rPr lang="en-US" dirty="0"/>
                        <a:t>Map of key contacts, memberships</a:t>
                      </a:r>
                    </a:p>
                    <a:p>
                      <a:r>
                        <a:rPr lang="en-US" dirty="0"/>
                        <a:t>Glossary of discipline</a:t>
                      </a:r>
                    </a:p>
                    <a:p>
                      <a:r>
                        <a:rPr lang="en-US" dirty="0"/>
                        <a:t>Interview templates</a:t>
                      </a:r>
                    </a:p>
                    <a:p>
                      <a:r>
                        <a:rPr lang="en-US" dirty="0"/>
                        <a:t>Interview transcripts</a:t>
                      </a:r>
                    </a:p>
                    <a:p>
                      <a:r>
                        <a:rPr lang="en-US" dirty="0"/>
                        <a:t>Key tasks and task support systems</a:t>
                      </a:r>
                    </a:p>
                  </a:txBody>
                  <a:tcPr/>
                </a:tc>
                <a:extLst>
                  <a:ext uri="{0D108BD9-81ED-4DB2-BD59-A6C34878D82A}">
                    <a16:rowId xmlns:a16="http://schemas.microsoft.com/office/drawing/2014/main" val="881427177"/>
                  </a:ext>
                </a:extLst>
              </a:tr>
            </a:tbl>
          </a:graphicData>
        </a:graphic>
      </p:graphicFrame>
      <p:graphicFrame>
        <p:nvGraphicFramePr>
          <p:cNvPr id="7" name="Object 6">
            <a:extLst>
              <a:ext uri="{FF2B5EF4-FFF2-40B4-BE49-F238E27FC236}">
                <a16:creationId xmlns:a16="http://schemas.microsoft.com/office/drawing/2014/main" id="{3ED22420-A4C0-81F6-059E-2E14D0623815}"/>
              </a:ext>
            </a:extLst>
          </p:cNvPr>
          <p:cNvGraphicFramePr>
            <a:graphicFrameLocks noChangeAspect="1"/>
          </p:cNvGraphicFramePr>
          <p:nvPr>
            <p:extLst>
              <p:ext uri="{D42A27DB-BD31-4B8C-83A1-F6EECF244321}">
                <p14:modId xmlns:p14="http://schemas.microsoft.com/office/powerpoint/2010/main" val="1541546339"/>
              </p:ext>
            </p:extLst>
          </p:nvPr>
        </p:nvGraphicFramePr>
        <p:xfrm>
          <a:off x="1497860" y="1945008"/>
          <a:ext cx="8991600" cy="282575"/>
        </p:xfrm>
        <a:graphic>
          <a:graphicData uri="http://schemas.openxmlformats.org/presentationml/2006/ole">
            <mc:AlternateContent xmlns:mc="http://schemas.openxmlformats.org/markup-compatibility/2006">
              <mc:Choice xmlns:v="urn:schemas-microsoft-com:vml" Requires="v">
                <p:oleObj name="Bitmap Image" r:id="rId3" imgW="8991720" imgH="281880" progId="PBrush">
                  <p:embed/>
                </p:oleObj>
              </mc:Choice>
              <mc:Fallback>
                <p:oleObj name="Bitmap Image" r:id="rId3" imgW="8991720" imgH="281880" progId="PBrush">
                  <p:embed/>
                  <p:pic>
                    <p:nvPicPr>
                      <p:cNvPr id="0" name=""/>
                      <p:cNvPicPr/>
                      <p:nvPr/>
                    </p:nvPicPr>
                    <p:blipFill>
                      <a:blip r:embed="rId4"/>
                      <a:stretch>
                        <a:fillRect/>
                      </a:stretch>
                    </p:blipFill>
                    <p:spPr>
                      <a:xfrm>
                        <a:off x="1497860" y="1945008"/>
                        <a:ext cx="8991600" cy="282575"/>
                      </a:xfrm>
                      <a:prstGeom prst="rect">
                        <a:avLst/>
                      </a:prstGeom>
                    </p:spPr>
                  </p:pic>
                </p:oleObj>
              </mc:Fallback>
            </mc:AlternateContent>
          </a:graphicData>
        </a:graphic>
      </p:graphicFrame>
    </p:spTree>
    <p:extLst>
      <p:ext uri="{BB962C8B-B14F-4D97-AF65-F5344CB8AC3E}">
        <p14:creationId xmlns:p14="http://schemas.microsoft.com/office/powerpoint/2010/main" val="1476212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273451" cy="709226"/>
          </a:xfrm>
        </p:spPr>
        <p:txBody>
          <a:bodyPr>
            <a:normAutofit fontScale="90000"/>
          </a:bodyPr>
          <a:lstStyle/>
          <a:p>
            <a:r>
              <a:rPr lang="en-US" sz="4000" b="1" dirty="0"/>
              <a:t>A Three-Tiered Approach to Knowledge Continuity</a:t>
            </a:r>
          </a:p>
        </p:txBody>
      </p:sp>
      <p:graphicFrame>
        <p:nvGraphicFramePr>
          <p:cNvPr id="5" name="Table 6">
            <a:extLst>
              <a:ext uri="{FF2B5EF4-FFF2-40B4-BE49-F238E27FC236}">
                <a16:creationId xmlns:a16="http://schemas.microsoft.com/office/drawing/2014/main" id="{40004046-F1F3-0BFB-08C0-70A7C8555276}"/>
              </a:ext>
            </a:extLst>
          </p:cNvPr>
          <p:cNvGraphicFramePr>
            <a:graphicFrameLocks noGrp="1"/>
          </p:cNvGraphicFramePr>
          <p:nvPr>
            <p:extLst>
              <p:ext uri="{D42A27DB-BD31-4B8C-83A1-F6EECF244321}">
                <p14:modId xmlns:p14="http://schemas.microsoft.com/office/powerpoint/2010/main" val="1189472607"/>
              </p:ext>
            </p:extLst>
          </p:nvPr>
        </p:nvGraphicFramePr>
        <p:xfrm>
          <a:off x="633047" y="2407789"/>
          <a:ext cx="10952703" cy="3566160"/>
        </p:xfrm>
        <a:graphic>
          <a:graphicData uri="http://schemas.openxmlformats.org/drawingml/2006/table">
            <a:tbl>
              <a:tblPr firstRow="1" bandRow="1">
                <a:tableStyleId>{21E4AEA4-8DFA-4A89-87EB-49C32662AFE0}</a:tableStyleId>
              </a:tblPr>
              <a:tblGrid>
                <a:gridCol w="2914021">
                  <a:extLst>
                    <a:ext uri="{9D8B030D-6E8A-4147-A177-3AD203B41FA5}">
                      <a16:colId xmlns:a16="http://schemas.microsoft.com/office/drawing/2014/main" val="929732527"/>
                    </a:ext>
                  </a:extLst>
                </a:gridCol>
                <a:gridCol w="3135086">
                  <a:extLst>
                    <a:ext uri="{9D8B030D-6E8A-4147-A177-3AD203B41FA5}">
                      <a16:colId xmlns:a16="http://schemas.microsoft.com/office/drawing/2014/main" val="664418638"/>
                    </a:ext>
                  </a:extLst>
                </a:gridCol>
                <a:gridCol w="4903596">
                  <a:extLst>
                    <a:ext uri="{9D8B030D-6E8A-4147-A177-3AD203B41FA5}">
                      <a16:colId xmlns:a16="http://schemas.microsoft.com/office/drawing/2014/main" val="1263797089"/>
                    </a:ext>
                  </a:extLst>
                </a:gridCol>
              </a:tblGrid>
              <a:tr h="370840">
                <a:tc>
                  <a:txBody>
                    <a:bodyPr/>
                    <a:lstStyle/>
                    <a:p>
                      <a:pPr algn="ctr"/>
                      <a:r>
                        <a:rPr lang="en-US" dirty="0"/>
                        <a:t>Knowledge Transfer (KT) approaches</a:t>
                      </a:r>
                    </a:p>
                  </a:txBody>
                  <a:tcPr/>
                </a:tc>
                <a:tc>
                  <a:txBody>
                    <a:bodyPr/>
                    <a:lstStyle/>
                    <a:p>
                      <a:pPr algn="ctr"/>
                      <a:r>
                        <a:rPr lang="en-US" dirty="0"/>
                        <a:t>Types of knowledge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Tangible by-products</a:t>
                      </a:r>
                    </a:p>
                    <a:p>
                      <a:pPr algn="ctr"/>
                      <a:endParaRPr lang="en-US" dirty="0"/>
                    </a:p>
                  </a:txBody>
                  <a:tcPr/>
                </a:tc>
                <a:extLst>
                  <a:ext uri="{0D108BD9-81ED-4DB2-BD59-A6C34878D82A}">
                    <a16:rowId xmlns:a16="http://schemas.microsoft.com/office/drawing/2014/main" val="485097221"/>
                  </a:ext>
                </a:extLst>
              </a:tr>
              <a:tr h="370840">
                <a:tc>
                  <a:txBody>
                    <a:bodyPr/>
                    <a:lstStyle/>
                    <a:p>
                      <a:r>
                        <a:rPr lang="en-US" dirty="0"/>
                        <a:t>Facilitated workshops with community of practice members KT at group level</a:t>
                      </a:r>
                    </a:p>
                  </a:txBody>
                  <a:tcPr/>
                </a:tc>
                <a:tc>
                  <a:txBody>
                    <a:bodyPr/>
                    <a:lstStyle/>
                    <a:p>
                      <a:r>
                        <a:rPr lang="en-US" dirty="0"/>
                        <a:t>Tactical</a:t>
                      </a:r>
                    </a:p>
                    <a:p>
                      <a:r>
                        <a:rPr lang="en-US" dirty="0"/>
                        <a:t>Knowledge flow facilitators</a:t>
                      </a:r>
                    </a:p>
                    <a:p>
                      <a:r>
                        <a:rPr lang="en-US" dirty="0"/>
                        <a:t>Knowledge flow blocks</a:t>
                      </a:r>
                    </a:p>
                    <a:p>
                      <a:r>
                        <a:rPr lang="en-US" dirty="0"/>
                        <a:t>Identification of CoP</a:t>
                      </a:r>
                    </a:p>
                  </a:txBody>
                  <a:tcPr/>
                </a:tc>
                <a:tc>
                  <a:txBody>
                    <a:bodyPr/>
                    <a:lstStyle/>
                    <a:p>
                      <a:r>
                        <a:rPr lang="en-US" dirty="0"/>
                        <a:t>Workshop notes</a:t>
                      </a:r>
                    </a:p>
                    <a:p>
                      <a:r>
                        <a:rPr lang="en-US" dirty="0"/>
                        <a:t>Knowledge repository design and implementation</a:t>
                      </a:r>
                    </a:p>
                    <a:p>
                      <a:r>
                        <a:rPr lang="en-US" dirty="0"/>
                        <a:t>Map of social interactions within CoP and with external stakeholders</a:t>
                      </a:r>
                    </a:p>
                  </a:txBody>
                  <a:tcPr/>
                </a:tc>
                <a:extLst>
                  <a:ext uri="{0D108BD9-81ED-4DB2-BD59-A6C34878D82A}">
                    <a16:rowId xmlns:a16="http://schemas.microsoft.com/office/drawing/2014/main" val="881427177"/>
                  </a:ext>
                </a:extLst>
              </a:tr>
              <a:tr h="370840">
                <a:tc>
                  <a:txBody>
                    <a:bodyPr/>
                    <a:lstStyle/>
                    <a:p>
                      <a:r>
                        <a:rPr lang="en-US" dirty="0"/>
                        <a:t>Storytelling workshops and individual interviews with key executives KT at executive level</a:t>
                      </a:r>
                    </a:p>
                  </a:txBody>
                  <a:tcPr/>
                </a:tc>
                <a:tc>
                  <a:txBody>
                    <a:bodyPr/>
                    <a:lstStyle/>
                    <a:p>
                      <a:r>
                        <a:rPr lang="en-US" dirty="0"/>
                        <a:t>Strategic consensus re. key intellectual assets </a:t>
                      </a:r>
                    </a:p>
                    <a:p>
                      <a:r>
                        <a:rPr lang="en-US" dirty="0"/>
                        <a:t>Criteria for evaluation of intellectual assets’ business value</a:t>
                      </a:r>
                    </a:p>
                  </a:txBody>
                  <a:tcPr/>
                </a:tc>
                <a:tc>
                  <a:txBody>
                    <a:bodyPr/>
                    <a:lstStyle/>
                    <a:p>
                      <a:r>
                        <a:rPr lang="en-US" dirty="0"/>
                        <a:t>Map of key intellectual assets of the organization</a:t>
                      </a:r>
                    </a:p>
                    <a:p>
                      <a:r>
                        <a:rPr lang="en-US" dirty="0"/>
                        <a:t>Organizational lexicon of key concepts</a:t>
                      </a:r>
                    </a:p>
                    <a:p>
                      <a:r>
                        <a:rPr lang="en-US" dirty="0"/>
                        <a:t>Springboard stories Historical knowledge (organizational “saga”)</a:t>
                      </a:r>
                    </a:p>
                  </a:txBody>
                  <a:tcPr/>
                </a:tc>
                <a:extLst>
                  <a:ext uri="{0D108BD9-81ED-4DB2-BD59-A6C34878D82A}">
                    <a16:rowId xmlns:a16="http://schemas.microsoft.com/office/drawing/2014/main" val="2610669695"/>
                  </a:ext>
                </a:extLst>
              </a:tr>
            </a:tbl>
          </a:graphicData>
        </a:graphic>
      </p:graphicFrame>
      <p:graphicFrame>
        <p:nvGraphicFramePr>
          <p:cNvPr id="7" name="Object 6">
            <a:extLst>
              <a:ext uri="{FF2B5EF4-FFF2-40B4-BE49-F238E27FC236}">
                <a16:creationId xmlns:a16="http://schemas.microsoft.com/office/drawing/2014/main" id="{3ED22420-A4C0-81F6-059E-2E14D0623815}"/>
              </a:ext>
            </a:extLst>
          </p:cNvPr>
          <p:cNvGraphicFramePr>
            <a:graphicFrameLocks noChangeAspect="1"/>
          </p:cNvGraphicFramePr>
          <p:nvPr/>
        </p:nvGraphicFramePr>
        <p:xfrm>
          <a:off x="1497860" y="1945008"/>
          <a:ext cx="8991600" cy="282575"/>
        </p:xfrm>
        <a:graphic>
          <a:graphicData uri="http://schemas.openxmlformats.org/presentationml/2006/ole">
            <mc:AlternateContent xmlns:mc="http://schemas.openxmlformats.org/markup-compatibility/2006">
              <mc:Choice xmlns:v="urn:schemas-microsoft-com:vml" Requires="v">
                <p:oleObj name="Bitmap Image" r:id="rId3" imgW="8991720" imgH="281880" progId="PBrush">
                  <p:embed/>
                </p:oleObj>
              </mc:Choice>
              <mc:Fallback>
                <p:oleObj name="Bitmap Image" r:id="rId3" imgW="8991720" imgH="281880" progId="PBrush">
                  <p:embed/>
                  <p:pic>
                    <p:nvPicPr>
                      <p:cNvPr id="7" name="Object 6">
                        <a:extLst>
                          <a:ext uri="{FF2B5EF4-FFF2-40B4-BE49-F238E27FC236}">
                            <a16:creationId xmlns:a16="http://schemas.microsoft.com/office/drawing/2014/main" id="{3ED22420-A4C0-81F6-059E-2E14D0623815}"/>
                          </a:ext>
                        </a:extLst>
                      </p:cNvPr>
                      <p:cNvPicPr/>
                      <p:nvPr/>
                    </p:nvPicPr>
                    <p:blipFill>
                      <a:blip r:embed="rId4"/>
                      <a:stretch>
                        <a:fillRect/>
                      </a:stretch>
                    </p:blipFill>
                    <p:spPr>
                      <a:xfrm>
                        <a:off x="1497860" y="1945008"/>
                        <a:ext cx="8991600" cy="282575"/>
                      </a:xfrm>
                      <a:prstGeom prst="rect">
                        <a:avLst/>
                      </a:prstGeom>
                    </p:spPr>
                  </p:pic>
                </p:oleObj>
              </mc:Fallback>
            </mc:AlternateContent>
          </a:graphicData>
        </a:graphic>
      </p:graphicFrame>
    </p:spTree>
    <p:extLst>
      <p:ext uri="{BB962C8B-B14F-4D97-AF65-F5344CB8AC3E}">
        <p14:creationId xmlns:p14="http://schemas.microsoft.com/office/powerpoint/2010/main" val="1532210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sz="2600" dirty="0"/>
              <a:t>There is not one specific approach that should be used with each of the three tiers. </a:t>
            </a:r>
          </a:p>
          <a:p>
            <a:pPr marL="342900" indent="-342900" algn="just">
              <a:lnSpc>
                <a:spcPct val="110000"/>
              </a:lnSpc>
              <a:spcBef>
                <a:spcPts val="1200"/>
              </a:spcBef>
              <a:buClr>
                <a:srgbClr val="973735"/>
              </a:buClr>
              <a:buSzPct val="50000"/>
              <a:buFont typeface="Wingdings" pitchFamily="2" charset="2"/>
              <a:buChar char="u"/>
              <a:defRPr/>
            </a:pPr>
            <a:r>
              <a:rPr lang="en-US" sz="2600" dirty="0"/>
              <a:t>Rather, a wide range of knowledge retention and transfer approaches should be used with at all three levels in order to identify what is fairly easy to transfer, hard to transfer, and impossible to transfer from one individual to another, in a retirement or succession planning situation.</a:t>
            </a:r>
          </a:p>
          <a:p>
            <a:pPr marL="342900" indent="-342900" algn="just">
              <a:lnSpc>
                <a:spcPct val="110000"/>
              </a:lnSpc>
              <a:spcBef>
                <a:spcPts val="1200"/>
              </a:spcBef>
              <a:buClr>
                <a:srgbClr val="973735"/>
              </a:buClr>
              <a:buSzPct val="50000"/>
              <a:buFont typeface="Wingdings" pitchFamily="2" charset="2"/>
              <a:buChar char="u"/>
              <a:defRPr/>
            </a:pPr>
            <a:r>
              <a:rPr lang="en-US" sz="2600" dirty="0"/>
              <a:t>The three-tiered approach to knowledge capture and transfer described here helps ensure that critical intellectual assets are identified at the individual, community, and organizational levels.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540048" cy="709226"/>
          </a:xfrm>
        </p:spPr>
        <p:txBody>
          <a:bodyPr>
            <a:normAutofit fontScale="90000"/>
          </a:bodyPr>
          <a:lstStyle/>
          <a:p>
            <a:r>
              <a:rPr lang="en-US" sz="4000" b="1" dirty="0"/>
              <a:t>A Three-Tiered Approach to Knowledge Continuity</a:t>
            </a:r>
          </a:p>
        </p:txBody>
      </p:sp>
    </p:spTree>
    <p:extLst>
      <p:ext uri="{BB962C8B-B14F-4D97-AF65-F5344CB8AC3E}">
        <p14:creationId xmlns:p14="http://schemas.microsoft.com/office/powerpoint/2010/main" val="3325905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The different generations as archetypes</a:t>
            </a:r>
          </a:p>
          <a:p>
            <a:pPr marL="342900" indent="-342900" algn="just">
              <a:lnSpc>
                <a:spcPct val="100000"/>
              </a:lnSpc>
              <a:spcBef>
                <a:spcPts val="1800"/>
              </a:spcBef>
              <a:buClr>
                <a:srgbClr val="973735"/>
              </a:buClr>
              <a:buSzPct val="50000"/>
              <a:buFont typeface="Wingdings" pitchFamily="2" charset="2"/>
              <a:buChar char="u"/>
              <a:defRPr/>
            </a:pPr>
            <a:r>
              <a:rPr lang="en-US" sz="2600" dirty="0"/>
              <a:t>The term “generation” is itself problematic as there is not objectively verifiable definition. </a:t>
            </a:r>
          </a:p>
          <a:p>
            <a:pPr marL="342900" indent="-342900" algn="just">
              <a:lnSpc>
                <a:spcPct val="100000"/>
              </a:lnSpc>
              <a:spcBef>
                <a:spcPts val="1800"/>
              </a:spcBef>
              <a:buClr>
                <a:srgbClr val="973735"/>
              </a:buClr>
              <a:buSzPct val="50000"/>
              <a:buFont typeface="Wingdings" pitchFamily="2" charset="2"/>
              <a:buChar char="u"/>
              <a:defRPr/>
            </a:pPr>
            <a:r>
              <a:rPr lang="en-US" sz="2600" dirty="0"/>
              <a:t>A generation represents a cohort of people born during a specific period in time and sharing many traits so as to form a common identity (Mannheim,1952).</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Intergenerational Knowledge Transfer</a:t>
            </a:r>
          </a:p>
        </p:txBody>
      </p:sp>
    </p:spTree>
    <p:extLst>
      <p:ext uri="{BB962C8B-B14F-4D97-AF65-F5344CB8AC3E}">
        <p14:creationId xmlns:p14="http://schemas.microsoft.com/office/powerpoint/2010/main" val="1031235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graphicFrame>
        <p:nvGraphicFramePr>
          <p:cNvPr id="5" name="Table 6">
            <a:extLst>
              <a:ext uri="{FF2B5EF4-FFF2-40B4-BE49-F238E27FC236}">
                <a16:creationId xmlns:a16="http://schemas.microsoft.com/office/drawing/2014/main" id="{E48BFE67-4EF3-18EF-6287-B3810961C1CD}"/>
              </a:ext>
            </a:extLst>
          </p:cNvPr>
          <p:cNvGraphicFramePr>
            <a:graphicFrameLocks noGrp="1"/>
          </p:cNvGraphicFramePr>
          <p:nvPr>
            <p:ph sz="quarter" idx="1"/>
            <p:extLst>
              <p:ext uri="{D42A27DB-BD31-4B8C-83A1-F6EECF244321}">
                <p14:modId xmlns:p14="http://schemas.microsoft.com/office/powerpoint/2010/main" val="4153703643"/>
              </p:ext>
            </p:extLst>
          </p:nvPr>
        </p:nvGraphicFramePr>
        <p:xfrm>
          <a:off x="838201" y="2543333"/>
          <a:ext cx="10515597" cy="3474720"/>
        </p:xfrm>
        <a:graphic>
          <a:graphicData uri="http://schemas.openxmlformats.org/drawingml/2006/table">
            <a:tbl>
              <a:tblPr firstRow="1" bandRow="1">
                <a:tableStyleId>{21E4AEA4-8DFA-4A89-87EB-49C32662AFE0}</a:tableStyleId>
              </a:tblPr>
              <a:tblGrid>
                <a:gridCol w="1759020">
                  <a:extLst>
                    <a:ext uri="{9D8B030D-6E8A-4147-A177-3AD203B41FA5}">
                      <a16:colId xmlns:a16="http://schemas.microsoft.com/office/drawing/2014/main" val="1630007979"/>
                    </a:ext>
                  </a:extLst>
                </a:gridCol>
                <a:gridCol w="1296237">
                  <a:extLst>
                    <a:ext uri="{9D8B030D-6E8A-4147-A177-3AD203B41FA5}">
                      <a16:colId xmlns:a16="http://schemas.microsoft.com/office/drawing/2014/main" val="292338623"/>
                    </a:ext>
                  </a:extLst>
                </a:gridCol>
                <a:gridCol w="7460340">
                  <a:extLst>
                    <a:ext uri="{9D8B030D-6E8A-4147-A177-3AD203B41FA5}">
                      <a16:colId xmlns:a16="http://schemas.microsoft.com/office/drawing/2014/main" val="3329625421"/>
                    </a:ext>
                  </a:extLst>
                </a:gridCol>
              </a:tblGrid>
              <a:tr h="370840">
                <a:tc>
                  <a:txBody>
                    <a:bodyPr/>
                    <a:lstStyle/>
                    <a:p>
                      <a:pPr algn="ctr"/>
                      <a:r>
                        <a:rPr lang="en-US" dirty="0"/>
                        <a:t>Name </a:t>
                      </a:r>
                    </a:p>
                  </a:txBody>
                  <a:tcPr anchor="ctr"/>
                </a:tc>
                <a:tc>
                  <a:txBody>
                    <a:bodyPr/>
                    <a:lstStyle/>
                    <a:p>
                      <a:pPr algn="ctr"/>
                      <a:r>
                        <a:rPr lang="en-US" dirty="0"/>
                        <a:t>Time period of birth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General preferences</a:t>
                      </a:r>
                    </a:p>
                  </a:txBody>
                  <a:tcPr anchor="ctr"/>
                </a:tc>
                <a:extLst>
                  <a:ext uri="{0D108BD9-81ED-4DB2-BD59-A6C34878D82A}">
                    <a16:rowId xmlns:a16="http://schemas.microsoft.com/office/drawing/2014/main" val="3111883629"/>
                  </a:ext>
                </a:extLst>
              </a:tr>
              <a:tr h="370840">
                <a:tc>
                  <a:txBody>
                    <a:bodyPr/>
                    <a:lstStyle/>
                    <a:p>
                      <a:r>
                        <a:rPr lang="en-US" dirty="0"/>
                        <a:t>Matures (silent, traditionalist)</a:t>
                      </a:r>
                    </a:p>
                  </a:txBody>
                  <a:tcPr anchor="ctr"/>
                </a:tc>
                <a:tc>
                  <a:txBody>
                    <a:bodyPr/>
                    <a:lstStyle/>
                    <a:p>
                      <a:r>
                        <a:rPr lang="en-US" dirty="0"/>
                        <a:t>1925–1945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Comfortable with hierarchy, direct authority, and rules; more individualistic</a:t>
                      </a:r>
                    </a:p>
                  </a:txBody>
                  <a:tcPr anchor="ctr"/>
                </a:tc>
                <a:extLst>
                  <a:ext uri="{0D108BD9-81ED-4DB2-BD59-A6C34878D82A}">
                    <a16:rowId xmlns:a16="http://schemas.microsoft.com/office/drawing/2014/main" val="847476226"/>
                  </a:ext>
                </a:extLst>
              </a:tr>
              <a:tr h="370840">
                <a:tc>
                  <a:txBody>
                    <a:bodyPr/>
                    <a:lstStyle/>
                    <a:p>
                      <a:r>
                        <a:rPr lang="en-US" dirty="0"/>
                        <a:t>Baby boomers </a:t>
                      </a:r>
                    </a:p>
                  </a:txBody>
                  <a:tcPr anchor="ctr"/>
                </a:tc>
                <a:tc>
                  <a:txBody>
                    <a:bodyPr/>
                    <a:lstStyle/>
                    <a:p>
                      <a:r>
                        <a:rPr lang="en-US" dirty="0"/>
                        <a:t>1945–1965</a:t>
                      </a:r>
                    </a:p>
                  </a:txBody>
                  <a:tcPr anchor="ctr"/>
                </a:tc>
                <a:tc>
                  <a:txBody>
                    <a:bodyPr/>
                    <a:lstStyle/>
                    <a:p>
                      <a:r>
                        <a:rPr lang="en-US" dirty="0"/>
                        <a:t>Value working hard, being rewarded for seniority; less comfortable with new technologies (e.g., social media) and more resistant to change</a:t>
                      </a:r>
                    </a:p>
                  </a:txBody>
                  <a:tcPr anchor="ctr"/>
                </a:tc>
                <a:extLst>
                  <a:ext uri="{0D108BD9-81ED-4DB2-BD59-A6C34878D82A}">
                    <a16:rowId xmlns:a16="http://schemas.microsoft.com/office/drawing/2014/main" val="2309711341"/>
                  </a:ext>
                </a:extLst>
              </a:tr>
              <a:tr h="370840">
                <a:tc>
                  <a:txBody>
                    <a:bodyPr/>
                    <a:lstStyle/>
                    <a:p>
                      <a:r>
                        <a:rPr lang="en-US" dirty="0"/>
                        <a:t>Generation X </a:t>
                      </a:r>
                    </a:p>
                  </a:txBody>
                  <a:tcPr anchor="ctr"/>
                </a:tc>
                <a:tc>
                  <a:txBody>
                    <a:bodyPr/>
                    <a:lstStyle/>
                    <a:p>
                      <a:r>
                        <a:rPr lang="en-US" dirty="0"/>
                        <a:t>1966–1980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Prefer more feedback on rewards on work done, need greater flexibility and autonomy in workplace</a:t>
                      </a:r>
                    </a:p>
                  </a:txBody>
                  <a:tcPr anchor="ctr"/>
                </a:tc>
                <a:extLst>
                  <a:ext uri="{0D108BD9-81ED-4DB2-BD59-A6C34878D82A}">
                    <a16:rowId xmlns:a16="http://schemas.microsoft.com/office/drawing/2014/main" val="594265758"/>
                  </a:ext>
                </a:extLst>
              </a:tr>
              <a:tr h="370840">
                <a:tc>
                  <a:txBody>
                    <a:bodyPr/>
                    <a:lstStyle/>
                    <a:p>
                      <a:r>
                        <a:rPr lang="en-US" dirty="0"/>
                        <a:t>Millennials</a:t>
                      </a:r>
                    </a:p>
                    <a:p>
                      <a:r>
                        <a:rPr lang="en-US" dirty="0"/>
                        <a:t>(Generation Y)</a:t>
                      </a:r>
                    </a:p>
                  </a:txBody>
                  <a:tcPr anchor="ctr"/>
                </a:tc>
                <a:tc>
                  <a:txBody>
                    <a:bodyPr/>
                    <a:lstStyle/>
                    <a:p>
                      <a:r>
                        <a:rPr lang="en-US" dirty="0"/>
                        <a:t>1981–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Collective action and team oriented, take technologies such as social media for granted</a:t>
                      </a:r>
                    </a:p>
                  </a:txBody>
                  <a:tcPr anchor="ctr"/>
                </a:tc>
                <a:extLst>
                  <a:ext uri="{0D108BD9-81ED-4DB2-BD59-A6C34878D82A}">
                    <a16:rowId xmlns:a16="http://schemas.microsoft.com/office/drawing/2014/main" val="2453981316"/>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Intergenerational Knowledge Transfer</a:t>
            </a:r>
          </a:p>
        </p:txBody>
      </p:sp>
      <p:graphicFrame>
        <p:nvGraphicFramePr>
          <p:cNvPr id="7" name="Object 6">
            <a:extLst>
              <a:ext uri="{FF2B5EF4-FFF2-40B4-BE49-F238E27FC236}">
                <a16:creationId xmlns:a16="http://schemas.microsoft.com/office/drawing/2014/main" id="{52E34442-DC14-3A43-0AFB-8CDCD3D2744D}"/>
              </a:ext>
            </a:extLst>
          </p:cNvPr>
          <p:cNvGraphicFramePr>
            <a:graphicFrameLocks noChangeAspect="1"/>
          </p:cNvGraphicFramePr>
          <p:nvPr>
            <p:extLst>
              <p:ext uri="{D42A27DB-BD31-4B8C-83A1-F6EECF244321}">
                <p14:modId xmlns:p14="http://schemas.microsoft.com/office/powerpoint/2010/main" val="2703481165"/>
              </p:ext>
            </p:extLst>
          </p:nvPr>
        </p:nvGraphicFramePr>
        <p:xfrm>
          <a:off x="2453507" y="2080686"/>
          <a:ext cx="6643568" cy="330918"/>
        </p:xfrm>
        <a:graphic>
          <a:graphicData uri="http://schemas.openxmlformats.org/presentationml/2006/ole">
            <mc:AlternateContent xmlns:mc="http://schemas.openxmlformats.org/markup-compatibility/2006">
              <mc:Choice xmlns:v="urn:schemas-microsoft-com:vml" Requires="v">
                <p:oleObj name="Bitmap Image" r:id="rId3" imgW="6278760" imgH="312480" progId="PBrush">
                  <p:embed/>
                </p:oleObj>
              </mc:Choice>
              <mc:Fallback>
                <p:oleObj name="Bitmap Image" r:id="rId3" imgW="6278760" imgH="312480" progId="PBrush">
                  <p:embed/>
                  <p:pic>
                    <p:nvPicPr>
                      <p:cNvPr id="0" name=""/>
                      <p:cNvPicPr/>
                      <p:nvPr/>
                    </p:nvPicPr>
                    <p:blipFill>
                      <a:blip r:embed="rId4"/>
                      <a:stretch>
                        <a:fillRect/>
                      </a:stretch>
                    </p:blipFill>
                    <p:spPr>
                      <a:xfrm>
                        <a:off x="2453507" y="2080686"/>
                        <a:ext cx="6643568" cy="330918"/>
                      </a:xfrm>
                      <a:prstGeom prst="rect">
                        <a:avLst/>
                      </a:prstGeom>
                    </p:spPr>
                  </p:pic>
                </p:oleObj>
              </mc:Fallback>
            </mc:AlternateContent>
          </a:graphicData>
        </a:graphic>
      </p:graphicFrame>
    </p:spTree>
    <p:extLst>
      <p:ext uri="{BB962C8B-B14F-4D97-AF65-F5344CB8AC3E}">
        <p14:creationId xmlns:p14="http://schemas.microsoft.com/office/powerpoint/2010/main" val="1241080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971176" cy="4816106"/>
          </a:xfrm>
        </p:spPr>
        <p:txBody>
          <a:bodyPr>
            <a:normAutofit fontScale="77500" lnSpcReduction="20000"/>
          </a:bodyPr>
          <a:lstStyle/>
          <a:p>
            <a:pPr marL="0" indent="0" algn="just">
              <a:lnSpc>
                <a:spcPct val="120000"/>
              </a:lnSpc>
              <a:spcBef>
                <a:spcPts val="1800"/>
              </a:spcBef>
              <a:buClr>
                <a:srgbClr val="973735"/>
              </a:buClr>
              <a:buSzPct val="50000"/>
              <a:buNone/>
              <a:defRPr/>
            </a:pPr>
            <a:r>
              <a:rPr lang="en-US" sz="3400" dirty="0"/>
              <a:t>The best practices associated with identifying, capturing, transferring, and applying critical knowledge are categorized into six general themes that correspond to the major stages of KCM:</a:t>
            </a:r>
          </a:p>
          <a:p>
            <a:pPr marL="342900" indent="-342900" algn="just">
              <a:lnSpc>
                <a:spcPct val="120000"/>
              </a:lnSpc>
              <a:spcBef>
                <a:spcPts val="1200"/>
              </a:spcBef>
              <a:buClr>
                <a:srgbClr val="973735"/>
              </a:buClr>
              <a:buSzPct val="50000"/>
              <a:buFont typeface="Wingdings" pitchFamily="2" charset="2"/>
              <a:buChar char="u"/>
              <a:defRPr/>
            </a:pPr>
            <a:r>
              <a:rPr lang="en-US" sz="3400" dirty="0"/>
              <a:t>Creating a strategy and process to protect critical knowledge</a:t>
            </a:r>
          </a:p>
          <a:p>
            <a:pPr marL="342900" indent="-342900" algn="just">
              <a:lnSpc>
                <a:spcPct val="120000"/>
              </a:lnSpc>
              <a:spcBef>
                <a:spcPts val="1200"/>
              </a:spcBef>
              <a:buClr>
                <a:srgbClr val="973735"/>
              </a:buClr>
              <a:buSzPct val="50000"/>
              <a:buFont typeface="Wingdings" pitchFamily="2" charset="2"/>
              <a:buChar char="u"/>
              <a:defRPr/>
            </a:pPr>
            <a:r>
              <a:rPr lang="en-US" sz="3400" dirty="0"/>
              <a:t>Identifying critical knowledge</a:t>
            </a:r>
          </a:p>
          <a:p>
            <a:pPr marL="342900" indent="-342900" algn="just">
              <a:lnSpc>
                <a:spcPct val="120000"/>
              </a:lnSpc>
              <a:spcBef>
                <a:spcPts val="1200"/>
              </a:spcBef>
              <a:buClr>
                <a:srgbClr val="973735"/>
              </a:buClr>
              <a:buSzPct val="50000"/>
              <a:buFont typeface="Wingdings" pitchFamily="2" charset="2"/>
              <a:buChar char="u"/>
              <a:defRPr/>
            </a:pPr>
            <a:r>
              <a:rPr lang="en-US" sz="3400" dirty="0"/>
              <a:t>Capturing and transferring critical knowledge</a:t>
            </a:r>
          </a:p>
          <a:p>
            <a:pPr marL="342900" indent="-342900" algn="just">
              <a:lnSpc>
                <a:spcPct val="120000"/>
              </a:lnSpc>
              <a:spcBef>
                <a:spcPts val="1200"/>
              </a:spcBef>
              <a:buClr>
                <a:srgbClr val="973735"/>
              </a:buClr>
              <a:buSzPct val="50000"/>
              <a:buFont typeface="Wingdings" pitchFamily="2" charset="2"/>
              <a:buChar char="u"/>
              <a:defRPr/>
            </a:pPr>
            <a:r>
              <a:rPr lang="en-US" sz="3400" dirty="0"/>
              <a:t>Managing access to critical knowledge</a:t>
            </a:r>
          </a:p>
          <a:p>
            <a:pPr marL="342900" indent="-342900" algn="just">
              <a:lnSpc>
                <a:spcPct val="120000"/>
              </a:lnSpc>
              <a:spcBef>
                <a:spcPts val="1200"/>
              </a:spcBef>
              <a:buClr>
                <a:srgbClr val="973735"/>
              </a:buClr>
              <a:buSzPct val="50000"/>
              <a:buFont typeface="Wingdings" pitchFamily="2" charset="2"/>
              <a:buChar char="u"/>
              <a:defRPr/>
            </a:pPr>
            <a:r>
              <a:rPr lang="en-US" sz="3400" dirty="0"/>
              <a:t>Managing change related to knowledge capture, transfer, and reuse</a:t>
            </a:r>
          </a:p>
          <a:p>
            <a:pPr marL="342900" indent="-342900" algn="just">
              <a:lnSpc>
                <a:spcPct val="120000"/>
              </a:lnSpc>
              <a:spcBef>
                <a:spcPts val="1200"/>
              </a:spcBef>
              <a:buClr>
                <a:srgbClr val="973735"/>
              </a:buClr>
              <a:buSzPct val="50000"/>
              <a:buFont typeface="Wingdings" pitchFamily="2" charset="2"/>
              <a:buChar char="u"/>
              <a:defRPr/>
            </a:pPr>
            <a:r>
              <a:rPr lang="en-US" sz="3400" dirty="0"/>
              <a:t>Ensuring critical knowledge is applied and used</a:t>
            </a:r>
          </a:p>
          <a:p>
            <a:pPr marL="342900" indent="-342900" algn="just">
              <a:lnSpc>
                <a:spcPct val="120000"/>
              </a:lnSpc>
              <a:spcBef>
                <a:spcPts val="12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Success Factors for Knowledge Continuity Management</a:t>
            </a:r>
          </a:p>
        </p:txBody>
      </p:sp>
    </p:spTree>
    <p:extLst>
      <p:ext uri="{BB962C8B-B14F-4D97-AF65-F5344CB8AC3E}">
        <p14:creationId xmlns:p14="http://schemas.microsoft.com/office/powerpoint/2010/main" val="2842344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McNichols (2010) advocates a number of strategies to improve the chances of completing successful knowledge continuity management activities. These include:</a:t>
            </a:r>
          </a:p>
          <a:p>
            <a:pPr marL="800100" lvl="1" indent="-342900" algn="just">
              <a:lnSpc>
                <a:spcPct val="100000"/>
              </a:lnSpc>
              <a:spcBef>
                <a:spcPts val="1800"/>
              </a:spcBef>
              <a:buClr>
                <a:srgbClr val="973735"/>
              </a:buClr>
              <a:buSzPct val="50000"/>
              <a:buFont typeface="Wingdings" pitchFamily="2" charset="2"/>
              <a:buChar char="u"/>
              <a:defRPr/>
            </a:pPr>
            <a:r>
              <a:rPr lang="en-US" dirty="0"/>
              <a:t>1. Building a knowledge sharing culture</a:t>
            </a:r>
          </a:p>
          <a:p>
            <a:pPr marL="800100" lvl="1" indent="-342900" algn="just">
              <a:lnSpc>
                <a:spcPct val="100000"/>
              </a:lnSpc>
              <a:spcBef>
                <a:spcPts val="1800"/>
              </a:spcBef>
              <a:buClr>
                <a:srgbClr val="973735"/>
              </a:buClr>
              <a:buSzPct val="50000"/>
              <a:buFont typeface="Wingdings" pitchFamily="2" charset="2"/>
              <a:buChar char="u"/>
              <a:defRPr/>
            </a:pPr>
            <a:r>
              <a:rPr lang="en-US" dirty="0"/>
              <a:t>2. Establishing mentoring programs</a:t>
            </a:r>
          </a:p>
          <a:p>
            <a:pPr marL="800100" lvl="1" indent="-342900" algn="just">
              <a:lnSpc>
                <a:spcPct val="100000"/>
              </a:lnSpc>
              <a:spcBef>
                <a:spcPts val="1800"/>
              </a:spcBef>
              <a:buClr>
                <a:srgbClr val="973735"/>
              </a:buClr>
              <a:buSzPct val="50000"/>
              <a:buFont typeface="Wingdings" pitchFamily="2" charset="2"/>
              <a:buChar char="u"/>
              <a:defRPr/>
            </a:pPr>
            <a:r>
              <a:rPr lang="en-US" dirty="0"/>
              <a:t>3. Initiating teamwork</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Success Factors for Knowledge Continuity Management</a:t>
            </a:r>
          </a:p>
        </p:txBody>
      </p:sp>
    </p:spTree>
    <p:extLst>
      <p:ext uri="{BB962C8B-B14F-4D97-AF65-F5344CB8AC3E}">
        <p14:creationId xmlns:p14="http://schemas.microsoft.com/office/powerpoint/2010/main" val="4172427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0" y="1664593"/>
            <a:ext cx="11971175" cy="4255275"/>
          </a:xfrm>
        </p:spPr>
        <p:txBody>
          <a:bodyPr>
            <a:normAutofit fontScale="85000" lnSpcReduction="20000"/>
          </a:bodyPr>
          <a:lstStyle/>
          <a:p>
            <a:pPr marL="0" indent="0" algn="just">
              <a:lnSpc>
                <a:spcPct val="120000"/>
              </a:lnSpc>
              <a:spcBef>
                <a:spcPts val="1200"/>
              </a:spcBef>
              <a:buClr>
                <a:srgbClr val="973735"/>
              </a:buClr>
              <a:buSzPct val="50000"/>
              <a:buNone/>
              <a:defRPr/>
            </a:pPr>
            <a:r>
              <a:rPr lang="en-US" dirty="0"/>
              <a:t>A </a:t>
            </a:r>
            <a:r>
              <a:rPr lang="en-US" sz="3000" dirty="0"/>
              <a:t>number of typical barriers to successful knowledge transfer have been identified (</a:t>
            </a:r>
            <a:r>
              <a:rPr lang="en-US" sz="3000" dirty="0" err="1"/>
              <a:t>Szulanski</a:t>
            </a:r>
            <a:r>
              <a:rPr lang="en-US" sz="3000" dirty="0"/>
              <a:t>, 1996; O’Dell et al., 1998; Davenport and </a:t>
            </a:r>
            <a:r>
              <a:rPr lang="en-US" sz="3000" dirty="0" err="1"/>
              <a:t>Prusak</a:t>
            </a:r>
            <a:r>
              <a:rPr lang="en-US" sz="3000" dirty="0"/>
              <a:t>, 2000). These include</a:t>
            </a:r>
            <a:r>
              <a:rPr lang="en-US" dirty="0"/>
              <a:t>:</a:t>
            </a:r>
          </a:p>
          <a:p>
            <a:pPr marL="457200" lvl="1" indent="0" algn="just">
              <a:lnSpc>
                <a:spcPct val="120000"/>
              </a:lnSpc>
              <a:spcBef>
                <a:spcPts val="1200"/>
              </a:spcBef>
              <a:buClr>
                <a:srgbClr val="973735"/>
              </a:buClr>
              <a:buSzPct val="50000"/>
              <a:buNone/>
              <a:defRPr/>
            </a:pPr>
            <a:r>
              <a:rPr lang="en-US" sz="2800" dirty="0"/>
              <a:t>1. Level of difficulty, complexity, and time needed (could take up to two years to complete)</a:t>
            </a:r>
          </a:p>
          <a:p>
            <a:pPr marL="457200" lvl="1" indent="0" algn="just">
              <a:lnSpc>
                <a:spcPct val="120000"/>
              </a:lnSpc>
              <a:spcBef>
                <a:spcPts val="1200"/>
              </a:spcBef>
              <a:buClr>
                <a:srgbClr val="973735"/>
              </a:buClr>
              <a:buSzPct val="50000"/>
              <a:buNone/>
              <a:defRPr/>
            </a:pPr>
            <a:r>
              <a:rPr lang="en-US" sz="2800" dirty="0"/>
              <a:t>2. Lack of sufficient absorptive capacity</a:t>
            </a:r>
          </a:p>
          <a:p>
            <a:pPr marL="457200" lvl="1" indent="0" algn="just">
              <a:lnSpc>
                <a:spcPct val="120000"/>
              </a:lnSpc>
              <a:spcBef>
                <a:spcPts val="1200"/>
              </a:spcBef>
              <a:buClr>
                <a:srgbClr val="973735"/>
              </a:buClr>
              <a:buSzPct val="50000"/>
              <a:buNone/>
              <a:defRPr/>
            </a:pPr>
            <a:r>
              <a:rPr lang="en-US" sz="2800" dirty="0"/>
              <a:t>3. Lack of trust, no preexisting relationship, lack of rapport, lack of motivation</a:t>
            </a:r>
          </a:p>
          <a:p>
            <a:pPr marL="457200" lvl="1" indent="0" algn="just">
              <a:lnSpc>
                <a:spcPct val="120000"/>
              </a:lnSpc>
              <a:spcBef>
                <a:spcPts val="1200"/>
              </a:spcBef>
              <a:buClr>
                <a:srgbClr val="973735"/>
              </a:buClr>
              <a:buSzPct val="50000"/>
              <a:buNone/>
              <a:defRPr/>
            </a:pPr>
            <a:r>
              <a:rPr lang="en-US" sz="2800" dirty="0"/>
              <a:t>4. Incompatible cultures, languages, work values, frames of reference</a:t>
            </a:r>
          </a:p>
          <a:p>
            <a:pPr marL="457200" lvl="1" indent="0" algn="just">
              <a:lnSpc>
                <a:spcPct val="120000"/>
              </a:lnSpc>
              <a:spcBef>
                <a:spcPts val="1200"/>
              </a:spcBef>
              <a:buClr>
                <a:srgbClr val="973735"/>
              </a:buClr>
              <a:buSzPct val="50000"/>
              <a:buNone/>
              <a:defRPr/>
            </a:pPr>
            <a:r>
              <a:rPr lang="en-US" sz="2800" dirty="0"/>
              <a:t>5. Not viewed as doing productive, valuable work</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683659" cy="709226"/>
          </a:xfrm>
        </p:spPr>
        <p:txBody>
          <a:bodyPr>
            <a:normAutofit fontScale="90000"/>
          </a:bodyPr>
          <a:lstStyle/>
          <a:p>
            <a:r>
              <a:rPr lang="en-US" sz="4000" b="1" dirty="0"/>
              <a:t>Challenges for Knowledge Continuity Management</a:t>
            </a:r>
          </a:p>
        </p:txBody>
      </p:sp>
    </p:spTree>
    <p:extLst>
      <p:ext uri="{BB962C8B-B14F-4D97-AF65-F5344CB8AC3E}">
        <p14:creationId xmlns:p14="http://schemas.microsoft.com/office/powerpoint/2010/main" val="158896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lnSpcReduction="10000"/>
          </a:bodyPr>
          <a:lstStyle/>
          <a:p>
            <a:pPr marL="0" indent="0" algn="just">
              <a:lnSpc>
                <a:spcPct val="110000"/>
              </a:lnSpc>
              <a:spcBef>
                <a:spcPts val="1200"/>
              </a:spcBef>
              <a:buClr>
                <a:srgbClr val="973735"/>
              </a:buClr>
              <a:buSzPct val="50000"/>
              <a:buNone/>
              <a:defRPr/>
            </a:pPr>
            <a:r>
              <a:rPr lang="en-US" sz="2600" dirty="0"/>
              <a:t>A number of typical barriers to successful knowledge transfer have been identified (</a:t>
            </a:r>
            <a:r>
              <a:rPr lang="en-US" sz="2600" dirty="0" err="1"/>
              <a:t>Szulanski</a:t>
            </a:r>
            <a:r>
              <a:rPr lang="en-US" sz="2600" dirty="0"/>
              <a:t>, 1996; O’Dell et al., 1998; Davenport and </a:t>
            </a:r>
            <a:r>
              <a:rPr lang="en-US" sz="2600" dirty="0" err="1"/>
              <a:t>Prusak</a:t>
            </a:r>
            <a:r>
              <a:rPr lang="en-US" sz="2600" dirty="0"/>
              <a:t>, 2000). These include:</a:t>
            </a:r>
          </a:p>
          <a:p>
            <a:pPr marL="457200" lvl="1" indent="0" algn="just">
              <a:lnSpc>
                <a:spcPct val="110000"/>
              </a:lnSpc>
              <a:spcBef>
                <a:spcPts val="1200"/>
              </a:spcBef>
              <a:buClr>
                <a:srgbClr val="973735"/>
              </a:buClr>
              <a:buSzPct val="50000"/>
              <a:buNone/>
              <a:defRPr/>
            </a:pPr>
            <a:r>
              <a:rPr lang="en-US" dirty="0"/>
              <a:t>6. Little incentive, reward, or status boost</a:t>
            </a:r>
          </a:p>
          <a:p>
            <a:pPr marL="457200" lvl="1" indent="0" algn="just">
              <a:lnSpc>
                <a:spcPct val="110000"/>
              </a:lnSpc>
              <a:spcBef>
                <a:spcPts val="1200"/>
              </a:spcBef>
              <a:buClr>
                <a:srgbClr val="973735"/>
              </a:buClr>
              <a:buSzPct val="50000"/>
              <a:buNone/>
              <a:defRPr/>
            </a:pPr>
            <a:r>
              <a:rPr lang="en-US" dirty="0"/>
              <a:t>7. Knowledge to be transferred not valued or knowledge owner not perceived as credible or important</a:t>
            </a:r>
          </a:p>
          <a:p>
            <a:pPr marL="457200" lvl="1" indent="0" algn="just">
              <a:lnSpc>
                <a:spcPct val="110000"/>
              </a:lnSpc>
              <a:spcBef>
                <a:spcPts val="1200"/>
              </a:spcBef>
              <a:buClr>
                <a:srgbClr val="973735"/>
              </a:buClr>
              <a:buSzPct val="50000"/>
              <a:buNone/>
              <a:defRPr/>
            </a:pPr>
            <a:r>
              <a:rPr lang="en-US" dirty="0"/>
              <a:t>8. Difficulty tolerating mistakes, asking for help, admitting not knowing something (loss of face)</a:t>
            </a:r>
          </a:p>
          <a:p>
            <a:pPr marL="457200" lvl="1" indent="0" algn="just">
              <a:lnSpc>
                <a:spcPct val="110000"/>
              </a:lnSpc>
              <a:spcBef>
                <a:spcPts val="1200"/>
              </a:spcBef>
              <a:buClr>
                <a:srgbClr val="973735"/>
              </a:buClr>
              <a:buSzPct val="50000"/>
              <a:buNone/>
              <a:defRPr/>
            </a:pPr>
            <a:r>
              <a:rPr lang="en-US" dirty="0"/>
              <a:t>9. Inability to articulate knowledge to be transferred</a:t>
            </a:r>
          </a:p>
          <a:p>
            <a:pPr marL="457200" lvl="1" indent="0" algn="just">
              <a:lnSpc>
                <a:spcPct val="110000"/>
              </a:lnSpc>
              <a:spcBef>
                <a:spcPts val="1200"/>
              </a:spcBef>
              <a:buClr>
                <a:srgbClr val="973735"/>
              </a:buClr>
              <a:buSzPct val="50000"/>
              <a:buNone/>
              <a:defRPr/>
            </a:pPr>
            <a:r>
              <a:rPr lang="en-US" dirty="0"/>
              <a:t>10. Lack of methods, tools, and support to transfer the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683659" cy="709226"/>
          </a:xfrm>
        </p:spPr>
        <p:txBody>
          <a:bodyPr>
            <a:normAutofit fontScale="90000"/>
          </a:bodyPr>
          <a:lstStyle/>
          <a:p>
            <a:r>
              <a:rPr lang="en-US" sz="4000" b="1" dirty="0"/>
              <a:t>Challenges for Knowledge Continuity Management</a:t>
            </a:r>
          </a:p>
        </p:txBody>
      </p:sp>
    </p:spTree>
    <p:extLst>
      <p:ext uri="{BB962C8B-B14F-4D97-AF65-F5344CB8AC3E}">
        <p14:creationId xmlns:p14="http://schemas.microsoft.com/office/powerpoint/2010/main" val="2315867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KCM requires a different perspective or logic, one based on identifying the critical expertise needed in order for the company to continue to operate but beyond that—to continue to operate at the same level of excellence.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Concluding Thought</a:t>
            </a:r>
          </a:p>
        </p:txBody>
      </p:sp>
    </p:spTree>
    <p:extLst>
      <p:ext uri="{BB962C8B-B14F-4D97-AF65-F5344CB8AC3E}">
        <p14:creationId xmlns:p14="http://schemas.microsoft.com/office/powerpoint/2010/main" val="2173984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fontScale="92500"/>
          </a:bodyPr>
          <a:lstStyle/>
          <a:p>
            <a:pPr marL="342900" indent="-342900" algn="just">
              <a:lnSpc>
                <a:spcPct val="110000"/>
              </a:lnSpc>
              <a:spcBef>
                <a:spcPts val="1200"/>
              </a:spcBef>
              <a:buClr>
                <a:srgbClr val="973735"/>
              </a:buClr>
              <a:buSzPct val="50000"/>
              <a:buFont typeface="Wingdings" pitchFamily="2" charset="2"/>
              <a:buChar char="u"/>
              <a:defRPr/>
            </a:pPr>
            <a:r>
              <a:rPr lang="en-US" dirty="0"/>
              <a:t>Define what knowledge continuity management is and why all managers need to add this to their toolbox of required management roles and responsibilities.</a:t>
            </a:r>
          </a:p>
          <a:p>
            <a:pPr marL="342900" indent="-342900" algn="just">
              <a:lnSpc>
                <a:spcPct val="110000"/>
              </a:lnSpc>
              <a:spcBef>
                <a:spcPts val="1200"/>
              </a:spcBef>
              <a:buClr>
                <a:srgbClr val="973735"/>
              </a:buClr>
              <a:buSzPct val="50000"/>
              <a:buFont typeface="Wingdings" pitchFamily="2" charset="2"/>
              <a:buChar char="u"/>
              <a:defRPr/>
            </a:pPr>
            <a:r>
              <a:rPr lang="en-US" dirty="0"/>
              <a:t>Describe the key steps needed to complete a KCM project.</a:t>
            </a:r>
          </a:p>
          <a:p>
            <a:pPr marL="342900" indent="-342900" algn="just">
              <a:lnSpc>
                <a:spcPct val="110000"/>
              </a:lnSpc>
              <a:spcBef>
                <a:spcPts val="1200"/>
              </a:spcBef>
              <a:buClr>
                <a:srgbClr val="973735"/>
              </a:buClr>
              <a:buSzPct val="50000"/>
              <a:buFont typeface="Wingdings" pitchFamily="2" charset="2"/>
              <a:buChar char="u"/>
              <a:defRPr/>
            </a:pPr>
            <a:r>
              <a:rPr lang="en-US" dirty="0"/>
              <a:t>Explain how KCM processes can become institutionalized.</a:t>
            </a:r>
          </a:p>
          <a:p>
            <a:pPr marL="342900" indent="-342900" algn="just">
              <a:lnSpc>
                <a:spcPct val="110000"/>
              </a:lnSpc>
              <a:spcBef>
                <a:spcPts val="1200"/>
              </a:spcBef>
              <a:buClr>
                <a:srgbClr val="973735"/>
              </a:buClr>
              <a:buSzPct val="50000"/>
              <a:buFont typeface="Wingdings" pitchFamily="2" charset="2"/>
              <a:buChar char="u"/>
              <a:defRPr/>
            </a:pPr>
            <a:r>
              <a:rPr lang="en-US" dirty="0"/>
              <a:t>List the different characteristics (individual, group, and organizational) that must be taken into account when designing an optimal KCM approach.</a:t>
            </a:r>
          </a:p>
          <a:p>
            <a:pPr marL="342900" indent="-342900" algn="just">
              <a:lnSpc>
                <a:spcPct val="110000"/>
              </a:lnSpc>
              <a:spcBef>
                <a:spcPts val="1200"/>
              </a:spcBef>
              <a:buClr>
                <a:srgbClr val="973735"/>
              </a:buClr>
              <a:buSzPct val="50000"/>
              <a:buFont typeface="Wingdings" pitchFamily="2" charset="2"/>
              <a:buChar char="u"/>
              <a:defRPr/>
            </a:pPr>
            <a:r>
              <a:rPr lang="en-US" dirty="0"/>
              <a:t>Match each potential obstacle to knowledge sharing with an appropriate mitigation strategy.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47</a:t>
            </a:fld>
            <a:endParaRPr kumimoji="0" lang="en-US" dirty="0"/>
          </a:p>
        </p:txBody>
      </p:sp>
      <p:sp>
        <p:nvSpPr>
          <p:cNvPr id="4" name="Content Placeholder 3"/>
          <p:cNvSpPr>
            <a:spLocks noGrp="1"/>
          </p:cNvSpPr>
          <p:nvPr>
            <p:ph sz="quarter" idx="1"/>
          </p:nvPr>
        </p:nvSpPr>
        <p:spPr>
          <a:xfrm>
            <a:off x="0" y="1714726"/>
            <a:ext cx="11857055" cy="4322181"/>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Compare and contrast different approaches to transferring knowledge. What are the strengths and weaknesses of each? Are some techniques better suited to explicit knowledge? Tacit knowledge?</a:t>
            </a:r>
          </a:p>
          <a:p>
            <a:pPr marL="514350" indent="-514350" algn="just">
              <a:lnSpc>
                <a:spcPct val="100000"/>
              </a:lnSpc>
              <a:spcBef>
                <a:spcPts val="1200"/>
              </a:spcBef>
              <a:buClr>
                <a:srgbClr val="973735"/>
              </a:buClr>
              <a:buSzPct val="100000"/>
              <a:buFont typeface="+mj-lt"/>
              <a:buAutoNum type="arabicPeriod"/>
              <a:defRPr/>
            </a:pPr>
            <a:r>
              <a:rPr lang="en-US" sz="2000" dirty="0"/>
              <a:t>What is the role of technology in KCM? What characteristics would you use to guide your decision in selecting the specific technology to use with a given pair or group?</a:t>
            </a:r>
          </a:p>
          <a:p>
            <a:pPr marL="514350" indent="-514350" algn="just">
              <a:lnSpc>
                <a:spcPct val="100000"/>
              </a:lnSpc>
              <a:spcBef>
                <a:spcPts val="1200"/>
              </a:spcBef>
              <a:buClr>
                <a:srgbClr val="973735"/>
              </a:buClr>
              <a:buSzPct val="100000"/>
              <a:buFont typeface="+mj-lt"/>
              <a:buAutoNum type="arabicPeriod"/>
              <a:defRPr/>
            </a:pPr>
            <a:r>
              <a:rPr lang="en-US" sz="2000" dirty="0"/>
              <a:t>What are the major challenges to overcome in order to implement a successful KCM program in an organization? How would you tackle these?</a:t>
            </a:r>
          </a:p>
          <a:p>
            <a:pPr marL="514350" indent="-514350" algn="just">
              <a:lnSpc>
                <a:spcPct val="100000"/>
              </a:lnSpc>
              <a:spcBef>
                <a:spcPts val="1200"/>
              </a:spcBef>
              <a:buClr>
                <a:srgbClr val="973735"/>
              </a:buClr>
              <a:buSzPct val="100000"/>
              <a:buFont typeface="+mj-lt"/>
              <a:buAutoNum type="arabicPeriod"/>
              <a:defRPr/>
            </a:pPr>
            <a:r>
              <a:rPr lang="en-US" sz="2000" dirty="0"/>
              <a:t>Explain how knowledge transfer occurs at the individual, group/team, and organizational levels. How can you ensure that there are solid bridges between these three levels?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pic>
        <p:nvPicPr>
          <p:cNvPr id="1026" name="Picture 2" descr="A Step-by-Step Guide To Case Discussion - InsideIIM">
            <a:extLst>
              <a:ext uri="{FF2B5EF4-FFF2-40B4-BE49-F238E27FC236}">
                <a16:creationId xmlns:a16="http://schemas.microsoft.com/office/drawing/2014/main" id="{71672D08-67BB-F8E5-E73E-71285AF039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8815" y="4767256"/>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602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2807</TotalTime>
  <Words>3296</Words>
  <Application>Microsoft Office PowerPoint</Application>
  <PresentationFormat>Widescreen</PresentationFormat>
  <Paragraphs>489</Paragraphs>
  <Slides>47</Slides>
  <Notes>47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2" baseType="lpstr">
      <vt:lpstr>Arial</vt:lpstr>
      <vt:lpstr>Calibri</vt:lpstr>
      <vt:lpstr>Wingdings</vt:lpstr>
      <vt:lpstr>Office Theme</vt:lpstr>
      <vt:lpstr>Bitmap Image</vt:lpstr>
      <vt:lpstr>Chapter 12 Knowledge Continuity Management</vt:lpstr>
      <vt:lpstr>Objectives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Knowledge Continuity Management Process</vt:lpstr>
      <vt:lpstr>A Three-Tiered Approach to Knowledge Continuity</vt:lpstr>
      <vt:lpstr>A Three-Tiered Approach to Knowledge Continuity</vt:lpstr>
      <vt:lpstr>A Three-Tiered Approach to Knowledge Continuity</vt:lpstr>
      <vt:lpstr>A Three-Tiered Approach to Knowledge Continuity</vt:lpstr>
      <vt:lpstr>Intergenerational Knowledge Transfer</vt:lpstr>
      <vt:lpstr>Intergenerational Knowledge Transfer</vt:lpstr>
      <vt:lpstr>Success Factors for Knowledge Continuity Management</vt:lpstr>
      <vt:lpstr>Success Factors for Knowledge Continuity Management</vt:lpstr>
      <vt:lpstr>Challenges for Knowledge Continuity Management</vt:lpstr>
      <vt:lpstr>Challenges for Knowledge Continuity Management</vt:lpstr>
      <vt:lpstr>Concluding Thought</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127</cp:revision>
  <dcterms:created xsi:type="dcterms:W3CDTF">2021-01-25T08:25:31Z</dcterms:created>
  <dcterms:modified xsi:type="dcterms:W3CDTF">2023-09-20T21:11:43Z</dcterms:modified>
</cp:coreProperties>
</file>