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handoutMasterIdLst>
    <p:handoutMasterId r:id="rId48"/>
  </p:handoutMasterIdLst>
  <p:sldIdLst>
    <p:sldId id="256" r:id="rId2"/>
    <p:sldId id="278" r:id="rId3"/>
    <p:sldId id="279" r:id="rId4"/>
    <p:sldId id="404" r:id="rId5"/>
    <p:sldId id="456" r:id="rId6"/>
    <p:sldId id="407" r:id="rId7"/>
    <p:sldId id="434" r:id="rId8"/>
    <p:sldId id="313" r:id="rId9"/>
    <p:sldId id="452" r:id="rId10"/>
    <p:sldId id="451" r:id="rId11"/>
    <p:sldId id="437" r:id="rId12"/>
    <p:sldId id="441" r:id="rId13"/>
    <p:sldId id="438" r:id="rId14"/>
    <p:sldId id="453" r:id="rId15"/>
    <p:sldId id="410" r:id="rId16"/>
    <p:sldId id="415" r:id="rId17"/>
    <p:sldId id="442" r:id="rId18"/>
    <p:sldId id="443" r:id="rId19"/>
    <p:sldId id="454" r:id="rId20"/>
    <p:sldId id="417" r:id="rId21"/>
    <p:sldId id="420" r:id="rId22"/>
    <p:sldId id="422" r:id="rId23"/>
    <p:sldId id="421" r:id="rId24"/>
    <p:sldId id="455" r:id="rId25"/>
    <p:sldId id="418" r:id="rId26"/>
    <p:sldId id="423" r:id="rId27"/>
    <p:sldId id="322" r:id="rId28"/>
    <p:sldId id="424" r:id="rId29"/>
    <p:sldId id="425" r:id="rId30"/>
    <p:sldId id="446" r:id="rId31"/>
    <p:sldId id="447" r:id="rId32"/>
    <p:sldId id="426" r:id="rId33"/>
    <p:sldId id="448" r:id="rId34"/>
    <p:sldId id="428" r:id="rId35"/>
    <p:sldId id="449" r:id="rId36"/>
    <p:sldId id="429" r:id="rId37"/>
    <p:sldId id="430" r:id="rId38"/>
    <p:sldId id="323" r:id="rId39"/>
    <p:sldId id="431" r:id="rId40"/>
    <p:sldId id="432" r:id="rId41"/>
    <p:sldId id="433" r:id="rId42"/>
    <p:sldId id="324" r:id="rId43"/>
    <p:sldId id="450" r:id="rId44"/>
    <p:sldId id="326" r:id="rId45"/>
    <p:sldId id="40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6353" autoAdjust="0"/>
    <p:restoredTop sz="64395" autoAdjust="0"/>
  </p:normalViewPr>
  <p:slideViewPr>
    <p:cSldViewPr snapToGrid="0">
      <p:cViewPr varScale="1">
        <p:scale>
          <a:sx n="88" d="100"/>
          <a:sy n="88" d="100"/>
        </p:scale>
        <p:origin x="432" y="72"/>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14584579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709855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1557976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2303674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37684635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3861100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40963782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1937372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28419935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41302248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7794304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8682000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21616820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3486108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454742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4124290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1673788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799308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40536230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39560895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28531427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4298092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3283538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2351357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813836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6766196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327358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1305820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822095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39251582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6737035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40075726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8725869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15732626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21363412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15038366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109783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8176144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9017563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wmf"/><Relationship Id="rId5" Type="http://schemas.openxmlformats.org/officeDocument/2006/relationships/oleObject" Target="../embeddings/oleObject4.bin"/><Relationship Id="rId4" Type="http://schemas.openxmlformats.org/officeDocument/2006/relationships/image" Target="../media/image4.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6.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8.bin"/><Relationship Id="rId4" Type="http://schemas.openxmlformats.org/officeDocument/2006/relationships/image" Target="../media/image9.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0.bin"/><Relationship Id="rId4" Type="http://schemas.openxmlformats.org/officeDocument/2006/relationships/image" Target="../media/image11.w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06</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Finding Knowledge</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Knowledge Application at the Individual Level</a:t>
            </a:r>
          </a:p>
          <a:p>
            <a:pPr marL="342900" indent="-342900" algn="just">
              <a:lnSpc>
                <a:spcPct val="150000"/>
              </a:lnSpc>
              <a:spcBef>
                <a:spcPts val="600"/>
              </a:spcBef>
              <a:buClr>
                <a:srgbClr val="973735"/>
              </a:buClr>
              <a:buSzPct val="50000"/>
              <a:buFont typeface="Wingdings" pitchFamily="2" charset="2"/>
              <a:buChar char="u"/>
              <a:defRPr/>
            </a:pPr>
            <a:r>
              <a:rPr lang="en-US" dirty="0"/>
              <a:t>Knowledge Application at the Group and Organizational Levels</a:t>
            </a:r>
          </a:p>
          <a:p>
            <a:pPr marL="342900" indent="-342900" algn="just">
              <a:lnSpc>
                <a:spcPct val="150000"/>
              </a:lnSpc>
              <a:spcBef>
                <a:spcPts val="600"/>
              </a:spcBef>
              <a:buClr>
                <a:srgbClr val="973735"/>
              </a:buClr>
              <a:buSzPct val="50000"/>
              <a:buFont typeface="Wingdings" pitchFamily="2" charset="2"/>
              <a:buChar char="u"/>
              <a:defRPr/>
            </a:pPr>
            <a:r>
              <a:rPr lang="en-US" dirty="0"/>
              <a:t>Real World Applications of KM</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Knowledge Application</a:t>
            </a:r>
          </a:p>
          <a:p>
            <a:pPr marL="342900" indent="-342900" algn="just">
              <a:lnSpc>
                <a:spcPct val="150000"/>
              </a:lnSpc>
              <a:spcBef>
                <a:spcPts val="600"/>
              </a:spcBef>
              <a:buClr>
                <a:srgbClr val="973735"/>
              </a:buClr>
              <a:buSzPct val="50000"/>
              <a:buFont typeface="Wingdings" pitchFamily="2" charset="2"/>
              <a:buChar char="u"/>
              <a:defRPr/>
            </a:pPr>
            <a:r>
              <a:rPr lang="en-US" dirty="0"/>
              <a:t>Practical Implications of Knowledge Application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838201" y="1384177"/>
            <a:ext cx="10067364" cy="4634607"/>
          </a:xfrm>
        </p:spPr>
        <p:txBody>
          <a:bodyPr>
            <a:noAutofit/>
          </a:bodyPr>
          <a:lstStyle/>
          <a:p>
            <a:pPr marL="0" indent="0" algn="just">
              <a:lnSpc>
                <a:spcPct val="100000"/>
              </a:lnSpc>
              <a:spcBef>
                <a:spcPts val="1200"/>
              </a:spcBef>
              <a:buClr>
                <a:srgbClr val="973735"/>
              </a:buClr>
              <a:buSzPct val="50000"/>
              <a:buNone/>
              <a:defRPr/>
            </a:pPr>
            <a:endParaRPr lang="en-US" sz="2600" dirty="0"/>
          </a:p>
          <a:p>
            <a:pPr marL="0" indent="0" algn="just">
              <a:lnSpc>
                <a:spcPct val="100000"/>
              </a:lnSpc>
              <a:spcBef>
                <a:spcPts val="1200"/>
              </a:spcBef>
              <a:buClr>
                <a:srgbClr val="973735"/>
              </a:buClr>
              <a:buSzPct val="50000"/>
              <a:buNone/>
              <a:defRPr/>
            </a:pPr>
            <a:endParaRPr lang="en-US" sz="2600" dirty="0"/>
          </a:p>
          <a:p>
            <a:pPr marL="0" indent="0" algn="just">
              <a:lnSpc>
                <a:spcPct val="100000"/>
              </a:lnSpc>
              <a:spcBef>
                <a:spcPts val="1200"/>
              </a:spcBef>
              <a:buClr>
                <a:srgbClr val="973735"/>
              </a:buClr>
              <a:buSzPct val="50000"/>
              <a:buNone/>
              <a:defRPr/>
            </a:pPr>
            <a:r>
              <a:rPr lang="en-US" sz="2600" dirty="0"/>
              <a:t>This chapter brings us to the final step in the knowledge management cycle when the knowledge that has been </a:t>
            </a:r>
            <a:r>
              <a:rPr lang="en-US" sz="2600" b="1" dirty="0"/>
              <a:t>captured, coded, shared, </a:t>
            </a:r>
            <a:r>
              <a:rPr lang="en-US" sz="2600" dirty="0"/>
              <a:t>and otherwise made available is put to actual use.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5" name="Content Placeholder 4">
            <a:extLst>
              <a:ext uri="{FF2B5EF4-FFF2-40B4-BE49-F238E27FC236}">
                <a16:creationId xmlns:a16="http://schemas.microsoft.com/office/drawing/2014/main" id="{747CFBF5-B4E0-F768-9AF0-04F7E5A6D85A}"/>
              </a:ext>
            </a:extLst>
          </p:cNvPr>
          <p:cNvSpPr>
            <a:spLocks noGrp="1"/>
          </p:cNvSpPr>
          <p:nvPr>
            <p:ph idx="1"/>
          </p:nvPr>
        </p:nvSpPr>
        <p:spPr/>
        <p:txBody>
          <a:bodyPr/>
          <a:lstStyle/>
          <a:p>
            <a:endParaRPr lang="en-US"/>
          </a:p>
        </p:txBody>
      </p:sp>
      <p:graphicFrame>
        <p:nvGraphicFramePr>
          <p:cNvPr id="4" name="Object 3">
            <a:extLst>
              <a:ext uri="{FF2B5EF4-FFF2-40B4-BE49-F238E27FC236}">
                <a16:creationId xmlns:a16="http://schemas.microsoft.com/office/drawing/2014/main" id="{69C83D1C-ABEF-CB4E-C57C-35A5E578DC9F}"/>
              </a:ext>
            </a:extLst>
          </p:cNvPr>
          <p:cNvGraphicFramePr>
            <a:graphicFrameLocks noChangeAspect="1"/>
          </p:cNvGraphicFramePr>
          <p:nvPr>
            <p:extLst>
              <p:ext uri="{D42A27DB-BD31-4B8C-83A1-F6EECF244321}">
                <p14:modId xmlns:p14="http://schemas.microsoft.com/office/powerpoint/2010/main" val="1571066425"/>
              </p:ext>
            </p:extLst>
          </p:nvPr>
        </p:nvGraphicFramePr>
        <p:xfrm>
          <a:off x="4297061" y="5711209"/>
          <a:ext cx="3649663" cy="419100"/>
        </p:xfrm>
        <a:graphic>
          <a:graphicData uri="http://schemas.openxmlformats.org/presentationml/2006/ole">
            <mc:AlternateContent xmlns:mc="http://schemas.openxmlformats.org/markup-compatibility/2006">
              <mc:Choice xmlns:v="urn:schemas-microsoft-com:vml" Requires="v">
                <p:oleObj name="Bitmap Image" r:id="rId3" imgW="3650040" imgH="419040" progId="PBrush">
                  <p:embed/>
                </p:oleObj>
              </mc:Choice>
              <mc:Fallback>
                <p:oleObj name="Bitmap Image" r:id="rId3" imgW="3650040" imgH="419040" progId="PBrush">
                  <p:embed/>
                  <p:pic>
                    <p:nvPicPr>
                      <p:cNvPr id="0" name=""/>
                      <p:cNvPicPr/>
                      <p:nvPr/>
                    </p:nvPicPr>
                    <p:blipFill>
                      <a:blip r:embed="rId4"/>
                      <a:stretch>
                        <a:fillRect/>
                      </a:stretch>
                    </p:blipFill>
                    <p:spPr>
                      <a:xfrm>
                        <a:off x="4297061" y="5711209"/>
                        <a:ext cx="3649663" cy="41910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98DB388E-623A-713F-65F4-53BF8C76288E}"/>
              </a:ext>
            </a:extLst>
          </p:cNvPr>
          <p:cNvGraphicFramePr>
            <a:graphicFrameLocks noChangeAspect="1"/>
          </p:cNvGraphicFramePr>
          <p:nvPr>
            <p:extLst>
              <p:ext uri="{D42A27DB-BD31-4B8C-83A1-F6EECF244321}">
                <p14:modId xmlns:p14="http://schemas.microsoft.com/office/powerpoint/2010/main" val="778855862"/>
              </p:ext>
            </p:extLst>
          </p:nvPr>
        </p:nvGraphicFramePr>
        <p:xfrm>
          <a:off x="2750952" y="1729790"/>
          <a:ext cx="6340475" cy="3695700"/>
        </p:xfrm>
        <a:graphic>
          <a:graphicData uri="http://schemas.openxmlformats.org/presentationml/2006/ole">
            <mc:AlternateContent xmlns:mc="http://schemas.openxmlformats.org/markup-compatibility/2006">
              <mc:Choice xmlns:v="urn:schemas-microsoft-com:vml" Requires="v">
                <p:oleObj name="Bitmap Image" r:id="rId5" imgW="6339960" imgH="3695760" progId="PBrush">
                  <p:embed/>
                </p:oleObj>
              </mc:Choice>
              <mc:Fallback>
                <p:oleObj name="Bitmap Image" r:id="rId5" imgW="6339960" imgH="3695760" progId="PBrush">
                  <p:embed/>
                  <p:pic>
                    <p:nvPicPr>
                      <p:cNvPr id="0" name=""/>
                      <p:cNvPicPr/>
                      <p:nvPr/>
                    </p:nvPicPr>
                    <p:blipFill>
                      <a:blip r:embed="rId6"/>
                      <a:stretch>
                        <a:fillRect/>
                      </a:stretch>
                    </p:blipFill>
                    <p:spPr>
                      <a:xfrm>
                        <a:off x="2750952" y="1729790"/>
                        <a:ext cx="6340475" cy="3695700"/>
                      </a:xfrm>
                      <a:prstGeom prst="rect">
                        <a:avLst/>
                      </a:prstGeom>
                    </p:spPr>
                  </p:pic>
                </p:oleObj>
              </mc:Fallback>
            </mc:AlternateContent>
          </a:graphicData>
        </a:graphic>
      </p:graphicFrame>
    </p:spTree>
    <p:extLst>
      <p:ext uri="{BB962C8B-B14F-4D97-AF65-F5344CB8AC3E}">
        <p14:creationId xmlns:p14="http://schemas.microsoft.com/office/powerpoint/2010/main" val="3681225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53988"/>
            <a:ext cx="11971176" cy="4575161"/>
          </a:xfrm>
        </p:spPr>
        <p:txBody>
          <a:bodyPr>
            <a:normAutofit/>
          </a:bodyPr>
          <a:lstStyle/>
          <a:p>
            <a:pPr marL="0" indent="0" algn="just">
              <a:lnSpc>
                <a:spcPct val="100000"/>
              </a:lnSpc>
              <a:spcBef>
                <a:spcPts val="2400"/>
              </a:spcBef>
              <a:buClr>
                <a:srgbClr val="973735"/>
              </a:buClr>
              <a:buSzPct val="50000"/>
              <a:buNone/>
              <a:defRPr/>
            </a:pPr>
            <a:r>
              <a:rPr lang="en-US" dirty="0"/>
              <a:t>Knowledge management typically addresses one of two general objectives: </a:t>
            </a:r>
          </a:p>
          <a:p>
            <a:pPr marL="342900" indent="-342900" algn="just">
              <a:lnSpc>
                <a:spcPct val="100000"/>
              </a:lnSpc>
              <a:spcBef>
                <a:spcPts val="2400"/>
              </a:spcBef>
              <a:buClr>
                <a:srgbClr val="973735"/>
              </a:buClr>
              <a:buSzPct val="50000"/>
              <a:buFont typeface="Wingdings" pitchFamily="2" charset="2"/>
              <a:buChar char="u"/>
              <a:defRPr/>
            </a:pPr>
            <a:r>
              <a:rPr lang="en-US" b="1" dirty="0"/>
              <a:t>Knowledge reuse </a:t>
            </a:r>
            <a:r>
              <a:rPr lang="en-US" dirty="0"/>
              <a:t>to promote efficiency and innovation to introduce more effective ways of doing things. </a:t>
            </a:r>
          </a:p>
          <a:p>
            <a:pPr marL="342900" indent="-342900" algn="just">
              <a:lnSpc>
                <a:spcPct val="100000"/>
              </a:lnSpc>
              <a:spcBef>
                <a:spcPts val="2400"/>
              </a:spcBef>
              <a:buClr>
                <a:srgbClr val="973735"/>
              </a:buClr>
              <a:buSzPct val="50000"/>
              <a:buFont typeface="Wingdings" pitchFamily="2" charset="2"/>
              <a:buChar char="u"/>
              <a:defRPr/>
            </a:pPr>
            <a:r>
              <a:rPr lang="en-US" b="1" dirty="0"/>
              <a:t>Knowledge application </a:t>
            </a:r>
            <a:r>
              <a:rPr lang="en-US" dirty="0"/>
              <a:t>refers to the actual use of knowledge that has been captured or created and put into the KM cycle</a:t>
            </a:r>
          </a:p>
          <a:p>
            <a:pPr marL="342900" indent="-342900" algn="just">
              <a:lnSpc>
                <a:spcPct val="120000"/>
              </a:lnSpc>
              <a:spcBef>
                <a:spcPts val="1200"/>
              </a:spcBef>
              <a:buClr>
                <a:srgbClr val="973735"/>
              </a:buClr>
              <a:buSzPct val="50000"/>
              <a:buFont typeface="Wingdings" pitchFamily="2" charset="2"/>
              <a:buChar char="u"/>
              <a:defRPr/>
            </a:pPr>
            <a:endParaRPr lang="en-US" dirty="0"/>
          </a:p>
        </p:txBody>
      </p:sp>
    </p:spTree>
    <p:extLst>
      <p:ext uri="{BB962C8B-B14F-4D97-AF65-F5344CB8AC3E}">
        <p14:creationId xmlns:p14="http://schemas.microsoft.com/office/powerpoint/2010/main" val="1704680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7" name="Content Placeholder 3">
            <a:extLst>
              <a:ext uri="{FF2B5EF4-FFF2-40B4-BE49-F238E27FC236}">
                <a16:creationId xmlns:a16="http://schemas.microsoft.com/office/drawing/2014/main" id="{410DC682-20AB-B4AD-B6FF-A66E558F8B81}"/>
              </a:ext>
            </a:extLst>
          </p:cNvPr>
          <p:cNvSpPr txBox="1">
            <a:spLocks/>
          </p:cNvSpPr>
          <p:nvPr/>
        </p:nvSpPr>
        <p:spPr>
          <a:xfrm>
            <a:off x="739588" y="1664593"/>
            <a:ext cx="10515600" cy="46781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2400"/>
              </a:spcBef>
              <a:buClr>
                <a:srgbClr val="973735"/>
              </a:buClr>
              <a:buSzPct val="50000"/>
              <a:buFont typeface="Arial" panose="020B0604020202020204" pitchFamily="34" charset="0"/>
              <a:buNone/>
              <a:defRPr/>
            </a:pPr>
            <a:r>
              <a:rPr lang="en-US" dirty="0"/>
              <a:t>The knowledge spiral needs to be completed by successful internalization of knowledge</a:t>
            </a:r>
          </a:p>
          <a:p>
            <a:pPr marL="0" indent="0" algn="just">
              <a:lnSpc>
                <a:spcPct val="100000"/>
              </a:lnSpc>
              <a:spcBef>
                <a:spcPts val="2400"/>
              </a:spcBef>
              <a:buClr>
                <a:srgbClr val="973735"/>
              </a:buClr>
              <a:buSzPct val="50000"/>
              <a:buFont typeface="Arial" panose="020B0604020202020204" pitchFamily="34" charset="0"/>
              <a:buNone/>
              <a:defRPr/>
            </a:pPr>
            <a:r>
              <a:rPr lang="en-US" dirty="0"/>
              <a:t>These knowledge objects can be explained references. Components (program or text), templates, patterns, or other types of containers</a:t>
            </a:r>
          </a:p>
          <a:p>
            <a:pPr marL="0" indent="0" algn="just">
              <a:lnSpc>
                <a:spcPct val="100000"/>
              </a:lnSpc>
              <a:spcBef>
                <a:spcPts val="2400"/>
              </a:spcBef>
              <a:buClr>
                <a:srgbClr val="973735"/>
              </a:buClr>
              <a:buSzPct val="50000"/>
              <a:buFont typeface="Arial" panose="020B0604020202020204" pitchFamily="34" charset="0"/>
              <a:buNone/>
              <a:defRPr/>
            </a:pPr>
            <a:r>
              <a:rPr lang="en-US" dirty="0"/>
              <a:t>The goal is to reduce the time it takes to complete tasks</a:t>
            </a:r>
          </a:p>
          <a:p>
            <a:pPr marL="0" indent="0" algn="just">
              <a:lnSpc>
                <a:spcPct val="100000"/>
              </a:lnSpc>
              <a:spcBef>
                <a:spcPts val="1200"/>
              </a:spcBef>
              <a:buClr>
                <a:srgbClr val="973735"/>
              </a:buClr>
              <a:buSzPct val="50000"/>
              <a:buFont typeface="Arial" panose="020B0604020202020204" pitchFamily="34" charset="0"/>
              <a:buNone/>
              <a:defRPr/>
            </a:pPr>
            <a:endParaRPr lang="en-US" dirty="0"/>
          </a:p>
        </p:txBody>
      </p:sp>
    </p:spTree>
    <p:extLst>
      <p:ext uri="{BB962C8B-B14F-4D97-AF65-F5344CB8AC3E}">
        <p14:creationId xmlns:p14="http://schemas.microsoft.com/office/powerpoint/2010/main" val="3614968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7" name="Content Placeholder 3">
            <a:extLst>
              <a:ext uri="{FF2B5EF4-FFF2-40B4-BE49-F238E27FC236}">
                <a16:creationId xmlns:a16="http://schemas.microsoft.com/office/drawing/2014/main" id="{410DC682-20AB-B4AD-B6FF-A66E558F8B81}"/>
              </a:ext>
            </a:extLst>
          </p:cNvPr>
          <p:cNvSpPr txBox="1">
            <a:spLocks/>
          </p:cNvSpPr>
          <p:nvPr/>
        </p:nvSpPr>
        <p:spPr>
          <a:xfrm>
            <a:off x="739588" y="2245659"/>
            <a:ext cx="10515600" cy="40970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2400"/>
              </a:spcBef>
              <a:buClr>
                <a:srgbClr val="973735"/>
              </a:buClr>
              <a:buSzPct val="50000"/>
              <a:buFont typeface="Arial" panose="020B0604020202020204" pitchFamily="34" charset="0"/>
              <a:buNone/>
              <a:defRPr/>
            </a:pPr>
            <a:r>
              <a:rPr lang="en-US" dirty="0"/>
              <a:t>If knowledge workers can </a:t>
            </a:r>
            <a:r>
              <a:rPr lang="en-US" b="1" dirty="0"/>
              <a:t>easily locate </a:t>
            </a:r>
            <a:r>
              <a:rPr lang="en-US" dirty="0"/>
              <a:t>and communicate with individuals in the company that are connected to a given knowledge object (e.g., they are familiar with how it is used, the have been trained, etc.), then the ability to apply or to make use of this knowledge is greatly increased</a:t>
            </a:r>
          </a:p>
          <a:p>
            <a:pPr marL="0" indent="0" algn="just">
              <a:lnSpc>
                <a:spcPct val="100000"/>
              </a:lnSpc>
              <a:spcBef>
                <a:spcPts val="1200"/>
              </a:spcBef>
              <a:buClr>
                <a:srgbClr val="973735"/>
              </a:buClr>
              <a:buSzPct val="50000"/>
              <a:buFont typeface="Arial" panose="020B0604020202020204" pitchFamily="34" charset="0"/>
              <a:buNone/>
              <a:defRPr/>
            </a:pPr>
            <a:endParaRPr lang="en-US" dirty="0"/>
          </a:p>
        </p:txBody>
      </p:sp>
    </p:spTree>
    <p:extLst>
      <p:ext uri="{BB962C8B-B14F-4D97-AF65-F5344CB8AC3E}">
        <p14:creationId xmlns:p14="http://schemas.microsoft.com/office/powerpoint/2010/main" val="2362170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53988"/>
            <a:ext cx="11971176" cy="4575161"/>
          </a:xfrm>
        </p:spPr>
        <p:txBody>
          <a:bodyPr>
            <a:normAutofit lnSpcReduction="10000"/>
          </a:bodyPr>
          <a:lstStyle/>
          <a:p>
            <a:pPr marL="342900" indent="-342900" algn="just">
              <a:lnSpc>
                <a:spcPct val="100000"/>
              </a:lnSpc>
              <a:spcBef>
                <a:spcPts val="1800"/>
              </a:spcBef>
              <a:buClr>
                <a:srgbClr val="973735"/>
              </a:buClr>
              <a:buSzPct val="50000"/>
              <a:buFont typeface="Wingdings" pitchFamily="2" charset="2"/>
              <a:buChar char="u"/>
              <a:defRPr/>
            </a:pPr>
            <a:r>
              <a:rPr lang="en-US" dirty="0"/>
              <a:t>A common assumption in the past was that all relevant knowledge could be bundled up in nice, neat, easily accessible packages of “best practices” that practitioners could then “repeat”. </a:t>
            </a:r>
          </a:p>
          <a:p>
            <a:pPr marL="0" indent="0" algn="just">
              <a:lnSpc>
                <a:spcPct val="100000"/>
              </a:lnSpc>
              <a:spcBef>
                <a:spcPts val="1800"/>
              </a:spcBef>
              <a:buClr>
                <a:srgbClr val="973735"/>
              </a:buClr>
              <a:buSzPct val="50000"/>
              <a:buNone/>
              <a:defRPr/>
            </a:pPr>
            <a:r>
              <a:rPr lang="en-US" dirty="0"/>
              <a:t>Dixon (2000) outlines factors that affect knowledge transfer:</a:t>
            </a:r>
          </a:p>
          <a:p>
            <a:pPr marL="342900" indent="-342900" algn="just">
              <a:lnSpc>
                <a:spcPct val="100000"/>
              </a:lnSpc>
              <a:spcBef>
                <a:spcPts val="1800"/>
              </a:spcBef>
              <a:buClr>
                <a:srgbClr val="973735"/>
              </a:buClr>
              <a:buSzPct val="50000"/>
              <a:buFont typeface="Wingdings" pitchFamily="2" charset="2"/>
              <a:buChar char="u"/>
              <a:defRPr/>
            </a:pPr>
            <a:r>
              <a:rPr lang="en-US" b="1" dirty="0"/>
              <a:t>Characteristics</a:t>
            </a:r>
            <a:r>
              <a:rPr lang="en-US" dirty="0"/>
              <a:t> of the receiver (skill, shared language, technical knowledge),</a:t>
            </a:r>
          </a:p>
          <a:p>
            <a:pPr marL="342900" indent="-342900" algn="just">
              <a:lnSpc>
                <a:spcPct val="100000"/>
              </a:lnSpc>
              <a:spcBef>
                <a:spcPts val="1800"/>
              </a:spcBef>
              <a:buClr>
                <a:srgbClr val="973735"/>
              </a:buClr>
              <a:buSzPct val="50000"/>
              <a:buFont typeface="Wingdings" pitchFamily="2" charset="2"/>
              <a:buChar char="u"/>
              <a:defRPr/>
            </a:pPr>
            <a:r>
              <a:rPr lang="en-US" b="1" dirty="0"/>
              <a:t>The nature of the task </a:t>
            </a:r>
            <a:r>
              <a:rPr lang="en-US" dirty="0"/>
              <a:t>(routine, non routine)</a:t>
            </a:r>
          </a:p>
          <a:p>
            <a:pPr marL="342900" indent="-342900" algn="just">
              <a:lnSpc>
                <a:spcPct val="100000"/>
              </a:lnSpc>
              <a:spcBef>
                <a:spcPts val="1800"/>
              </a:spcBef>
              <a:buClr>
                <a:srgbClr val="973735"/>
              </a:buClr>
              <a:buSzPct val="50000"/>
              <a:buFont typeface="Wingdings" pitchFamily="2" charset="2"/>
              <a:buChar char="u"/>
              <a:defRPr/>
            </a:pPr>
            <a:r>
              <a:rPr lang="en-US" b="1" dirty="0"/>
              <a:t>The type of knowledge being transferred</a:t>
            </a:r>
            <a:r>
              <a:rPr lang="en-US" dirty="0"/>
              <a:t> (a continuum from explicit to tacit).</a:t>
            </a:r>
          </a:p>
        </p:txBody>
      </p:sp>
    </p:spTree>
    <p:extLst>
      <p:ext uri="{BB962C8B-B14F-4D97-AF65-F5344CB8AC3E}">
        <p14:creationId xmlns:p14="http://schemas.microsoft.com/office/powerpoint/2010/main" val="94861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Application at the Individual Level</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b="1" dirty="0">
                <a:solidFill>
                  <a:srgbClr val="ED7D31"/>
                </a:solidFill>
              </a:rPr>
              <a:t>Characteristics of the individual knowledge workers</a:t>
            </a:r>
          </a:p>
          <a:p>
            <a:pPr marL="342900" indent="-342900" algn="just">
              <a:lnSpc>
                <a:spcPct val="120000"/>
              </a:lnSpc>
              <a:spcBef>
                <a:spcPts val="1200"/>
              </a:spcBef>
              <a:buClr>
                <a:srgbClr val="973735"/>
              </a:buClr>
              <a:buSzPct val="50000"/>
              <a:buFont typeface="Wingdings" pitchFamily="2" charset="2"/>
              <a:buChar char="u"/>
              <a:defRPr/>
            </a:pPr>
            <a:r>
              <a:rPr lang="en-US" dirty="0"/>
              <a:t>Bloom’s Taxonomy of Learning Objectives</a:t>
            </a:r>
          </a:p>
          <a:p>
            <a:pPr marL="342900" indent="-342900" algn="just">
              <a:lnSpc>
                <a:spcPct val="120000"/>
              </a:lnSpc>
              <a:spcBef>
                <a:spcPts val="1200"/>
              </a:spcBef>
              <a:buClr>
                <a:srgbClr val="973735"/>
              </a:buClr>
              <a:buSzPct val="50000"/>
              <a:buFont typeface="Wingdings" pitchFamily="2" charset="2"/>
              <a:buChar char="u"/>
              <a:defRPr/>
            </a:pPr>
            <a:r>
              <a:rPr lang="en-US" dirty="0"/>
              <a:t>Task Analysis and Modeling</a:t>
            </a:r>
          </a:p>
          <a:p>
            <a:pPr marL="342900" indent="-342900" algn="just">
              <a:lnSpc>
                <a:spcPct val="120000"/>
              </a:lnSpc>
              <a:spcBef>
                <a:spcPts val="1200"/>
              </a:spcBef>
              <a:buClr>
                <a:srgbClr val="973735"/>
              </a:buClr>
              <a:buSzPct val="50000"/>
              <a:buFont typeface="Wingdings" pitchFamily="2" charset="2"/>
              <a:buChar char="u"/>
              <a:defRPr/>
            </a:pPr>
            <a:r>
              <a:rPr lang="en-US" dirty="0"/>
              <a:t>Electronic Performance Support Systems</a:t>
            </a: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p:txBody>
      </p:sp>
    </p:spTree>
    <p:extLst>
      <p:ext uri="{BB962C8B-B14F-4D97-AF65-F5344CB8AC3E}">
        <p14:creationId xmlns:p14="http://schemas.microsoft.com/office/powerpoint/2010/main" val="2121958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Characteristics of the individual knowledge workers</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855694"/>
            <a:ext cx="11971176" cy="4373455"/>
          </a:xfrm>
        </p:spPr>
        <p:txBody>
          <a:bodyPr>
            <a:normAutofit/>
          </a:bodyPr>
          <a:lstStyle/>
          <a:p>
            <a:pPr marL="800100" lvl="1" indent="-342900" algn="just">
              <a:lnSpc>
                <a:spcPct val="100000"/>
              </a:lnSpc>
              <a:spcBef>
                <a:spcPts val="2400"/>
              </a:spcBef>
              <a:buClr>
                <a:srgbClr val="973735"/>
              </a:buClr>
              <a:buSzPct val="50000"/>
              <a:buFont typeface="Wingdings" pitchFamily="2" charset="2"/>
              <a:buChar char="u"/>
              <a:defRPr/>
            </a:pPr>
            <a:r>
              <a:rPr lang="en-US" sz="2600" dirty="0"/>
              <a:t>Individual differences play a major role in knowledge-sharing behaviors (Hicks and </a:t>
            </a:r>
            <a:r>
              <a:rPr lang="en-US" sz="2600" dirty="0" err="1"/>
              <a:t>Tochtermann</a:t>
            </a:r>
            <a:r>
              <a:rPr lang="en-US" sz="2600" dirty="0"/>
              <a:t>).</a:t>
            </a:r>
          </a:p>
          <a:p>
            <a:pPr marL="800100" lvl="1" indent="-342900" algn="just">
              <a:lnSpc>
                <a:spcPct val="100000"/>
              </a:lnSpc>
              <a:spcBef>
                <a:spcPts val="2400"/>
              </a:spcBef>
              <a:buClr>
                <a:srgbClr val="973735"/>
              </a:buClr>
              <a:buSzPct val="50000"/>
              <a:buFont typeface="Wingdings" pitchFamily="2" charset="2"/>
              <a:buChar char="u"/>
              <a:defRPr/>
            </a:pPr>
            <a:r>
              <a:rPr lang="en-US" sz="2600" dirty="0"/>
              <a:t>Knowledge workers vary with respect to their familiarity with the subject matter and their personality and cognitive styles. Cohen and Levinthal (1990) found that sharing is more likely to occur when a foundation of prior relevant knowledge exists</a:t>
            </a:r>
          </a:p>
          <a:p>
            <a:pPr marL="800100" lvl="1" indent="-342900" algn="just">
              <a:lnSpc>
                <a:spcPct val="100000"/>
              </a:lnSpc>
              <a:spcBef>
                <a:spcPts val="2400"/>
              </a:spcBef>
              <a:buClr>
                <a:srgbClr val="973735"/>
              </a:buClr>
              <a:buSzPct val="50000"/>
              <a:buFont typeface="Wingdings" pitchFamily="2" charset="2"/>
              <a:buChar char="u"/>
              <a:defRPr/>
            </a:pPr>
            <a:r>
              <a:rPr lang="en-US" sz="2600" dirty="0"/>
              <a:t>Characteristics of the individual who is seeking to apply or reuse knowledge are likely to play a role in how effective he or she is at finding, understanding, and making use of organizational knowledge</a:t>
            </a:r>
          </a:p>
        </p:txBody>
      </p:sp>
    </p:spTree>
    <p:extLst>
      <p:ext uri="{BB962C8B-B14F-4D97-AF65-F5344CB8AC3E}">
        <p14:creationId xmlns:p14="http://schemas.microsoft.com/office/powerpoint/2010/main" val="1627078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fontScale="90000"/>
          </a:bodyPr>
          <a:lstStyle/>
          <a:p>
            <a:r>
              <a:rPr lang="en-US" sz="4000" b="1" dirty="0">
                <a:solidFill>
                  <a:srgbClr val="ED7D31"/>
                </a:solidFill>
              </a:rPr>
              <a:t>Characteristics of the individual knowledge workers</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endParaRPr lang="en-US" sz="2600" dirty="0"/>
          </a:p>
        </p:txBody>
      </p:sp>
      <p:graphicFrame>
        <p:nvGraphicFramePr>
          <p:cNvPr id="4" name="Object 3">
            <a:extLst>
              <a:ext uri="{FF2B5EF4-FFF2-40B4-BE49-F238E27FC236}">
                <a16:creationId xmlns:a16="http://schemas.microsoft.com/office/drawing/2014/main" id="{2C3AEED6-B19A-9AFF-D3A6-2C90CDA9FEE9}"/>
              </a:ext>
            </a:extLst>
          </p:cNvPr>
          <p:cNvGraphicFramePr>
            <a:graphicFrameLocks noChangeAspect="1"/>
          </p:cNvGraphicFramePr>
          <p:nvPr>
            <p:extLst>
              <p:ext uri="{D42A27DB-BD31-4B8C-83A1-F6EECF244321}">
                <p14:modId xmlns:p14="http://schemas.microsoft.com/office/powerpoint/2010/main" val="2336702302"/>
              </p:ext>
            </p:extLst>
          </p:nvPr>
        </p:nvGraphicFramePr>
        <p:xfrm>
          <a:off x="2038269" y="1973874"/>
          <a:ext cx="7894637" cy="3298825"/>
        </p:xfrm>
        <a:graphic>
          <a:graphicData uri="http://schemas.openxmlformats.org/presentationml/2006/ole">
            <mc:AlternateContent xmlns:mc="http://schemas.openxmlformats.org/markup-compatibility/2006">
              <mc:Choice xmlns:v="urn:schemas-microsoft-com:vml" Requires="v">
                <p:oleObj name="Bitmap Image" r:id="rId3" imgW="7894440" imgH="3299400" progId="PBrush">
                  <p:embed/>
                </p:oleObj>
              </mc:Choice>
              <mc:Fallback>
                <p:oleObj name="Bitmap Image" r:id="rId3" imgW="7894440" imgH="3299400" progId="PBrush">
                  <p:embed/>
                  <p:pic>
                    <p:nvPicPr>
                      <p:cNvPr id="0" name=""/>
                      <p:cNvPicPr/>
                      <p:nvPr/>
                    </p:nvPicPr>
                    <p:blipFill>
                      <a:blip r:embed="rId4"/>
                      <a:stretch>
                        <a:fillRect/>
                      </a:stretch>
                    </p:blipFill>
                    <p:spPr>
                      <a:xfrm>
                        <a:off x="2038269" y="1973874"/>
                        <a:ext cx="7894637" cy="3298825"/>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69FE8F6F-A6F0-D52E-F67D-4A4FEC1A723E}"/>
              </a:ext>
            </a:extLst>
          </p:cNvPr>
          <p:cNvGraphicFramePr>
            <a:graphicFrameLocks noChangeAspect="1"/>
          </p:cNvGraphicFramePr>
          <p:nvPr>
            <p:extLst>
              <p:ext uri="{D42A27DB-BD31-4B8C-83A1-F6EECF244321}">
                <p14:modId xmlns:p14="http://schemas.microsoft.com/office/powerpoint/2010/main" val="1639325459"/>
              </p:ext>
            </p:extLst>
          </p:nvPr>
        </p:nvGraphicFramePr>
        <p:xfrm>
          <a:off x="3256756" y="5487134"/>
          <a:ext cx="5676900" cy="358775"/>
        </p:xfrm>
        <a:graphic>
          <a:graphicData uri="http://schemas.openxmlformats.org/presentationml/2006/ole">
            <mc:AlternateContent xmlns:mc="http://schemas.openxmlformats.org/markup-compatibility/2006">
              <mc:Choice xmlns:v="urn:schemas-microsoft-com:vml" Requires="v">
                <p:oleObj name="Bitmap Image" r:id="rId5" imgW="5676840" imgH="358200" progId="PBrush">
                  <p:embed/>
                </p:oleObj>
              </mc:Choice>
              <mc:Fallback>
                <p:oleObj name="Bitmap Image" r:id="rId5" imgW="5676840" imgH="358200" progId="PBrush">
                  <p:embed/>
                  <p:pic>
                    <p:nvPicPr>
                      <p:cNvPr id="0" name=""/>
                      <p:cNvPicPr/>
                      <p:nvPr/>
                    </p:nvPicPr>
                    <p:blipFill>
                      <a:blip r:embed="rId6"/>
                      <a:stretch>
                        <a:fillRect/>
                      </a:stretch>
                    </p:blipFill>
                    <p:spPr>
                      <a:xfrm>
                        <a:off x="3256756" y="5487134"/>
                        <a:ext cx="5676900" cy="358775"/>
                      </a:xfrm>
                      <a:prstGeom prst="rect">
                        <a:avLst/>
                      </a:prstGeom>
                    </p:spPr>
                  </p:pic>
                </p:oleObj>
              </mc:Fallback>
            </mc:AlternateContent>
          </a:graphicData>
        </a:graphic>
      </p:graphicFrame>
    </p:spTree>
    <p:extLst>
      <p:ext uri="{BB962C8B-B14F-4D97-AF65-F5344CB8AC3E}">
        <p14:creationId xmlns:p14="http://schemas.microsoft.com/office/powerpoint/2010/main" val="1317240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586236" cy="709226"/>
          </a:xfrm>
        </p:spPr>
        <p:txBody>
          <a:bodyPr>
            <a:normAutofit fontScale="90000"/>
          </a:bodyPr>
          <a:lstStyle/>
          <a:p>
            <a:r>
              <a:rPr lang="en-US" sz="4000" b="1" dirty="0">
                <a:solidFill>
                  <a:srgbClr val="ED7D31"/>
                </a:solidFill>
              </a:rPr>
              <a:t>Characteristics of the individual knowledge workers</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873753"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There are also systems that monitor users’ tasks online and interpret them in context, based on traces they leave behind. These systems work well for tasks that are well identified and where knowledge can be described in a clear ontology</a:t>
            </a:r>
          </a:p>
          <a:p>
            <a:pPr marL="342900" indent="-342900" algn="just">
              <a:lnSpc>
                <a:spcPct val="100000"/>
              </a:lnSpc>
              <a:spcBef>
                <a:spcPts val="2400"/>
              </a:spcBef>
              <a:buClr>
                <a:srgbClr val="973735"/>
              </a:buClr>
              <a:buSzPct val="50000"/>
              <a:buFont typeface="Wingdings" pitchFamily="2" charset="2"/>
              <a:buChar char="u"/>
              <a:defRPr/>
            </a:pPr>
            <a:r>
              <a:rPr lang="en-US" sz="2600" dirty="0"/>
              <a:t>In general, this approach is based on a user interacting with a computer system to perform a task that leads to changes in the system</a:t>
            </a:r>
          </a:p>
          <a:p>
            <a:pPr marL="800100" lvl="1" indent="-342900" algn="just">
              <a:lnSpc>
                <a:spcPct val="120000"/>
              </a:lnSpc>
              <a:spcBef>
                <a:spcPts val="1200"/>
              </a:spcBef>
              <a:buClr>
                <a:srgbClr val="973735"/>
              </a:buClr>
              <a:buSzPct val="50000"/>
              <a:buFont typeface="Wingdings" pitchFamily="2" charset="2"/>
              <a:buChar char="u"/>
              <a:defRPr/>
            </a:pPr>
            <a:endParaRPr lang="en-US" sz="2600" dirty="0"/>
          </a:p>
        </p:txBody>
      </p:sp>
    </p:spTree>
    <p:extLst>
      <p:ext uri="{BB962C8B-B14F-4D97-AF65-F5344CB8AC3E}">
        <p14:creationId xmlns:p14="http://schemas.microsoft.com/office/powerpoint/2010/main" val="3299559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85BF858E-CD93-F8DF-38F7-2C0EA442DCFA}"/>
              </a:ext>
            </a:extLst>
          </p:cNvPr>
          <p:cNvGraphicFramePr>
            <a:graphicFrameLocks noChangeAspect="1"/>
          </p:cNvGraphicFramePr>
          <p:nvPr>
            <p:extLst>
              <p:ext uri="{D42A27DB-BD31-4B8C-83A1-F6EECF244321}">
                <p14:modId xmlns:p14="http://schemas.microsoft.com/office/powerpoint/2010/main" val="2016167547"/>
              </p:ext>
            </p:extLst>
          </p:nvPr>
        </p:nvGraphicFramePr>
        <p:xfrm>
          <a:off x="5087471" y="1355803"/>
          <a:ext cx="5668962" cy="5021263"/>
        </p:xfrm>
        <a:graphic>
          <a:graphicData uri="http://schemas.openxmlformats.org/presentationml/2006/ole">
            <mc:AlternateContent xmlns:mc="http://schemas.openxmlformats.org/markup-compatibility/2006">
              <mc:Choice xmlns:v="urn:schemas-microsoft-com:vml" Requires="v">
                <p:oleObj name="Bitmap Image" r:id="rId3" imgW="5669280" imgH="5021640" progId="PBrush">
                  <p:embed/>
                </p:oleObj>
              </mc:Choice>
              <mc:Fallback>
                <p:oleObj name="Bitmap Image" r:id="rId3" imgW="5669280" imgH="5021640" progId="PBrush">
                  <p:embed/>
                  <p:pic>
                    <p:nvPicPr>
                      <p:cNvPr id="0" name=""/>
                      <p:cNvPicPr/>
                      <p:nvPr/>
                    </p:nvPicPr>
                    <p:blipFill>
                      <a:blip r:embed="rId4"/>
                      <a:stretch>
                        <a:fillRect/>
                      </a:stretch>
                    </p:blipFill>
                    <p:spPr>
                      <a:xfrm>
                        <a:off x="5087471" y="1355803"/>
                        <a:ext cx="5668962" cy="5021263"/>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1904482" cy="709226"/>
          </a:xfrm>
        </p:spPr>
        <p:txBody>
          <a:bodyPr>
            <a:normAutofit fontScale="90000"/>
          </a:bodyPr>
          <a:lstStyle/>
          <a:p>
            <a:r>
              <a:rPr lang="en-US" sz="4000" b="1" dirty="0">
                <a:solidFill>
                  <a:srgbClr val="ED7D31"/>
                </a:solidFill>
              </a:rPr>
              <a:t>Characteristics of the individual knowledge workers</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496896" y="2121791"/>
            <a:ext cx="3604458" cy="4255275"/>
          </a:xfrm>
        </p:spPr>
        <p:txBody>
          <a:bodyPr>
            <a:normAutofit/>
          </a:bodyPr>
          <a:lstStyle/>
          <a:p>
            <a:pPr marL="0" indent="0" algn="just">
              <a:lnSpc>
                <a:spcPct val="100000"/>
              </a:lnSpc>
              <a:spcBef>
                <a:spcPts val="2400"/>
              </a:spcBef>
              <a:buClr>
                <a:srgbClr val="973735"/>
              </a:buClr>
              <a:buSzPct val="50000"/>
              <a:buNone/>
              <a:defRPr/>
            </a:pPr>
            <a:r>
              <a:rPr lang="en-US" sz="2600" dirty="0"/>
              <a:t>In this way, the system has modeled how users behave when they are undertaking these particular types of tasks</a:t>
            </a:r>
          </a:p>
        </p:txBody>
      </p:sp>
      <p:graphicFrame>
        <p:nvGraphicFramePr>
          <p:cNvPr id="5" name="Object 4">
            <a:extLst>
              <a:ext uri="{FF2B5EF4-FFF2-40B4-BE49-F238E27FC236}">
                <a16:creationId xmlns:a16="http://schemas.microsoft.com/office/drawing/2014/main" id="{EB340F36-320F-0CEA-B70D-1BA9FBC849ED}"/>
              </a:ext>
            </a:extLst>
          </p:cNvPr>
          <p:cNvGraphicFramePr>
            <a:graphicFrameLocks noChangeAspect="1"/>
          </p:cNvGraphicFramePr>
          <p:nvPr>
            <p:extLst>
              <p:ext uri="{D42A27DB-BD31-4B8C-83A1-F6EECF244321}">
                <p14:modId xmlns:p14="http://schemas.microsoft.com/office/powerpoint/2010/main" val="2623453536"/>
              </p:ext>
            </p:extLst>
          </p:nvPr>
        </p:nvGraphicFramePr>
        <p:xfrm>
          <a:off x="6096000" y="6447288"/>
          <a:ext cx="4422767" cy="377825"/>
        </p:xfrm>
        <a:graphic>
          <a:graphicData uri="http://schemas.openxmlformats.org/presentationml/2006/ole">
            <mc:AlternateContent xmlns:mc="http://schemas.openxmlformats.org/markup-compatibility/2006">
              <mc:Choice xmlns:v="urn:schemas-microsoft-com:vml" Requires="v">
                <p:oleObj name="Bitmap Image" r:id="rId5" imgW="3474720" imgH="297360" progId="PBrush">
                  <p:embed/>
                </p:oleObj>
              </mc:Choice>
              <mc:Fallback>
                <p:oleObj name="Bitmap Image" r:id="rId5" imgW="3474720" imgH="297360" progId="PBrush">
                  <p:embed/>
                  <p:pic>
                    <p:nvPicPr>
                      <p:cNvPr id="0" name=""/>
                      <p:cNvPicPr/>
                      <p:nvPr/>
                    </p:nvPicPr>
                    <p:blipFill>
                      <a:blip r:embed="rId6"/>
                      <a:stretch>
                        <a:fillRect/>
                      </a:stretch>
                    </p:blipFill>
                    <p:spPr>
                      <a:xfrm>
                        <a:off x="6096000" y="6447288"/>
                        <a:ext cx="4422767" cy="377825"/>
                      </a:xfrm>
                      <a:prstGeom prst="rect">
                        <a:avLst/>
                      </a:prstGeom>
                    </p:spPr>
                  </p:pic>
                </p:oleObj>
              </mc:Fallback>
            </mc:AlternateContent>
          </a:graphicData>
        </a:graphic>
      </p:graphicFrame>
    </p:spTree>
    <p:extLst>
      <p:ext uri="{BB962C8B-B14F-4D97-AF65-F5344CB8AC3E}">
        <p14:creationId xmlns:p14="http://schemas.microsoft.com/office/powerpoint/2010/main" val="6455411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Application at the Individual Level</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dirty="0"/>
              <a:t>Characteristics of the individual knowledge workers</a:t>
            </a:r>
          </a:p>
          <a:p>
            <a:pPr marL="342900" indent="-342900" algn="just">
              <a:lnSpc>
                <a:spcPct val="120000"/>
              </a:lnSpc>
              <a:spcBef>
                <a:spcPts val="1200"/>
              </a:spcBef>
              <a:buClr>
                <a:srgbClr val="973735"/>
              </a:buClr>
              <a:buSzPct val="50000"/>
              <a:buFont typeface="Wingdings" pitchFamily="2" charset="2"/>
              <a:buChar char="u"/>
              <a:defRPr/>
            </a:pPr>
            <a:r>
              <a:rPr lang="en-US" b="1" dirty="0">
                <a:solidFill>
                  <a:srgbClr val="ED7D31"/>
                </a:solidFill>
              </a:rPr>
              <a:t>Bloom’s Taxonomy of Learning Objectives</a:t>
            </a:r>
          </a:p>
          <a:p>
            <a:pPr marL="342900" indent="-342900" algn="just">
              <a:lnSpc>
                <a:spcPct val="120000"/>
              </a:lnSpc>
              <a:spcBef>
                <a:spcPts val="1200"/>
              </a:spcBef>
              <a:buClr>
                <a:srgbClr val="973735"/>
              </a:buClr>
              <a:buSzPct val="50000"/>
              <a:buFont typeface="Wingdings" pitchFamily="2" charset="2"/>
              <a:buChar char="u"/>
              <a:defRPr/>
            </a:pPr>
            <a:r>
              <a:rPr lang="en-US" dirty="0"/>
              <a:t>Task Analysis and Modeling</a:t>
            </a:r>
          </a:p>
          <a:p>
            <a:pPr marL="342900" indent="-342900" algn="just">
              <a:lnSpc>
                <a:spcPct val="120000"/>
              </a:lnSpc>
              <a:spcBef>
                <a:spcPts val="1200"/>
              </a:spcBef>
              <a:buClr>
                <a:srgbClr val="973735"/>
              </a:buClr>
              <a:buSzPct val="50000"/>
              <a:buFont typeface="Wingdings" pitchFamily="2" charset="2"/>
              <a:buChar char="u"/>
              <a:defRPr/>
            </a:pPr>
            <a:r>
              <a:rPr lang="en-US" dirty="0"/>
              <a:t>Electronic Performance Support Systems</a:t>
            </a: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p:txBody>
      </p:sp>
    </p:spTree>
    <p:extLst>
      <p:ext uri="{BB962C8B-B14F-4D97-AF65-F5344CB8AC3E}">
        <p14:creationId xmlns:p14="http://schemas.microsoft.com/office/powerpoint/2010/main" val="3944140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Bloom’s Taxonomy of Learning Objectives</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971176" cy="4924893"/>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endParaRPr lang="en-US" sz="2600" dirty="0"/>
          </a:p>
          <a:p>
            <a:pPr marL="342900" indent="-342900" algn="just">
              <a:lnSpc>
                <a:spcPct val="100000"/>
              </a:lnSpc>
              <a:spcBef>
                <a:spcPts val="2400"/>
              </a:spcBef>
              <a:buClr>
                <a:srgbClr val="973735"/>
              </a:buClr>
              <a:buSzPct val="50000"/>
              <a:buFont typeface="Wingdings" pitchFamily="2" charset="2"/>
              <a:buChar char="u"/>
              <a:defRPr/>
            </a:pPr>
            <a:r>
              <a:rPr lang="en-US" sz="2600" dirty="0"/>
              <a:t>Bloom’s Taxonomy of Learning Objectives Bloom (1956) divided knowledge into a hierarchical scheme that distinguishes between psychomotor skills:</a:t>
            </a:r>
          </a:p>
          <a:p>
            <a:pPr marL="800100" lvl="1" indent="-342900" algn="just">
              <a:lnSpc>
                <a:spcPct val="100000"/>
              </a:lnSpc>
              <a:spcBef>
                <a:spcPts val="2400"/>
              </a:spcBef>
              <a:buClr>
                <a:srgbClr val="973735"/>
              </a:buClr>
              <a:buSzPct val="50000"/>
              <a:buFont typeface="Wingdings" pitchFamily="2" charset="2"/>
              <a:buChar char="u"/>
              <a:defRPr/>
            </a:pPr>
            <a:r>
              <a:rPr lang="en-US" sz="2600" b="1" dirty="0"/>
              <a:t>the affective domain </a:t>
            </a:r>
            <a:r>
              <a:rPr lang="en-US" sz="2600" dirty="0"/>
              <a:t>(e.g., attitudes)</a:t>
            </a:r>
          </a:p>
          <a:p>
            <a:pPr marL="800100" lvl="1" indent="-342900" algn="just">
              <a:lnSpc>
                <a:spcPct val="100000"/>
              </a:lnSpc>
              <a:spcBef>
                <a:spcPts val="2400"/>
              </a:spcBef>
              <a:buClr>
                <a:srgbClr val="973735"/>
              </a:buClr>
              <a:buSzPct val="50000"/>
              <a:buFont typeface="Wingdings" pitchFamily="2" charset="2"/>
              <a:buChar char="u"/>
              <a:defRPr/>
            </a:pPr>
            <a:r>
              <a:rPr lang="en-US" sz="2600" b="1" dirty="0"/>
              <a:t>the cognitive domain </a:t>
            </a:r>
            <a:r>
              <a:rPr lang="en-US" sz="2600" dirty="0"/>
              <a:t>(e.g., knowledge). </a:t>
            </a:r>
          </a:p>
          <a:p>
            <a:pPr marL="342900" indent="-342900" algn="just">
              <a:lnSpc>
                <a:spcPct val="100000"/>
              </a:lnSpc>
              <a:spcBef>
                <a:spcPts val="2400"/>
              </a:spcBef>
              <a:buClr>
                <a:srgbClr val="973735"/>
              </a:buClr>
              <a:buSzPct val="50000"/>
              <a:buFont typeface="Wingdings" pitchFamily="2" charset="2"/>
              <a:buChar char="u"/>
              <a:defRPr/>
            </a:pPr>
            <a:r>
              <a:rPr lang="en-US" sz="2600" dirty="0"/>
              <a:t>The cognitive domain is more commonly used, although attitudinal changes are often required in knowledge management too. </a:t>
            </a:r>
          </a:p>
        </p:txBody>
      </p:sp>
    </p:spTree>
    <p:extLst>
      <p:ext uri="{BB962C8B-B14F-4D97-AF65-F5344CB8AC3E}">
        <p14:creationId xmlns:p14="http://schemas.microsoft.com/office/powerpoint/2010/main" val="1536134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Bloom’s Taxonomy of Learning Objectives</a:t>
            </a:r>
            <a:endParaRPr lang="en-US" sz="4000" b="1" dirty="0"/>
          </a:p>
        </p:txBody>
      </p:sp>
      <p:pic>
        <p:nvPicPr>
          <p:cNvPr id="1026" name="Picture 2" descr="Cognitive Domain | Instructional Design">
            <a:extLst>
              <a:ext uri="{FF2B5EF4-FFF2-40B4-BE49-F238E27FC236}">
                <a16:creationId xmlns:a16="http://schemas.microsoft.com/office/drawing/2014/main" id="{E2BC3C3B-ADC6-1302-3F17-4C7D1F27B0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2457" y="2460812"/>
            <a:ext cx="7549543" cy="4019887"/>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927541" cy="4924893"/>
          </a:xfrm>
        </p:spPr>
        <p:txBody>
          <a:bodyPr>
            <a:normAutofit/>
          </a:bodyPr>
          <a:lstStyle/>
          <a:p>
            <a:pPr marL="342900" indent="-342900" algn="just">
              <a:lnSpc>
                <a:spcPct val="100000"/>
              </a:lnSpc>
              <a:spcBef>
                <a:spcPts val="0"/>
              </a:spcBef>
              <a:buClr>
                <a:srgbClr val="973735"/>
              </a:buClr>
              <a:buSzPct val="50000"/>
              <a:buFont typeface="Wingdings" pitchFamily="2" charset="2"/>
              <a:buChar char="u"/>
              <a:defRPr/>
            </a:pPr>
            <a:r>
              <a:rPr lang="en-US" sz="2600" b="1" dirty="0"/>
              <a:t>Cognitive</a:t>
            </a:r>
            <a:r>
              <a:rPr lang="en-US" sz="2600" dirty="0"/>
              <a:t>: the most-used of the domains</a:t>
            </a:r>
            <a:r>
              <a:rPr lang="en-US" sz="2600" i="1" dirty="0">
                <a:solidFill>
                  <a:srgbClr val="ED7D31"/>
                </a:solidFill>
              </a:rPr>
              <a:t>.                            Cognitive domain</a:t>
            </a:r>
          </a:p>
          <a:p>
            <a:pPr marL="0" indent="0" algn="just">
              <a:lnSpc>
                <a:spcPct val="100000"/>
              </a:lnSpc>
              <a:spcBef>
                <a:spcPts val="0"/>
              </a:spcBef>
              <a:buClr>
                <a:srgbClr val="973735"/>
              </a:buClr>
              <a:buSzPct val="50000"/>
              <a:buNone/>
              <a:defRPr/>
            </a:pPr>
            <a:r>
              <a:rPr lang="en-US" sz="2600" dirty="0"/>
              <a:t>    Refers to knowledge structures </a:t>
            </a:r>
          </a:p>
          <a:p>
            <a:pPr marL="0" indent="0" algn="just">
              <a:lnSpc>
                <a:spcPct val="100000"/>
              </a:lnSpc>
              <a:spcBef>
                <a:spcPts val="0"/>
              </a:spcBef>
              <a:buClr>
                <a:srgbClr val="973735"/>
              </a:buClr>
              <a:buSzPct val="50000"/>
              <a:buNone/>
              <a:defRPr/>
            </a:pPr>
            <a:r>
              <a:rPr lang="en-US" sz="2600" dirty="0"/>
              <a:t>    (although sheer “knowing the </a:t>
            </a:r>
          </a:p>
          <a:p>
            <a:pPr marL="0" indent="0" algn="just">
              <a:lnSpc>
                <a:spcPct val="100000"/>
              </a:lnSpc>
              <a:spcBef>
                <a:spcPts val="0"/>
              </a:spcBef>
              <a:buClr>
                <a:srgbClr val="973735"/>
              </a:buClr>
              <a:buSzPct val="50000"/>
              <a:buNone/>
              <a:defRPr/>
            </a:pPr>
            <a:r>
              <a:rPr lang="en-US" sz="2600" dirty="0"/>
              <a:t>    facts” is its bottom level</a:t>
            </a:r>
          </a:p>
          <a:p>
            <a:pPr marL="0" indent="0" algn="just">
              <a:lnSpc>
                <a:spcPct val="100000"/>
              </a:lnSpc>
              <a:spcBef>
                <a:spcPts val="2400"/>
              </a:spcBef>
              <a:buClr>
                <a:srgbClr val="973735"/>
              </a:buClr>
              <a:buSzPct val="50000"/>
              <a:buNone/>
              <a:defRPr/>
            </a:pPr>
            <a:endParaRPr lang="en-US" sz="2600" dirty="0"/>
          </a:p>
          <a:p>
            <a:pPr marL="0" indent="0" algn="just">
              <a:lnSpc>
                <a:spcPct val="100000"/>
              </a:lnSpc>
              <a:spcBef>
                <a:spcPts val="0"/>
              </a:spcBef>
              <a:buClr>
                <a:srgbClr val="973735"/>
              </a:buClr>
              <a:buSzPct val="50000"/>
              <a:buNone/>
              <a:defRPr/>
            </a:pPr>
            <a:r>
              <a:rPr lang="en-US" sz="2600" dirty="0"/>
              <a:t>   The model is included because </a:t>
            </a:r>
          </a:p>
          <a:p>
            <a:pPr marL="0" indent="0" algn="just">
              <a:lnSpc>
                <a:spcPct val="100000"/>
              </a:lnSpc>
              <a:spcBef>
                <a:spcPts val="0"/>
              </a:spcBef>
              <a:buClr>
                <a:srgbClr val="973735"/>
              </a:buClr>
              <a:buSzPct val="50000"/>
              <a:buNone/>
              <a:defRPr/>
            </a:pPr>
            <a:r>
              <a:rPr lang="en-US" sz="2600" dirty="0"/>
              <a:t>   it is still common currency</a:t>
            </a:r>
          </a:p>
        </p:txBody>
      </p:sp>
    </p:spTree>
    <p:extLst>
      <p:ext uri="{BB962C8B-B14F-4D97-AF65-F5344CB8AC3E}">
        <p14:creationId xmlns:p14="http://schemas.microsoft.com/office/powerpoint/2010/main" val="3849148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Bloom’s Taxonomy of Learning Objectives</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1" y="1664593"/>
            <a:ext cx="11900647" cy="4924893"/>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The Bloom taxonomy serves as a means of determining not only</a:t>
            </a:r>
          </a:p>
          <a:p>
            <a:pPr marL="342900" indent="-342900" algn="just">
              <a:lnSpc>
                <a:spcPct val="100000"/>
              </a:lnSpc>
              <a:spcBef>
                <a:spcPts val="2400"/>
              </a:spcBef>
              <a:buClr>
                <a:srgbClr val="973735"/>
              </a:buClr>
              <a:buSzPct val="50000"/>
              <a:buFont typeface="Wingdings" pitchFamily="2" charset="2"/>
              <a:buChar char="u"/>
              <a:defRPr/>
            </a:pPr>
            <a:r>
              <a:rPr lang="en-US" sz="2600" b="1" dirty="0"/>
              <a:t>What knowledge workers </a:t>
            </a:r>
            <a:r>
              <a:rPr lang="en-US" sz="2600" dirty="0"/>
              <a:t>are expected to do (usually referred to as skills or expertise) but also </a:t>
            </a:r>
            <a:r>
              <a:rPr lang="en-US" sz="2600" b="1" dirty="0"/>
              <a:t>the level of performance that is expected </a:t>
            </a:r>
            <a:r>
              <a:rPr lang="en-US" sz="2600" dirty="0"/>
              <a:t>(also referred to as mastery level)</a:t>
            </a:r>
          </a:p>
          <a:p>
            <a:pPr marL="342900" indent="-342900" algn="just">
              <a:lnSpc>
                <a:spcPct val="100000"/>
              </a:lnSpc>
              <a:spcBef>
                <a:spcPts val="2400"/>
              </a:spcBef>
              <a:buClr>
                <a:srgbClr val="973735"/>
              </a:buClr>
              <a:buSzPct val="50000"/>
              <a:buFont typeface="Wingdings" pitchFamily="2" charset="2"/>
              <a:buChar char="u"/>
              <a:defRPr/>
            </a:pPr>
            <a:r>
              <a:rPr lang="en-US" sz="2600" dirty="0"/>
              <a:t>Knowledge </a:t>
            </a:r>
            <a:r>
              <a:rPr lang="en-US" sz="2600" b="1" dirty="0"/>
              <a:t>fails to be used </a:t>
            </a:r>
            <a:r>
              <a:rPr lang="en-US" sz="2600" dirty="0"/>
              <a:t>not because it has not been understood but because the knowledge worker is not convinced that this new best practice or lesson learned represents any significant improvement over the way he or she is already working</a:t>
            </a:r>
          </a:p>
        </p:txBody>
      </p:sp>
    </p:spTree>
    <p:extLst>
      <p:ext uri="{BB962C8B-B14F-4D97-AF65-F5344CB8AC3E}">
        <p14:creationId xmlns:p14="http://schemas.microsoft.com/office/powerpoint/2010/main" val="15688027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Bloom’s Taxonomy of Learning Objectives</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793071" cy="4924893"/>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A user model is not enough, however, for the facilitation of knowledge application. We also need to know </a:t>
            </a:r>
            <a:r>
              <a:rPr lang="en-US" sz="2600" b="1" dirty="0"/>
              <a:t>what the users are doing and what their goals or purposes are in applying this knowledge object</a:t>
            </a:r>
          </a:p>
          <a:p>
            <a:pPr marL="342900" indent="-342900" algn="just">
              <a:lnSpc>
                <a:spcPct val="100000"/>
              </a:lnSpc>
              <a:spcBef>
                <a:spcPts val="2400"/>
              </a:spcBef>
              <a:buClr>
                <a:srgbClr val="973735"/>
              </a:buClr>
              <a:buSzPct val="50000"/>
              <a:buFont typeface="Wingdings" pitchFamily="2" charset="2"/>
              <a:buChar char="u"/>
              <a:defRPr/>
            </a:pPr>
            <a:r>
              <a:rPr lang="en-US" sz="2600" dirty="0"/>
              <a:t>Moreover, we will also require a </a:t>
            </a:r>
            <a:r>
              <a:rPr lang="en-US" sz="2600" b="1" dirty="0"/>
              <a:t>task model</a:t>
            </a:r>
            <a:r>
              <a:rPr lang="en-US" sz="2600" dirty="0"/>
              <a:t>. As with the user model, the task model will serve to be better characterize why someone would apply a particular knowledge item.</a:t>
            </a:r>
          </a:p>
          <a:p>
            <a:pPr marL="342900" indent="-342900" algn="just">
              <a:lnSpc>
                <a:spcPct val="100000"/>
              </a:lnSpc>
              <a:spcBef>
                <a:spcPts val="2400"/>
              </a:spcBef>
              <a:buClr>
                <a:srgbClr val="973735"/>
              </a:buClr>
              <a:buSzPct val="50000"/>
              <a:buFont typeface="Wingdings" pitchFamily="2" charset="2"/>
              <a:buChar char="u"/>
              <a:defRPr/>
            </a:pPr>
            <a:r>
              <a:rPr lang="en-US" sz="2600" dirty="0"/>
              <a:t>A user and task-adapted approach is highly recommended in order to facilitate internalization processes</a:t>
            </a:r>
          </a:p>
        </p:txBody>
      </p:sp>
    </p:spTree>
    <p:extLst>
      <p:ext uri="{BB962C8B-B14F-4D97-AF65-F5344CB8AC3E}">
        <p14:creationId xmlns:p14="http://schemas.microsoft.com/office/powerpoint/2010/main" val="1057907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Application at the Individual Level</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dirty="0"/>
              <a:t>Characteristics of the individual knowledge workers</a:t>
            </a:r>
          </a:p>
          <a:p>
            <a:pPr marL="342900" indent="-342900" algn="just">
              <a:lnSpc>
                <a:spcPct val="120000"/>
              </a:lnSpc>
              <a:spcBef>
                <a:spcPts val="1200"/>
              </a:spcBef>
              <a:buClr>
                <a:srgbClr val="973735"/>
              </a:buClr>
              <a:buSzPct val="50000"/>
              <a:buFont typeface="Wingdings" pitchFamily="2" charset="2"/>
              <a:buChar char="u"/>
              <a:defRPr/>
            </a:pPr>
            <a:r>
              <a:rPr lang="en-US" dirty="0"/>
              <a:t>Bloom’s Taxonomy of Learning Objectives</a:t>
            </a:r>
          </a:p>
          <a:p>
            <a:pPr marL="342900" indent="-342900" algn="just">
              <a:lnSpc>
                <a:spcPct val="120000"/>
              </a:lnSpc>
              <a:spcBef>
                <a:spcPts val="1200"/>
              </a:spcBef>
              <a:buClr>
                <a:srgbClr val="973735"/>
              </a:buClr>
              <a:buSzPct val="50000"/>
              <a:buFont typeface="Wingdings" pitchFamily="2" charset="2"/>
              <a:buChar char="u"/>
              <a:defRPr/>
            </a:pPr>
            <a:r>
              <a:rPr lang="en-US" b="1" dirty="0">
                <a:solidFill>
                  <a:srgbClr val="ED7D31"/>
                </a:solidFill>
              </a:rPr>
              <a:t>Task Analysis and Modeling</a:t>
            </a:r>
          </a:p>
          <a:p>
            <a:pPr marL="342900" indent="-342900" algn="just">
              <a:lnSpc>
                <a:spcPct val="120000"/>
              </a:lnSpc>
              <a:spcBef>
                <a:spcPts val="1200"/>
              </a:spcBef>
              <a:buClr>
                <a:srgbClr val="973735"/>
              </a:buClr>
              <a:buSzPct val="50000"/>
              <a:buFont typeface="Wingdings" pitchFamily="2" charset="2"/>
              <a:buChar char="u"/>
              <a:defRPr/>
            </a:pPr>
            <a:r>
              <a:rPr lang="en-US" dirty="0"/>
              <a:t>Electronic Performance Support Systems</a:t>
            </a: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p:txBody>
      </p:sp>
    </p:spTree>
    <p:extLst>
      <p:ext uri="{BB962C8B-B14F-4D97-AF65-F5344CB8AC3E}">
        <p14:creationId xmlns:p14="http://schemas.microsoft.com/office/powerpoint/2010/main" val="218363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Task Analysis and Modeling</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779624" cy="4924893"/>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Task analysis studies what knowledge workers must do with respect to specific actions to be taken and/or cognitive processes that must be called upon to achieve a particular task (e.g., </a:t>
            </a:r>
            <a:r>
              <a:rPr lang="en-US" sz="2600" dirty="0" err="1"/>
              <a:t>Preece</a:t>
            </a:r>
            <a:r>
              <a:rPr lang="en-US" sz="2600" dirty="0"/>
              <a:t> et al., 1994).</a:t>
            </a:r>
          </a:p>
          <a:p>
            <a:pPr marL="342900" indent="-342900" algn="just">
              <a:lnSpc>
                <a:spcPct val="100000"/>
              </a:lnSpc>
              <a:spcBef>
                <a:spcPts val="2400"/>
              </a:spcBef>
              <a:buClr>
                <a:srgbClr val="973735"/>
              </a:buClr>
              <a:buSzPct val="50000"/>
              <a:buFont typeface="Wingdings" pitchFamily="2" charset="2"/>
              <a:buChar char="u"/>
              <a:defRPr/>
            </a:pPr>
            <a:r>
              <a:rPr lang="en-US" sz="2600" dirty="0"/>
              <a:t>The most commonly used method is task decomposition, which breaks down higher-level tasks into their subtasks and operations. </a:t>
            </a:r>
          </a:p>
          <a:p>
            <a:pPr marL="342900" indent="-342900" algn="just">
              <a:lnSpc>
                <a:spcPct val="100000"/>
              </a:lnSpc>
              <a:spcBef>
                <a:spcPts val="2400"/>
              </a:spcBef>
              <a:buClr>
                <a:srgbClr val="973735"/>
              </a:buClr>
              <a:buSzPct val="50000"/>
              <a:buFont typeface="Wingdings" pitchFamily="2" charset="2"/>
              <a:buChar char="u"/>
              <a:defRPr/>
            </a:pPr>
            <a:r>
              <a:rPr lang="en-US" sz="2600" dirty="0"/>
              <a:t>The lower levels may make use of task flow diagrams, decision flowcharts, or even screen layouts to better illustrate the step-by-step process that has to be undertaken in order to complete a task successfully. </a:t>
            </a:r>
          </a:p>
        </p:txBody>
      </p:sp>
    </p:spTree>
    <p:extLst>
      <p:ext uri="{BB962C8B-B14F-4D97-AF65-F5344CB8AC3E}">
        <p14:creationId xmlns:p14="http://schemas.microsoft.com/office/powerpoint/2010/main" val="34680547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Task Analysis and Modeling</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698941" cy="4924893"/>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The task decomposition can be carried out using the following stages: </a:t>
            </a:r>
          </a:p>
          <a:p>
            <a:pPr marL="457200" lvl="1" indent="0" algn="just">
              <a:lnSpc>
                <a:spcPct val="100000"/>
              </a:lnSpc>
              <a:spcBef>
                <a:spcPts val="2400"/>
              </a:spcBef>
              <a:buClr>
                <a:srgbClr val="973735"/>
              </a:buClr>
              <a:buSzPct val="50000"/>
              <a:buNone/>
              <a:defRPr/>
            </a:pPr>
            <a:r>
              <a:rPr lang="en-US" sz="2600" dirty="0"/>
              <a:t>1. Identify the task to be analyzed. </a:t>
            </a:r>
          </a:p>
          <a:p>
            <a:pPr marL="457200" lvl="1" indent="0" algn="just">
              <a:lnSpc>
                <a:spcPct val="100000"/>
              </a:lnSpc>
              <a:spcBef>
                <a:spcPts val="2400"/>
              </a:spcBef>
              <a:buClr>
                <a:srgbClr val="973735"/>
              </a:buClr>
              <a:buSzPct val="50000"/>
              <a:buNone/>
              <a:defRPr/>
            </a:pPr>
            <a:r>
              <a:rPr lang="en-US" sz="2600" dirty="0"/>
              <a:t>2. Break this down into four to eight subtasks. These subtasks should be specified in terms of objectives and, between them, should cover the whole area of interest. </a:t>
            </a:r>
          </a:p>
          <a:p>
            <a:pPr marL="457200" lvl="1" indent="0" algn="just">
              <a:lnSpc>
                <a:spcPct val="100000"/>
              </a:lnSpc>
              <a:spcBef>
                <a:spcPts val="2400"/>
              </a:spcBef>
              <a:buClr>
                <a:srgbClr val="973735"/>
              </a:buClr>
              <a:buSzPct val="50000"/>
              <a:buNone/>
              <a:defRPr/>
            </a:pPr>
            <a:r>
              <a:rPr lang="en-US" sz="2600" dirty="0"/>
              <a:t>3. Draw the subtasks as a layered diagram ensuring that it is complete. </a:t>
            </a:r>
          </a:p>
          <a:p>
            <a:pPr marL="457200" lvl="1" indent="0" algn="just">
              <a:lnSpc>
                <a:spcPct val="100000"/>
              </a:lnSpc>
              <a:spcBef>
                <a:spcPts val="1200"/>
              </a:spcBef>
              <a:buClr>
                <a:srgbClr val="973735"/>
              </a:buClr>
              <a:buSzPct val="50000"/>
              <a:buNone/>
              <a:defRPr/>
            </a:pPr>
            <a:endParaRPr lang="en-US" sz="2600" dirty="0"/>
          </a:p>
        </p:txBody>
      </p:sp>
    </p:spTree>
    <p:extLst>
      <p:ext uri="{BB962C8B-B14F-4D97-AF65-F5344CB8AC3E}">
        <p14:creationId xmlns:p14="http://schemas.microsoft.com/office/powerpoint/2010/main" val="2188669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Task Analysis and Modeling</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806518" cy="4924893"/>
          </a:xfrm>
        </p:spPr>
        <p:txBody>
          <a:bodyPr>
            <a:normAutofit/>
          </a:bodyPr>
          <a:lstStyle/>
          <a:p>
            <a:pPr marL="457200" lvl="1" indent="0" algn="just">
              <a:lnSpc>
                <a:spcPct val="100000"/>
              </a:lnSpc>
              <a:spcBef>
                <a:spcPts val="1200"/>
              </a:spcBef>
              <a:buClr>
                <a:srgbClr val="973735"/>
              </a:buClr>
              <a:buSzPct val="50000"/>
              <a:buNone/>
              <a:defRPr/>
            </a:pPr>
            <a:endParaRPr lang="en-US" sz="2600" dirty="0"/>
          </a:p>
          <a:p>
            <a:pPr marL="457200" lvl="1" indent="0" algn="just">
              <a:lnSpc>
                <a:spcPct val="100000"/>
              </a:lnSpc>
              <a:spcBef>
                <a:spcPts val="1200"/>
              </a:spcBef>
              <a:buClr>
                <a:srgbClr val="973735"/>
              </a:buClr>
              <a:buSzPct val="50000"/>
              <a:buNone/>
              <a:defRPr/>
            </a:pPr>
            <a:r>
              <a:rPr lang="en-US" sz="2600" dirty="0"/>
              <a:t>4. Decide upon the level of detail into which to decompose. Making a conscious decision at this stage will ensure that all the subtask decompositions are treated consistently. It may be decided that the decomposition should continue until flows are more easily represented as a task flow diagram. </a:t>
            </a:r>
          </a:p>
        </p:txBody>
      </p:sp>
    </p:spTree>
    <p:extLst>
      <p:ext uri="{BB962C8B-B14F-4D97-AF65-F5344CB8AC3E}">
        <p14:creationId xmlns:p14="http://schemas.microsoft.com/office/powerpoint/2010/main" val="2281947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Task Analysis and Modeling</a:t>
            </a:r>
            <a:endParaRPr lang="en-US" sz="4000" b="1" dirty="0"/>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752729" cy="4924893"/>
          </a:xfrm>
        </p:spPr>
        <p:txBody>
          <a:bodyPr>
            <a:normAutofit/>
          </a:bodyPr>
          <a:lstStyle/>
          <a:p>
            <a:pPr marL="457200" lvl="1" indent="0" algn="just">
              <a:lnSpc>
                <a:spcPct val="100000"/>
              </a:lnSpc>
              <a:spcBef>
                <a:spcPts val="2400"/>
              </a:spcBef>
              <a:buClr>
                <a:srgbClr val="973735"/>
              </a:buClr>
              <a:buSzPct val="50000"/>
              <a:buNone/>
              <a:defRPr/>
            </a:pPr>
            <a:r>
              <a:rPr lang="en-US" sz="2600" dirty="0"/>
              <a:t>5. Continue the decomposition process, ensuring that the decompositions and numbering are consistent. It is usually helpful to produce a written account as well as the decomposition diagram. </a:t>
            </a:r>
          </a:p>
          <a:p>
            <a:pPr marL="457200" lvl="1" indent="0" algn="just">
              <a:lnSpc>
                <a:spcPct val="100000"/>
              </a:lnSpc>
              <a:spcBef>
                <a:spcPts val="2400"/>
              </a:spcBef>
              <a:buClr>
                <a:srgbClr val="973735"/>
              </a:buClr>
              <a:buSzPct val="50000"/>
              <a:buNone/>
              <a:defRPr/>
            </a:pPr>
            <a:r>
              <a:rPr lang="en-US" sz="2600" dirty="0"/>
              <a:t>6. Present the analysis to someone else who has not been involved in the decomposition but who knows the tasks well enough to check for consistency.</a:t>
            </a:r>
          </a:p>
        </p:txBody>
      </p:sp>
      <p:sp>
        <p:nvSpPr>
          <p:cNvPr id="2" name="Content Placeholder 3">
            <a:extLst>
              <a:ext uri="{FF2B5EF4-FFF2-40B4-BE49-F238E27FC236}">
                <a16:creationId xmlns:a16="http://schemas.microsoft.com/office/drawing/2014/main" id="{0595D1EB-FA64-426D-8543-059CE9B08CEA}"/>
              </a:ext>
            </a:extLst>
          </p:cNvPr>
          <p:cNvSpPr txBox="1">
            <a:spLocks/>
          </p:cNvSpPr>
          <p:nvPr/>
        </p:nvSpPr>
        <p:spPr>
          <a:xfrm>
            <a:off x="0" y="5213833"/>
            <a:ext cx="11752729" cy="12668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just">
              <a:lnSpc>
                <a:spcPct val="100000"/>
              </a:lnSpc>
              <a:spcBef>
                <a:spcPts val="1200"/>
              </a:spcBef>
              <a:buClr>
                <a:srgbClr val="973735"/>
              </a:buClr>
              <a:buSzPct val="50000"/>
              <a:buFont typeface="Arial" panose="020B0604020202020204" pitchFamily="34" charset="0"/>
              <a:buNone/>
              <a:defRPr/>
            </a:pPr>
            <a:r>
              <a:rPr lang="en-US" sz="2600" dirty="0"/>
              <a:t>Task flow analysis can include details of interactions between the user and the current system, or other individuals, and any problems related to them</a:t>
            </a:r>
          </a:p>
        </p:txBody>
      </p:sp>
    </p:spTree>
    <p:extLst>
      <p:ext uri="{BB962C8B-B14F-4D97-AF65-F5344CB8AC3E}">
        <p14:creationId xmlns:p14="http://schemas.microsoft.com/office/powerpoint/2010/main" val="1840960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Application at the Individual Level</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973874"/>
            <a:ext cx="11971176"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dirty="0"/>
              <a:t>Characteristics of the individual knowledge workers</a:t>
            </a:r>
          </a:p>
          <a:p>
            <a:pPr marL="342900" indent="-342900" algn="just">
              <a:lnSpc>
                <a:spcPct val="120000"/>
              </a:lnSpc>
              <a:spcBef>
                <a:spcPts val="1200"/>
              </a:spcBef>
              <a:buClr>
                <a:srgbClr val="973735"/>
              </a:buClr>
              <a:buSzPct val="50000"/>
              <a:buFont typeface="Wingdings" pitchFamily="2" charset="2"/>
              <a:buChar char="u"/>
              <a:defRPr/>
            </a:pPr>
            <a:r>
              <a:rPr lang="en-US" dirty="0"/>
              <a:t>Bloom’s Taxonomy of Learning Objectives</a:t>
            </a:r>
          </a:p>
          <a:p>
            <a:pPr marL="342900" indent="-342900" algn="just">
              <a:lnSpc>
                <a:spcPct val="120000"/>
              </a:lnSpc>
              <a:spcBef>
                <a:spcPts val="1200"/>
              </a:spcBef>
              <a:buClr>
                <a:srgbClr val="973735"/>
              </a:buClr>
              <a:buSzPct val="50000"/>
              <a:buFont typeface="Wingdings" pitchFamily="2" charset="2"/>
              <a:buChar char="u"/>
              <a:defRPr/>
            </a:pPr>
            <a:r>
              <a:rPr lang="en-US" dirty="0"/>
              <a:t>Task Analysis and Modeling</a:t>
            </a:r>
          </a:p>
          <a:p>
            <a:pPr marL="342900" indent="-342900" algn="just">
              <a:lnSpc>
                <a:spcPct val="120000"/>
              </a:lnSpc>
              <a:spcBef>
                <a:spcPts val="1200"/>
              </a:spcBef>
              <a:buClr>
                <a:srgbClr val="973735"/>
              </a:buClr>
              <a:buSzPct val="50000"/>
              <a:buFont typeface="Wingdings" pitchFamily="2" charset="2"/>
              <a:buChar char="u"/>
              <a:defRPr/>
            </a:pPr>
            <a:r>
              <a:rPr lang="en-US" b="1" dirty="0">
                <a:solidFill>
                  <a:srgbClr val="ED7D31"/>
                </a:solidFill>
              </a:rPr>
              <a:t>Electronic Performance Support Systems</a:t>
            </a: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a:p>
            <a:pPr marL="342900" indent="-342900" algn="just">
              <a:lnSpc>
                <a:spcPct val="120000"/>
              </a:lnSpc>
              <a:spcBef>
                <a:spcPts val="1200"/>
              </a:spcBef>
              <a:buClr>
                <a:srgbClr val="973735"/>
              </a:buClr>
              <a:buSzPct val="50000"/>
              <a:buFont typeface="Wingdings" pitchFamily="2" charset="2"/>
              <a:buChar char="u"/>
              <a:defRPr/>
            </a:pPr>
            <a:endParaRPr lang="en-US" dirty="0">
              <a:solidFill>
                <a:srgbClr val="ED7D31"/>
              </a:solidFill>
            </a:endParaRPr>
          </a:p>
        </p:txBody>
      </p:sp>
    </p:spTree>
    <p:extLst>
      <p:ext uri="{BB962C8B-B14F-4D97-AF65-F5344CB8AC3E}">
        <p14:creationId xmlns:p14="http://schemas.microsoft.com/office/powerpoint/2010/main" val="11944289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Electronic Performance Support Systems</a:t>
            </a:r>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766176" cy="4924893"/>
          </a:xfrm>
        </p:spPr>
        <p:txBody>
          <a:bodyPr>
            <a:normAutofit/>
          </a:bodyPr>
          <a:lstStyle/>
          <a:p>
            <a:pPr marL="0" indent="0" algn="just">
              <a:lnSpc>
                <a:spcPct val="150000"/>
              </a:lnSpc>
              <a:spcBef>
                <a:spcPts val="600"/>
              </a:spcBef>
              <a:buClr>
                <a:srgbClr val="973735"/>
              </a:buClr>
              <a:buSzPct val="50000"/>
              <a:buNone/>
              <a:defRPr/>
            </a:pPr>
            <a:r>
              <a:rPr lang="en-US" b="1" dirty="0">
                <a:solidFill>
                  <a:srgbClr val="ED7D31"/>
                </a:solidFill>
              </a:rPr>
              <a:t>EPSS</a:t>
            </a:r>
          </a:p>
          <a:p>
            <a:pPr marL="342900" indent="-342900" algn="just">
              <a:lnSpc>
                <a:spcPct val="100000"/>
              </a:lnSpc>
              <a:spcBef>
                <a:spcPts val="1800"/>
              </a:spcBef>
              <a:buClr>
                <a:srgbClr val="973735"/>
              </a:buClr>
              <a:buSzPct val="50000"/>
              <a:buFont typeface="Wingdings" pitchFamily="2" charset="2"/>
              <a:buChar char="u"/>
              <a:defRPr/>
            </a:pPr>
            <a:r>
              <a:rPr lang="en-US" sz="2600" dirty="0"/>
              <a:t>Electronic Performance Support Systems, </a:t>
            </a:r>
            <a:r>
              <a:rPr lang="en-US" sz="2600" dirty="0" err="1"/>
              <a:t>Gery</a:t>
            </a:r>
            <a:r>
              <a:rPr lang="en-US" sz="2600" dirty="0"/>
              <a:t> (1991) defined EPSS as an integrated electronic environment that is available to and easily accessible by each employee and is structured to provide immediate, individualized online access to the full range of information, software, guidance, advice and assistance, data, images, tools, and assessment and monitoring systems to permit job performance with minimal support and intervention by others.</a:t>
            </a:r>
          </a:p>
        </p:txBody>
      </p:sp>
    </p:spTree>
    <p:extLst>
      <p:ext uri="{BB962C8B-B14F-4D97-AF65-F5344CB8AC3E}">
        <p14:creationId xmlns:p14="http://schemas.microsoft.com/office/powerpoint/2010/main" val="32072090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7" name="Content Placeholder 3">
            <a:extLst>
              <a:ext uri="{FF2B5EF4-FFF2-40B4-BE49-F238E27FC236}">
                <a16:creationId xmlns:a16="http://schemas.microsoft.com/office/drawing/2014/main" id="{BB8913C7-4081-F519-A9E8-DBDF745B3B2E}"/>
              </a:ext>
            </a:extLst>
          </p:cNvPr>
          <p:cNvSpPr>
            <a:spLocks noGrp="1"/>
          </p:cNvSpPr>
          <p:nvPr>
            <p:ph sz="quarter" idx="1"/>
          </p:nvPr>
        </p:nvSpPr>
        <p:spPr>
          <a:xfrm>
            <a:off x="0" y="1664593"/>
            <a:ext cx="11971176" cy="4924893"/>
          </a:xfrm>
        </p:spPr>
        <p:txBody>
          <a:bodyPr>
            <a:normAutofit/>
          </a:bodyPr>
          <a:lstStyle/>
          <a:p>
            <a:pPr marL="0" indent="0" algn="just">
              <a:lnSpc>
                <a:spcPct val="150000"/>
              </a:lnSpc>
              <a:spcBef>
                <a:spcPts val="600"/>
              </a:spcBef>
              <a:buClr>
                <a:srgbClr val="973735"/>
              </a:buClr>
              <a:buSzPct val="50000"/>
              <a:buNone/>
              <a:defRPr/>
            </a:pPr>
            <a:endParaRPr lang="en-US" b="1" dirty="0">
              <a:solidFill>
                <a:srgbClr val="ED7D31"/>
              </a:solidFill>
            </a:endParaRPr>
          </a:p>
        </p:txBody>
      </p:sp>
      <p:sp>
        <p:nvSpPr>
          <p:cNvPr id="10" name="Title 9">
            <a:extLst>
              <a:ext uri="{FF2B5EF4-FFF2-40B4-BE49-F238E27FC236}">
                <a16:creationId xmlns:a16="http://schemas.microsoft.com/office/drawing/2014/main" id="{14B66892-2D9E-DD78-1DBA-9BC9505A080E}"/>
              </a:ext>
            </a:extLst>
          </p:cNvPr>
          <p:cNvSpPr>
            <a:spLocks noGrp="1"/>
          </p:cNvSpPr>
          <p:nvPr>
            <p:ph type="title"/>
          </p:nvPr>
        </p:nvSpPr>
        <p:spPr/>
        <p:txBody>
          <a:bodyPr/>
          <a:lstStyle/>
          <a:p>
            <a:endParaRPr lang="en-US"/>
          </a:p>
        </p:txBody>
      </p:sp>
      <p:sp>
        <p:nvSpPr>
          <p:cNvPr id="11" name="Title 1">
            <a:extLst>
              <a:ext uri="{FF2B5EF4-FFF2-40B4-BE49-F238E27FC236}">
                <a16:creationId xmlns:a16="http://schemas.microsoft.com/office/drawing/2014/main" id="{CF3F28F8-4796-E686-4489-76B2E7148DEB}"/>
              </a:ext>
            </a:extLst>
          </p:cNvPr>
          <p:cNvSpPr txBox="1">
            <a:spLocks/>
          </p:cNvSpPr>
          <p:nvPr/>
        </p:nvSpPr>
        <p:spPr>
          <a:xfrm>
            <a:off x="287517" y="674951"/>
            <a:ext cx="10515600" cy="709226"/>
          </a:xfrm>
          <a:prstGeom prst="rect">
            <a:avLst/>
          </a:prstGeom>
          <a:solidFill>
            <a:schemeClr val="bg1"/>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srgbClr val="ED7D31"/>
                </a:solidFill>
              </a:rPr>
              <a:t>Electronic Performance Support Systems</a:t>
            </a:r>
            <a:endParaRPr lang="en-US" sz="4000" b="1" dirty="0"/>
          </a:p>
        </p:txBody>
      </p:sp>
      <p:graphicFrame>
        <p:nvGraphicFramePr>
          <p:cNvPr id="4" name="Object 3">
            <a:extLst>
              <a:ext uri="{FF2B5EF4-FFF2-40B4-BE49-F238E27FC236}">
                <a16:creationId xmlns:a16="http://schemas.microsoft.com/office/drawing/2014/main" id="{D195299C-29F7-11AC-F125-2A8CF2284194}"/>
              </a:ext>
            </a:extLst>
          </p:cNvPr>
          <p:cNvGraphicFramePr>
            <a:graphicFrameLocks noChangeAspect="1"/>
          </p:cNvGraphicFramePr>
          <p:nvPr>
            <p:extLst>
              <p:ext uri="{D42A27DB-BD31-4B8C-83A1-F6EECF244321}">
                <p14:modId xmlns:p14="http://schemas.microsoft.com/office/powerpoint/2010/main" val="1863889737"/>
              </p:ext>
            </p:extLst>
          </p:nvPr>
        </p:nvGraphicFramePr>
        <p:xfrm>
          <a:off x="4110690" y="5910966"/>
          <a:ext cx="3970620" cy="411642"/>
        </p:xfrm>
        <a:graphic>
          <a:graphicData uri="http://schemas.openxmlformats.org/presentationml/2006/ole">
            <mc:AlternateContent xmlns:mc="http://schemas.openxmlformats.org/markup-compatibility/2006">
              <mc:Choice xmlns:v="urn:schemas-microsoft-com:vml" Requires="v">
                <p:oleObj name="Bitmap Image" r:id="rId3" imgW="2941200" imgH="304920" progId="PBrush">
                  <p:embed/>
                </p:oleObj>
              </mc:Choice>
              <mc:Fallback>
                <p:oleObj name="Bitmap Image" r:id="rId3" imgW="2941200" imgH="304920" progId="PBrush">
                  <p:embed/>
                  <p:pic>
                    <p:nvPicPr>
                      <p:cNvPr id="0" name=""/>
                      <p:cNvPicPr/>
                      <p:nvPr/>
                    </p:nvPicPr>
                    <p:blipFill>
                      <a:blip r:embed="rId4"/>
                      <a:stretch>
                        <a:fillRect/>
                      </a:stretch>
                    </p:blipFill>
                    <p:spPr>
                      <a:xfrm>
                        <a:off x="4110690" y="5910966"/>
                        <a:ext cx="3970620" cy="411642"/>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9060C8D8-646D-1D12-53D4-76040AC1DF78}"/>
              </a:ext>
            </a:extLst>
          </p:cNvPr>
          <p:cNvGraphicFramePr>
            <a:graphicFrameLocks noChangeAspect="1"/>
          </p:cNvGraphicFramePr>
          <p:nvPr>
            <p:extLst>
              <p:ext uri="{D42A27DB-BD31-4B8C-83A1-F6EECF244321}">
                <p14:modId xmlns:p14="http://schemas.microsoft.com/office/powerpoint/2010/main" val="2505645427"/>
              </p:ext>
            </p:extLst>
          </p:nvPr>
        </p:nvGraphicFramePr>
        <p:xfrm>
          <a:off x="2958354" y="1408254"/>
          <a:ext cx="5980676" cy="4246373"/>
        </p:xfrm>
        <a:graphic>
          <a:graphicData uri="http://schemas.openxmlformats.org/presentationml/2006/ole">
            <mc:AlternateContent xmlns:mc="http://schemas.openxmlformats.org/markup-compatibility/2006">
              <mc:Choice xmlns:v="urn:schemas-microsoft-com:vml" Requires="v">
                <p:oleObj name="Bitmap Image" r:id="rId5" imgW="5151240" imgH="3657600" progId="PBrush">
                  <p:embed/>
                </p:oleObj>
              </mc:Choice>
              <mc:Fallback>
                <p:oleObj name="Bitmap Image" r:id="rId5" imgW="5151240" imgH="3657600" progId="PBrush">
                  <p:embed/>
                  <p:pic>
                    <p:nvPicPr>
                      <p:cNvPr id="0" name=""/>
                      <p:cNvPicPr/>
                      <p:nvPr/>
                    </p:nvPicPr>
                    <p:blipFill>
                      <a:blip r:embed="rId6"/>
                      <a:stretch>
                        <a:fillRect/>
                      </a:stretch>
                    </p:blipFill>
                    <p:spPr>
                      <a:xfrm>
                        <a:off x="2958354" y="1408254"/>
                        <a:ext cx="5980676" cy="4246373"/>
                      </a:xfrm>
                      <a:prstGeom prst="rect">
                        <a:avLst/>
                      </a:prstGeom>
                    </p:spPr>
                  </p:pic>
                </p:oleObj>
              </mc:Fallback>
            </mc:AlternateContent>
          </a:graphicData>
        </a:graphic>
      </p:graphicFrame>
    </p:spTree>
    <p:extLst>
      <p:ext uri="{BB962C8B-B14F-4D97-AF65-F5344CB8AC3E}">
        <p14:creationId xmlns:p14="http://schemas.microsoft.com/office/powerpoint/2010/main" val="1058246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2111187"/>
            <a:ext cx="11779624" cy="4369511"/>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dirty="0"/>
              <a:t>Knowledge management systems (KMSs) are tools aimed at supporting knowledge management. They evolved from information management tools that integrated many aspects of computer-supported collaborative work (CSCW) environments with information and document management systems (Ganesan, Edmonds, and Spector, 2001; Greif, 1988; Kling, 1991).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36315"/>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2011923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0" y="2164975"/>
            <a:ext cx="11971176" cy="4315723"/>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Key characteristics of a KMS are support for: </a:t>
            </a:r>
          </a:p>
          <a:p>
            <a:pPr marL="914400" lvl="2" indent="0" algn="just">
              <a:lnSpc>
                <a:spcPct val="100000"/>
              </a:lnSpc>
              <a:spcBef>
                <a:spcPts val="1800"/>
              </a:spcBef>
              <a:buClr>
                <a:srgbClr val="973735"/>
              </a:buClr>
              <a:buSzPct val="50000"/>
              <a:buNone/>
              <a:defRPr/>
            </a:pPr>
            <a:r>
              <a:rPr lang="en-US" sz="2600" dirty="0"/>
              <a:t>1. Communication among various users. </a:t>
            </a:r>
          </a:p>
          <a:p>
            <a:pPr marL="914400" lvl="2" indent="0" algn="just">
              <a:lnSpc>
                <a:spcPct val="100000"/>
              </a:lnSpc>
              <a:spcBef>
                <a:spcPts val="1800"/>
              </a:spcBef>
              <a:buClr>
                <a:srgbClr val="973735"/>
              </a:buClr>
              <a:buSzPct val="50000"/>
              <a:buNone/>
              <a:defRPr/>
            </a:pPr>
            <a:r>
              <a:rPr lang="en-US" sz="2600" dirty="0"/>
              <a:t>2. Coordination of users’ activities. </a:t>
            </a:r>
          </a:p>
          <a:p>
            <a:pPr marL="914400" lvl="2" indent="0" algn="just">
              <a:lnSpc>
                <a:spcPct val="100000"/>
              </a:lnSpc>
              <a:spcBef>
                <a:spcPts val="1800"/>
              </a:spcBef>
              <a:buClr>
                <a:srgbClr val="973735"/>
              </a:buClr>
              <a:buSzPct val="50000"/>
              <a:buNone/>
              <a:defRPr/>
            </a:pPr>
            <a:r>
              <a:rPr lang="en-US" sz="2600" dirty="0"/>
              <a:t>3. Collaboration among user groups on the creation, modification, and dissemination of artifacts and products. </a:t>
            </a:r>
          </a:p>
          <a:p>
            <a:pPr marL="914400" lvl="2" indent="0" algn="just">
              <a:lnSpc>
                <a:spcPct val="100000"/>
              </a:lnSpc>
              <a:spcBef>
                <a:spcPts val="1800"/>
              </a:spcBef>
              <a:buClr>
                <a:srgbClr val="973735"/>
              </a:buClr>
              <a:buSzPct val="50000"/>
              <a:buNone/>
              <a:defRPr/>
            </a:pPr>
            <a:r>
              <a:rPr lang="en-US" sz="2600" dirty="0"/>
              <a:t>4. Control processes to ensure integrity and to track the progress of projects.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36315"/>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16994054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2245659"/>
            <a:ext cx="11971176" cy="4235040"/>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A KMS provides support for many information functions, including: </a:t>
            </a:r>
          </a:p>
          <a:p>
            <a:pPr marL="1371600" lvl="3" indent="0" algn="just">
              <a:lnSpc>
                <a:spcPct val="100000"/>
              </a:lnSpc>
              <a:spcBef>
                <a:spcPts val="1800"/>
              </a:spcBef>
              <a:buClr>
                <a:srgbClr val="973735"/>
              </a:buClr>
              <a:buSzPct val="50000"/>
              <a:buNone/>
              <a:defRPr/>
            </a:pPr>
            <a:r>
              <a:rPr lang="en-US" sz="2600" dirty="0"/>
              <a:t>1. Acquiring and indexing, capturing, and archiving. </a:t>
            </a:r>
          </a:p>
          <a:p>
            <a:pPr marL="1371600" lvl="3" indent="0" algn="just">
              <a:lnSpc>
                <a:spcPct val="100000"/>
              </a:lnSpc>
              <a:spcBef>
                <a:spcPts val="1800"/>
              </a:spcBef>
              <a:buClr>
                <a:srgbClr val="973735"/>
              </a:buClr>
              <a:buSzPct val="50000"/>
              <a:buNone/>
              <a:defRPr/>
            </a:pPr>
            <a:r>
              <a:rPr lang="en-US" sz="2600" dirty="0"/>
              <a:t>2. Finding and accessing. </a:t>
            </a:r>
          </a:p>
          <a:p>
            <a:pPr marL="1371600" lvl="3" indent="0" algn="just">
              <a:lnSpc>
                <a:spcPct val="100000"/>
              </a:lnSpc>
              <a:spcBef>
                <a:spcPts val="1800"/>
              </a:spcBef>
              <a:buClr>
                <a:srgbClr val="973735"/>
              </a:buClr>
              <a:buSzPct val="50000"/>
              <a:buNone/>
              <a:defRPr/>
            </a:pPr>
            <a:r>
              <a:rPr lang="en-US" sz="2600" dirty="0"/>
              <a:t>3. Creating and annotating. </a:t>
            </a:r>
          </a:p>
          <a:p>
            <a:pPr marL="1371600" lvl="3" indent="0" algn="just">
              <a:lnSpc>
                <a:spcPct val="100000"/>
              </a:lnSpc>
              <a:spcBef>
                <a:spcPts val="1800"/>
              </a:spcBef>
              <a:buClr>
                <a:srgbClr val="973735"/>
              </a:buClr>
              <a:buSzPct val="50000"/>
              <a:buNone/>
              <a:defRPr/>
            </a:pPr>
            <a:r>
              <a:rPr lang="en-US" sz="2600" dirty="0"/>
              <a:t>4. Combining, collating, and modifying. </a:t>
            </a:r>
          </a:p>
          <a:p>
            <a:pPr marL="1371600" lvl="3" indent="0" algn="just">
              <a:lnSpc>
                <a:spcPct val="100000"/>
              </a:lnSpc>
              <a:spcBef>
                <a:spcPts val="1800"/>
              </a:spcBef>
              <a:buClr>
                <a:srgbClr val="973735"/>
              </a:buClr>
              <a:buSzPct val="50000"/>
              <a:buNone/>
              <a:defRPr/>
            </a:pPr>
            <a:r>
              <a:rPr lang="en-US" sz="2600" dirty="0"/>
              <a:t>5. Tracking.</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2875868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882587"/>
            <a:ext cx="11779624" cy="4598111"/>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The organizational knowledge management architecture will be comprised of at least three levels: </a:t>
            </a:r>
          </a:p>
          <a:p>
            <a:pPr marL="800100" lvl="1" indent="-342900" algn="just">
              <a:lnSpc>
                <a:spcPct val="100000"/>
              </a:lnSpc>
              <a:spcBef>
                <a:spcPts val="1800"/>
              </a:spcBef>
              <a:buClr>
                <a:srgbClr val="973735"/>
              </a:buClr>
              <a:buSzPct val="50000"/>
              <a:buFont typeface="Wingdings" pitchFamily="2" charset="2"/>
              <a:buChar char="u"/>
              <a:defRPr/>
            </a:pPr>
            <a:r>
              <a:rPr lang="en-US" b="1" dirty="0"/>
              <a:t>Data layer</a:t>
            </a:r>
            <a:r>
              <a:rPr lang="en-US" dirty="0"/>
              <a:t>, which is the unifying abstraction across different types of data, with potentially different types of data, with potentially different storage mechanism (e.g., database, text documents, video, audio).</a:t>
            </a:r>
          </a:p>
          <a:p>
            <a:pPr marL="800100" lvl="1" indent="-342900" algn="just">
              <a:lnSpc>
                <a:spcPct val="100000"/>
              </a:lnSpc>
              <a:spcBef>
                <a:spcPts val="1800"/>
              </a:spcBef>
              <a:buClr>
                <a:srgbClr val="973735"/>
              </a:buClr>
              <a:buSzPct val="50000"/>
              <a:buFont typeface="Wingdings" pitchFamily="2" charset="2"/>
              <a:buChar char="u"/>
              <a:defRPr/>
            </a:pPr>
            <a:r>
              <a:rPr lang="en-US" b="1" dirty="0"/>
              <a:t>Process layer, </a:t>
            </a:r>
            <a:r>
              <a:rPr lang="en-US" dirty="0"/>
              <a:t>which describes the logic that links the data with its use and its users (other people or other systems who use that data).</a:t>
            </a:r>
          </a:p>
          <a:p>
            <a:pPr marL="800100" lvl="1" indent="-342900" algn="just">
              <a:lnSpc>
                <a:spcPct val="100000"/>
              </a:lnSpc>
              <a:spcBef>
                <a:spcPts val="1800"/>
              </a:spcBef>
              <a:buClr>
                <a:srgbClr val="973735"/>
              </a:buClr>
              <a:buSzPct val="50000"/>
              <a:buFont typeface="Wingdings" pitchFamily="2" charset="2"/>
              <a:buChar char="u"/>
              <a:defRPr/>
            </a:pPr>
            <a:r>
              <a:rPr lang="en-US" b="1" dirty="0"/>
              <a:t>User interface, </a:t>
            </a:r>
            <a:r>
              <a:rPr lang="en-US" dirty="0"/>
              <a:t>which provides access to the information assets of the company via the logic incorporated in the process layer.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3264058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graphicFrame>
        <p:nvGraphicFramePr>
          <p:cNvPr id="7" name="Object 6">
            <a:extLst>
              <a:ext uri="{FF2B5EF4-FFF2-40B4-BE49-F238E27FC236}">
                <a16:creationId xmlns:a16="http://schemas.microsoft.com/office/drawing/2014/main" id="{2ADA9642-58FC-F3E6-605C-BBA148D58B35}"/>
              </a:ext>
            </a:extLst>
          </p:cNvPr>
          <p:cNvGraphicFramePr>
            <a:graphicFrameLocks noChangeAspect="1"/>
          </p:cNvGraphicFramePr>
          <p:nvPr>
            <p:extLst>
              <p:ext uri="{D42A27DB-BD31-4B8C-83A1-F6EECF244321}">
                <p14:modId xmlns:p14="http://schemas.microsoft.com/office/powerpoint/2010/main" val="4158262447"/>
              </p:ext>
            </p:extLst>
          </p:nvPr>
        </p:nvGraphicFramePr>
        <p:xfrm>
          <a:off x="4121150" y="1397000"/>
          <a:ext cx="8070850" cy="5461000"/>
        </p:xfrm>
        <a:graphic>
          <a:graphicData uri="http://schemas.openxmlformats.org/presentationml/2006/ole">
            <mc:AlternateContent xmlns:mc="http://schemas.openxmlformats.org/markup-compatibility/2006">
              <mc:Choice xmlns:v="urn:schemas-microsoft-com:vml" Requires="v">
                <p:oleObj name="Bitmap Image" r:id="rId3" imgW="7307640" imgH="4945320" progId="PBrush">
                  <p:embed/>
                </p:oleObj>
              </mc:Choice>
              <mc:Fallback>
                <p:oleObj name="Bitmap Image" r:id="rId3" imgW="7307640" imgH="4945320" progId="PBrush">
                  <p:embed/>
                  <p:pic>
                    <p:nvPicPr>
                      <p:cNvPr id="0" name=""/>
                      <p:cNvPicPr/>
                      <p:nvPr/>
                    </p:nvPicPr>
                    <p:blipFill>
                      <a:blip r:embed="rId4"/>
                      <a:stretch>
                        <a:fillRect/>
                      </a:stretch>
                    </p:blipFill>
                    <p:spPr>
                      <a:xfrm>
                        <a:off x="4121150" y="1397000"/>
                        <a:ext cx="8070850" cy="5461000"/>
                      </a:xfrm>
                      <a:prstGeom prst="rect">
                        <a:avLst/>
                      </a:prstGeom>
                    </p:spPr>
                  </p:pic>
                </p:oleObj>
              </mc:Fallback>
            </mc:AlternateContent>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1384530" cy="709226"/>
          </a:xfrm>
        </p:spPr>
        <p:txBody>
          <a:bodyPr>
            <a:normAutofit fontScale="90000"/>
          </a:bodyPr>
          <a:lstStyle/>
          <a:p>
            <a:r>
              <a:rPr lang="en-US" sz="4000" b="1" dirty="0"/>
              <a:t>Knowledge Application at the Group and Organizational Levels</a:t>
            </a:r>
          </a:p>
        </p:txBody>
      </p:sp>
      <p:graphicFrame>
        <p:nvGraphicFramePr>
          <p:cNvPr id="8" name="Object 7">
            <a:extLst>
              <a:ext uri="{FF2B5EF4-FFF2-40B4-BE49-F238E27FC236}">
                <a16:creationId xmlns:a16="http://schemas.microsoft.com/office/drawing/2014/main" id="{5FC4D1A9-99CE-B437-105C-FA3D73B474A2}"/>
              </a:ext>
            </a:extLst>
          </p:cNvPr>
          <p:cNvGraphicFramePr>
            <a:graphicFrameLocks noChangeAspect="1"/>
          </p:cNvGraphicFramePr>
          <p:nvPr>
            <p:extLst>
              <p:ext uri="{D42A27DB-BD31-4B8C-83A1-F6EECF244321}">
                <p14:modId xmlns:p14="http://schemas.microsoft.com/office/powerpoint/2010/main" val="3444397523"/>
              </p:ext>
            </p:extLst>
          </p:nvPr>
        </p:nvGraphicFramePr>
        <p:xfrm>
          <a:off x="287517" y="3880410"/>
          <a:ext cx="3583554" cy="709226"/>
        </p:xfrm>
        <a:graphic>
          <a:graphicData uri="http://schemas.openxmlformats.org/presentationml/2006/ole">
            <mc:AlternateContent xmlns:mc="http://schemas.openxmlformats.org/markup-compatibility/2006">
              <mc:Choice xmlns:v="urn:schemas-microsoft-com:vml" Requires="v">
                <p:oleObj name="Bitmap Image" r:id="rId5" imgW="3040560" imgH="601920" progId="PBrush">
                  <p:embed/>
                </p:oleObj>
              </mc:Choice>
              <mc:Fallback>
                <p:oleObj name="Bitmap Image" r:id="rId5" imgW="3040560" imgH="601920" progId="PBrush">
                  <p:embed/>
                  <p:pic>
                    <p:nvPicPr>
                      <p:cNvPr id="0" name=""/>
                      <p:cNvPicPr/>
                      <p:nvPr/>
                    </p:nvPicPr>
                    <p:blipFill>
                      <a:blip r:embed="rId6"/>
                      <a:stretch>
                        <a:fillRect/>
                      </a:stretch>
                    </p:blipFill>
                    <p:spPr>
                      <a:xfrm>
                        <a:off x="287517" y="3880410"/>
                        <a:ext cx="3583554" cy="709226"/>
                      </a:xfrm>
                      <a:prstGeom prst="rect">
                        <a:avLst/>
                      </a:prstGeom>
                    </p:spPr>
                  </p:pic>
                </p:oleObj>
              </mc:Fallback>
            </mc:AlternateContent>
          </a:graphicData>
        </a:graphic>
      </p:graphicFrame>
    </p:spTree>
    <p:extLst>
      <p:ext uri="{BB962C8B-B14F-4D97-AF65-F5344CB8AC3E}">
        <p14:creationId xmlns:p14="http://schemas.microsoft.com/office/powerpoint/2010/main" val="1021544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752729" cy="4816106"/>
          </a:xfrm>
        </p:spPr>
        <p:txBody>
          <a:bodyPr>
            <a:normAutofit/>
          </a:bodyPr>
          <a:lstStyle/>
          <a:p>
            <a:pPr marL="0" indent="0" algn="just">
              <a:lnSpc>
                <a:spcPct val="150000"/>
              </a:lnSpc>
              <a:spcBef>
                <a:spcPts val="600"/>
              </a:spcBef>
              <a:buClr>
                <a:srgbClr val="973735"/>
              </a:buClr>
              <a:buSzPct val="50000"/>
              <a:buNone/>
              <a:defRPr/>
            </a:pPr>
            <a:r>
              <a:rPr lang="en-US" sz="2600" b="1" dirty="0">
                <a:solidFill>
                  <a:srgbClr val="ED7D31"/>
                </a:solidFill>
              </a:rPr>
              <a:t>Knowledge Reuse </a:t>
            </a:r>
          </a:p>
          <a:p>
            <a:pPr marL="342900" indent="-342900" algn="just">
              <a:lnSpc>
                <a:spcPct val="100000"/>
              </a:lnSpc>
              <a:spcBef>
                <a:spcPts val="2400"/>
              </a:spcBef>
              <a:buClr>
                <a:srgbClr val="973735"/>
              </a:buClr>
              <a:buSzPct val="50000"/>
              <a:buFont typeface="Wingdings" pitchFamily="2" charset="2"/>
              <a:buChar char="u"/>
              <a:defRPr/>
            </a:pPr>
            <a:r>
              <a:rPr lang="en-US" sz="2600" dirty="0"/>
              <a:t>Reusing knowledge involves recall and recognition, as well as actually applying the knowledge, if we use Bloom’s taxonomy. </a:t>
            </a:r>
          </a:p>
          <a:p>
            <a:pPr marL="342900" indent="-342900" algn="just">
              <a:lnSpc>
                <a:spcPct val="100000"/>
              </a:lnSpc>
              <a:spcBef>
                <a:spcPts val="2400"/>
              </a:spcBef>
              <a:buClr>
                <a:srgbClr val="973735"/>
              </a:buClr>
              <a:buSzPct val="50000"/>
              <a:buFont typeface="Wingdings" pitchFamily="2" charset="2"/>
              <a:buChar char="u"/>
              <a:defRPr/>
            </a:pPr>
            <a:r>
              <a:rPr lang="en-US" sz="2600" dirty="0"/>
              <a:t>Reusing knowledge typically begins with the formulation of a search question.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11682106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672047" cy="4816106"/>
          </a:xfrm>
        </p:spPr>
        <p:txBody>
          <a:bodyPr>
            <a:normAutofit/>
          </a:bodyPr>
          <a:lstStyle/>
          <a:p>
            <a:pPr marL="0" indent="0" algn="just">
              <a:lnSpc>
                <a:spcPct val="150000"/>
              </a:lnSpc>
              <a:spcBef>
                <a:spcPts val="600"/>
              </a:spcBef>
              <a:buClr>
                <a:srgbClr val="973735"/>
              </a:buClr>
              <a:buSzPct val="50000"/>
              <a:buNone/>
              <a:defRPr/>
            </a:pPr>
            <a:r>
              <a:rPr lang="en-US" sz="2600" b="1" dirty="0">
                <a:solidFill>
                  <a:srgbClr val="ED7D31"/>
                </a:solidFill>
              </a:rPr>
              <a:t>Knowledge Reuse </a:t>
            </a:r>
          </a:p>
          <a:p>
            <a:pPr marL="342900" indent="-342900" algn="just">
              <a:lnSpc>
                <a:spcPct val="100000"/>
              </a:lnSpc>
              <a:spcBef>
                <a:spcPts val="1800"/>
              </a:spcBef>
              <a:buClr>
                <a:srgbClr val="973735"/>
              </a:buClr>
              <a:buSzPct val="50000"/>
              <a:buFont typeface="Wingdings" pitchFamily="2" charset="2"/>
              <a:buChar char="u"/>
              <a:defRPr/>
            </a:pPr>
            <a:r>
              <a:rPr lang="en-US" sz="2600" dirty="0"/>
              <a:t>There are three major roles required for knowledge reuse:</a:t>
            </a:r>
          </a:p>
          <a:p>
            <a:pPr marL="800100" lvl="1" indent="-342900" algn="just">
              <a:lnSpc>
                <a:spcPct val="100000"/>
              </a:lnSpc>
              <a:spcBef>
                <a:spcPts val="1800"/>
              </a:spcBef>
              <a:buClr>
                <a:srgbClr val="973735"/>
              </a:buClr>
              <a:buSzPct val="50000"/>
              <a:buFont typeface="Wingdings" pitchFamily="2" charset="2"/>
              <a:buChar char="u"/>
              <a:defRPr/>
            </a:pPr>
            <a:r>
              <a:rPr lang="en-US" b="1" dirty="0"/>
              <a:t>The knowledge producer, </a:t>
            </a:r>
            <a:r>
              <a:rPr lang="en-US" dirty="0"/>
              <a:t>the person who produced or documented the knowledge object; </a:t>
            </a:r>
          </a:p>
          <a:p>
            <a:pPr marL="800100" lvl="1" indent="-342900" algn="just">
              <a:lnSpc>
                <a:spcPct val="100000"/>
              </a:lnSpc>
              <a:spcBef>
                <a:spcPts val="1800"/>
              </a:spcBef>
              <a:buClr>
                <a:srgbClr val="973735"/>
              </a:buClr>
              <a:buSzPct val="50000"/>
              <a:buFont typeface="Wingdings" pitchFamily="2" charset="2"/>
              <a:buChar char="u"/>
              <a:defRPr/>
            </a:pPr>
            <a:r>
              <a:rPr lang="en-US" b="1" dirty="0"/>
              <a:t>The knowledge intermediary</a:t>
            </a:r>
            <a:r>
              <a:rPr lang="en-US" dirty="0"/>
              <a:t>, who prepares knowledge for reuse by indexing, sanitizing, packaging, and even marketing the knowledge object; </a:t>
            </a:r>
          </a:p>
          <a:p>
            <a:pPr marL="800100" lvl="1" indent="-342900" algn="just">
              <a:lnSpc>
                <a:spcPct val="100000"/>
              </a:lnSpc>
              <a:spcBef>
                <a:spcPts val="1800"/>
              </a:spcBef>
              <a:buClr>
                <a:srgbClr val="973735"/>
              </a:buClr>
              <a:buSzPct val="50000"/>
              <a:buFont typeface="Wingdings" pitchFamily="2" charset="2"/>
              <a:buChar char="u"/>
              <a:defRPr/>
            </a:pPr>
            <a:r>
              <a:rPr lang="en-US" b="1" dirty="0"/>
              <a:t>The knowledge </a:t>
            </a:r>
            <a:r>
              <a:rPr lang="en-US" b="1" dirty="0" err="1"/>
              <a:t>reuser</a:t>
            </a:r>
            <a:r>
              <a:rPr lang="en-US" dirty="0"/>
              <a:t>, who retrieves, understands, and applies it.</a:t>
            </a:r>
            <a:r>
              <a:rPr lang="en-US" sz="2600" dirty="0"/>
              <a: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36315"/>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2599508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793071" cy="4816106"/>
          </a:xfrm>
        </p:spPr>
        <p:txBody>
          <a:bodyPr>
            <a:normAutofit/>
          </a:bodyPr>
          <a:lstStyle/>
          <a:p>
            <a:pPr marL="0" indent="0" algn="just">
              <a:lnSpc>
                <a:spcPct val="150000"/>
              </a:lnSpc>
              <a:spcBef>
                <a:spcPts val="600"/>
              </a:spcBef>
              <a:buClr>
                <a:srgbClr val="973735"/>
              </a:buClr>
              <a:buSzPct val="50000"/>
              <a:buNone/>
              <a:defRPr/>
            </a:pPr>
            <a:r>
              <a:rPr lang="en-US" sz="2600" b="1" dirty="0">
                <a:solidFill>
                  <a:srgbClr val="ED7D31"/>
                </a:solidFill>
              </a:rPr>
              <a:t>Knowledge Reuse </a:t>
            </a:r>
          </a:p>
          <a:p>
            <a:pPr marL="342900" indent="-342900" algn="just">
              <a:lnSpc>
                <a:spcPct val="100000"/>
              </a:lnSpc>
              <a:spcBef>
                <a:spcPts val="2400"/>
              </a:spcBef>
              <a:buClr>
                <a:srgbClr val="973735"/>
              </a:buClr>
              <a:buSzPct val="50000"/>
              <a:buFont typeface="Wingdings" pitchFamily="2" charset="2"/>
              <a:buChar char="u"/>
              <a:defRPr/>
            </a:pPr>
            <a:r>
              <a:rPr lang="en-US" sz="2600" dirty="0"/>
              <a:t>Markus (2001) suggests there are four distinct types of knowledge reuse situation according to the individual who is doing the reusing and the purpose of knowledge reuse.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1857239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2"/>
            <a:ext cx="11793071" cy="5181231"/>
          </a:xfrm>
        </p:spPr>
        <p:txBody>
          <a:bodyPr>
            <a:normAutofit/>
          </a:bodyPr>
          <a:lstStyle/>
          <a:p>
            <a:pPr marL="0" indent="0" algn="just">
              <a:lnSpc>
                <a:spcPct val="150000"/>
              </a:lnSpc>
              <a:spcBef>
                <a:spcPts val="600"/>
              </a:spcBef>
              <a:buClr>
                <a:srgbClr val="973735"/>
              </a:buClr>
              <a:buSzPct val="50000"/>
              <a:buNone/>
              <a:defRPr/>
            </a:pPr>
            <a:r>
              <a:rPr lang="en-US" sz="2600" b="1" dirty="0">
                <a:solidFill>
                  <a:srgbClr val="ED7D31"/>
                </a:solidFill>
              </a:rPr>
              <a:t>Knowledge Reuse: </a:t>
            </a:r>
            <a:r>
              <a:rPr lang="en-US" sz="2600" dirty="0"/>
              <a:t>The four reuse situations are: </a:t>
            </a:r>
          </a:p>
          <a:p>
            <a:pPr marL="800100" lvl="1" indent="-342900" algn="just">
              <a:lnSpc>
                <a:spcPct val="100000"/>
              </a:lnSpc>
              <a:spcBef>
                <a:spcPts val="1200"/>
              </a:spcBef>
              <a:buClr>
                <a:srgbClr val="973735"/>
              </a:buClr>
              <a:buSzPct val="50000"/>
              <a:buFont typeface="Wingdings" pitchFamily="2" charset="2"/>
              <a:buChar char="u"/>
              <a:defRPr/>
            </a:pPr>
            <a:r>
              <a:rPr lang="en-US" b="1" dirty="0"/>
              <a:t>Shared work producers</a:t>
            </a:r>
            <a:r>
              <a:rPr lang="en-US" dirty="0"/>
              <a:t> usually consist of teams or workgroups that have collaborated together</a:t>
            </a:r>
          </a:p>
          <a:p>
            <a:pPr marL="800100" lvl="1" indent="-342900" algn="just">
              <a:lnSpc>
                <a:spcPct val="100000"/>
              </a:lnSpc>
              <a:spcBef>
                <a:spcPts val="1200"/>
              </a:spcBef>
              <a:buClr>
                <a:srgbClr val="973735"/>
              </a:buClr>
              <a:buSzPct val="50000"/>
              <a:buFont typeface="Wingdings" pitchFamily="2" charset="2"/>
              <a:buChar char="u"/>
              <a:defRPr/>
            </a:pPr>
            <a:r>
              <a:rPr lang="en-US" b="1" dirty="0"/>
              <a:t>Shared work practitioners </a:t>
            </a:r>
            <a:r>
              <a:rPr lang="en-US" dirty="0"/>
              <a:t>are members of the same community of practice. They are peers who share a profession.</a:t>
            </a:r>
            <a:endParaRPr lang="en-US" b="1" dirty="0"/>
          </a:p>
          <a:p>
            <a:pPr marL="800100" lvl="1" indent="-342900" algn="just">
              <a:lnSpc>
                <a:spcPct val="100000"/>
              </a:lnSpc>
              <a:spcBef>
                <a:spcPts val="1200"/>
              </a:spcBef>
              <a:buClr>
                <a:srgbClr val="973735"/>
              </a:buClr>
              <a:buSzPct val="50000"/>
              <a:buFont typeface="Wingdings" pitchFamily="2" charset="2"/>
              <a:buChar char="u"/>
              <a:defRPr/>
            </a:pPr>
            <a:r>
              <a:rPr lang="en-US" b="1" dirty="0"/>
              <a:t>Expertise-seeking novices </a:t>
            </a:r>
            <a:r>
              <a:rPr lang="en-US" dirty="0"/>
              <a:t>are often in a learning scenario. Unlike the previous two types of </a:t>
            </a:r>
            <a:r>
              <a:rPr lang="en-US" dirty="0" err="1"/>
              <a:t>reusers</a:t>
            </a:r>
            <a:r>
              <a:rPr lang="en-US" dirty="0"/>
              <a:t>, novices are the most distant or different from the knowledge object authors and those experienced with its use </a:t>
            </a:r>
          </a:p>
          <a:p>
            <a:pPr marL="800100" lvl="1" indent="-342900" algn="just">
              <a:lnSpc>
                <a:spcPct val="100000"/>
              </a:lnSpc>
              <a:spcBef>
                <a:spcPts val="1200"/>
              </a:spcBef>
              <a:buClr>
                <a:srgbClr val="973735"/>
              </a:buClr>
              <a:buSzPct val="50000"/>
              <a:buFont typeface="Wingdings" pitchFamily="2" charset="2"/>
              <a:buChar char="u"/>
              <a:defRPr/>
            </a:pPr>
            <a:r>
              <a:rPr lang="en-US" b="1" dirty="0"/>
              <a:t>Secondary knowledge miners </a:t>
            </a:r>
            <a:r>
              <a:rPr lang="en-US" dirty="0"/>
              <a:t>are analysts who attempt to extract interesting and hopefully meaningful patterns by studying knowledge repository use.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595460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739282" cy="4816106"/>
          </a:xfrm>
        </p:spPr>
        <p:txBody>
          <a:bodyPr>
            <a:normAutofit/>
          </a:bodyPr>
          <a:lstStyle/>
          <a:p>
            <a:pPr marL="0" indent="0" algn="just">
              <a:lnSpc>
                <a:spcPct val="150000"/>
              </a:lnSpc>
              <a:spcBef>
                <a:spcPts val="600"/>
              </a:spcBef>
              <a:buClr>
                <a:srgbClr val="973735"/>
              </a:buClr>
              <a:buSzPct val="50000"/>
              <a:buNone/>
              <a:defRPr/>
            </a:pPr>
            <a:r>
              <a:rPr lang="en-US" sz="2600" b="1" dirty="0">
                <a:solidFill>
                  <a:srgbClr val="ED7D31"/>
                </a:solidFill>
              </a:rPr>
              <a:t>Knowledge Repositories</a:t>
            </a:r>
          </a:p>
          <a:p>
            <a:pPr marL="342900" indent="-342900" algn="just">
              <a:lnSpc>
                <a:spcPct val="100000"/>
              </a:lnSpc>
              <a:spcBef>
                <a:spcPts val="2400"/>
              </a:spcBef>
              <a:buClr>
                <a:srgbClr val="973735"/>
              </a:buClr>
              <a:buSzPct val="50000"/>
              <a:buFont typeface="Wingdings" pitchFamily="2" charset="2"/>
              <a:buChar char="u"/>
              <a:defRPr/>
            </a:pPr>
            <a:r>
              <a:rPr lang="en-US" sz="2600" dirty="0"/>
              <a:t>Knowledge repositories are usually intranets or portals of some kind that serve to preserve, manage, and leverage organizational memory. </a:t>
            </a:r>
          </a:p>
          <a:p>
            <a:pPr marL="342900" indent="-342900" algn="just">
              <a:lnSpc>
                <a:spcPct val="100000"/>
              </a:lnSpc>
              <a:spcBef>
                <a:spcPts val="2400"/>
              </a:spcBef>
              <a:buClr>
                <a:srgbClr val="973735"/>
              </a:buClr>
              <a:buSzPct val="50000"/>
              <a:buFont typeface="Wingdings" pitchFamily="2" charset="2"/>
              <a:buChar char="u"/>
              <a:defRPr/>
            </a:pPr>
            <a:r>
              <a:rPr lang="en-US" sz="2600" dirty="0"/>
              <a:t>Many different types of knowledge repositories are in use today, and they can be categorized in a number of different ways. In general, a knowledge repository will contain more than documents (document management system), data (database), or records (record management system).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36315"/>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41283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739282" cy="4816106"/>
          </a:xfrm>
        </p:spPr>
        <p:txBody>
          <a:bodyPr>
            <a:normAutofit/>
          </a:bodyPr>
          <a:lstStyle/>
          <a:p>
            <a:pPr marL="0" indent="0" algn="just">
              <a:lnSpc>
                <a:spcPct val="150000"/>
              </a:lnSpc>
              <a:spcBef>
                <a:spcPts val="2400"/>
              </a:spcBef>
              <a:buClr>
                <a:srgbClr val="973735"/>
              </a:buClr>
              <a:buSzPct val="50000"/>
              <a:buNone/>
              <a:defRPr/>
            </a:pPr>
            <a:r>
              <a:rPr lang="en-US" sz="2600" b="1" dirty="0">
                <a:solidFill>
                  <a:srgbClr val="ED7D31"/>
                </a:solidFill>
              </a:rPr>
              <a:t>Knowledge Repositories</a:t>
            </a:r>
          </a:p>
          <a:p>
            <a:pPr marL="342900" indent="-342900" algn="just">
              <a:lnSpc>
                <a:spcPct val="100000"/>
              </a:lnSpc>
              <a:spcBef>
                <a:spcPts val="2400"/>
              </a:spcBef>
              <a:buClr>
                <a:srgbClr val="973735"/>
              </a:buClr>
              <a:buSzPct val="50000"/>
              <a:buFont typeface="Wingdings" pitchFamily="2" charset="2"/>
              <a:buChar char="u"/>
              <a:defRPr/>
            </a:pPr>
            <a:r>
              <a:rPr lang="en-US" sz="2600" dirty="0"/>
              <a:t>A knowledge repository will contain valuable content that is a mix of tacit and explicit knowledge, based on the unique experiences of the individuals who are or were a part of that company as well as the know-how that has been tried, tested, and found to work in work situations.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849762"/>
            <a:ext cx="10515600" cy="709226"/>
          </a:xfrm>
        </p:spPr>
        <p:txBody>
          <a:bodyPr>
            <a:normAutofit fontScale="90000"/>
          </a:bodyPr>
          <a:lstStyle/>
          <a:p>
            <a:r>
              <a:rPr lang="en-US" sz="4000" b="1" dirty="0"/>
              <a:t>Knowledge Application at the Group and Organizational Levels</a:t>
            </a:r>
          </a:p>
        </p:txBody>
      </p:sp>
    </p:spTree>
    <p:extLst>
      <p:ext uri="{BB962C8B-B14F-4D97-AF65-F5344CB8AC3E}">
        <p14:creationId xmlns:p14="http://schemas.microsoft.com/office/powerpoint/2010/main" val="3593991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2097741"/>
            <a:ext cx="11806518" cy="3822127"/>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There is a wide range of KM applications in the real world. They can be found in every sector, including the for-profit and nonprofit sectors; NGOs and developmental agencies; government at the federal, state/province (states in the United States and provinces in Canada), and municipal levels; and for all the vertical industry sectors, ranging from agriculture to the water industry.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Real World Applications of KM</a:t>
            </a:r>
          </a:p>
        </p:txBody>
      </p:sp>
    </p:spTree>
    <p:extLst>
      <p:ext uri="{BB962C8B-B14F-4D97-AF65-F5344CB8AC3E}">
        <p14:creationId xmlns:p14="http://schemas.microsoft.com/office/powerpoint/2010/main" val="33997816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2057399"/>
            <a:ext cx="11658600" cy="4423299"/>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b="1" dirty="0"/>
              <a:t>Aerospace: </a:t>
            </a:r>
            <a:r>
              <a:rPr lang="en-US" sz="2600" dirty="0"/>
              <a:t>NASA: KM is used to ensure that NASA is a learning organization. Applications include a comprehensive lessons learned database, case studies, and stories. </a:t>
            </a:r>
          </a:p>
          <a:p>
            <a:pPr marL="342900" indent="-342900" algn="just">
              <a:lnSpc>
                <a:spcPct val="100000"/>
              </a:lnSpc>
              <a:spcBef>
                <a:spcPts val="2400"/>
              </a:spcBef>
              <a:buClr>
                <a:srgbClr val="973735"/>
              </a:buClr>
              <a:buSzPct val="50000"/>
              <a:buFont typeface="Wingdings" pitchFamily="2" charset="2"/>
              <a:buChar char="u"/>
              <a:defRPr/>
            </a:pPr>
            <a:r>
              <a:rPr lang="en-US" sz="2600" b="1" dirty="0"/>
              <a:t>Agriculture: </a:t>
            </a:r>
            <a:r>
              <a:rPr lang="en-US" sz="2600" dirty="0" err="1"/>
              <a:t>Embrapa</a:t>
            </a:r>
            <a:r>
              <a:rPr lang="en-US" sz="2600" dirty="0"/>
              <a:t>, the Brazilian Agricultural Research Corporation’s KM system manages both the knowledge produced and knowledge development process and incorporates learning that takes place during the research process.</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Real World Applications of KM</a:t>
            </a:r>
          </a:p>
        </p:txBody>
      </p:sp>
    </p:spTree>
    <p:extLst>
      <p:ext uri="{BB962C8B-B14F-4D97-AF65-F5344CB8AC3E}">
        <p14:creationId xmlns:p14="http://schemas.microsoft.com/office/powerpoint/2010/main" val="7014370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sp>
        <p:nvSpPr>
          <p:cNvPr id="4" name="Content Placeholder 3"/>
          <p:cNvSpPr>
            <a:spLocks noGrp="1"/>
          </p:cNvSpPr>
          <p:nvPr>
            <p:ph sz="quarter" idx="1"/>
          </p:nvPr>
        </p:nvSpPr>
        <p:spPr>
          <a:xfrm>
            <a:off x="0" y="1664593"/>
            <a:ext cx="11860306"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b="1" dirty="0"/>
              <a:t>Chemical: </a:t>
            </a:r>
            <a:r>
              <a:rPr lang="en-US" sz="2600" dirty="0"/>
              <a:t>Buckman Laboratories, a KM leader, sells chemical products, services, and solutions and emphasizes knowledge sharing: “… so that no individual will stand alone in the face of competition, but will always have the full global force of the company behind them.” —Bob Buckman. The </a:t>
            </a:r>
            <a:r>
              <a:rPr lang="en-US" sz="2600" dirty="0" err="1"/>
              <a:t>K’Netix</a:t>
            </a:r>
            <a:r>
              <a:rPr lang="en-US" sz="2600" dirty="0"/>
              <a:t> knowledge portal allows employees to share knowledge and also stores and preserves all organizational knowledge and experience.</a:t>
            </a:r>
          </a:p>
          <a:p>
            <a:pPr marL="342900" indent="-342900" algn="just">
              <a:lnSpc>
                <a:spcPct val="100000"/>
              </a:lnSpc>
              <a:spcBef>
                <a:spcPts val="2400"/>
              </a:spcBef>
              <a:buClr>
                <a:srgbClr val="973735"/>
              </a:buClr>
              <a:buSzPct val="50000"/>
              <a:buFont typeface="Wingdings" pitchFamily="2" charset="2"/>
              <a:buChar char="u"/>
              <a:defRPr/>
            </a:pPr>
            <a:r>
              <a:rPr lang="en-US" sz="2600" b="1" dirty="0"/>
              <a:t>Computer: </a:t>
            </a:r>
            <a:r>
              <a:rPr lang="en-US" sz="2600" dirty="0"/>
              <a:t>IBM was one of the early adopters of KM and continues to focus on collaboration applications such as a searchable resource to look for experts company-wide.</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Real World Applications of KM</a:t>
            </a:r>
          </a:p>
        </p:txBody>
      </p:sp>
    </p:spTree>
    <p:extLst>
      <p:ext uri="{BB962C8B-B14F-4D97-AF65-F5344CB8AC3E}">
        <p14:creationId xmlns:p14="http://schemas.microsoft.com/office/powerpoint/2010/main" val="2631880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833412" cy="4816106"/>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sz="2600" b="1" dirty="0"/>
              <a:t>Construction: </a:t>
            </a:r>
            <a:r>
              <a:rPr lang="en-US" sz="2600" dirty="0"/>
              <a:t>	Fluor Corporation is an engineering, procurement, construction, and maintenance firm that has institutionalized KM by developing </a:t>
            </a:r>
            <a:r>
              <a:rPr lang="en-US" sz="2600" dirty="0" err="1"/>
              <a:t>KnowledgeOnline</a:t>
            </a:r>
            <a:r>
              <a:rPr lang="en-US" sz="2600" dirty="0"/>
              <a:t>, which connects people to people and people to content to create global knowledge communities.</a:t>
            </a:r>
          </a:p>
          <a:p>
            <a:pPr marL="342900" indent="-342900" algn="just">
              <a:lnSpc>
                <a:spcPct val="100000"/>
              </a:lnSpc>
              <a:spcBef>
                <a:spcPts val="2400"/>
              </a:spcBef>
              <a:buClr>
                <a:srgbClr val="973735"/>
              </a:buClr>
              <a:buSzPct val="50000"/>
              <a:buFont typeface="Wingdings" pitchFamily="2" charset="2"/>
              <a:buChar char="u"/>
              <a:defRPr/>
            </a:pPr>
            <a:r>
              <a:rPr lang="en-US" sz="2600" b="1" dirty="0"/>
              <a:t>Education: </a:t>
            </a:r>
            <a:r>
              <a:rPr lang="en-US" sz="2600" dirty="0"/>
              <a:t>Triune developed Air Force Knowledge Now, a mechanism for finding and accessing time critical knowledge, training, and performance support resources to provide online performance support to the workforce. It encompasses support for communities of practice, </a:t>
            </a:r>
            <a:r>
              <a:rPr lang="en-US" sz="2600" dirty="0" err="1"/>
              <a:t>elearning</a:t>
            </a:r>
            <a:r>
              <a:rPr lang="en-US" sz="2600" dirty="0"/>
              <a:t>, learning management systems, and comprehensive metrics.</a:t>
            </a:r>
          </a:p>
          <a:p>
            <a:pPr marL="0" indent="0" algn="just">
              <a:lnSpc>
                <a:spcPct val="110000"/>
              </a:lnSpc>
              <a:spcBef>
                <a:spcPts val="1200"/>
              </a:spcBef>
              <a:buClr>
                <a:srgbClr val="973735"/>
              </a:buClr>
              <a:buSzPct val="50000"/>
              <a:buNone/>
              <a:defRPr/>
            </a:pPr>
            <a:endParaRPr lang="en-US" sz="2600"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Real World Applications of KM</a:t>
            </a:r>
          </a:p>
        </p:txBody>
      </p:sp>
    </p:spTree>
    <p:extLst>
      <p:ext uri="{BB962C8B-B14F-4D97-AF65-F5344CB8AC3E}">
        <p14:creationId xmlns:p14="http://schemas.microsoft.com/office/powerpoint/2010/main" val="2712226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4" name="Content Placeholder 3"/>
          <p:cNvSpPr>
            <a:spLocks noGrp="1"/>
          </p:cNvSpPr>
          <p:nvPr>
            <p:ph sz="quarter" idx="1"/>
          </p:nvPr>
        </p:nvSpPr>
        <p:spPr>
          <a:xfrm>
            <a:off x="0" y="1664593"/>
            <a:ext cx="11833412" cy="4642078"/>
          </a:xfrm>
        </p:spPr>
        <p:txBody>
          <a:bodyPr>
            <a:normAutofit fontScale="92500"/>
          </a:bodyPr>
          <a:lstStyle/>
          <a:p>
            <a:pPr marL="342900" indent="-342900" algn="just">
              <a:lnSpc>
                <a:spcPct val="110000"/>
              </a:lnSpc>
              <a:spcBef>
                <a:spcPts val="1200"/>
              </a:spcBef>
              <a:buClr>
                <a:srgbClr val="973735"/>
              </a:buClr>
              <a:buSzPct val="50000"/>
              <a:buFont typeface="Wingdings" pitchFamily="2" charset="2"/>
              <a:buChar char="u"/>
              <a:defRPr/>
            </a:pPr>
            <a:r>
              <a:rPr lang="en-US" dirty="0"/>
              <a:t>Knowledge application implies that employees in an organization can quickly find answers to the following types of questions:</a:t>
            </a:r>
          </a:p>
          <a:p>
            <a:pPr marL="800100" lvl="1" indent="-342900" algn="just">
              <a:lnSpc>
                <a:spcPct val="110000"/>
              </a:lnSpc>
              <a:spcBef>
                <a:spcPts val="1200"/>
              </a:spcBef>
              <a:buClr>
                <a:srgbClr val="973735"/>
              </a:buClr>
              <a:buSzPct val="50000"/>
              <a:buFont typeface="Wingdings" pitchFamily="2" charset="2"/>
              <a:buChar char="u"/>
              <a:defRPr/>
            </a:pPr>
            <a:r>
              <a:rPr lang="en-US" sz="2600" dirty="0"/>
              <a:t>What have we already written or published on this topic?</a:t>
            </a:r>
          </a:p>
          <a:p>
            <a:pPr marL="800100" lvl="1" indent="-342900" algn="just">
              <a:lnSpc>
                <a:spcPct val="110000"/>
              </a:lnSpc>
              <a:spcBef>
                <a:spcPts val="1200"/>
              </a:spcBef>
              <a:buClr>
                <a:srgbClr val="973735"/>
              </a:buClr>
              <a:buSzPct val="50000"/>
              <a:buFont typeface="Wingdings" pitchFamily="2" charset="2"/>
              <a:buChar char="u"/>
              <a:defRPr/>
            </a:pPr>
            <a:r>
              <a:rPr lang="en-US" sz="2600" dirty="0"/>
              <a:t>Who are the experts in this area and how can I contact them?</a:t>
            </a:r>
          </a:p>
          <a:p>
            <a:pPr marL="800100" lvl="1" indent="-342900" algn="just">
              <a:lnSpc>
                <a:spcPct val="110000"/>
              </a:lnSpc>
              <a:spcBef>
                <a:spcPts val="1200"/>
              </a:spcBef>
              <a:buClr>
                <a:srgbClr val="973735"/>
              </a:buClr>
              <a:buSzPct val="50000"/>
              <a:buFont typeface="Wingdings" pitchFamily="2" charset="2"/>
              <a:buChar char="u"/>
              <a:defRPr/>
            </a:pPr>
            <a:r>
              <a:rPr lang="en-US" sz="2600" dirty="0"/>
              <a:t>Have any of our partners, contacts, and clients addressed these issues?</a:t>
            </a:r>
          </a:p>
          <a:p>
            <a:pPr marL="800100" lvl="1" indent="-342900" algn="just">
              <a:lnSpc>
                <a:spcPct val="110000"/>
              </a:lnSpc>
              <a:spcBef>
                <a:spcPts val="1200"/>
              </a:spcBef>
              <a:buClr>
                <a:srgbClr val="973735"/>
              </a:buClr>
              <a:buSzPct val="50000"/>
              <a:buFont typeface="Wingdings" pitchFamily="2" charset="2"/>
              <a:buChar char="u"/>
              <a:defRPr/>
            </a:pPr>
            <a:r>
              <a:rPr lang="en-US" sz="2600" dirty="0"/>
              <a:t>What sources did we use to prepare the publications on this topic?</a:t>
            </a:r>
          </a:p>
          <a:p>
            <a:pPr marL="800100" lvl="1" indent="-342900" algn="just">
              <a:lnSpc>
                <a:spcPct val="110000"/>
              </a:lnSpc>
              <a:spcBef>
                <a:spcPts val="1200"/>
              </a:spcBef>
              <a:buClr>
                <a:srgbClr val="973735"/>
              </a:buClr>
              <a:buSzPct val="50000"/>
              <a:buFont typeface="Wingdings" pitchFamily="2" charset="2"/>
              <a:buChar char="u"/>
              <a:defRPr/>
            </a:pPr>
            <a:r>
              <a:rPr lang="en-US" sz="2600" dirty="0"/>
              <a:t>What are the best websites or internal databases to go to find more information?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How can I add my own experience applying this particular piece of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2092978" cy="709226"/>
          </a:xfrm>
        </p:spPr>
        <p:txBody>
          <a:bodyPr>
            <a:normAutofit/>
          </a:bodyPr>
          <a:lstStyle/>
          <a:p>
            <a:r>
              <a:rPr lang="en-US" sz="4000" b="1" dirty="0"/>
              <a:t>Strategic Implications of Knowledge Application</a:t>
            </a:r>
          </a:p>
        </p:txBody>
      </p:sp>
    </p:spTree>
    <p:extLst>
      <p:ext uri="{BB962C8B-B14F-4D97-AF65-F5344CB8AC3E}">
        <p14:creationId xmlns:p14="http://schemas.microsoft.com/office/powerpoint/2010/main" val="39947960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0" y="2218765"/>
            <a:ext cx="11766176" cy="4087906"/>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dirty="0"/>
              <a:t>A knowledge repository should be a one-stop shop for knowledge application. Employees should be able to find out what they need in order to access, understand, and apply the cumulative experience and expertise of the organization.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2092978" cy="709226"/>
          </a:xfrm>
        </p:spPr>
        <p:txBody>
          <a:bodyPr>
            <a:normAutofit/>
          </a:bodyPr>
          <a:lstStyle/>
          <a:p>
            <a:r>
              <a:rPr lang="en-US" sz="4000" b="1" dirty="0"/>
              <a:t>Strategic Implications of Knowledge Application</a:t>
            </a:r>
          </a:p>
        </p:txBody>
      </p:sp>
    </p:spTree>
    <p:extLst>
      <p:ext uri="{BB962C8B-B14F-4D97-AF65-F5344CB8AC3E}">
        <p14:creationId xmlns:p14="http://schemas.microsoft.com/office/powerpoint/2010/main" val="1293124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1664593"/>
            <a:ext cx="11698941" cy="4255275"/>
          </a:xfrm>
        </p:spPr>
        <p:txBody>
          <a:bodyPr>
            <a:noAutofit/>
          </a:bodyPr>
          <a:lstStyle/>
          <a:p>
            <a:pPr marL="342900" indent="-342900" algn="just">
              <a:lnSpc>
                <a:spcPct val="100000"/>
              </a:lnSpc>
              <a:spcBef>
                <a:spcPts val="1200"/>
              </a:spcBef>
              <a:buClr>
                <a:srgbClr val="973735"/>
              </a:buClr>
              <a:buSzPct val="50000"/>
              <a:buFont typeface="Wingdings" pitchFamily="2" charset="2"/>
              <a:buChar char="u"/>
              <a:defRPr/>
            </a:pPr>
            <a:r>
              <a:rPr lang="en-US" sz="2400" dirty="0"/>
              <a:t>Understand how </a:t>
            </a:r>
            <a:r>
              <a:rPr lang="en-US" sz="2400" b="1" dirty="0"/>
              <a:t>user and task modeling</a:t>
            </a:r>
            <a:r>
              <a:rPr lang="en-US" sz="2400" dirty="0"/>
              <a:t> approaches can help promote effective knowledge use at the individual, group, and organizational level</a:t>
            </a:r>
          </a:p>
          <a:p>
            <a:pPr marL="342900" indent="-342900" algn="just">
              <a:lnSpc>
                <a:spcPct val="100000"/>
              </a:lnSpc>
              <a:spcBef>
                <a:spcPts val="1200"/>
              </a:spcBef>
              <a:buClr>
                <a:srgbClr val="973735"/>
              </a:buClr>
              <a:buSzPct val="50000"/>
              <a:buFont typeface="Wingdings" pitchFamily="2" charset="2"/>
              <a:buChar char="u"/>
              <a:defRPr/>
            </a:pPr>
            <a:r>
              <a:rPr lang="en-US" sz="2400" dirty="0"/>
              <a:t>Describe how an </a:t>
            </a:r>
            <a:r>
              <a:rPr lang="en-US" sz="2400" b="1" dirty="0"/>
              <a:t>organizational knowledge management architecture</a:t>
            </a:r>
            <a:r>
              <a:rPr lang="en-US" sz="2400" dirty="0"/>
              <a:t> is designed</a:t>
            </a:r>
          </a:p>
          <a:p>
            <a:pPr marL="342900" indent="-342900" algn="just">
              <a:lnSpc>
                <a:spcPct val="100000"/>
              </a:lnSpc>
              <a:spcBef>
                <a:spcPts val="1200"/>
              </a:spcBef>
              <a:buClr>
                <a:srgbClr val="973735"/>
              </a:buClr>
              <a:buSzPct val="50000"/>
              <a:buFont typeface="Wingdings" pitchFamily="2" charset="2"/>
              <a:buChar char="u"/>
              <a:defRPr/>
            </a:pPr>
            <a:r>
              <a:rPr lang="en-US" sz="2400" b="1" dirty="0"/>
              <a:t>Define organizational learning </a:t>
            </a:r>
            <a:r>
              <a:rPr lang="en-US" sz="2400" dirty="0"/>
              <a:t>and describe the links between individual and organizational learning</a:t>
            </a:r>
          </a:p>
          <a:p>
            <a:pPr marL="342900" indent="-342900" algn="just">
              <a:lnSpc>
                <a:spcPct val="100000"/>
              </a:lnSpc>
              <a:spcBef>
                <a:spcPts val="1200"/>
              </a:spcBef>
              <a:buClr>
                <a:srgbClr val="973735"/>
              </a:buClr>
              <a:buSzPct val="50000"/>
              <a:buFont typeface="Wingdings" pitchFamily="2" charset="2"/>
              <a:buChar char="u"/>
              <a:defRPr/>
            </a:pPr>
            <a:r>
              <a:rPr lang="en-US" sz="2400" b="1" dirty="0"/>
              <a:t>Compare and contrast learning </a:t>
            </a:r>
            <a:r>
              <a:rPr lang="en-US" sz="2400" dirty="0"/>
              <a:t>and understanding with internalization of knowledge</a:t>
            </a:r>
          </a:p>
          <a:p>
            <a:pPr marL="342900" indent="-342900" algn="just">
              <a:lnSpc>
                <a:spcPct val="100000"/>
              </a:lnSpc>
              <a:spcBef>
                <a:spcPts val="1200"/>
              </a:spcBef>
              <a:buClr>
                <a:srgbClr val="973735"/>
              </a:buClr>
              <a:buSzPct val="50000"/>
              <a:buFont typeface="Wingdings" pitchFamily="2" charset="2"/>
              <a:buChar char="u"/>
              <a:defRPr/>
            </a:pPr>
            <a:r>
              <a:rPr lang="en-US" sz="2400" dirty="0"/>
              <a:t>List</a:t>
            </a:r>
            <a:r>
              <a:rPr lang="en-US" sz="2400" b="1" dirty="0"/>
              <a:t> the different knowledge support technologies </a:t>
            </a:r>
            <a:r>
              <a:rPr lang="en-US" sz="2400" dirty="0"/>
              <a:t>that can help users put knowledge into action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1714726"/>
            <a:ext cx="12002308" cy="5008803"/>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What are some of the tools used in organizational memory management?</a:t>
            </a:r>
          </a:p>
          <a:p>
            <a:pPr marL="514350" indent="-514350" algn="just">
              <a:lnSpc>
                <a:spcPct val="100000"/>
              </a:lnSpc>
              <a:spcBef>
                <a:spcPts val="1200"/>
              </a:spcBef>
              <a:buClr>
                <a:srgbClr val="973735"/>
              </a:buClr>
              <a:buSzPct val="100000"/>
              <a:buFont typeface="+mj-lt"/>
              <a:buAutoNum type="arabicPeriod"/>
              <a:defRPr/>
            </a:pPr>
            <a:r>
              <a:rPr lang="en-US" sz="2000" dirty="0"/>
              <a:t>What are the key components that should be addressed by an organizational KM architecture?</a:t>
            </a:r>
          </a:p>
          <a:p>
            <a:pPr marL="514350" indent="-514350" algn="just">
              <a:lnSpc>
                <a:spcPct val="100000"/>
              </a:lnSpc>
              <a:spcBef>
                <a:spcPts val="1200"/>
              </a:spcBef>
              <a:buClr>
                <a:srgbClr val="973735"/>
              </a:buClr>
              <a:buSzPct val="100000"/>
              <a:buFont typeface="+mj-lt"/>
              <a:buAutoNum type="arabicPeriod"/>
              <a:defRPr/>
            </a:pPr>
            <a:r>
              <a:rPr lang="en-US" sz="2000" dirty="0"/>
              <a:t>What is reuse and why is it an important measure of the success of KM within an organization?</a:t>
            </a:r>
          </a:p>
          <a:p>
            <a:pPr marL="514350" indent="-514350" algn="just">
              <a:lnSpc>
                <a:spcPct val="100000"/>
              </a:lnSpc>
              <a:spcBef>
                <a:spcPts val="1200"/>
              </a:spcBef>
              <a:buClr>
                <a:srgbClr val="973735"/>
              </a:buClr>
              <a:buSzPct val="100000"/>
              <a:buFont typeface="+mj-lt"/>
              <a:buAutoNum type="arabicPeriod"/>
              <a:defRPr/>
            </a:pPr>
            <a:r>
              <a:rPr lang="en-US" sz="2000" dirty="0"/>
              <a:t>Why is knowledge application the most important step in the KM cycle?</a:t>
            </a:r>
          </a:p>
          <a:p>
            <a:pPr marL="514350" indent="-514350" algn="just">
              <a:lnSpc>
                <a:spcPct val="100000"/>
              </a:lnSpc>
              <a:spcBef>
                <a:spcPts val="1200"/>
              </a:spcBef>
              <a:buClr>
                <a:srgbClr val="973735"/>
              </a:buClr>
              <a:buSzPct val="100000"/>
              <a:buFont typeface="+mj-lt"/>
              <a:buAutoNum type="arabicPeriod"/>
              <a:defRPr/>
            </a:pPr>
            <a:r>
              <a:rPr lang="en-US" sz="2000" dirty="0"/>
              <a:t>How does knowledge application relate to the internalization phase of the Nonaka and Takeuchi knowledge spiral model?</a:t>
            </a:r>
          </a:p>
          <a:p>
            <a:pPr marL="514350" indent="-514350" algn="just">
              <a:lnSpc>
                <a:spcPct val="100000"/>
              </a:lnSpc>
              <a:spcBef>
                <a:spcPts val="1200"/>
              </a:spcBef>
              <a:buClr>
                <a:srgbClr val="973735"/>
              </a:buClr>
              <a:buSzPct val="100000"/>
              <a:buFont typeface="+mj-lt"/>
              <a:buAutoNum type="arabicPeriod"/>
              <a:defRPr/>
            </a:pPr>
            <a:r>
              <a:rPr lang="en-US" sz="2000" dirty="0"/>
              <a:t>Why counting the number of “hits” to a knowledge repository (much like website statistics) would not be the best measure of knowledge application within an organization.</a:t>
            </a:r>
          </a:p>
          <a:p>
            <a:pPr marL="514350" indent="-514350" algn="just">
              <a:lnSpc>
                <a:spcPct val="100000"/>
              </a:lnSpc>
              <a:spcBef>
                <a:spcPts val="1200"/>
              </a:spcBef>
              <a:buClr>
                <a:srgbClr val="973735"/>
              </a:buClr>
              <a:buSzPct val="100000"/>
              <a:buFont typeface="+mj-lt"/>
              <a:buAutoNum type="arabicPeriod"/>
              <a:defRPr/>
            </a:pPr>
            <a:r>
              <a:rPr lang="en-US" sz="2000" dirty="0"/>
              <a:t>What is chunking? Why is this a good content management strategy? </a:t>
            </a:r>
          </a:p>
          <a:p>
            <a:pPr marL="514350" indent="-514350" algn="just">
              <a:lnSpc>
                <a:spcPct val="100000"/>
              </a:lnSpc>
              <a:spcBef>
                <a:spcPts val="1200"/>
              </a:spcBef>
              <a:buClr>
                <a:srgbClr val="973735"/>
              </a:buClr>
              <a:buSzPct val="100000"/>
              <a:buFont typeface="+mj-lt"/>
              <a:buAutoNum type="arabicPeriod"/>
              <a:defRPr/>
            </a:pPr>
            <a:r>
              <a:rPr lang="en-US" sz="2000" dirty="0"/>
              <a:t>Provide an example of a task analysis for a task you are familiar with. </a:t>
            </a:r>
          </a:p>
          <a:p>
            <a:pPr marL="514350" indent="-514350" algn="just">
              <a:lnSpc>
                <a:spcPct val="100000"/>
              </a:lnSpc>
              <a:spcBef>
                <a:spcPts val="1200"/>
              </a:spcBef>
              <a:buClr>
                <a:srgbClr val="973735"/>
              </a:buClr>
              <a:buSzPct val="100000"/>
              <a:buFont typeface="+mj-lt"/>
              <a:buAutoNum type="arabicPeriod"/>
              <a:defRPr/>
            </a:pPr>
            <a:endParaRPr lang="en-US" sz="2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Tree>
    <p:extLst>
      <p:ext uri="{BB962C8B-B14F-4D97-AF65-F5344CB8AC3E}">
        <p14:creationId xmlns:p14="http://schemas.microsoft.com/office/powerpoint/2010/main" val="4222055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2173</TotalTime>
  <Words>2861</Words>
  <Application>Microsoft Office PowerPoint</Application>
  <PresentationFormat>Widescreen</PresentationFormat>
  <Paragraphs>318</Paragraphs>
  <Slides>45</Slides>
  <Notes>45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45</vt:i4>
      </vt:variant>
    </vt:vector>
  </HeadingPairs>
  <TitlesOfParts>
    <vt:vector size="50" baseType="lpstr">
      <vt:lpstr>Arial</vt:lpstr>
      <vt:lpstr>Calibri</vt:lpstr>
      <vt:lpstr>Wingdings</vt:lpstr>
      <vt:lpstr>Office Theme</vt:lpstr>
      <vt:lpstr>Bitmap Image</vt:lpstr>
      <vt:lpstr>Chapter 06 Finding Knowledge</vt:lpstr>
      <vt:lpstr>Objectives</vt:lpstr>
      <vt:lpstr>Introduction</vt:lpstr>
      <vt:lpstr>Introduction</vt:lpstr>
      <vt:lpstr>Introduction</vt:lpstr>
      <vt:lpstr>Introduction</vt:lpstr>
      <vt:lpstr>Introduction</vt:lpstr>
      <vt:lpstr>Introduction</vt:lpstr>
      <vt:lpstr>Knowledge Application at the Individual Level</vt:lpstr>
      <vt:lpstr>Characteristics of the individual knowledge workers</vt:lpstr>
      <vt:lpstr>Characteristics of the individual knowledge workers</vt:lpstr>
      <vt:lpstr>Characteristics of the individual knowledge workers</vt:lpstr>
      <vt:lpstr>Characteristics of the individual knowledge workers</vt:lpstr>
      <vt:lpstr>Knowledge Application at the Individual Level</vt:lpstr>
      <vt:lpstr>Bloom’s Taxonomy of Learning Objectives</vt:lpstr>
      <vt:lpstr>Bloom’s Taxonomy of Learning Objectives</vt:lpstr>
      <vt:lpstr>Bloom’s Taxonomy of Learning Objectives</vt:lpstr>
      <vt:lpstr>Bloom’s Taxonomy of Learning Objectives</vt:lpstr>
      <vt:lpstr>Knowledge Application at the Individual Level</vt:lpstr>
      <vt:lpstr>Task Analysis and Modeling</vt:lpstr>
      <vt:lpstr>Task Analysis and Modeling</vt:lpstr>
      <vt:lpstr>Task Analysis and Modeling</vt:lpstr>
      <vt:lpstr>Task Analysis and Modeling</vt:lpstr>
      <vt:lpstr>Knowledge Application at the Individual Level</vt:lpstr>
      <vt:lpstr>Electronic Performance Support Systems</vt:lpstr>
      <vt:lpstr>PowerPoint Presentation</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Knowledge Application at the Group and Organizational Levels</vt:lpstr>
      <vt:lpstr>Real World Applications of KM</vt:lpstr>
      <vt:lpstr>Real World Applications of KM</vt:lpstr>
      <vt:lpstr>Real World Applications of KM</vt:lpstr>
      <vt:lpstr>Real World Applications of KM</vt:lpstr>
      <vt:lpstr>Strategic Implications of Knowledge Application</vt:lpstr>
      <vt:lpstr>Strategic Implications of Knowledge Application</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127</cp:revision>
  <dcterms:created xsi:type="dcterms:W3CDTF">2021-01-25T08:25:31Z</dcterms:created>
  <dcterms:modified xsi:type="dcterms:W3CDTF">2023-09-20T21:07:22Z</dcterms:modified>
</cp:coreProperties>
</file>