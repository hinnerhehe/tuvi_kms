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handoutMasterIdLst>
    <p:handoutMasterId r:id="rId23"/>
  </p:handoutMasterIdLst>
  <p:sldIdLst>
    <p:sldId id="256" r:id="rId2"/>
    <p:sldId id="278" r:id="rId3"/>
    <p:sldId id="279" r:id="rId4"/>
    <p:sldId id="404" r:id="rId5"/>
    <p:sldId id="313" r:id="rId6"/>
    <p:sldId id="405" r:id="rId7"/>
    <p:sldId id="406" r:id="rId8"/>
    <p:sldId id="407" r:id="rId9"/>
    <p:sldId id="322" r:id="rId10"/>
    <p:sldId id="417" r:id="rId11"/>
    <p:sldId id="324" r:id="rId12"/>
    <p:sldId id="411" r:id="rId13"/>
    <p:sldId id="412" r:id="rId14"/>
    <p:sldId id="325" r:id="rId15"/>
    <p:sldId id="413" r:id="rId16"/>
    <p:sldId id="326" r:id="rId17"/>
    <p:sldId id="416" r:id="rId18"/>
    <p:sldId id="327" r:id="rId19"/>
    <p:sldId id="452" r:id="rId20"/>
    <p:sldId id="403"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AF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6353" autoAdjust="0"/>
    <p:restoredTop sz="81356" autoAdjust="0"/>
  </p:normalViewPr>
  <p:slideViewPr>
    <p:cSldViewPr snapToGrid="0">
      <p:cViewPr varScale="1">
        <p:scale>
          <a:sx n="88" d="100"/>
          <a:sy n="88" d="100"/>
        </p:scale>
        <p:origin x="432" y="72"/>
      </p:cViewPr>
      <p:guideLst/>
    </p:cSldViewPr>
  </p:slideViewPr>
  <p:notesTextViewPr>
    <p:cViewPr>
      <p:scale>
        <a:sx n="150" d="100"/>
        <a:sy n="15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949DFF5-E44F-48DD-8FAD-EF15CFF7F474}" type="datetimeFigureOut">
              <a:rPr lang="en-US" smtClean="0"/>
              <a:t>9/21/2023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9431253-AA71-4F4F-9BF6-D6DC574A3AAF}" type="slidenum">
              <a:rPr lang="en-US" smtClean="0"/>
              <a:t>‹#›</a:t>
            </a:fld>
            <a:endParaRPr lang="en-US"/>
          </a:p>
        </p:txBody>
      </p:sp>
    </p:spTree>
    <p:extLst>
      <p:ext uri="{BB962C8B-B14F-4D97-AF65-F5344CB8AC3E}">
        <p14:creationId xmlns:p14="http://schemas.microsoft.com/office/powerpoint/2010/main" val="16768054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17A13E-60FF-453F-B712-D9BBD0C85FA1}" type="datetimeFigureOut">
              <a:rPr lang="en-US" smtClean="0"/>
              <a:t>9/21/2023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46C0E5-5FD0-48D4-A8DC-243893429241}" type="slidenum">
              <a:rPr lang="en-US" smtClean="0"/>
              <a:t>‹#›</a:t>
            </a:fld>
            <a:endParaRPr lang="en-US"/>
          </a:p>
        </p:txBody>
      </p:sp>
    </p:spTree>
    <p:extLst>
      <p:ext uri="{BB962C8B-B14F-4D97-AF65-F5344CB8AC3E}">
        <p14:creationId xmlns:p14="http://schemas.microsoft.com/office/powerpoint/2010/main" val="429129828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46C0E5-5FD0-48D4-A8DC-243893429241}" type="slidenum">
              <a:rPr lang="en-US" smtClean="0"/>
              <a:t>1</a:t>
            </a:fld>
            <a:endParaRPr lang="en-US"/>
          </a:p>
        </p:txBody>
      </p:sp>
    </p:spTree>
    <p:extLst>
      <p:ext uri="{BB962C8B-B14F-4D97-AF65-F5344CB8AC3E}">
        <p14:creationId xmlns:p14="http://schemas.microsoft.com/office/powerpoint/2010/main" val="36398606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DD46C0E5-5FD0-48D4-A8DC-243893429241}" type="slidenum">
              <a:rPr lang="en-US" smtClean="0"/>
              <a:t>2</a:t>
            </a:fld>
            <a:endParaRPr lang="en-US"/>
          </a:p>
        </p:txBody>
      </p:sp>
    </p:spTree>
    <p:extLst>
      <p:ext uri="{BB962C8B-B14F-4D97-AF65-F5344CB8AC3E}">
        <p14:creationId xmlns:p14="http://schemas.microsoft.com/office/powerpoint/2010/main" val="6289688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a:t>
            </a:fld>
            <a:endParaRPr lang="en-US"/>
          </a:p>
        </p:txBody>
      </p:sp>
    </p:spTree>
    <p:extLst>
      <p:ext uri="{BB962C8B-B14F-4D97-AF65-F5344CB8AC3E}">
        <p14:creationId xmlns:p14="http://schemas.microsoft.com/office/powerpoint/2010/main" val="4308604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4</a:t>
            </a:fld>
            <a:endParaRPr lang="en-US"/>
          </a:p>
        </p:txBody>
      </p:sp>
    </p:spTree>
    <p:extLst>
      <p:ext uri="{BB962C8B-B14F-4D97-AF65-F5344CB8AC3E}">
        <p14:creationId xmlns:p14="http://schemas.microsoft.com/office/powerpoint/2010/main" val="19115678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5</a:t>
            </a:fld>
            <a:endParaRPr lang="en-US"/>
          </a:p>
        </p:txBody>
      </p:sp>
    </p:spTree>
    <p:extLst>
      <p:ext uri="{BB962C8B-B14F-4D97-AF65-F5344CB8AC3E}">
        <p14:creationId xmlns:p14="http://schemas.microsoft.com/office/powerpoint/2010/main" val="19367221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6</a:t>
            </a:fld>
            <a:endParaRPr lang="en-US"/>
          </a:p>
        </p:txBody>
      </p:sp>
    </p:spTree>
    <p:extLst>
      <p:ext uri="{BB962C8B-B14F-4D97-AF65-F5344CB8AC3E}">
        <p14:creationId xmlns:p14="http://schemas.microsoft.com/office/powerpoint/2010/main" val="12512196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7</a:t>
            </a:fld>
            <a:endParaRPr lang="en-US"/>
          </a:p>
        </p:txBody>
      </p:sp>
    </p:spTree>
    <p:extLst>
      <p:ext uri="{BB962C8B-B14F-4D97-AF65-F5344CB8AC3E}">
        <p14:creationId xmlns:p14="http://schemas.microsoft.com/office/powerpoint/2010/main" val="32064238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8</a:t>
            </a:fld>
            <a:endParaRPr lang="en-US"/>
          </a:p>
        </p:txBody>
      </p:sp>
    </p:spTree>
    <p:extLst>
      <p:ext uri="{BB962C8B-B14F-4D97-AF65-F5344CB8AC3E}">
        <p14:creationId xmlns:p14="http://schemas.microsoft.com/office/powerpoint/2010/main" val="37140364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9</a:t>
            </a:fld>
            <a:endParaRPr lang="en-US"/>
          </a:p>
        </p:txBody>
      </p:sp>
    </p:spTree>
    <p:extLst>
      <p:ext uri="{BB962C8B-B14F-4D97-AF65-F5344CB8AC3E}">
        <p14:creationId xmlns:p14="http://schemas.microsoft.com/office/powerpoint/2010/main" val="32835380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10</a:t>
            </a:fld>
            <a:endParaRPr lang="en-US"/>
          </a:p>
        </p:txBody>
      </p:sp>
    </p:spTree>
    <p:extLst>
      <p:ext uri="{BB962C8B-B14F-4D97-AF65-F5344CB8AC3E}">
        <p14:creationId xmlns:p14="http://schemas.microsoft.com/office/powerpoint/2010/main" val="28992401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11</a:t>
            </a:fld>
            <a:endParaRPr lang="en-US"/>
          </a:p>
        </p:txBody>
      </p:sp>
    </p:spTree>
    <p:extLst>
      <p:ext uri="{BB962C8B-B14F-4D97-AF65-F5344CB8AC3E}">
        <p14:creationId xmlns:p14="http://schemas.microsoft.com/office/powerpoint/2010/main" val="26044502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12</a:t>
            </a:fld>
            <a:endParaRPr lang="en-US"/>
          </a:p>
        </p:txBody>
      </p:sp>
    </p:spTree>
    <p:extLst>
      <p:ext uri="{BB962C8B-B14F-4D97-AF65-F5344CB8AC3E}">
        <p14:creationId xmlns:p14="http://schemas.microsoft.com/office/powerpoint/2010/main" val="33609832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13</a:t>
            </a:fld>
            <a:endParaRPr lang="en-US"/>
          </a:p>
        </p:txBody>
      </p:sp>
    </p:spTree>
    <p:extLst>
      <p:ext uri="{BB962C8B-B14F-4D97-AF65-F5344CB8AC3E}">
        <p14:creationId xmlns:p14="http://schemas.microsoft.com/office/powerpoint/2010/main" val="4129498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14</a:t>
            </a:fld>
            <a:endParaRPr lang="en-US"/>
          </a:p>
        </p:txBody>
      </p:sp>
    </p:spTree>
    <p:extLst>
      <p:ext uri="{BB962C8B-B14F-4D97-AF65-F5344CB8AC3E}">
        <p14:creationId xmlns:p14="http://schemas.microsoft.com/office/powerpoint/2010/main" val="23674512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15</a:t>
            </a:fld>
            <a:endParaRPr lang="en-US"/>
          </a:p>
        </p:txBody>
      </p:sp>
    </p:spTree>
    <p:extLst>
      <p:ext uri="{BB962C8B-B14F-4D97-AF65-F5344CB8AC3E}">
        <p14:creationId xmlns:p14="http://schemas.microsoft.com/office/powerpoint/2010/main" val="28860101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16</a:t>
            </a:fld>
            <a:endParaRPr lang="en-US"/>
          </a:p>
        </p:txBody>
      </p:sp>
    </p:spTree>
    <p:extLst>
      <p:ext uri="{BB962C8B-B14F-4D97-AF65-F5344CB8AC3E}">
        <p14:creationId xmlns:p14="http://schemas.microsoft.com/office/powerpoint/2010/main" val="23802352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17</a:t>
            </a:fld>
            <a:endParaRPr lang="en-US"/>
          </a:p>
        </p:txBody>
      </p:sp>
    </p:spTree>
    <p:extLst>
      <p:ext uri="{BB962C8B-B14F-4D97-AF65-F5344CB8AC3E}">
        <p14:creationId xmlns:p14="http://schemas.microsoft.com/office/powerpoint/2010/main" val="39010656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18</a:t>
            </a:fld>
            <a:endParaRPr lang="en-US"/>
          </a:p>
        </p:txBody>
      </p:sp>
    </p:spTree>
    <p:extLst>
      <p:ext uri="{BB962C8B-B14F-4D97-AF65-F5344CB8AC3E}">
        <p14:creationId xmlns:p14="http://schemas.microsoft.com/office/powerpoint/2010/main" val="19655192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DD46C0E5-5FD0-48D4-A8DC-243893429241}" type="slidenum">
              <a:rPr lang="en-US" smtClean="0"/>
              <a:t>19</a:t>
            </a:fld>
            <a:endParaRPr lang="en-US"/>
          </a:p>
        </p:txBody>
      </p:sp>
    </p:spTree>
    <p:extLst>
      <p:ext uri="{BB962C8B-B14F-4D97-AF65-F5344CB8AC3E}">
        <p14:creationId xmlns:p14="http://schemas.microsoft.com/office/powerpoint/2010/main" val="19624753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DD46C0E5-5FD0-48D4-A8DC-243893429241}" type="slidenum">
              <a:rPr lang="en-US" smtClean="0"/>
              <a:t>20</a:t>
            </a:fld>
            <a:endParaRPr lang="en-US"/>
          </a:p>
        </p:txBody>
      </p:sp>
    </p:spTree>
    <p:extLst>
      <p:ext uri="{BB962C8B-B14F-4D97-AF65-F5344CB8AC3E}">
        <p14:creationId xmlns:p14="http://schemas.microsoft.com/office/powerpoint/2010/main" val="196247531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712068"/>
            <a:ext cx="9144000" cy="1797894"/>
          </a:xfrm>
          <a:solidFill>
            <a:schemeClr val="accent2"/>
          </a:solidFill>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227414"/>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0" name="TextBox 9"/>
          <p:cNvSpPr txBox="1"/>
          <p:nvPr userDrawn="1"/>
        </p:nvSpPr>
        <p:spPr>
          <a:xfrm>
            <a:off x="0" y="6461294"/>
            <a:ext cx="12192000" cy="403934"/>
          </a:xfrm>
          <a:prstGeom prst="rect">
            <a:avLst/>
          </a:prstGeom>
          <a:solidFill>
            <a:schemeClr val="accent2"/>
          </a:solidFill>
        </p:spPr>
        <p:txBody>
          <a:bodyPr wrap="square" rtlCol="0">
            <a:spAutoFit/>
          </a:bodyPr>
          <a:lstStyle/>
          <a:p>
            <a:endParaRPr lang="en-US"/>
          </a:p>
        </p:txBody>
      </p:sp>
      <p:pic>
        <p:nvPicPr>
          <p:cNvPr id="4" name="Picture 3">
            <a:extLst>
              <a:ext uri="{FF2B5EF4-FFF2-40B4-BE49-F238E27FC236}">
                <a16:creationId xmlns:a16="http://schemas.microsoft.com/office/drawing/2014/main" id="{7B940385-AA87-4844-88A2-440B6F604A0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p:blipFill>
        <p:spPr bwMode="auto">
          <a:xfrm>
            <a:off x="0" y="0"/>
            <a:ext cx="1182835" cy="575433"/>
          </a:xfrm>
          <a:prstGeom prst="rect">
            <a:avLst/>
          </a:prstGeom>
          <a:noFill/>
          <a:ln w="9525">
            <a:noFill/>
            <a:miter lim="800000"/>
            <a:headEnd/>
            <a:tailEnd/>
          </a:ln>
        </p:spPr>
      </p:pic>
    </p:spTree>
    <p:extLst>
      <p:ext uri="{BB962C8B-B14F-4D97-AF65-F5344CB8AC3E}">
        <p14:creationId xmlns:p14="http://schemas.microsoft.com/office/powerpoint/2010/main" val="12095516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extBox 7"/>
          <p:cNvSpPr txBox="1"/>
          <p:nvPr userDrawn="1"/>
        </p:nvSpPr>
        <p:spPr>
          <a:xfrm>
            <a:off x="0" y="6461294"/>
            <a:ext cx="12192000" cy="403934"/>
          </a:xfrm>
          <a:prstGeom prst="rect">
            <a:avLst/>
          </a:prstGeom>
          <a:solidFill>
            <a:schemeClr val="accent2"/>
          </a:solidFill>
        </p:spPr>
        <p:txBody>
          <a:bodyPr wrap="square" rtlCol="0">
            <a:spAutoFit/>
          </a:bodyPr>
          <a:lstStyle/>
          <a:p>
            <a:endParaRPr lang="en-US"/>
          </a:p>
        </p:txBody>
      </p:sp>
      <p:sp>
        <p:nvSpPr>
          <p:cNvPr id="2" name="Title 1"/>
          <p:cNvSpPr>
            <a:spLocks noGrp="1"/>
          </p:cNvSpPr>
          <p:nvPr>
            <p:ph type="title"/>
          </p:nvPr>
        </p:nvSpPr>
        <p:spPr>
          <a:solidFill>
            <a:schemeClr val="bg1"/>
          </a:solidFill>
        </p:spPr>
        <p:txBody>
          <a:bodyPr/>
          <a:lstStyle/>
          <a:p>
            <a:r>
              <a:rPr lang="en-US"/>
              <a:t>Click to edit Master title style</a:t>
            </a:r>
          </a:p>
        </p:txBody>
      </p:sp>
      <p:sp>
        <p:nvSpPr>
          <p:cNvPr id="3" name="Content Placeholder 2"/>
          <p:cNvSpPr>
            <a:spLocks noGrp="1"/>
          </p:cNvSpPr>
          <p:nvPr>
            <p:ph idx="1"/>
          </p:nvPr>
        </p:nvSpPr>
        <p:spPr>
          <a:xfrm>
            <a:off x="864093" y="1917739"/>
            <a:ext cx="10515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a:t>
            </a:fld>
            <a:endParaRPr lang="en-US"/>
          </a:p>
        </p:txBody>
      </p:sp>
      <p:sp>
        <p:nvSpPr>
          <p:cNvPr id="13" name="TextBox 12"/>
          <p:cNvSpPr txBox="1"/>
          <p:nvPr userDrawn="1"/>
        </p:nvSpPr>
        <p:spPr>
          <a:xfrm>
            <a:off x="1" y="600803"/>
            <a:ext cx="207390" cy="973473"/>
          </a:xfrm>
          <a:prstGeom prst="rect">
            <a:avLst/>
          </a:prstGeom>
          <a:solidFill>
            <a:srgbClr val="F4AF80"/>
          </a:solidFill>
        </p:spPr>
        <p:txBody>
          <a:bodyPr wrap="square" rtlCol="0">
            <a:spAutoFit/>
          </a:bodyPr>
          <a:lstStyle/>
          <a:p>
            <a:endParaRPr lang="en-US"/>
          </a:p>
        </p:txBody>
      </p:sp>
      <p:sp>
        <p:nvSpPr>
          <p:cNvPr id="4" name="Date Placeholder 3"/>
          <p:cNvSpPr>
            <a:spLocks noGrp="1"/>
          </p:cNvSpPr>
          <p:nvPr>
            <p:ph type="dt" sz="half" idx="10"/>
          </p:nvPr>
        </p:nvSpPr>
        <p:spPr>
          <a:xfrm>
            <a:off x="838200" y="6480699"/>
            <a:ext cx="2743200" cy="365125"/>
          </a:xfrm>
        </p:spPr>
        <p:txBody>
          <a:bodyPr/>
          <a:lstStyle>
            <a:lvl1pPr>
              <a:defRPr>
                <a:solidFill>
                  <a:schemeClr val="tx1"/>
                </a:solidFill>
              </a:defRPr>
            </a:lvl1pPr>
          </a:lstStyle>
          <a:p>
            <a:fld id="{17256740-3DC7-40BE-968F-29F94186F3AD}" type="datetime1">
              <a:rPr lang="vi-VN" smtClean="0"/>
              <a:t>21/09/2023</a:t>
            </a:fld>
            <a:endParaRPr lang="en-US"/>
          </a:p>
        </p:txBody>
      </p:sp>
      <p:pic>
        <p:nvPicPr>
          <p:cNvPr id="5" name="Picture 4">
            <a:extLst>
              <a:ext uri="{FF2B5EF4-FFF2-40B4-BE49-F238E27FC236}">
                <a16:creationId xmlns:a16="http://schemas.microsoft.com/office/drawing/2014/main" id="{7B940385-AA87-4844-88A2-440B6F604A0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p:blipFill>
        <p:spPr bwMode="auto">
          <a:xfrm>
            <a:off x="0" y="0"/>
            <a:ext cx="1182835" cy="575433"/>
          </a:xfrm>
          <a:prstGeom prst="rect">
            <a:avLst/>
          </a:prstGeom>
          <a:noFill/>
          <a:ln w="9525">
            <a:noFill/>
            <a:miter lim="800000"/>
            <a:headEnd/>
            <a:tailEnd/>
          </a:ln>
        </p:spPr>
      </p:pic>
    </p:spTree>
    <p:extLst>
      <p:ext uri="{BB962C8B-B14F-4D97-AF65-F5344CB8AC3E}">
        <p14:creationId xmlns:p14="http://schemas.microsoft.com/office/powerpoint/2010/main" val="23622277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848059-8CC8-4876-B763-1BEA3FA0F124}" type="datetime1">
              <a:rPr lang="vi-VN" smtClean="0"/>
              <a:t>21/09/2023</a:t>
            </a:fld>
            <a:endParaRPr lang="en-US"/>
          </a:p>
        </p:txBody>
      </p:sp>
      <p:sp>
        <p:nvSpPr>
          <p:cNvPr id="5" name="Footer Placeholder 4"/>
          <p:cNvSpPr>
            <a:spLocks noGrp="1"/>
          </p:cNvSpPr>
          <p:nvPr>
            <p:ph type="ftr" sz="quarter" idx="11"/>
          </p:nvPr>
        </p:nvSpPr>
        <p:spPr/>
        <p:txBody>
          <a:bodyPr/>
          <a:lstStyle/>
          <a:p>
            <a:r>
              <a:rPr lang="en-US"/>
              <a:t>Course Introduction</a:t>
            </a:r>
          </a:p>
        </p:txBody>
      </p:sp>
      <p:sp>
        <p:nvSpPr>
          <p:cNvPr id="6" name="Slide Number Placeholder 5"/>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2990805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0B3963C-A6AA-4DDF-B85B-BE123D65B285}" type="datetime1">
              <a:rPr lang="vi-VN" smtClean="0"/>
              <a:t>21/09/2023</a:t>
            </a:fld>
            <a:endParaRPr lang="en-US"/>
          </a:p>
        </p:txBody>
      </p:sp>
      <p:sp>
        <p:nvSpPr>
          <p:cNvPr id="6" name="Footer Placeholder 5"/>
          <p:cNvSpPr>
            <a:spLocks noGrp="1"/>
          </p:cNvSpPr>
          <p:nvPr>
            <p:ph type="ftr" sz="quarter" idx="11"/>
          </p:nvPr>
        </p:nvSpPr>
        <p:spPr/>
        <p:txBody>
          <a:bodyPr/>
          <a:lstStyle/>
          <a:p>
            <a:r>
              <a:rPr lang="en-US"/>
              <a:t>Course Introduction</a:t>
            </a:r>
          </a:p>
        </p:txBody>
      </p:sp>
      <p:sp>
        <p:nvSpPr>
          <p:cNvPr id="7" name="Slide Number Placeholder 6"/>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4101125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9F11605-F8CD-44C6-A79B-BEBA9358497C}" type="datetime1">
              <a:rPr lang="vi-VN" smtClean="0"/>
              <a:t>21/09/2023</a:t>
            </a:fld>
            <a:endParaRPr lang="en-US"/>
          </a:p>
        </p:txBody>
      </p:sp>
      <p:sp>
        <p:nvSpPr>
          <p:cNvPr id="8" name="Footer Placeholder 7"/>
          <p:cNvSpPr>
            <a:spLocks noGrp="1"/>
          </p:cNvSpPr>
          <p:nvPr>
            <p:ph type="ftr" sz="quarter" idx="11"/>
          </p:nvPr>
        </p:nvSpPr>
        <p:spPr/>
        <p:txBody>
          <a:bodyPr/>
          <a:lstStyle/>
          <a:p>
            <a:r>
              <a:rPr lang="en-US"/>
              <a:t>Course Introduction</a:t>
            </a:r>
          </a:p>
        </p:txBody>
      </p:sp>
      <p:sp>
        <p:nvSpPr>
          <p:cNvPr id="9" name="Slide Number Placeholder 8"/>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9330549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373410B-B6B3-4AF4-A9DB-DC0340309754}" type="datetime1">
              <a:rPr lang="vi-VN" smtClean="0"/>
              <a:t>21/09/2023</a:t>
            </a:fld>
            <a:endParaRPr lang="en-US"/>
          </a:p>
        </p:txBody>
      </p:sp>
      <p:sp>
        <p:nvSpPr>
          <p:cNvPr id="4" name="Footer Placeholder 3"/>
          <p:cNvSpPr>
            <a:spLocks noGrp="1"/>
          </p:cNvSpPr>
          <p:nvPr>
            <p:ph type="ftr" sz="quarter" idx="11"/>
          </p:nvPr>
        </p:nvSpPr>
        <p:spPr/>
        <p:txBody>
          <a:bodyPr/>
          <a:lstStyle/>
          <a:p>
            <a:r>
              <a:rPr lang="en-US"/>
              <a:t>Course Introduction</a:t>
            </a:r>
          </a:p>
        </p:txBody>
      </p:sp>
      <p:sp>
        <p:nvSpPr>
          <p:cNvPr id="5" name="Slide Number Placeholder 4"/>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36231305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75606E5-9CA3-4971-89BF-F965F9043882}" type="datetime1">
              <a:rPr lang="vi-VN" smtClean="0"/>
              <a:t>21/09/2023</a:t>
            </a:fld>
            <a:endParaRPr lang="en-US"/>
          </a:p>
        </p:txBody>
      </p:sp>
      <p:sp>
        <p:nvSpPr>
          <p:cNvPr id="3" name="Footer Placeholder 2"/>
          <p:cNvSpPr>
            <a:spLocks noGrp="1"/>
          </p:cNvSpPr>
          <p:nvPr>
            <p:ph type="ftr" sz="quarter" idx="11"/>
          </p:nvPr>
        </p:nvSpPr>
        <p:spPr/>
        <p:txBody>
          <a:bodyPr/>
          <a:lstStyle/>
          <a:p>
            <a:r>
              <a:rPr lang="en-US"/>
              <a:t>Course Introduction</a:t>
            </a:r>
          </a:p>
        </p:txBody>
      </p:sp>
      <p:sp>
        <p:nvSpPr>
          <p:cNvPr id="4" name="Slide Number Placeholder 3"/>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3320444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4316FA-E3CF-4C73-A815-C13A824B339A}" type="datetime1">
              <a:rPr lang="vi-VN" smtClean="0"/>
              <a:t>21/09/2023</a:t>
            </a:fld>
            <a:endParaRPr lang="en-US"/>
          </a:p>
        </p:txBody>
      </p:sp>
      <p:sp>
        <p:nvSpPr>
          <p:cNvPr id="6" name="Footer Placeholder 5"/>
          <p:cNvSpPr>
            <a:spLocks noGrp="1"/>
          </p:cNvSpPr>
          <p:nvPr>
            <p:ph type="ftr" sz="quarter" idx="11"/>
          </p:nvPr>
        </p:nvSpPr>
        <p:spPr/>
        <p:txBody>
          <a:bodyPr/>
          <a:lstStyle/>
          <a:p>
            <a:r>
              <a:rPr lang="en-US"/>
              <a:t>Course Introduction</a:t>
            </a:r>
          </a:p>
        </p:txBody>
      </p:sp>
      <p:sp>
        <p:nvSpPr>
          <p:cNvPr id="7" name="Slide Number Placeholder 6"/>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15110758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AC6D87B-52FF-4B7F-A538-F746ED572E26}" type="datetime1">
              <a:rPr lang="vi-VN" smtClean="0"/>
              <a:t>21/09/2023</a:t>
            </a:fld>
            <a:endParaRPr lang="en-US"/>
          </a:p>
        </p:txBody>
      </p:sp>
      <p:sp>
        <p:nvSpPr>
          <p:cNvPr id="6" name="Footer Placeholder 5"/>
          <p:cNvSpPr>
            <a:spLocks noGrp="1"/>
          </p:cNvSpPr>
          <p:nvPr>
            <p:ph type="ftr" sz="quarter" idx="11"/>
          </p:nvPr>
        </p:nvSpPr>
        <p:spPr/>
        <p:txBody>
          <a:bodyPr/>
          <a:lstStyle/>
          <a:p>
            <a:r>
              <a:rPr lang="en-US"/>
              <a:t>Course Introduction</a:t>
            </a:r>
          </a:p>
        </p:txBody>
      </p:sp>
      <p:sp>
        <p:nvSpPr>
          <p:cNvPr id="7" name="Slide Number Placeholder 6"/>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22411777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01C2434-2AF2-4BF2-BD0B-95CBD5EB0128}" type="datetime1">
              <a:rPr lang="vi-VN" smtClean="0"/>
              <a:t>21/09/2023</a:t>
            </a:fld>
            <a:endParaRPr lang="en-US"/>
          </a:p>
        </p:txBody>
      </p:sp>
      <p:sp>
        <p:nvSpPr>
          <p:cNvPr id="5" name="Footer Placeholder 4"/>
          <p:cNvSpPr>
            <a:spLocks noGrp="1"/>
          </p:cNvSpPr>
          <p:nvPr>
            <p:ph type="ftr" sz="quarter" idx="11"/>
          </p:nvPr>
        </p:nvSpPr>
        <p:spPr/>
        <p:txBody>
          <a:bodyPr/>
          <a:lstStyle/>
          <a:p>
            <a:r>
              <a:rPr lang="en-US"/>
              <a:t>Course Introduction</a:t>
            </a:r>
          </a:p>
        </p:txBody>
      </p:sp>
      <p:sp>
        <p:nvSpPr>
          <p:cNvPr id="6" name="Slide Number Placeholder 5"/>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32204434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7576082-5D4E-4969-8016-69F376C871AD}" type="datetime1">
              <a:rPr lang="vi-VN" smtClean="0"/>
              <a:t>21/09/2023</a:t>
            </a:fld>
            <a:endParaRPr lang="en-US"/>
          </a:p>
        </p:txBody>
      </p:sp>
      <p:sp>
        <p:nvSpPr>
          <p:cNvPr id="5" name="Footer Placeholder 4"/>
          <p:cNvSpPr>
            <a:spLocks noGrp="1"/>
          </p:cNvSpPr>
          <p:nvPr>
            <p:ph type="ftr" sz="quarter" idx="11"/>
          </p:nvPr>
        </p:nvSpPr>
        <p:spPr/>
        <p:txBody>
          <a:bodyPr/>
          <a:lstStyle/>
          <a:p>
            <a:r>
              <a:rPr lang="en-US"/>
              <a:t>Course Introduction</a:t>
            </a:r>
          </a:p>
        </p:txBody>
      </p:sp>
      <p:sp>
        <p:nvSpPr>
          <p:cNvPr id="6" name="Slide Number Placeholder 5"/>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28255953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E8BA729-DBE2-49EE-91FE-3D8B2D9BF9AB}" type="datetime1">
              <a:rPr lang="vi-VN" smtClean="0"/>
              <a:t>21/09/2023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Course Introduction</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B691216-F62E-4FB8-B968-3BF60F6CBEA2}" type="slidenum">
              <a:rPr lang="en-US" smtClean="0"/>
              <a:t>‹#›</a:t>
            </a:fld>
            <a:endParaRPr lang="en-US"/>
          </a:p>
        </p:txBody>
      </p:sp>
    </p:spTree>
    <p:extLst>
      <p:ext uri="{BB962C8B-B14F-4D97-AF65-F5344CB8AC3E}">
        <p14:creationId xmlns:p14="http://schemas.microsoft.com/office/powerpoint/2010/main" val="13047846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3.wmf"/><Relationship Id="rId5" Type="http://schemas.openxmlformats.org/officeDocument/2006/relationships/oleObject" Target="../embeddings/oleObject2.bin"/><Relationship Id="rId4" Type="http://schemas.openxmlformats.org/officeDocument/2006/relationships/image" Target="../media/image2.w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4537" y="2241457"/>
            <a:ext cx="11754852" cy="1789121"/>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chor="ctr">
            <a:normAutofit fontScale="90000"/>
          </a:bodyPr>
          <a:lstStyle/>
          <a:p>
            <a:r>
              <a:rPr lang="en-US" sz="3600" b="1" dirty="0">
                <a:solidFill>
                  <a:schemeClr val="bg2">
                    <a:lumMod val="50000"/>
                  </a:schemeClr>
                </a:solidFill>
                <a:latin typeface="Arial" panose="020B0604020202020204" pitchFamily="34" charset="0"/>
                <a:cs typeface="Arial" panose="020B0604020202020204" pitchFamily="34" charset="0"/>
              </a:rPr>
              <a:t>Chapter 14</a:t>
            </a:r>
            <a:br>
              <a:rPr lang="en-US" sz="4400" b="1" dirty="0">
                <a:solidFill>
                  <a:schemeClr val="accent2"/>
                </a:solidFill>
                <a:latin typeface="Arial" panose="020B0604020202020204" pitchFamily="34" charset="0"/>
                <a:cs typeface="Arial" panose="020B0604020202020204" pitchFamily="34" charset="0"/>
              </a:rPr>
            </a:br>
            <a:r>
              <a:rPr lang="en-US" sz="4400" b="1" dirty="0">
                <a:solidFill>
                  <a:schemeClr val="accent2"/>
                </a:solidFill>
                <a:latin typeface="Arial" panose="020B0604020202020204" pitchFamily="34" charset="0"/>
                <a:cs typeface="Arial" panose="020B0604020202020204" pitchFamily="34" charset="0"/>
              </a:rPr>
              <a:t>Future Challenges for Knowledge Management</a:t>
            </a:r>
          </a:p>
        </p:txBody>
      </p:sp>
    </p:spTree>
    <p:extLst>
      <p:ext uri="{BB962C8B-B14F-4D97-AF65-F5344CB8AC3E}">
        <p14:creationId xmlns:p14="http://schemas.microsoft.com/office/powerpoint/2010/main" val="15753910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a:t>
            </a:fld>
            <a:endParaRPr kumimoji="0" lang="en-US" dirty="0"/>
          </a:p>
        </p:txBody>
      </p:sp>
      <p:sp>
        <p:nvSpPr>
          <p:cNvPr id="4" name="Content Placeholder 3"/>
          <p:cNvSpPr>
            <a:spLocks noGrp="1"/>
          </p:cNvSpPr>
          <p:nvPr>
            <p:ph sz="quarter" idx="1"/>
          </p:nvPr>
        </p:nvSpPr>
        <p:spPr>
          <a:xfrm>
            <a:off x="0" y="1714726"/>
            <a:ext cx="12002308" cy="4322181"/>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r>
              <a:rPr lang="en-US" dirty="0"/>
              <a:t>Intellectual Property Issues</a:t>
            </a:r>
          </a:p>
          <a:p>
            <a:pPr marL="342900" indent="-342900" algn="just">
              <a:lnSpc>
                <a:spcPct val="150000"/>
              </a:lnSpc>
              <a:spcBef>
                <a:spcPts val="600"/>
              </a:spcBef>
              <a:buClr>
                <a:srgbClr val="973735"/>
              </a:buClr>
              <a:buSzPct val="50000"/>
              <a:buFont typeface="Wingdings" pitchFamily="2" charset="2"/>
              <a:buChar char="u"/>
              <a:defRPr/>
            </a:pPr>
            <a:r>
              <a:rPr lang="en-US" dirty="0"/>
              <a:t>How to Provide Incentives for Knowledge Sharing</a:t>
            </a:r>
          </a:p>
          <a:p>
            <a:pPr marL="342900" indent="-342900" algn="just">
              <a:lnSpc>
                <a:spcPct val="150000"/>
              </a:lnSpc>
              <a:spcBef>
                <a:spcPts val="600"/>
              </a:spcBef>
              <a:buClr>
                <a:srgbClr val="973735"/>
              </a:buClr>
              <a:buSzPct val="50000"/>
              <a:buFont typeface="Wingdings" pitchFamily="2" charset="2"/>
              <a:buChar char="u"/>
              <a:defRPr/>
            </a:pPr>
            <a:r>
              <a:rPr lang="en-US" dirty="0"/>
              <a:t>Additional Challenges for KM</a:t>
            </a:r>
          </a:p>
          <a:p>
            <a:pPr marL="342900" indent="-342900" algn="just">
              <a:lnSpc>
                <a:spcPct val="150000"/>
              </a:lnSpc>
              <a:spcBef>
                <a:spcPts val="600"/>
              </a:spcBef>
              <a:buClr>
                <a:srgbClr val="973735"/>
              </a:buClr>
              <a:buSzPct val="50000"/>
              <a:buFont typeface="Wingdings" pitchFamily="2" charset="2"/>
              <a:buChar char="u"/>
              <a:defRPr/>
            </a:pPr>
            <a:r>
              <a:rPr lang="en-US" dirty="0"/>
              <a:t>KM and Innovation</a:t>
            </a:r>
          </a:p>
          <a:p>
            <a:pPr marL="342900" indent="-342900" algn="just">
              <a:lnSpc>
                <a:spcPct val="150000"/>
              </a:lnSpc>
              <a:spcBef>
                <a:spcPts val="600"/>
              </a:spcBef>
              <a:buClr>
                <a:srgbClr val="973735"/>
              </a:buClr>
              <a:buSzPct val="50000"/>
              <a:buFont typeface="Wingdings" pitchFamily="2" charset="2"/>
              <a:buChar char="u"/>
              <a:defRPr/>
            </a:pPr>
            <a:r>
              <a:rPr lang="en-US" dirty="0"/>
              <a:t>What’s Next?</a:t>
            </a:r>
          </a:p>
          <a:p>
            <a:pPr marL="342900" indent="-342900" algn="just">
              <a:lnSpc>
                <a:spcPct val="150000"/>
              </a:lnSpc>
              <a:spcBef>
                <a:spcPts val="600"/>
              </a:spcBef>
              <a:buClr>
                <a:srgbClr val="973735"/>
              </a:buClr>
              <a:buSzPct val="50000"/>
              <a:buFont typeface="Wingdings" pitchFamily="2" charset="2"/>
              <a:buChar char="u"/>
              <a:defRPr/>
            </a:pPr>
            <a:r>
              <a:rPr lang="en-US" dirty="0"/>
              <a:t>Concluding Thought and all review</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8" name="Title 1">
            <a:extLst>
              <a:ext uri="{FF2B5EF4-FFF2-40B4-BE49-F238E27FC236}">
                <a16:creationId xmlns:a16="http://schemas.microsoft.com/office/drawing/2014/main" id="{F425307F-F5C2-45A6-A2FA-3E1724542933}"/>
              </a:ext>
            </a:extLst>
          </p:cNvPr>
          <p:cNvSpPr>
            <a:spLocks noGrp="1"/>
          </p:cNvSpPr>
          <p:nvPr>
            <p:ph type="title"/>
          </p:nvPr>
        </p:nvSpPr>
        <p:spPr>
          <a:xfrm>
            <a:off x="287517" y="674951"/>
            <a:ext cx="10515600" cy="709226"/>
          </a:xfrm>
        </p:spPr>
        <p:txBody>
          <a:bodyPr>
            <a:normAutofit/>
          </a:bodyPr>
          <a:lstStyle/>
          <a:p>
            <a:r>
              <a:rPr lang="en-US" sz="4000" b="1" dirty="0"/>
              <a:t>Objectives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a:t>
            </a:fld>
            <a:endParaRPr kumimoji="0" lang="en-US" dirty="0"/>
          </a:p>
        </p:txBody>
      </p:sp>
      <p:sp>
        <p:nvSpPr>
          <p:cNvPr id="4" name="Content Placeholder 3"/>
          <p:cNvSpPr>
            <a:spLocks noGrp="1"/>
          </p:cNvSpPr>
          <p:nvPr>
            <p:ph sz="quarter" idx="1"/>
          </p:nvPr>
        </p:nvSpPr>
        <p:spPr>
          <a:xfrm>
            <a:off x="0" y="2509285"/>
            <a:ext cx="11971176" cy="4094716"/>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dirty="0"/>
              <a:t>The major challenges facing KM include people or cultural issues, an overemphasis on technology, conducting KM in isolation from business goals, ignoring the dynamic aspects of content, and opting for quantity of content over quality.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Introduction</a:t>
            </a:r>
          </a:p>
        </p:txBody>
      </p:sp>
    </p:spTree>
    <p:extLst>
      <p:ext uri="{BB962C8B-B14F-4D97-AF65-F5344CB8AC3E}">
        <p14:creationId xmlns:p14="http://schemas.microsoft.com/office/powerpoint/2010/main" val="1991387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4</a:t>
            </a:fld>
            <a:endParaRPr kumimoji="0" lang="en-US" dirty="0"/>
          </a:p>
        </p:txBody>
      </p:sp>
      <p:sp>
        <p:nvSpPr>
          <p:cNvPr id="4" name="Content Placeholder 3"/>
          <p:cNvSpPr>
            <a:spLocks noGrp="1"/>
          </p:cNvSpPr>
          <p:nvPr>
            <p:ph sz="quarter" idx="1"/>
          </p:nvPr>
        </p:nvSpPr>
        <p:spPr>
          <a:xfrm>
            <a:off x="0" y="1722473"/>
            <a:ext cx="11971176" cy="4997639"/>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sz="2600" dirty="0"/>
              <a:t>The paradox of value - the harder-to-manage-knowledge is often the higher-value knowledge.</a:t>
            </a:r>
          </a:p>
          <a:p>
            <a:pPr marL="342900" indent="-342900" algn="just">
              <a:lnSpc>
                <a:spcPct val="100000"/>
              </a:lnSpc>
              <a:spcBef>
                <a:spcPts val="1200"/>
              </a:spcBef>
              <a:buClr>
                <a:srgbClr val="973735"/>
              </a:buClr>
              <a:buSzPct val="50000"/>
              <a:buFont typeface="Wingdings" pitchFamily="2" charset="2"/>
              <a:buChar char="u"/>
              <a:defRPr/>
            </a:pPr>
            <a:r>
              <a:rPr lang="en-US" sz="2600" dirty="0"/>
              <a:t>How do copyright (and copyleft) and other intellectual property issues impact KM? </a:t>
            </a:r>
          </a:p>
          <a:p>
            <a:pPr marL="342900" indent="-342900" algn="just">
              <a:lnSpc>
                <a:spcPct val="100000"/>
              </a:lnSpc>
              <a:spcBef>
                <a:spcPts val="1200"/>
              </a:spcBef>
              <a:buClr>
                <a:srgbClr val="973735"/>
              </a:buClr>
              <a:buSzPct val="50000"/>
              <a:buFont typeface="Wingdings" pitchFamily="2" charset="2"/>
              <a:buChar char="u"/>
              <a:defRPr/>
            </a:pPr>
            <a:r>
              <a:rPr lang="en-US" sz="2600" dirty="0"/>
              <a:t>How can knowledge be shared without losing attribution and without false attribution?</a:t>
            </a:r>
          </a:p>
          <a:p>
            <a:pPr marL="342900" indent="-342900" algn="just">
              <a:lnSpc>
                <a:spcPct val="100000"/>
              </a:lnSpc>
              <a:spcBef>
                <a:spcPts val="1200"/>
              </a:spcBef>
              <a:buClr>
                <a:srgbClr val="973735"/>
              </a:buClr>
              <a:buSzPct val="50000"/>
              <a:buFont typeface="Wingdings" pitchFamily="2" charset="2"/>
              <a:buChar char="u"/>
              <a:defRPr/>
            </a:pPr>
            <a:r>
              <a:rPr lang="en-US" sz="2600" dirty="0"/>
              <a:t>How can KM address the objective of innovation and creativity in addition to efficiency through reuse?</a:t>
            </a:r>
          </a:p>
          <a:p>
            <a:pPr marL="342900" indent="-342900" algn="just">
              <a:lnSpc>
                <a:spcPct val="100000"/>
              </a:lnSpc>
              <a:spcBef>
                <a:spcPts val="1200"/>
              </a:spcBef>
              <a:buClr>
                <a:srgbClr val="973735"/>
              </a:buClr>
              <a:buSzPct val="50000"/>
              <a:buFont typeface="Wingdings" pitchFamily="2" charset="2"/>
              <a:buChar char="u"/>
              <a:defRPr/>
            </a:pPr>
            <a:r>
              <a:rPr lang="en-US" sz="2600" dirty="0"/>
              <a:t>What is next on the horizon?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Introduction</a:t>
            </a:r>
          </a:p>
        </p:txBody>
      </p:sp>
    </p:spTree>
    <p:extLst>
      <p:ext uri="{BB962C8B-B14F-4D97-AF65-F5344CB8AC3E}">
        <p14:creationId xmlns:p14="http://schemas.microsoft.com/office/powerpoint/2010/main" val="21041713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a:extLst>
              <a:ext uri="{FF2B5EF4-FFF2-40B4-BE49-F238E27FC236}">
                <a16:creationId xmlns:a16="http://schemas.microsoft.com/office/drawing/2014/main" id="{D9D043FE-FEB1-CCC7-1E22-0F8AF4FC7806}"/>
              </a:ext>
            </a:extLst>
          </p:cNvPr>
          <p:cNvGraphicFramePr>
            <a:graphicFrameLocks noChangeAspect="1"/>
          </p:cNvGraphicFramePr>
          <p:nvPr>
            <p:extLst>
              <p:ext uri="{D42A27DB-BD31-4B8C-83A1-F6EECF244321}">
                <p14:modId xmlns:p14="http://schemas.microsoft.com/office/powerpoint/2010/main" val="2870163151"/>
              </p:ext>
            </p:extLst>
          </p:nvPr>
        </p:nvGraphicFramePr>
        <p:xfrm>
          <a:off x="4541949" y="2591490"/>
          <a:ext cx="7178675" cy="3406775"/>
        </p:xfrm>
        <a:graphic>
          <a:graphicData uri="http://schemas.openxmlformats.org/presentationml/2006/ole">
            <mc:AlternateContent xmlns:mc="http://schemas.openxmlformats.org/markup-compatibility/2006">
              <mc:Choice xmlns:v="urn:schemas-microsoft-com:vml" Requires="v">
                <p:oleObj name="Bitmap Image" r:id="rId3" imgW="7178040" imgH="3406320" progId="PBrush">
                  <p:embed/>
                </p:oleObj>
              </mc:Choice>
              <mc:Fallback>
                <p:oleObj name="Bitmap Image" r:id="rId3" imgW="7178040" imgH="3406320" progId="PBrush">
                  <p:embed/>
                  <p:pic>
                    <p:nvPicPr>
                      <p:cNvPr id="0" name=""/>
                      <p:cNvPicPr/>
                      <p:nvPr/>
                    </p:nvPicPr>
                    <p:blipFill>
                      <a:blip r:embed="rId4"/>
                      <a:stretch>
                        <a:fillRect/>
                      </a:stretch>
                    </p:blipFill>
                    <p:spPr>
                      <a:xfrm>
                        <a:off x="4541949" y="2591490"/>
                        <a:ext cx="7178675" cy="3406775"/>
                      </a:xfrm>
                      <a:prstGeom prst="rect">
                        <a:avLst/>
                      </a:prstGeom>
                    </p:spPr>
                  </p:pic>
                </p:oleObj>
              </mc:Fallback>
            </mc:AlternateContent>
          </a:graphicData>
        </a:graphic>
      </p:graphicFrame>
      <p:sp>
        <p:nvSpPr>
          <p:cNvPr id="3" name="Slide Number Placeholder 2"/>
          <p:cNvSpPr>
            <a:spLocks noGrp="1"/>
          </p:cNvSpPr>
          <p:nvPr>
            <p:ph type="sldNum" sz="quarter" idx="12"/>
          </p:nvPr>
        </p:nvSpPr>
        <p:spPr/>
        <p:txBody>
          <a:bodyPr/>
          <a:lstStyle/>
          <a:p>
            <a:fld id="{CA15C064-DD44-4CAC-873E-2D1F54821676}" type="slidenum">
              <a:rPr kumimoji="0" lang="en-US" smtClean="0"/>
              <a:pPr/>
              <a:t>5</a:t>
            </a:fld>
            <a:endParaRPr kumimoji="0" lang="en-US" dirty="0"/>
          </a:p>
        </p:txBody>
      </p:sp>
      <p:sp>
        <p:nvSpPr>
          <p:cNvPr id="4" name="Content Placeholder 3"/>
          <p:cNvSpPr>
            <a:spLocks noGrp="1"/>
          </p:cNvSpPr>
          <p:nvPr>
            <p:ph sz="quarter" idx="1"/>
          </p:nvPr>
        </p:nvSpPr>
        <p:spPr>
          <a:xfrm>
            <a:off x="471376" y="1686020"/>
            <a:ext cx="6078279" cy="3829811"/>
          </a:xfrm>
        </p:spPr>
        <p:txBody>
          <a:bodyPr>
            <a:normAutofit/>
          </a:bodyPr>
          <a:lstStyle/>
          <a:p>
            <a:pPr marL="0" indent="0" algn="just">
              <a:lnSpc>
                <a:spcPct val="100000"/>
              </a:lnSpc>
              <a:spcBef>
                <a:spcPts val="1200"/>
              </a:spcBef>
              <a:buClr>
                <a:srgbClr val="973735"/>
              </a:buClr>
              <a:buSzPct val="50000"/>
              <a:buNone/>
              <a:defRPr/>
            </a:pPr>
            <a:r>
              <a:rPr lang="en-US" sz="2600" dirty="0"/>
              <a:t>The “paradox of value” (</a:t>
            </a:r>
            <a:r>
              <a:rPr lang="en-US" sz="2600" dirty="0" err="1"/>
              <a:t>Boisot</a:t>
            </a:r>
            <a:r>
              <a:rPr lang="en-US" sz="2600" dirty="0"/>
              <a:t>, 1998) lies in the fact that the easier it is to extract the knowledge, the less value it actually embodies. That is to say, the more the knowledge is tacit, the greater its value</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Introduction</a:t>
            </a:r>
          </a:p>
        </p:txBody>
      </p:sp>
      <p:graphicFrame>
        <p:nvGraphicFramePr>
          <p:cNvPr id="7" name="Object 6">
            <a:extLst>
              <a:ext uri="{FF2B5EF4-FFF2-40B4-BE49-F238E27FC236}">
                <a16:creationId xmlns:a16="http://schemas.microsoft.com/office/drawing/2014/main" id="{4F466681-13CB-5E88-6559-58273F306F09}"/>
              </a:ext>
            </a:extLst>
          </p:cNvPr>
          <p:cNvGraphicFramePr>
            <a:graphicFrameLocks noChangeAspect="1"/>
          </p:cNvGraphicFramePr>
          <p:nvPr>
            <p:extLst>
              <p:ext uri="{D42A27DB-BD31-4B8C-83A1-F6EECF244321}">
                <p14:modId xmlns:p14="http://schemas.microsoft.com/office/powerpoint/2010/main" val="832379400"/>
              </p:ext>
            </p:extLst>
          </p:nvPr>
        </p:nvGraphicFramePr>
        <p:xfrm>
          <a:off x="5088621" y="6005045"/>
          <a:ext cx="5835394" cy="468875"/>
        </p:xfrm>
        <a:graphic>
          <a:graphicData uri="http://schemas.openxmlformats.org/presentationml/2006/ole">
            <mc:AlternateContent xmlns:mc="http://schemas.openxmlformats.org/markup-compatibility/2006">
              <mc:Choice xmlns:v="urn:schemas-microsoft-com:vml" Requires="v">
                <p:oleObj name="Bitmap Image" r:id="rId5" imgW="6164640" imgH="495360" progId="PBrush">
                  <p:embed/>
                </p:oleObj>
              </mc:Choice>
              <mc:Fallback>
                <p:oleObj name="Bitmap Image" r:id="rId5" imgW="6164640" imgH="495360" progId="PBrush">
                  <p:embed/>
                  <p:pic>
                    <p:nvPicPr>
                      <p:cNvPr id="0" name=""/>
                      <p:cNvPicPr/>
                      <p:nvPr/>
                    </p:nvPicPr>
                    <p:blipFill>
                      <a:blip r:embed="rId6"/>
                      <a:stretch>
                        <a:fillRect/>
                      </a:stretch>
                    </p:blipFill>
                    <p:spPr>
                      <a:xfrm>
                        <a:off x="5088621" y="6005045"/>
                        <a:ext cx="5835394" cy="468875"/>
                      </a:xfrm>
                      <a:prstGeom prst="rect">
                        <a:avLst/>
                      </a:prstGeom>
                    </p:spPr>
                  </p:pic>
                </p:oleObj>
              </mc:Fallback>
            </mc:AlternateContent>
          </a:graphicData>
        </a:graphic>
      </p:graphicFrame>
    </p:spTree>
    <p:extLst>
      <p:ext uri="{BB962C8B-B14F-4D97-AF65-F5344CB8AC3E}">
        <p14:creationId xmlns:p14="http://schemas.microsoft.com/office/powerpoint/2010/main" val="9486147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6</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342900" indent="-342900" algn="just">
              <a:lnSpc>
                <a:spcPct val="100000"/>
              </a:lnSpc>
              <a:spcBef>
                <a:spcPts val="2400"/>
              </a:spcBef>
              <a:buClr>
                <a:srgbClr val="973735"/>
              </a:buClr>
              <a:buSzPct val="50000"/>
              <a:buFont typeface="Wingdings" pitchFamily="2" charset="2"/>
              <a:buChar char="u"/>
              <a:defRPr/>
            </a:pPr>
            <a:r>
              <a:rPr lang="en-US" sz="2600" dirty="0"/>
              <a:t>Two dimensions need to be considered for KM applications: </a:t>
            </a:r>
          </a:p>
          <a:p>
            <a:pPr marL="800100" lvl="1" indent="-342900" algn="just">
              <a:lnSpc>
                <a:spcPct val="100000"/>
              </a:lnSpc>
              <a:spcBef>
                <a:spcPts val="2400"/>
              </a:spcBef>
              <a:buClr>
                <a:srgbClr val="973735"/>
              </a:buClr>
              <a:buSzPct val="50000"/>
              <a:buFont typeface="Wingdings" pitchFamily="2" charset="2"/>
              <a:buChar char="u"/>
              <a:defRPr/>
            </a:pPr>
            <a:r>
              <a:rPr lang="en-US" dirty="0"/>
              <a:t>The first is that when discussion occurs around intellectual property and authorship—even ownership—of content to be posted and shared company-wide, the concerns need to be further elucidated. </a:t>
            </a:r>
          </a:p>
          <a:p>
            <a:pPr marL="342900" indent="-342900" algn="just">
              <a:lnSpc>
                <a:spcPct val="100000"/>
              </a:lnSpc>
              <a:spcBef>
                <a:spcPts val="2400"/>
              </a:spcBef>
              <a:buClr>
                <a:srgbClr val="973735"/>
              </a:buClr>
              <a:buSzPct val="50000"/>
              <a:buFont typeface="Wingdings" pitchFamily="2" charset="2"/>
              <a:buChar char="u"/>
              <a:defRPr/>
            </a:pPr>
            <a:r>
              <a:rPr lang="en-US" sz="2600" dirty="0"/>
              <a:t>The second issue is related but is almost the exact opposite of attribution: </a:t>
            </a:r>
          </a:p>
          <a:p>
            <a:pPr marL="800100" lvl="1" indent="-342900" algn="just">
              <a:lnSpc>
                <a:spcPct val="100000"/>
              </a:lnSpc>
              <a:spcBef>
                <a:spcPts val="2400"/>
              </a:spcBef>
              <a:buClr>
                <a:srgbClr val="973735"/>
              </a:buClr>
              <a:buSzPct val="50000"/>
              <a:buFont typeface="Wingdings" pitchFamily="2" charset="2"/>
              <a:buChar char="u"/>
              <a:defRPr/>
            </a:pPr>
            <a:r>
              <a:rPr lang="en-US" dirty="0"/>
              <a:t>Authors are also very concerned that once the knowledge is out of their hands it will become modified, watered down, invalidated or otherwise modified, and still attributed to them.</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Intellectual Property Issues</a:t>
            </a:r>
          </a:p>
        </p:txBody>
      </p:sp>
    </p:spTree>
    <p:extLst>
      <p:ext uri="{BB962C8B-B14F-4D97-AF65-F5344CB8AC3E}">
        <p14:creationId xmlns:p14="http://schemas.microsoft.com/office/powerpoint/2010/main" val="17102395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7</a:t>
            </a:fld>
            <a:endParaRPr kumimoji="0" lang="en-US" dirty="0"/>
          </a:p>
        </p:txBody>
      </p:sp>
      <p:sp>
        <p:nvSpPr>
          <p:cNvPr id="4" name="Content Placeholder 3"/>
          <p:cNvSpPr>
            <a:spLocks noGrp="1"/>
          </p:cNvSpPr>
          <p:nvPr>
            <p:ph sz="quarter" idx="1"/>
          </p:nvPr>
        </p:nvSpPr>
        <p:spPr>
          <a:xfrm>
            <a:off x="0" y="2232837"/>
            <a:ext cx="11971176" cy="3687031"/>
          </a:xfrm>
        </p:spPr>
        <p:txBody>
          <a:bodyPr>
            <a:normAutofit/>
          </a:bodyPr>
          <a:lstStyle/>
          <a:p>
            <a:pPr marL="342900" indent="-342900" algn="just">
              <a:lnSpc>
                <a:spcPct val="100000"/>
              </a:lnSpc>
              <a:spcBef>
                <a:spcPts val="2400"/>
              </a:spcBef>
              <a:buClr>
                <a:srgbClr val="973735"/>
              </a:buClr>
              <a:buSzPct val="50000"/>
              <a:buFont typeface="Wingdings" pitchFamily="2" charset="2"/>
              <a:buChar char="u"/>
              <a:defRPr/>
            </a:pPr>
            <a:r>
              <a:rPr lang="en-US" sz="2600" dirty="0"/>
              <a:t>One of the best means of mitigating such circumstances is to follow  tried-and-true document management and version control best practices. </a:t>
            </a:r>
          </a:p>
          <a:p>
            <a:pPr marL="342900" indent="-342900" algn="just">
              <a:lnSpc>
                <a:spcPct val="100000"/>
              </a:lnSpc>
              <a:spcBef>
                <a:spcPts val="2400"/>
              </a:spcBef>
              <a:buClr>
                <a:srgbClr val="973735"/>
              </a:buClr>
              <a:buSzPct val="50000"/>
              <a:buFont typeface="Wingdings" pitchFamily="2" charset="2"/>
              <a:buChar char="u"/>
              <a:defRPr/>
            </a:pPr>
            <a:r>
              <a:rPr lang="en-US" sz="2600" dirty="0"/>
              <a:t>A second development may also aid the KM cause: the evolution of a “copyleft” revolution or reaction against some of the restraints imposed by copyright laws.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Intellectual Property Issues</a:t>
            </a:r>
          </a:p>
        </p:txBody>
      </p:sp>
    </p:spTree>
    <p:extLst>
      <p:ext uri="{BB962C8B-B14F-4D97-AF65-F5344CB8AC3E}">
        <p14:creationId xmlns:p14="http://schemas.microsoft.com/office/powerpoint/2010/main" val="2590100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8</a:t>
            </a:fld>
            <a:endParaRPr kumimoji="0" lang="en-US" dirty="0"/>
          </a:p>
        </p:txBody>
      </p:sp>
      <p:sp>
        <p:nvSpPr>
          <p:cNvPr id="4" name="Content Placeholder 3"/>
          <p:cNvSpPr>
            <a:spLocks noGrp="1"/>
          </p:cNvSpPr>
          <p:nvPr>
            <p:ph sz="quarter" idx="1"/>
          </p:nvPr>
        </p:nvSpPr>
        <p:spPr>
          <a:xfrm>
            <a:off x="0" y="1664593"/>
            <a:ext cx="11971176" cy="5055521"/>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sz="2600" b="1" dirty="0"/>
              <a:t>There are four major permissions that are contained in Creative Commons licenses:</a:t>
            </a:r>
          </a:p>
          <a:p>
            <a:pPr marL="457200" lvl="1" indent="0" algn="just">
              <a:lnSpc>
                <a:spcPct val="100000"/>
              </a:lnSpc>
              <a:spcBef>
                <a:spcPts val="1200"/>
              </a:spcBef>
              <a:buClr>
                <a:srgbClr val="973735"/>
              </a:buClr>
              <a:buSzPct val="50000"/>
              <a:buNone/>
              <a:defRPr/>
            </a:pPr>
            <a:r>
              <a:rPr lang="en-US" dirty="0"/>
              <a:t>1. Attribution (BY) requires users to attribute a work’s original author. All Creative Commons licenses contain this option, but some now-deprecated licenses did not contain this component.</a:t>
            </a:r>
          </a:p>
          <a:p>
            <a:pPr marL="457200" lvl="1" indent="0" algn="just">
              <a:lnSpc>
                <a:spcPct val="100000"/>
              </a:lnSpc>
              <a:spcBef>
                <a:spcPts val="1200"/>
              </a:spcBef>
              <a:buClr>
                <a:srgbClr val="973735"/>
              </a:buClr>
              <a:buSzPct val="50000"/>
              <a:buNone/>
              <a:defRPr/>
            </a:pPr>
            <a:r>
              <a:rPr lang="en-US" dirty="0"/>
              <a:t>2. Authors can either not restrict modification or use Share-alike (SA), which is a copyleft requirement that requires that any derived works be licensed under the same license</a:t>
            </a:r>
          </a:p>
          <a:p>
            <a:pPr marL="457200" lvl="1" indent="0" algn="just">
              <a:lnSpc>
                <a:spcPct val="100000"/>
              </a:lnSpc>
              <a:spcBef>
                <a:spcPts val="1200"/>
              </a:spcBef>
              <a:buClr>
                <a:srgbClr val="973735"/>
              </a:buClr>
              <a:buSzPct val="50000"/>
              <a:buNone/>
              <a:defRPr/>
            </a:pPr>
            <a:r>
              <a:rPr lang="en-US" dirty="0"/>
              <a:t>3. No derivatives (ND), which requires that the work not be modified.</a:t>
            </a:r>
          </a:p>
          <a:p>
            <a:pPr marL="457200" lvl="1" indent="0" algn="just">
              <a:lnSpc>
                <a:spcPct val="100000"/>
              </a:lnSpc>
              <a:spcBef>
                <a:spcPts val="1200"/>
              </a:spcBef>
              <a:buClr>
                <a:srgbClr val="973735"/>
              </a:buClr>
              <a:buSzPct val="50000"/>
              <a:buNone/>
              <a:defRPr/>
            </a:pPr>
            <a:r>
              <a:rPr lang="en-US" dirty="0"/>
              <a:t>4. Noncommercial (NC) requires that the work not be used for commercial purposes.</a:t>
            </a:r>
          </a:p>
          <a:p>
            <a:pPr marL="342900" indent="-342900" algn="just">
              <a:lnSpc>
                <a:spcPct val="120000"/>
              </a:lnSpc>
              <a:spcBef>
                <a:spcPts val="12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Intellectual Property Issues</a:t>
            </a:r>
          </a:p>
        </p:txBody>
      </p:sp>
    </p:spTree>
    <p:extLst>
      <p:ext uri="{BB962C8B-B14F-4D97-AF65-F5344CB8AC3E}">
        <p14:creationId xmlns:p14="http://schemas.microsoft.com/office/powerpoint/2010/main" val="30837834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9</a:t>
            </a:fld>
            <a:endParaRPr kumimoji="0" lang="en-US" dirty="0"/>
          </a:p>
        </p:txBody>
      </p:sp>
      <p:sp>
        <p:nvSpPr>
          <p:cNvPr id="4" name="Content Placeholder 3"/>
          <p:cNvSpPr>
            <a:spLocks noGrp="1"/>
          </p:cNvSpPr>
          <p:nvPr>
            <p:ph sz="quarter" idx="1"/>
          </p:nvPr>
        </p:nvSpPr>
        <p:spPr>
          <a:xfrm>
            <a:off x="0" y="1524001"/>
            <a:ext cx="11971176" cy="5181600"/>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dirty="0"/>
              <a:t>The common and useful taxonomy developed by Callahan (2004) divides incentives into three broad classes:</a:t>
            </a:r>
          </a:p>
          <a:p>
            <a:pPr marL="457200" lvl="1" indent="0" algn="just">
              <a:lnSpc>
                <a:spcPct val="100000"/>
              </a:lnSpc>
              <a:spcBef>
                <a:spcPts val="1200"/>
              </a:spcBef>
              <a:buClr>
                <a:srgbClr val="973735"/>
              </a:buClr>
              <a:buSzPct val="50000"/>
              <a:buNone/>
              <a:defRPr/>
            </a:pPr>
            <a:r>
              <a:rPr lang="en-US" sz="2600" dirty="0"/>
              <a:t>1. Remunerative incentives are said to exist where an agent can expect some form of material reward—especially money—in exchange for acting in a particular way.</a:t>
            </a:r>
          </a:p>
          <a:p>
            <a:pPr marL="457200" lvl="1" indent="0" algn="just">
              <a:lnSpc>
                <a:spcPct val="100000"/>
              </a:lnSpc>
              <a:spcBef>
                <a:spcPts val="1200"/>
              </a:spcBef>
              <a:buClr>
                <a:srgbClr val="973735"/>
              </a:buClr>
              <a:buSzPct val="50000"/>
              <a:buNone/>
              <a:defRPr/>
            </a:pPr>
            <a:r>
              <a:rPr lang="en-US" sz="2600" dirty="0"/>
              <a:t>2. Moral incentives are said to exist where a particular choice is widely regarded as the right thing to do, or as particularly admirable, or where the failure to act in a certain way is condemned as indecent.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1971176" cy="709226"/>
          </a:xfrm>
        </p:spPr>
        <p:txBody>
          <a:bodyPr>
            <a:normAutofit fontScale="90000"/>
          </a:bodyPr>
          <a:lstStyle/>
          <a:p>
            <a:r>
              <a:rPr lang="en-US" sz="4000" b="1" dirty="0"/>
              <a:t>How to Provide Incentives for Knowledge Sharing</a:t>
            </a:r>
          </a:p>
        </p:txBody>
      </p:sp>
    </p:spTree>
    <p:extLst>
      <p:ext uri="{BB962C8B-B14F-4D97-AF65-F5344CB8AC3E}">
        <p14:creationId xmlns:p14="http://schemas.microsoft.com/office/powerpoint/2010/main" val="20119236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10</a:t>
            </a:fld>
            <a:endParaRPr kumimoji="0" lang="en-US" dirty="0"/>
          </a:p>
        </p:txBody>
      </p:sp>
      <p:sp>
        <p:nvSpPr>
          <p:cNvPr id="4" name="Content Placeholder 3"/>
          <p:cNvSpPr>
            <a:spLocks noGrp="1"/>
          </p:cNvSpPr>
          <p:nvPr>
            <p:ph sz="quarter" idx="1"/>
          </p:nvPr>
        </p:nvSpPr>
        <p:spPr>
          <a:xfrm>
            <a:off x="0" y="1524001"/>
            <a:ext cx="11971176" cy="5181600"/>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dirty="0"/>
              <a:t>The common and useful taxonomy developed by Callahan (2004) divides incentives into three broad classes (</a:t>
            </a:r>
            <a:r>
              <a:rPr lang="en-US" dirty="0" err="1"/>
              <a:t>con’t</a:t>
            </a:r>
            <a:r>
              <a:rPr lang="en-US" dirty="0"/>
              <a:t>):</a:t>
            </a:r>
          </a:p>
          <a:p>
            <a:pPr marL="457200" lvl="1" indent="0" algn="just">
              <a:lnSpc>
                <a:spcPct val="100000"/>
              </a:lnSpc>
              <a:spcBef>
                <a:spcPts val="1200"/>
              </a:spcBef>
              <a:buClr>
                <a:srgbClr val="973735"/>
              </a:buClr>
              <a:buSzPct val="50000"/>
              <a:buNone/>
              <a:defRPr/>
            </a:pPr>
            <a:r>
              <a:rPr lang="en-US" sz="2600" dirty="0"/>
              <a:t>3. Coercive incentives are said to exist where a person can expect that the failure to act in a particular way will result in physical force being used against him or her (or loved ones) by others in the community—for example, by punishment, imprisonment, firing, or by confiscating or destroying their possessions.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1971176" cy="709226"/>
          </a:xfrm>
        </p:spPr>
        <p:txBody>
          <a:bodyPr>
            <a:normAutofit fontScale="90000"/>
          </a:bodyPr>
          <a:lstStyle/>
          <a:p>
            <a:r>
              <a:rPr lang="en-US" sz="4000" b="1" dirty="0"/>
              <a:t>How to Provide Incentives for Knowledge Sharing</a:t>
            </a:r>
          </a:p>
        </p:txBody>
      </p:sp>
    </p:spTree>
    <p:extLst>
      <p:ext uri="{BB962C8B-B14F-4D97-AF65-F5344CB8AC3E}">
        <p14:creationId xmlns:p14="http://schemas.microsoft.com/office/powerpoint/2010/main" val="22272022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11</a:t>
            </a:fld>
            <a:endParaRPr kumimoji="0" lang="en-US" dirty="0"/>
          </a:p>
        </p:txBody>
      </p:sp>
      <p:sp>
        <p:nvSpPr>
          <p:cNvPr id="4" name="Content Placeholder 3"/>
          <p:cNvSpPr>
            <a:spLocks noGrp="1"/>
          </p:cNvSpPr>
          <p:nvPr>
            <p:ph sz="quarter" idx="1"/>
          </p:nvPr>
        </p:nvSpPr>
        <p:spPr>
          <a:xfrm>
            <a:off x="0" y="2137144"/>
            <a:ext cx="11971176" cy="4582970"/>
          </a:xfrm>
        </p:spPr>
        <p:txBody>
          <a:bodyPr>
            <a:normAutofit/>
          </a:bodyPr>
          <a:lstStyle/>
          <a:p>
            <a:pPr marL="342900" indent="-342900" algn="just">
              <a:lnSpc>
                <a:spcPct val="100000"/>
              </a:lnSpc>
              <a:spcBef>
                <a:spcPts val="2400"/>
              </a:spcBef>
              <a:buClr>
                <a:srgbClr val="973735"/>
              </a:buClr>
              <a:buSzPct val="50000"/>
              <a:buFont typeface="Wingdings" pitchFamily="2" charset="2"/>
              <a:buChar char="u"/>
              <a:defRPr/>
            </a:pPr>
            <a:r>
              <a:rPr lang="en-US" dirty="0"/>
              <a:t>Critical KM issues are often the reason why applications of KM fail. A KM strategy enables an organization to act proactively (acting before the problem occurs) rather than reactively (acting after a crisis has arisen). </a:t>
            </a:r>
          </a:p>
          <a:p>
            <a:pPr marL="342900" indent="-342900" algn="just">
              <a:lnSpc>
                <a:spcPct val="100000"/>
              </a:lnSpc>
              <a:spcBef>
                <a:spcPts val="2400"/>
              </a:spcBef>
              <a:buClr>
                <a:srgbClr val="973735"/>
              </a:buClr>
              <a:buSzPct val="50000"/>
              <a:buFont typeface="Wingdings" pitchFamily="2" charset="2"/>
              <a:buChar char="u"/>
              <a:defRPr/>
            </a:pPr>
            <a:r>
              <a:rPr lang="en-US" dirty="0"/>
              <a:t>Some good practices and lessons learned from organization’s experiences with KM to date could help guide us in being proactive.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Additional Challenges for KM</a:t>
            </a:r>
          </a:p>
        </p:txBody>
      </p:sp>
    </p:spTree>
    <p:extLst>
      <p:ext uri="{BB962C8B-B14F-4D97-AF65-F5344CB8AC3E}">
        <p14:creationId xmlns:p14="http://schemas.microsoft.com/office/powerpoint/2010/main" val="29372291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12</a:t>
            </a:fld>
            <a:endParaRPr kumimoji="0" lang="en-US" dirty="0"/>
          </a:p>
        </p:txBody>
      </p:sp>
      <p:sp>
        <p:nvSpPr>
          <p:cNvPr id="4" name="Content Placeholder 3"/>
          <p:cNvSpPr>
            <a:spLocks noGrp="1"/>
          </p:cNvSpPr>
          <p:nvPr>
            <p:ph sz="quarter" idx="1"/>
          </p:nvPr>
        </p:nvSpPr>
        <p:spPr>
          <a:xfrm>
            <a:off x="0" y="1664593"/>
            <a:ext cx="11971176" cy="5055521"/>
          </a:xfrm>
        </p:spPr>
        <p:txBody>
          <a:bodyPr>
            <a:normAutofit/>
          </a:bodyPr>
          <a:lstStyle/>
          <a:p>
            <a:pPr marL="0" indent="0" algn="just">
              <a:lnSpc>
                <a:spcPct val="120000"/>
              </a:lnSpc>
              <a:spcBef>
                <a:spcPts val="1200"/>
              </a:spcBef>
              <a:buClr>
                <a:srgbClr val="973735"/>
              </a:buClr>
              <a:buSzPct val="50000"/>
              <a:buNone/>
              <a:defRPr/>
            </a:pPr>
            <a:r>
              <a:rPr lang="en-US" b="1" dirty="0"/>
              <a:t>Some recommendations would include:</a:t>
            </a:r>
            <a:endParaRPr lang="en-US" dirty="0"/>
          </a:p>
          <a:p>
            <a:pPr marL="457200" lvl="1" indent="0" algn="just">
              <a:lnSpc>
                <a:spcPct val="100000"/>
              </a:lnSpc>
              <a:spcBef>
                <a:spcPts val="1800"/>
              </a:spcBef>
              <a:buClr>
                <a:srgbClr val="973735"/>
              </a:buClr>
              <a:buSzPct val="50000"/>
              <a:buNone/>
              <a:defRPr/>
            </a:pPr>
            <a:r>
              <a:rPr lang="en-US" sz="2600" dirty="0"/>
              <a:t>1. Improving access to information and knowledge—covering the availability, accessibility, and affordability of information </a:t>
            </a:r>
          </a:p>
          <a:p>
            <a:pPr marL="457200" lvl="1" indent="0" algn="just">
              <a:lnSpc>
                <a:spcPct val="100000"/>
              </a:lnSpc>
              <a:spcBef>
                <a:spcPts val="1800"/>
              </a:spcBef>
              <a:buClr>
                <a:srgbClr val="973735"/>
              </a:buClr>
              <a:buSzPct val="50000"/>
              <a:buNone/>
              <a:defRPr/>
            </a:pPr>
            <a:r>
              <a:rPr lang="en-US" sz="2600" dirty="0"/>
              <a:t>2. Promoting knowledge sharing through learning circles and vertical/horizontal coalitions, </a:t>
            </a:r>
            <a:r>
              <a:rPr lang="en-US" sz="2600" dirty="0" err="1"/>
              <a:t>peerto-peer</a:t>
            </a:r>
            <a:r>
              <a:rPr lang="en-US" sz="2600" dirty="0"/>
              <a:t> learning, knowledge networks, infomediaries, help desks, e-learning, and better interaction and mutual learning with target groups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Additional Challenges for KM</a:t>
            </a:r>
          </a:p>
        </p:txBody>
      </p:sp>
    </p:spTree>
    <p:extLst>
      <p:ext uri="{BB962C8B-B14F-4D97-AF65-F5344CB8AC3E}">
        <p14:creationId xmlns:p14="http://schemas.microsoft.com/office/powerpoint/2010/main" val="36141682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13</a:t>
            </a:fld>
            <a:endParaRPr kumimoji="0" lang="en-US" dirty="0"/>
          </a:p>
        </p:txBody>
      </p:sp>
      <p:sp>
        <p:nvSpPr>
          <p:cNvPr id="4" name="Content Placeholder 3"/>
          <p:cNvSpPr>
            <a:spLocks noGrp="1"/>
          </p:cNvSpPr>
          <p:nvPr>
            <p:ph sz="quarter" idx="1"/>
          </p:nvPr>
        </p:nvSpPr>
        <p:spPr>
          <a:xfrm>
            <a:off x="0" y="1664593"/>
            <a:ext cx="11971176" cy="5055521"/>
          </a:xfrm>
        </p:spPr>
        <p:txBody>
          <a:bodyPr>
            <a:normAutofit/>
          </a:bodyPr>
          <a:lstStyle/>
          <a:p>
            <a:pPr marL="0" indent="0" algn="just">
              <a:lnSpc>
                <a:spcPct val="120000"/>
              </a:lnSpc>
              <a:spcBef>
                <a:spcPts val="1200"/>
              </a:spcBef>
              <a:buClr>
                <a:srgbClr val="973735"/>
              </a:buClr>
              <a:buSzPct val="50000"/>
              <a:buNone/>
              <a:defRPr/>
            </a:pPr>
            <a:r>
              <a:rPr lang="en-US" b="1" dirty="0"/>
              <a:t>Some recommendations would include (</a:t>
            </a:r>
            <a:r>
              <a:rPr lang="en-US" b="1" dirty="0" err="1"/>
              <a:t>con’t</a:t>
            </a:r>
            <a:r>
              <a:rPr lang="en-US" b="1" dirty="0"/>
              <a:t>):</a:t>
            </a:r>
            <a:endParaRPr lang="en-US" dirty="0"/>
          </a:p>
          <a:p>
            <a:pPr marL="457200" lvl="1" indent="0" algn="just">
              <a:lnSpc>
                <a:spcPct val="100000"/>
              </a:lnSpc>
              <a:spcBef>
                <a:spcPts val="1800"/>
              </a:spcBef>
              <a:buClr>
                <a:srgbClr val="973735"/>
              </a:buClr>
              <a:buSzPct val="50000"/>
              <a:buNone/>
              <a:defRPr/>
            </a:pPr>
            <a:r>
              <a:rPr lang="en-US" sz="2600" dirty="0"/>
              <a:t>3. Networking and international and regional cooperation—covering networking models, digital solidarity, collaboration tools like portals and common terminology, and network effectiveness, and strengthening existing structures and knowledge resource centers</a:t>
            </a:r>
          </a:p>
          <a:p>
            <a:pPr marL="457200" lvl="1" indent="0" algn="just">
              <a:lnSpc>
                <a:spcPct val="100000"/>
              </a:lnSpc>
              <a:spcBef>
                <a:spcPts val="1800"/>
              </a:spcBef>
              <a:buClr>
                <a:srgbClr val="973735"/>
              </a:buClr>
              <a:buSzPct val="50000"/>
              <a:buNone/>
              <a:defRPr/>
            </a:pPr>
            <a:r>
              <a:rPr lang="en-US" sz="2600" dirty="0"/>
              <a:t>4. Including the development of local content in local languages and dissemination channels besides Internet, capacity building, and quality control and standards</a:t>
            </a:r>
          </a:p>
          <a:p>
            <a:pPr marL="457200" lvl="1" indent="0" algn="just">
              <a:lnSpc>
                <a:spcPct val="100000"/>
              </a:lnSpc>
              <a:spcBef>
                <a:spcPts val="1800"/>
              </a:spcBef>
              <a:buClr>
                <a:srgbClr val="973735"/>
              </a:buClr>
              <a:buSzPct val="50000"/>
              <a:buNone/>
              <a:defRPr/>
            </a:pPr>
            <a:r>
              <a:rPr lang="en-US" sz="2600" dirty="0"/>
              <a:t>5. Avoiding weak incentives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Additional Challenges for KM</a:t>
            </a:r>
          </a:p>
        </p:txBody>
      </p:sp>
    </p:spTree>
    <p:extLst>
      <p:ext uri="{BB962C8B-B14F-4D97-AF65-F5344CB8AC3E}">
        <p14:creationId xmlns:p14="http://schemas.microsoft.com/office/powerpoint/2010/main" val="17115222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14</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dirty="0"/>
              <a:t>A major reason for managing knowledge is to learn from what has been done already. </a:t>
            </a:r>
          </a:p>
          <a:p>
            <a:pPr marL="342900" indent="-342900" algn="just">
              <a:lnSpc>
                <a:spcPct val="100000"/>
              </a:lnSpc>
              <a:spcBef>
                <a:spcPts val="1200"/>
              </a:spcBef>
              <a:buClr>
                <a:srgbClr val="973735"/>
              </a:buClr>
              <a:buSzPct val="50000"/>
              <a:buFont typeface="Wingdings" pitchFamily="2" charset="2"/>
              <a:buChar char="u"/>
              <a:defRPr/>
            </a:pPr>
            <a:r>
              <a:rPr lang="en-US" dirty="0"/>
              <a:t>KM should facilitate and motivate those leaps of thinking to enhance individual creativity and organizational innovation capabilities (McElroy, 2003). </a:t>
            </a:r>
          </a:p>
          <a:p>
            <a:pPr marL="342900" indent="-342900" algn="just">
              <a:lnSpc>
                <a:spcPct val="100000"/>
              </a:lnSpc>
              <a:spcBef>
                <a:spcPts val="1200"/>
              </a:spcBef>
              <a:buClr>
                <a:srgbClr val="973735"/>
              </a:buClr>
              <a:buSzPct val="50000"/>
              <a:buFont typeface="Wingdings" pitchFamily="2" charset="2"/>
              <a:buChar char="u"/>
              <a:defRPr/>
            </a:pPr>
            <a:r>
              <a:rPr lang="en-US" dirty="0"/>
              <a:t>Whereas the first goal has been extensively addressed, the second KM goal of improving innovation remains elusive.</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KM and Innovation</a:t>
            </a:r>
          </a:p>
        </p:txBody>
      </p:sp>
    </p:spTree>
    <p:extLst>
      <p:ext uri="{BB962C8B-B14F-4D97-AF65-F5344CB8AC3E}">
        <p14:creationId xmlns:p14="http://schemas.microsoft.com/office/powerpoint/2010/main" val="38017958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15</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sz="2600" dirty="0"/>
              <a:t>KM can help employees share tacit knowledge, which in turn can trigger innovation. Tacit knowledge, being harder to articulate, means it is also harder to duplicate—and is therefore more “protected” from competitors.</a:t>
            </a:r>
          </a:p>
          <a:p>
            <a:pPr marL="342900" indent="-342900" algn="just">
              <a:lnSpc>
                <a:spcPct val="100000"/>
              </a:lnSpc>
              <a:spcBef>
                <a:spcPts val="1800"/>
              </a:spcBef>
              <a:buClr>
                <a:srgbClr val="973735"/>
              </a:buClr>
              <a:buSzPct val="50000"/>
              <a:buFont typeface="Wingdings" pitchFamily="2" charset="2"/>
              <a:buChar char="u"/>
              <a:defRPr/>
            </a:pPr>
            <a:r>
              <a:rPr lang="en-US" sz="2600" dirty="0"/>
              <a:t>Pugh and Stewart (2013) make the case that KM can contribute to the innovation capacity of an organization. </a:t>
            </a:r>
          </a:p>
          <a:p>
            <a:pPr marL="342900" indent="-342900" algn="just">
              <a:lnSpc>
                <a:spcPct val="100000"/>
              </a:lnSpc>
              <a:spcBef>
                <a:spcPts val="1800"/>
              </a:spcBef>
              <a:buClr>
                <a:srgbClr val="973735"/>
              </a:buClr>
              <a:buSzPct val="50000"/>
              <a:buFont typeface="Wingdings" pitchFamily="2" charset="2"/>
              <a:buChar char="u"/>
              <a:defRPr/>
            </a:pPr>
            <a:r>
              <a:rPr lang="en-US" sz="2600" dirty="0"/>
              <a:t>KM practitioners are well positioned to be “great innovation conveners” as they often move across silos, are experienced facilitators of groups, and have the knack of being able to reflect on the past with an analytical eye</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KM and Innovation</a:t>
            </a:r>
          </a:p>
        </p:txBody>
      </p:sp>
    </p:spTree>
    <p:extLst>
      <p:ext uri="{BB962C8B-B14F-4D97-AF65-F5344CB8AC3E}">
        <p14:creationId xmlns:p14="http://schemas.microsoft.com/office/powerpoint/2010/main" val="21066391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16</a:t>
            </a:fld>
            <a:endParaRPr kumimoji="0" lang="en-US" dirty="0"/>
          </a:p>
        </p:txBody>
      </p:sp>
      <p:sp>
        <p:nvSpPr>
          <p:cNvPr id="4" name="Content Placeholder 3"/>
          <p:cNvSpPr>
            <a:spLocks noGrp="1"/>
          </p:cNvSpPr>
          <p:nvPr>
            <p:ph sz="quarter" idx="1"/>
          </p:nvPr>
        </p:nvSpPr>
        <p:spPr>
          <a:xfrm>
            <a:off x="0" y="1664593"/>
            <a:ext cx="11971176" cy="4816106"/>
          </a:xfrm>
        </p:spPr>
        <p:txBody>
          <a:bodyPr>
            <a:noAutofit/>
          </a:bodyPr>
          <a:lstStyle/>
          <a:p>
            <a:pPr marL="342900" indent="-342900" algn="just">
              <a:lnSpc>
                <a:spcPct val="100000"/>
              </a:lnSpc>
              <a:spcBef>
                <a:spcPts val="1800"/>
              </a:spcBef>
              <a:buClr>
                <a:srgbClr val="973735"/>
              </a:buClr>
              <a:buSzPct val="50000"/>
              <a:buFont typeface="Wingdings" pitchFamily="2" charset="2"/>
              <a:buChar char="u"/>
              <a:defRPr/>
            </a:pPr>
            <a:r>
              <a:rPr lang="en-US" sz="2600" dirty="0"/>
              <a:t>The future of KM will mirror the key trends in organizations, namely increased collaboration in all work processes, synergy between information and knowledge management, and increased focus on innovation as well as on risk management and ethics.</a:t>
            </a:r>
          </a:p>
          <a:p>
            <a:pPr marL="342900" indent="-342900" algn="just">
              <a:lnSpc>
                <a:spcPct val="100000"/>
              </a:lnSpc>
              <a:spcBef>
                <a:spcPts val="1800"/>
              </a:spcBef>
              <a:buClr>
                <a:srgbClr val="973735"/>
              </a:buClr>
              <a:buSzPct val="50000"/>
              <a:buFont typeface="Wingdings" pitchFamily="2" charset="2"/>
              <a:buChar char="u"/>
              <a:defRPr/>
            </a:pPr>
            <a:r>
              <a:rPr lang="en-US" sz="2600" dirty="0"/>
              <a:t>Berry (2013) predicts that the inability to connect the dots and make sense of content that is widely scattered over different locations will cripple organizations to such an extent that they will see the effects in the quality of their products and services (and revenues). </a:t>
            </a:r>
          </a:p>
          <a:p>
            <a:pPr marL="342900" indent="-342900" algn="just">
              <a:lnSpc>
                <a:spcPct val="100000"/>
              </a:lnSpc>
              <a:spcBef>
                <a:spcPts val="1800"/>
              </a:spcBef>
              <a:buClr>
                <a:srgbClr val="973735"/>
              </a:buClr>
              <a:buSzPct val="50000"/>
              <a:buFont typeface="Wingdings" pitchFamily="2" charset="2"/>
              <a:buChar char="u"/>
              <a:defRPr/>
            </a:pPr>
            <a:r>
              <a:rPr lang="en-US" sz="2600" dirty="0"/>
              <a:t>Knowledge has never been so far removed from actions and decisions—which is what KM is all about.</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What’s Next?</a:t>
            </a:r>
          </a:p>
        </p:txBody>
      </p:sp>
    </p:spTree>
    <p:extLst>
      <p:ext uri="{BB962C8B-B14F-4D97-AF65-F5344CB8AC3E}">
        <p14:creationId xmlns:p14="http://schemas.microsoft.com/office/powerpoint/2010/main" val="41953762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17</a:t>
            </a:fld>
            <a:endParaRPr kumimoji="0" lang="en-US" dirty="0"/>
          </a:p>
        </p:txBody>
      </p:sp>
      <p:sp>
        <p:nvSpPr>
          <p:cNvPr id="4" name="Content Placeholder 3"/>
          <p:cNvSpPr>
            <a:spLocks noGrp="1"/>
          </p:cNvSpPr>
          <p:nvPr>
            <p:ph sz="quarter" idx="1"/>
          </p:nvPr>
        </p:nvSpPr>
        <p:spPr>
          <a:xfrm>
            <a:off x="0" y="1664593"/>
            <a:ext cx="11971176" cy="4924893"/>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sz="2600" dirty="0"/>
              <a:t>Cultural problems stem from the way we teach and train employees. </a:t>
            </a:r>
          </a:p>
          <a:p>
            <a:pPr marL="342900" indent="-342900" algn="just">
              <a:lnSpc>
                <a:spcPct val="100000"/>
              </a:lnSpc>
              <a:spcBef>
                <a:spcPts val="1800"/>
              </a:spcBef>
              <a:buClr>
                <a:srgbClr val="973735"/>
              </a:buClr>
              <a:buSzPct val="50000"/>
              <a:buFont typeface="Wingdings" pitchFamily="2" charset="2"/>
              <a:buChar char="u"/>
              <a:defRPr/>
            </a:pPr>
            <a:r>
              <a:rPr lang="en-US" sz="2600" dirty="0"/>
              <a:t>On the technological front, while there has been some movement on the standards front, there remains a dizzying proliferation of tools, technologies, and systems that continue to create data silos.</a:t>
            </a:r>
          </a:p>
          <a:p>
            <a:pPr marL="342900" indent="-342900" algn="just">
              <a:lnSpc>
                <a:spcPct val="100000"/>
              </a:lnSpc>
              <a:spcBef>
                <a:spcPts val="1800"/>
              </a:spcBef>
              <a:buClr>
                <a:srgbClr val="973735"/>
              </a:buClr>
              <a:buSzPct val="50000"/>
              <a:buFont typeface="Wingdings" pitchFamily="2" charset="2"/>
              <a:buChar char="u"/>
              <a:defRPr/>
            </a:pPr>
            <a:r>
              <a:rPr lang="en-US" sz="2600" dirty="0"/>
              <a:t> Valuable knowledge is located in just too many places and it is simply not possible to search and find it all. </a:t>
            </a:r>
          </a:p>
          <a:p>
            <a:pPr marL="342900" indent="-342900" algn="just">
              <a:lnSpc>
                <a:spcPct val="100000"/>
              </a:lnSpc>
              <a:spcBef>
                <a:spcPts val="1800"/>
              </a:spcBef>
              <a:buClr>
                <a:srgbClr val="973735"/>
              </a:buClr>
              <a:buSzPct val="50000"/>
              <a:buFont typeface="Wingdings" pitchFamily="2" charset="2"/>
              <a:buChar char="u"/>
              <a:defRPr/>
            </a:pPr>
            <a:r>
              <a:rPr lang="en-US" sz="2600" dirty="0"/>
              <a:t>KM - and IM - will need that ideal environment where access is personalized, customized, and packaged so that users can make use of to get their jobs done.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What’s Next?</a:t>
            </a:r>
          </a:p>
        </p:txBody>
      </p:sp>
    </p:spTree>
    <p:extLst>
      <p:ext uri="{BB962C8B-B14F-4D97-AF65-F5344CB8AC3E}">
        <p14:creationId xmlns:p14="http://schemas.microsoft.com/office/powerpoint/2010/main" val="23448628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18</a:t>
            </a:fld>
            <a:endParaRPr kumimoji="0" lang="en-US" dirty="0"/>
          </a:p>
        </p:txBody>
      </p:sp>
      <p:sp>
        <p:nvSpPr>
          <p:cNvPr id="4" name="Content Placeholder 3"/>
          <p:cNvSpPr>
            <a:spLocks noGrp="1"/>
          </p:cNvSpPr>
          <p:nvPr>
            <p:ph sz="quarter" idx="1"/>
          </p:nvPr>
        </p:nvSpPr>
        <p:spPr>
          <a:xfrm>
            <a:off x="0" y="2307265"/>
            <a:ext cx="11971176" cy="3612603"/>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dirty="0"/>
              <a:t>Some issues facing knowledge management such as intellectual property issues, how KM can contribute to innovation, and how to provide incentives for knowledge sharing to successfully incorporate KM into organizations.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6" y="819335"/>
            <a:ext cx="11587651" cy="709226"/>
          </a:xfrm>
        </p:spPr>
        <p:txBody>
          <a:bodyPr>
            <a:normAutofit/>
          </a:bodyPr>
          <a:lstStyle/>
          <a:p>
            <a:r>
              <a:rPr lang="en-US" sz="4000" b="1" dirty="0"/>
              <a:t>Summary</a:t>
            </a:r>
          </a:p>
        </p:txBody>
      </p:sp>
    </p:spTree>
    <p:extLst>
      <p:ext uri="{BB962C8B-B14F-4D97-AF65-F5344CB8AC3E}">
        <p14:creationId xmlns:p14="http://schemas.microsoft.com/office/powerpoint/2010/main" val="27368390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19</a:t>
            </a:fld>
            <a:endParaRPr kumimoji="0" lang="en-US" dirty="0"/>
          </a:p>
        </p:txBody>
      </p:sp>
      <p:sp>
        <p:nvSpPr>
          <p:cNvPr id="4" name="Content Placeholder 3"/>
          <p:cNvSpPr>
            <a:spLocks noGrp="1"/>
          </p:cNvSpPr>
          <p:nvPr>
            <p:ph sz="quarter" idx="1"/>
          </p:nvPr>
        </p:nvSpPr>
        <p:spPr>
          <a:xfrm>
            <a:off x="0" y="1714726"/>
            <a:ext cx="11802140" cy="4919990"/>
          </a:xfrm>
        </p:spPr>
        <p:txBody>
          <a:bodyPr>
            <a:normAutofit/>
          </a:bodyPr>
          <a:lstStyle/>
          <a:p>
            <a:pPr marL="514350" indent="-514350" algn="just">
              <a:lnSpc>
                <a:spcPct val="100000"/>
              </a:lnSpc>
              <a:spcBef>
                <a:spcPts val="1200"/>
              </a:spcBef>
              <a:buClr>
                <a:srgbClr val="973735"/>
              </a:buClr>
              <a:buSzPct val="100000"/>
              <a:buFont typeface="+mj-lt"/>
              <a:buAutoNum type="arabicPeriod"/>
              <a:defRPr/>
            </a:pPr>
            <a:r>
              <a:rPr lang="en-US" sz="2000" dirty="0"/>
              <a:t>The “paradox of value” is one of the greatest challenges facing KM today. Do you agree with this statement? Why or why not? Provide illustrative examples to support your arguments.</a:t>
            </a:r>
          </a:p>
          <a:p>
            <a:pPr marL="514350" indent="-514350" algn="just">
              <a:lnSpc>
                <a:spcPct val="100000"/>
              </a:lnSpc>
              <a:spcBef>
                <a:spcPts val="1200"/>
              </a:spcBef>
              <a:buClr>
                <a:srgbClr val="973735"/>
              </a:buClr>
              <a:buSzPct val="100000"/>
              <a:buFont typeface="+mj-lt"/>
              <a:buAutoNum type="arabicPeriod"/>
              <a:defRPr/>
            </a:pPr>
            <a:r>
              <a:rPr lang="en-US" sz="2000" dirty="0"/>
              <a:t>KM often fails to live up to its ideal goals of knowledge sharing due to a lack of incentives. How would you set up a system of rewards and censures to motivate knowledge workers to share knowledge? What are some typical obstacles that you would expect to encounter? How would you address these obstacles? Outline an incentive strategy and describe how you would evaluate its success.</a:t>
            </a:r>
          </a:p>
          <a:p>
            <a:pPr marL="514350" indent="-514350" algn="just">
              <a:lnSpc>
                <a:spcPct val="100000"/>
              </a:lnSpc>
              <a:spcBef>
                <a:spcPts val="1200"/>
              </a:spcBef>
              <a:buClr>
                <a:srgbClr val="973735"/>
              </a:buClr>
              <a:buSzPct val="100000"/>
              <a:buFont typeface="+mj-lt"/>
              <a:buAutoNum type="arabicPeriod"/>
              <a:defRPr/>
            </a:pPr>
            <a:r>
              <a:rPr lang="en-US" sz="2000" dirty="0"/>
              <a:t>If after six months’ of effort you find your KM project is still not making headway, what actions would you take? What information would you seek out in order to decide the best course of action to take? How and when would you assess progress again?</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8" name="Title 1">
            <a:extLst>
              <a:ext uri="{FF2B5EF4-FFF2-40B4-BE49-F238E27FC236}">
                <a16:creationId xmlns:a16="http://schemas.microsoft.com/office/drawing/2014/main" id="{F425307F-F5C2-45A6-A2FA-3E1724542933}"/>
              </a:ext>
            </a:extLst>
          </p:cNvPr>
          <p:cNvSpPr>
            <a:spLocks noGrp="1"/>
          </p:cNvSpPr>
          <p:nvPr>
            <p:ph type="title"/>
          </p:nvPr>
        </p:nvSpPr>
        <p:spPr>
          <a:xfrm>
            <a:off x="287517" y="674951"/>
            <a:ext cx="10515600" cy="709226"/>
          </a:xfrm>
        </p:spPr>
        <p:txBody>
          <a:bodyPr>
            <a:normAutofit/>
          </a:bodyPr>
          <a:lstStyle/>
          <a:p>
            <a:r>
              <a:rPr lang="en-US" sz="4000" b="1" dirty="0"/>
              <a:t>Discussion / Homework / Team Activities</a:t>
            </a:r>
          </a:p>
        </p:txBody>
      </p:sp>
    </p:spTree>
    <p:extLst>
      <p:ext uri="{BB962C8B-B14F-4D97-AF65-F5344CB8AC3E}">
        <p14:creationId xmlns:p14="http://schemas.microsoft.com/office/powerpoint/2010/main" val="13276024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20</a:t>
            </a:fld>
            <a:endParaRPr kumimoji="0" lang="en-US" dirty="0"/>
          </a:p>
        </p:txBody>
      </p:sp>
      <p:sp>
        <p:nvSpPr>
          <p:cNvPr id="4" name="Content Placeholder 3"/>
          <p:cNvSpPr>
            <a:spLocks noGrp="1"/>
          </p:cNvSpPr>
          <p:nvPr>
            <p:ph sz="quarter" idx="1"/>
          </p:nvPr>
        </p:nvSpPr>
        <p:spPr>
          <a:xfrm>
            <a:off x="0" y="1714726"/>
            <a:ext cx="12002308" cy="4322181"/>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8" name="Title 1">
            <a:extLst>
              <a:ext uri="{FF2B5EF4-FFF2-40B4-BE49-F238E27FC236}">
                <a16:creationId xmlns:a16="http://schemas.microsoft.com/office/drawing/2014/main" id="{F425307F-F5C2-45A6-A2FA-3E1724542933}"/>
              </a:ext>
            </a:extLst>
          </p:cNvPr>
          <p:cNvSpPr>
            <a:spLocks noGrp="1"/>
          </p:cNvSpPr>
          <p:nvPr>
            <p:ph type="title"/>
          </p:nvPr>
        </p:nvSpPr>
        <p:spPr>
          <a:xfrm>
            <a:off x="287517" y="674951"/>
            <a:ext cx="10515600" cy="709226"/>
          </a:xfrm>
        </p:spPr>
        <p:txBody>
          <a:bodyPr>
            <a:normAutofit/>
          </a:bodyPr>
          <a:lstStyle/>
          <a:p>
            <a:r>
              <a:rPr lang="en-US" sz="4000" b="1" dirty="0"/>
              <a:t>Discussion</a:t>
            </a:r>
          </a:p>
        </p:txBody>
      </p:sp>
      <p:pic>
        <p:nvPicPr>
          <p:cNvPr id="8194" name="Picture 2" descr="Discussion Vectors &amp; Illustrations for Free Download | Freepik">
            <a:extLst>
              <a:ext uri="{FF2B5EF4-FFF2-40B4-BE49-F238E27FC236}">
                <a16:creationId xmlns:a16="http://schemas.microsoft.com/office/drawing/2014/main" id="{A642F2C7-2523-4678-C65A-F521C8D27C8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59518" y="1783737"/>
            <a:ext cx="6382777" cy="41841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20556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1885</TotalTime>
  <Words>1484</Words>
  <Application>Microsoft Office PowerPoint</Application>
  <PresentationFormat>Widescreen</PresentationFormat>
  <Paragraphs>133</Paragraphs>
  <Slides>20</Slides>
  <Notes>20</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20</vt:i4>
      </vt:variant>
    </vt:vector>
  </HeadingPairs>
  <TitlesOfParts>
    <vt:vector size="25" baseType="lpstr">
      <vt:lpstr>Arial</vt:lpstr>
      <vt:lpstr>Calibri</vt:lpstr>
      <vt:lpstr>Wingdings</vt:lpstr>
      <vt:lpstr>Office Theme</vt:lpstr>
      <vt:lpstr>Bitmap Image</vt:lpstr>
      <vt:lpstr>Chapter 14 Future Challenges for Knowledge Management</vt:lpstr>
      <vt:lpstr>Objectives</vt:lpstr>
      <vt:lpstr>Introduction</vt:lpstr>
      <vt:lpstr>Introduction</vt:lpstr>
      <vt:lpstr>Introduction</vt:lpstr>
      <vt:lpstr>Intellectual Property Issues</vt:lpstr>
      <vt:lpstr>Intellectual Property Issues</vt:lpstr>
      <vt:lpstr>Intellectual Property Issues</vt:lpstr>
      <vt:lpstr>How to Provide Incentives for Knowledge Sharing</vt:lpstr>
      <vt:lpstr>How to Provide Incentives for Knowledge Sharing</vt:lpstr>
      <vt:lpstr>Additional Challenges for KM</vt:lpstr>
      <vt:lpstr>Additional Challenges for KM</vt:lpstr>
      <vt:lpstr>Additional Challenges for KM</vt:lpstr>
      <vt:lpstr>KM and Innovation</vt:lpstr>
      <vt:lpstr>KM and Innovation</vt:lpstr>
      <vt:lpstr>What’s Next?</vt:lpstr>
      <vt:lpstr>What’s Next?</vt:lpstr>
      <vt:lpstr>Summary</vt:lpstr>
      <vt:lpstr>Discussion / Homework / Team Activities</vt:lpstr>
      <vt:lpstr>Discussion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Chu Dinh Phu 2 (FE Ban NCPT)</cp:lastModifiedBy>
  <cp:revision>116</cp:revision>
  <dcterms:created xsi:type="dcterms:W3CDTF">2021-01-25T08:25:31Z</dcterms:created>
  <dcterms:modified xsi:type="dcterms:W3CDTF">2023-09-20T21:12:49Z</dcterms:modified>
</cp:coreProperties>
</file>