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handoutMasterIdLst>
    <p:handoutMasterId r:id="rId70"/>
  </p:handoutMasterIdLst>
  <p:sldIdLst>
    <p:sldId id="256" r:id="rId2"/>
    <p:sldId id="278" r:id="rId3"/>
    <p:sldId id="325" r:id="rId4"/>
    <p:sldId id="413" r:id="rId5"/>
    <p:sldId id="356" r:id="rId6"/>
    <p:sldId id="313" r:id="rId7"/>
    <p:sldId id="404" r:id="rId8"/>
    <p:sldId id="326" r:id="rId9"/>
    <p:sldId id="412" r:id="rId10"/>
    <p:sldId id="332" r:id="rId11"/>
    <p:sldId id="342" r:id="rId12"/>
    <p:sldId id="337" r:id="rId13"/>
    <p:sldId id="406" r:id="rId14"/>
    <p:sldId id="340" r:id="rId15"/>
    <p:sldId id="349" r:id="rId16"/>
    <p:sldId id="344" r:id="rId17"/>
    <p:sldId id="358" r:id="rId18"/>
    <p:sldId id="354" r:id="rId19"/>
    <p:sldId id="355" r:id="rId20"/>
    <p:sldId id="359" r:id="rId21"/>
    <p:sldId id="360" r:id="rId22"/>
    <p:sldId id="363" r:id="rId23"/>
    <p:sldId id="364" r:id="rId24"/>
    <p:sldId id="361" r:id="rId25"/>
    <p:sldId id="365" r:id="rId26"/>
    <p:sldId id="407" r:id="rId27"/>
    <p:sldId id="345" r:id="rId28"/>
    <p:sldId id="367" r:id="rId29"/>
    <p:sldId id="369" r:id="rId30"/>
    <p:sldId id="368" r:id="rId31"/>
    <p:sldId id="370" r:id="rId32"/>
    <p:sldId id="408" r:id="rId33"/>
    <p:sldId id="372" r:id="rId34"/>
    <p:sldId id="375" r:id="rId35"/>
    <p:sldId id="373" r:id="rId36"/>
    <p:sldId id="374" r:id="rId37"/>
    <p:sldId id="381" r:id="rId38"/>
    <p:sldId id="376" r:id="rId39"/>
    <p:sldId id="377" r:id="rId40"/>
    <p:sldId id="414" r:id="rId41"/>
    <p:sldId id="379" r:id="rId42"/>
    <p:sldId id="380" r:id="rId43"/>
    <p:sldId id="409" r:id="rId44"/>
    <p:sldId id="383" r:id="rId45"/>
    <p:sldId id="415" r:id="rId46"/>
    <p:sldId id="384" r:id="rId47"/>
    <p:sldId id="385" r:id="rId48"/>
    <p:sldId id="387" r:id="rId49"/>
    <p:sldId id="388" r:id="rId50"/>
    <p:sldId id="389" r:id="rId51"/>
    <p:sldId id="390" r:id="rId52"/>
    <p:sldId id="391" r:id="rId53"/>
    <p:sldId id="410" r:id="rId54"/>
    <p:sldId id="392" r:id="rId55"/>
    <p:sldId id="394" r:id="rId56"/>
    <p:sldId id="395" r:id="rId57"/>
    <p:sldId id="396" r:id="rId58"/>
    <p:sldId id="397" r:id="rId59"/>
    <p:sldId id="416" r:id="rId60"/>
    <p:sldId id="398" r:id="rId61"/>
    <p:sldId id="399" r:id="rId62"/>
    <p:sldId id="402" r:id="rId63"/>
    <p:sldId id="400" r:id="rId64"/>
    <p:sldId id="322" r:id="rId65"/>
    <p:sldId id="323" r:id="rId66"/>
    <p:sldId id="347" r:id="rId67"/>
    <p:sldId id="403"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36102" autoAdjust="0"/>
    <p:restoredTop sz="92810" autoAdjust="0"/>
  </p:normalViewPr>
  <p:slideViewPr>
    <p:cSldViewPr snapToGrid="0">
      <p:cViewPr varScale="1">
        <p:scale>
          <a:sx n="74" d="100"/>
          <a:sy n="74" d="100"/>
        </p:scale>
        <p:origin x="72" y="379"/>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https://slideplayer.com/slide/8315484/</a:t>
            </a:r>
          </a:p>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3749910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1948023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1301713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3875713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3385438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2283022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3695144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2070243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753685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127083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1551876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1959340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36319734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2021449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4835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2973046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38647879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27919711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38813519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4208358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4451871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20955439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6250661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31464271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14664015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11694204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17321536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38433605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32413557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33</a:t>
            </a:fld>
            <a:endParaRPr lang="en-US"/>
          </a:p>
        </p:txBody>
      </p:sp>
    </p:spTree>
    <p:extLst>
      <p:ext uri="{BB962C8B-B14F-4D97-AF65-F5344CB8AC3E}">
        <p14:creationId xmlns:p14="http://schemas.microsoft.com/office/powerpoint/2010/main" val="42131028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34</a:t>
            </a:fld>
            <a:endParaRPr lang="en-US"/>
          </a:p>
        </p:txBody>
      </p:sp>
    </p:spTree>
    <p:extLst>
      <p:ext uri="{BB962C8B-B14F-4D97-AF65-F5344CB8AC3E}">
        <p14:creationId xmlns:p14="http://schemas.microsoft.com/office/powerpoint/2010/main" val="13921885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7036334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36</a:t>
            </a:fld>
            <a:endParaRPr lang="en-US"/>
          </a:p>
        </p:txBody>
      </p:sp>
    </p:spTree>
    <p:extLst>
      <p:ext uri="{BB962C8B-B14F-4D97-AF65-F5344CB8AC3E}">
        <p14:creationId xmlns:p14="http://schemas.microsoft.com/office/powerpoint/2010/main" val="6281468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37</a:t>
            </a:fld>
            <a:endParaRPr lang="en-US"/>
          </a:p>
        </p:txBody>
      </p:sp>
    </p:spTree>
    <p:extLst>
      <p:ext uri="{BB962C8B-B14F-4D97-AF65-F5344CB8AC3E}">
        <p14:creationId xmlns:p14="http://schemas.microsoft.com/office/powerpoint/2010/main" val="3206580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38</a:t>
            </a:fld>
            <a:endParaRPr lang="en-US"/>
          </a:p>
        </p:txBody>
      </p:sp>
    </p:spTree>
    <p:extLst>
      <p:ext uri="{BB962C8B-B14F-4D97-AF65-F5344CB8AC3E}">
        <p14:creationId xmlns:p14="http://schemas.microsoft.com/office/powerpoint/2010/main" val="28234107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39</a:t>
            </a:fld>
            <a:endParaRPr lang="en-US"/>
          </a:p>
        </p:txBody>
      </p:sp>
    </p:spTree>
    <p:extLst>
      <p:ext uri="{BB962C8B-B14F-4D97-AF65-F5344CB8AC3E}">
        <p14:creationId xmlns:p14="http://schemas.microsoft.com/office/powerpoint/2010/main" val="28368295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40</a:t>
            </a:fld>
            <a:endParaRPr lang="en-US"/>
          </a:p>
        </p:txBody>
      </p:sp>
    </p:spTree>
    <p:extLst>
      <p:ext uri="{BB962C8B-B14F-4D97-AF65-F5344CB8AC3E}">
        <p14:creationId xmlns:p14="http://schemas.microsoft.com/office/powerpoint/2010/main" val="4300934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41</a:t>
            </a:fld>
            <a:endParaRPr lang="en-US"/>
          </a:p>
        </p:txBody>
      </p:sp>
    </p:spTree>
    <p:extLst>
      <p:ext uri="{BB962C8B-B14F-4D97-AF65-F5344CB8AC3E}">
        <p14:creationId xmlns:p14="http://schemas.microsoft.com/office/powerpoint/2010/main" val="33976672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42</a:t>
            </a:fld>
            <a:endParaRPr lang="en-US"/>
          </a:p>
        </p:txBody>
      </p:sp>
    </p:spTree>
    <p:extLst>
      <p:ext uri="{BB962C8B-B14F-4D97-AF65-F5344CB8AC3E}">
        <p14:creationId xmlns:p14="http://schemas.microsoft.com/office/powerpoint/2010/main" val="38471599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43</a:t>
            </a:fld>
            <a:endParaRPr lang="en-US"/>
          </a:p>
        </p:txBody>
      </p:sp>
    </p:spTree>
    <p:extLst>
      <p:ext uri="{BB962C8B-B14F-4D97-AF65-F5344CB8AC3E}">
        <p14:creationId xmlns:p14="http://schemas.microsoft.com/office/powerpoint/2010/main" val="4187460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44</a:t>
            </a:fld>
            <a:endParaRPr lang="en-US"/>
          </a:p>
        </p:txBody>
      </p:sp>
    </p:spTree>
    <p:extLst>
      <p:ext uri="{BB962C8B-B14F-4D97-AF65-F5344CB8AC3E}">
        <p14:creationId xmlns:p14="http://schemas.microsoft.com/office/powerpoint/2010/main" val="415464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45</a:t>
            </a:fld>
            <a:endParaRPr lang="en-US"/>
          </a:p>
        </p:txBody>
      </p:sp>
    </p:spTree>
    <p:extLst>
      <p:ext uri="{BB962C8B-B14F-4D97-AF65-F5344CB8AC3E}">
        <p14:creationId xmlns:p14="http://schemas.microsoft.com/office/powerpoint/2010/main" val="33962747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46</a:t>
            </a:fld>
            <a:endParaRPr lang="en-US"/>
          </a:p>
        </p:txBody>
      </p:sp>
    </p:spTree>
    <p:extLst>
      <p:ext uri="{BB962C8B-B14F-4D97-AF65-F5344CB8AC3E}">
        <p14:creationId xmlns:p14="http://schemas.microsoft.com/office/powerpoint/2010/main" val="14777277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47</a:t>
            </a:fld>
            <a:endParaRPr lang="en-US"/>
          </a:p>
        </p:txBody>
      </p:sp>
    </p:spTree>
    <p:extLst>
      <p:ext uri="{BB962C8B-B14F-4D97-AF65-F5344CB8AC3E}">
        <p14:creationId xmlns:p14="http://schemas.microsoft.com/office/powerpoint/2010/main" val="30873197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48</a:t>
            </a:fld>
            <a:endParaRPr lang="en-US"/>
          </a:p>
        </p:txBody>
      </p:sp>
    </p:spTree>
    <p:extLst>
      <p:ext uri="{BB962C8B-B14F-4D97-AF65-F5344CB8AC3E}">
        <p14:creationId xmlns:p14="http://schemas.microsoft.com/office/powerpoint/2010/main" val="37204125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49</a:t>
            </a:fld>
            <a:endParaRPr lang="en-US"/>
          </a:p>
        </p:txBody>
      </p:sp>
    </p:spTree>
    <p:extLst>
      <p:ext uri="{BB962C8B-B14F-4D97-AF65-F5344CB8AC3E}">
        <p14:creationId xmlns:p14="http://schemas.microsoft.com/office/powerpoint/2010/main" val="28143691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50</a:t>
            </a:fld>
            <a:endParaRPr lang="en-US"/>
          </a:p>
        </p:txBody>
      </p:sp>
    </p:spTree>
    <p:extLst>
      <p:ext uri="{BB962C8B-B14F-4D97-AF65-F5344CB8AC3E}">
        <p14:creationId xmlns:p14="http://schemas.microsoft.com/office/powerpoint/2010/main" val="29242060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51</a:t>
            </a:fld>
            <a:endParaRPr lang="en-US"/>
          </a:p>
        </p:txBody>
      </p:sp>
    </p:spTree>
    <p:extLst>
      <p:ext uri="{BB962C8B-B14F-4D97-AF65-F5344CB8AC3E}">
        <p14:creationId xmlns:p14="http://schemas.microsoft.com/office/powerpoint/2010/main" val="3150012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52</a:t>
            </a:fld>
            <a:endParaRPr lang="en-US"/>
          </a:p>
        </p:txBody>
      </p:sp>
    </p:spTree>
    <p:extLst>
      <p:ext uri="{BB962C8B-B14F-4D97-AF65-F5344CB8AC3E}">
        <p14:creationId xmlns:p14="http://schemas.microsoft.com/office/powerpoint/2010/main" val="24691159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53</a:t>
            </a:fld>
            <a:endParaRPr lang="en-US"/>
          </a:p>
        </p:txBody>
      </p:sp>
    </p:spTree>
    <p:extLst>
      <p:ext uri="{BB962C8B-B14F-4D97-AF65-F5344CB8AC3E}">
        <p14:creationId xmlns:p14="http://schemas.microsoft.com/office/powerpoint/2010/main" val="36427363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54</a:t>
            </a:fld>
            <a:endParaRPr lang="en-US"/>
          </a:p>
        </p:txBody>
      </p:sp>
    </p:spTree>
    <p:extLst>
      <p:ext uri="{BB962C8B-B14F-4D97-AF65-F5344CB8AC3E}">
        <p14:creationId xmlns:p14="http://schemas.microsoft.com/office/powerpoint/2010/main" val="32782235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55</a:t>
            </a:fld>
            <a:endParaRPr lang="en-US"/>
          </a:p>
        </p:txBody>
      </p:sp>
    </p:spTree>
    <p:extLst>
      <p:ext uri="{BB962C8B-B14F-4D97-AF65-F5344CB8AC3E}">
        <p14:creationId xmlns:p14="http://schemas.microsoft.com/office/powerpoint/2010/main" val="8300108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56</a:t>
            </a:fld>
            <a:endParaRPr lang="en-US"/>
          </a:p>
        </p:txBody>
      </p:sp>
    </p:spTree>
    <p:extLst>
      <p:ext uri="{BB962C8B-B14F-4D97-AF65-F5344CB8AC3E}">
        <p14:creationId xmlns:p14="http://schemas.microsoft.com/office/powerpoint/2010/main" val="6228917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57</a:t>
            </a:fld>
            <a:endParaRPr lang="en-US"/>
          </a:p>
        </p:txBody>
      </p:sp>
    </p:spTree>
    <p:extLst>
      <p:ext uri="{BB962C8B-B14F-4D97-AF65-F5344CB8AC3E}">
        <p14:creationId xmlns:p14="http://schemas.microsoft.com/office/powerpoint/2010/main" val="37661868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58</a:t>
            </a:fld>
            <a:endParaRPr lang="en-US"/>
          </a:p>
        </p:txBody>
      </p:sp>
    </p:spTree>
    <p:extLst>
      <p:ext uri="{BB962C8B-B14F-4D97-AF65-F5344CB8AC3E}">
        <p14:creationId xmlns:p14="http://schemas.microsoft.com/office/powerpoint/2010/main" val="41188303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59</a:t>
            </a:fld>
            <a:endParaRPr lang="en-US"/>
          </a:p>
        </p:txBody>
      </p:sp>
    </p:spTree>
    <p:extLst>
      <p:ext uri="{BB962C8B-B14F-4D97-AF65-F5344CB8AC3E}">
        <p14:creationId xmlns:p14="http://schemas.microsoft.com/office/powerpoint/2010/main" val="17429703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60</a:t>
            </a:fld>
            <a:endParaRPr lang="en-US"/>
          </a:p>
        </p:txBody>
      </p:sp>
    </p:spTree>
    <p:extLst>
      <p:ext uri="{BB962C8B-B14F-4D97-AF65-F5344CB8AC3E}">
        <p14:creationId xmlns:p14="http://schemas.microsoft.com/office/powerpoint/2010/main" val="75249908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61</a:t>
            </a:fld>
            <a:endParaRPr lang="en-US"/>
          </a:p>
        </p:txBody>
      </p:sp>
    </p:spTree>
    <p:extLst>
      <p:ext uri="{BB962C8B-B14F-4D97-AF65-F5344CB8AC3E}">
        <p14:creationId xmlns:p14="http://schemas.microsoft.com/office/powerpoint/2010/main" val="2872360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62</a:t>
            </a:fld>
            <a:endParaRPr lang="en-US"/>
          </a:p>
        </p:txBody>
      </p:sp>
    </p:spTree>
    <p:extLst>
      <p:ext uri="{BB962C8B-B14F-4D97-AF65-F5344CB8AC3E}">
        <p14:creationId xmlns:p14="http://schemas.microsoft.com/office/powerpoint/2010/main" val="37626526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63</a:t>
            </a:fld>
            <a:endParaRPr lang="en-US"/>
          </a:p>
        </p:txBody>
      </p:sp>
    </p:spTree>
    <p:extLst>
      <p:ext uri="{BB962C8B-B14F-4D97-AF65-F5344CB8AC3E}">
        <p14:creationId xmlns:p14="http://schemas.microsoft.com/office/powerpoint/2010/main" val="2164176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64</a:t>
            </a:fld>
            <a:endParaRPr lang="en-US"/>
          </a:p>
        </p:txBody>
      </p:sp>
    </p:spTree>
    <p:extLst>
      <p:ext uri="{BB962C8B-B14F-4D97-AF65-F5344CB8AC3E}">
        <p14:creationId xmlns:p14="http://schemas.microsoft.com/office/powerpoint/2010/main" val="328353807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65</a:t>
            </a:fld>
            <a:endParaRPr lang="en-US"/>
          </a:p>
        </p:txBody>
      </p:sp>
    </p:spTree>
    <p:extLst>
      <p:ext uri="{BB962C8B-B14F-4D97-AF65-F5344CB8AC3E}">
        <p14:creationId xmlns:p14="http://schemas.microsoft.com/office/powerpoint/2010/main" val="15732626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66</a:t>
            </a:fld>
            <a:endParaRPr lang="en-US"/>
          </a:p>
        </p:txBody>
      </p:sp>
    </p:spTree>
    <p:extLst>
      <p:ext uri="{BB962C8B-B14F-4D97-AF65-F5344CB8AC3E}">
        <p14:creationId xmlns:p14="http://schemas.microsoft.com/office/powerpoint/2010/main" val="27938953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67</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64093" y="1900322"/>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3464" y="25370"/>
            <a:ext cx="1182835" cy="575433"/>
          </a:xfrm>
          <a:prstGeom prst="rect">
            <a:avLst/>
          </a:prstGeom>
          <a:noFill/>
          <a:ln w="9525">
            <a:noFill/>
            <a:miter lim="800000"/>
            <a:headEnd/>
            <a:tailEnd/>
          </a:ln>
        </p:spPr>
      </p:pic>
      <p:sp>
        <p:nvSpPr>
          <p:cNvPr id="7" name="Content Placeholder 2">
            <a:extLst>
              <a:ext uri="{FF2B5EF4-FFF2-40B4-BE49-F238E27FC236}">
                <a16:creationId xmlns:a16="http://schemas.microsoft.com/office/drawing/2014/main" id="{0660399C-8A26-38AE-9790-6747BFBC9CE3}"/>
              </a:ext>
            </a:extLst>
          </p:cNvPr>
          <p:cNvSpPr>
            <a:spLocks noGrp="1"/>
          </p:cNvSpPr>
          <p:nvPr>
            <p:ph idx="13"/>
          </p:nvPr>
        </p:nvSpPr>
        <p:spPr>
          <a:xfrm>
            <a:off x="884875" y="1900322"/>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4.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6.bin"/><Relationship Id="rId4" Type="http://schemas.openxmlformats.org/officeDocument/2006/relationships/image" Target="../media/image6.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8.bin"/><Relationship Id="rId4" Type="http://schemas.openxmlformats.org/officeDocument/2006/relationships/image" Target="../media/image8.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oleObject" Target="../embeddings/oleObject10.bin"/><Relationship Id="rId4" Type="http://schemas.openxmlformats.org/officeDocument/2006/relationships/image" Target="../media/image10.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12.bin"/><Relationship Id="rId4" Type="http://schemas.openxmlformats.org/officeDocument/2006/relationships/image" Target="../media/image12.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14.bin"/><Relationship Id="rId4" Type="http://schemas.openxmlformats.org/officeDocument/2006/relationships/image" Target="../media/image14.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17.bin"/><Relationship Id="rId4" Type="http://schemas.openxmlformats.org/officeDocument/2006/relationships/image" Target="../media/image17.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0.wmf"/><Relationship Id="rId5" Type="http://schemas.openxmlformats.org/officeDocument/2006/relationships/oleObject" Target="../embeddings/oleObject19.bin"/><Relationship Id="rId4" Type="http://schemas.openxmlformats.org/officeDocument/2006/relationships/image" Target="../media/image19.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22.wmf"/><Relationship Id="rId5" Type="http://schemas.openxmlformats.org/officeDocument/2006/relationships/oleObject" Target="../embeddings/oleObject21.bin"/><Relationship Id="rId4" Type="http://schemas.openxmlformats.org/officeDocument/2006/relationships/image" Target="../media/image21.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oleObject" Target="../embeddings/oleObject23.bin"/><Relationship Id="rId4" Type="http://schemas.openxmlformats.org/officeDocument/2006/relationships/image" Target="../media/image23.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837" y="2241457"/>
            <a:ext cx="11094098"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sz="3200" b="1" dirty="0">
                <a:solidFill>
                  <a:schemeClr val="bg2">
                    <a:lumMod val="50000"/>
                  </a:schemeClr>
                </a:solidFill>
                <a:latin typeface="Arial" panose="020B0604020202020204" pitchFamily="34" charset="0"/>
                <a:cs typeface="Arial" panose="020B0604020202020204" pitchFamily="34" charset="0"/>
              </a:rPr>
              <a:t>Chapter 03 </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Knowledge Management Models</a:t>
            </a: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Major Theoretical KM Models</a:t>
            </a:r>
          </a:p>
          <a:p>
            <a:pPr marL="342900" indent="-342900" algn="just">
              <a:lnSpc>
                <a:spcPct val="150000"/>
              </a:lnSpc>
              <a:spcBef>
                <a:spcPts val="600"/>
              </a:spcBef>
              <a:buClr>
                <a:srgbClr val="973735"/>
              </a:buClr>
              <a:buSzPct val="50000"/>
              <a:buFont typeface="Wingdings" pitchFamily="2" charset="2"/>
              <a:buChar char="u"/>
              <a:defRPr/>
            </a:pPr>
            <a:r>
              <a:rPr lang="en-US" dirty="0"/>
              <a:t>Strategic Implications of KM Models</a:t>
            </a:r>
          </a:p>
          <a:p>
            <a:pPr marL="342900" indent="-342900" algn="just">
              <a:lnSpc>
                <a:spcPct val="150000"/>
              </a:lnSpc>
              <a:spcBef>
                <a:spcPts val="600"/>
              </a:spcBef>
              <a:buClr>
                <a:srgbClr val="973735"/>
              </a:buClr>
              <a:buSzPct val="50000"/>
              <a:buFont typeface="Wingdings" pitchFamily="2" charset="2"/>
              <a:buChar char="u"/>
              <a:defRPr/>
            </a:pPr>
            <a:r>
              <a:rPr lang="en-US" dirty="0"/>
              <a:t>Practical Implications of KM Models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0" y="2052735"/>
            <a:ext cx="12002308" cy="3883692"/>
          </a:xfrm>
        </p:spPr>
        <p:txBody>
          <a:bodyPr>
            <a:noAutofit/>
          </a:bodyPr>
          <a:lstStyle/>
          <a:p>
            <a:pPr marL="0" indent="0" algn="just">
              <a:lnSpc>
                <a:spcPct val="100000"/>
              </a:lnSpc>
              <a:spcBef>
                <a:spcPts val="2400"/>
              </a:spcBef>
              <a:buClr>
                <a:srgbClr val="973735"/>
              </a:buClr>
              <a:buSzPct val="50000"/>
              <a:buNone/>
              <a:defRPr/>
            </a:pPr>
            <a:r>
              <a:rPr lang="en-US" sz="2600" dirty="0"/>
              <a:t>In an economy where the only certainty is uncertainty, the one sure source of lasting competitive advantage is knowledge.</a:t>
            </a:r>
          </a:p>
          <a:p>
            <a:pPr marL="342900" indent="-342900" algn="just">
              <a:lnSpc>
                <a:spcPct val="100000"/>
              </a:lnSpc>
              <a:spcBef>
                <a:spcPts val="2400"/>
              </a:spcBef>
              <a:buClr>
                <a:srgbClr val="973735"/>
              </a:buClr>
              <a:buSzPct val="50000"/>
              <a:buFont typeface="Wingdings" pitchFamily="2" charset="2"/>
              <a:buChar char="u"/>
              <a:defRPr/>
            </a:pPr>
            <a:r>
              <a:rPr lang="en-US" sz="2600" b="1" dirty="0"/>
              <a:t>Data: </a:t>
            </a:r>
            <a:r>
              <a:rPr lang="en-US" sz="2600" dirty="0"/>
              <a:t>A set of discrete, objective facts about events. </a:t>
            </a:r>
          </a:p>
          <a:p>
            <a:pPr marL="342900" indent="-342900" algn="just">
              <a:lnSpc>
                <a:spcPct val="100000"/>
              </a:lnSpc>
              <a:spcBef>
                <a:spcPts val="2400"/>
              </a:spcBef>
              <a:buClr>
                <a:srgbClr val="973735"/>
              </a:buClr>
              <a:buSzPct val="50000"/>
              <a:buFont typeface="Wingdings" pitchFamily="2" charset="2"/>
              <a:buChar char="u"/>
              <a:defRPr/>
            </a:pPr>
            <a:r>
              <a:rPr lang="en-US" sz="2600" b="1" dirty="0"/>
              <a:t>Information: </a:t>
            </a:r>
            <a:r>
              <a:rPr lang="en-US" sz="2600" dirty="0"/>
              <a:t>A message, usually in the form of a document or an audible or visible communication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3987166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4" name="Content Placeholder 3"/>
          <p:cNvSpPr>
            <a:spLocks noGrp="1"/>
          </p:cNvSpPr>
          <p:nvPr>
            <p:ph sz="quarter" idx="1"/>
          </p:nvPr>
        </p:nvSpPr>
        <p:spPr>
          <a:xfrm>
            <a:off x="0" y="2351314"/>
            <a:ext cx="12002308" cy="3585113"/>
          </a:xfrm>
        </p:spPr>
        <p:txBody>
          <a:bodyPr>
            <a:noAutofit/>
          </a:bodyPr>
          <a:lstStyle/>
          <a:p>
            <a:pPr marL="342900" indent="-342900" algn="just">
              <a:lnSpc>
                <a:spcPct val="100000"/>
              </a:lnSpc>
              <a:spcBef>
                <a:spcPts val="1200"/>
              </a:spcBef>
              <a:buClr>
                <a:srgbClr val="973735"/>
              </a:buClr>
              <a:buSzPct val="50000"/>
              <a:buFont typeface="Wingdings" pitchFamily="2" charset="2"/>
              <a:buChar char="u"/>
              <a:defRPr/>
            </a:pPr>
            <a:r>
              <a:rPr lang="en-US" sz="2600" b="1" dirty="0"/>
              <a:t>Knowledge: </a:t>
            </a:r>
            <a:r>
              <a:rPr lang="en-US" sz="2600" dirty="0"/>
              <a:t>A fluid mix of framed experiences, values , contextual information , and expert insight that provides a framework for evaluating and incorporating new experiences and information. It originates and is applied in the minds of knower. In organizations, it often becomes embedded not only in documents or repositories but also in organizational routines, processes, practices , and norms.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2138663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The von Krogh and </a:t>
            </a:r>
            <a:r>
              <a:rPr lang="en-US" dirty="0" err="1"/>
              <a:t>Roos</a:t>
            </a:r>
            <a:r>
              <a:rPr lang="en-US" dirty="0"/>
              <a:t> Model of Organizational Epistemology</a:t>
            </a:r>
          </a:p>
          <a:p>
            <a:pPr marL="342900" indent="-342900" algn="just">
              <a:lnSpc>
                <a:spcPct val="150000"/>
              </a:lnSpc>
              <a:spcBef>
                <a:spcPts val="600"/>
              </a:spcBef>
              <a:buClr>
                <a:srgbClr val="973735"/>
              </a:buClr>
              <a:buSzPct val="50000"/>
              <a:buFont typeface="Wingdings" pitchFamily="2" charset="2"/>
              <a:buChar char="u"/>
              <a:defRPr/>
            </a:pPr>
            <a:r>
              <a:rPr lang="en-US" dirty="0"/>
              <a:t>The Nonaka and Takeuchi knowledge spiral Model</a:t>
            </a:r>
          </a:p>
          <a:p>
            <a:pPr marL="342900" indent="-342900" algn="just">
              <a:lnSpc>
                <a:spcPct val="150000"/>
              </a:lnSpc>
              <a:spcBef>
                <a:spcPts val="600"/>
              </a:spcBef>
              <a:buClr>
                <a:srgbClr val="973735"/>
              </a:buClr>
              <a:buSzPct val="50000"/>
              <a:buFont typeface="Wingdings" pitchFamily="2" charset="2"/>
              <a:buChar char="u"/>
              <a:defRPr/>
            </a:pPr>
            <a:r>
              <a:rPr lang="en-US" dirty="0"/>
              <a:t>The Choo sense-making KM Model</a:t>
            </a:r>
          </a:p>
          <a:p>
            <a:pPr marL="342900" indent="-342900" algn="just">
              <a:lnSpc>
                <a:spcPct val="150000"/>
              </a:lnSpc>
              <a:spcBef>
                <a:spcPts val="600"/>
              </a:spcBef>
              <a:buClr>
                <a:srgbClr val="973735"/>
              </a:buClr>
              <a:buSzPct val="50000"/>
              <a:buFont typeface="Wingdings" pitchFamily="2" charset="2"/>
              <a:buChar char="u"/>
              <a:defRPr/>
            </a:pPr>
            <a:r>
              <a:rPr lang="en-US" dirty="0"/>
              <a:t>The Wiig Model for Building and using knowledge </a:t>
            </a:r>
          </a:p>
          <a:p>
            <a:pPr marL="342900" indent="-342900" algn="just">
              <a:lnSpc>
                <a:spcPct val="150000"/>
              </a:lnSpc>
              <a:spcBef>
                <a:spcPts val="600"/>
              </a:spcBef>
              <a:buClr>
                <a:srgbClr val="973735"/>
              </a:buClr>
              <a:buSzPct val="50000"/>
              <a:buFont typeface="Wingdings" pitchFamily="2" charset="2"/>
              <a:buChar char="u"/>
              <a:defRPr/>
            </a:pPr>
            <a:r>
              <a:rPr lang="en-US" dirty="0"/>
              <a:t>The </a:t>
            </a:r>
            <a:r>
              <a:rPr lang="en-US" dirty="0" err="1"/>
              <a:t>Boisot</a:t>
            </a:r>
            <a:r>
              <a:rPr lang="en-US" dirty="0"/>
              <a:t> I-Space KM Model</a:t>
            </a:r>
          </a:p>
          <a:p>
            <a:pPr marL="342900" indent="-342900" algn="just">
              <a:lnSpc>
                <a:spcPct val="150000"/>
              </a:lnSpc>
              <a:spcBef>
                <a:spcPts val="600"/>
              </a:spcBef>
              <a:buClr>
                <a:srgbClr val="973735"/>
              </a:buClr>
              <a:buSzPct val="50000"/>
              <a:buFont typeface="Wingdings" pitchFamily="2" charset="2"/>
              <a:buChar char="u"/>
              <a:defRPr/>
            </a:pPr>
            <a:r>
              <a:rPr lang="en-US" dirty="0"/>
              <a:t>Complex Adaptive System Models of KM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Theoretical KM Models</a:t>
            </a:r>
          </a:p>
        </p:txBody>
      </p:sp>
    </p:spTree>
    <p:extLst>
      <p:ext uri="{BB962C8B-B14F-4D97-AF65-F5344CB8AC3E}">
        <p14:creationId xmlns:p14="http://schemas.microsoft.com/office/powerpoint/2010/main" val="1956762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2400"/>
              </a:spcBef>
              <a:buClr>
                <a:srgbClr val="973735"/>
              </a:buClr>
              <a:buSzPct val="50000"/>
              <a:buFont typeface="Wingdings" pitchFamily="2" charset="2"/>
              <a:buChar char="u"/>
              <a:defRPr/>
            </a:pPr>
            <a:r>
              <a:rPr lang="en-US" b="1" dirty="0"/>
              <a:t>Critical characteristics:</a:t>
            </a:r>
          </a:p>
          <a:p>
            <a:pPr marL="457200" lvl="1" indent="0" algn="just">
              <a:lnSpc>
                <a:spcPct val="100000"/>
              </a:lnSpc>
              <a:spcBef>
                <a:spcPts val="2400"/>
              </a:spcBef>
              <a:buClr>
                <a:srgbClr val="973735"/>
              </a:buClr>
              <a:buSzPct val="50000"/>
              <a:buNone/>
              <a:defRPr/>
            </a:pPr>
            <a:r>
              <a:rPr lang="en-US" sz="2600" dirty="0"/>
              <a:t>1. Represent a holistic approach to knowledge management </a:t>
            </a:r>
          </a:p>
          <a:p>
            <a:pPr marL="457200" lvl="1" indent="0" algn="just">
              <a:lnSpc>
                <a:spcPct val="100000"/>
              </a:lnSpc>
              <a:spcBef>
                <a:spcPts val="2400"/>
              </a:spcBef>
              <a:buClr>
                <a:srgbClr val="973735"/>
              </a:buClr>
              <a:buSzPct val="50000"/>
              <a:buNone/>
              <a:defRPr/>
            </a:pPr>
            <a:r>
              <a:rPr lang="en-US" sz="2600" dirty="0"/>
              <a:t>2. Be reviewed, critiqued, and discussed extensively in the KM literature—by practitioners, academics, and/or researchers.</a:t>
            </a:r>
          </a:p>
          <a:p>
            <a:pPr marL="457200" lvl="1" indent="0" algn="just">
              <a:lnSpc>
                <a:spcPct val="100000"/>
              </a:lnSpc>
              <a:spcBef>
                <a:spcPts val="2400"/>
              </a:spcBef>
              <a:buClr>
                <a:srgbClr val="973735"/>
              </a:buClr>
              <a:buSzPct val="50000"/>
              <a:buNone/>
              <a:defRPr/>
            </a:pPr>
            <a:r>
              <a:rPr lang="en-US" sz="2600" dirty="0"/>
              <a:t>3. Be implemented and field-tested with respect to reliability and validity.</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Theoretical KM Models</a:t>
            </a:r>
          </a:p>
        </p:txBody>
      </p:sp>
    </p:spTree>
    <p:extLst>
      <p:ext uri="{BB962C8B-B14F-4D97-AF65-F5344CB8AC3E}">
        <p14:creationId xmlns:p14="http://schemas.microsoft.com/office/powerpoint/2010/main" val="948614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lnSpcReduction="10000"/>
          </a:bodyPr>
          <a:lstStyle/>
          <a:p>
            <a:pPr marL="342900" indent="-342900" algn="just">
              <a:lnSpc>
                <a:spcPct val="150000"/>
              </a:lnSpc>
              <a:spcBef>
                <a:spcPts val="600"/>
              </a:spcBef>
              <a:buClr>
                <a:srgbClr val="973735"/>
              </a:buClr>
              <a:buSzPct val="50000"/>
              <a:buFont typeface="Wingdings" pitchFamily="2" charset="2"/>
              <a:buChar char="u"/>
              <a:defRPr/>
            </a:pPr>
            <a:r>
              <a:rPr lang="en-US" b="1" dirty="0">
                <a:solidFill>
                  <a:srgbClr val="ED7D31"/>
                </a:solidFill>
              </a:rPr>
              <a:t>The von Krogh and </a:t>
            </a:r>
            <a:r>
              <a:rPr lang="en-US" b="1" dirty="0" err="1">
                <a:solidFill>
                  <a:srgbClr val="ED7D31"/>
                </a:solidFill>
              </a:rPr>
              <a:t>Roos</a:t>
            </a:r>
            <a:r>
              <a:rPr lang="en-US" b="1" dirty="0">
                <a:solidFill>
                  <a:srgbClr val="ED7D31"/>
                </a:solidFill>
              </a:rPr>
              <a:t> Model of Organizational Epistemology</a:t>
            </a:r>
          </a:p>
          <a:p>
            <a:pPr marL="342900" indent="-342900" algn="just">
              <a:lnSpc>
                <a:spcPct val="150000"/>
              </a:lnSpc>
              <a:spcBef>
                <a:spcPts val="600"/>
              </a:spcBef>
              <a:buClr>
                <a:srgbClr val="973735"/>
              </a:buClr>
              <a:buSzPct val="50000"/>
              <a:buFont typeface="Wingdings" pitchFamily="2" charset="2"/>
              <a:buChar char="u"/>
              <a:defRPr/>
            </a:pPr>
            <a:r>
              <a:rPr lang="en-US" dirty="0"/>
              <a:t>The Nonaka and Takeuchi knowledge spiral Model</a:t>
            </a:r>
          </a:p>
          <a:p>
            <a:pPr marL="342900" indent="-342900" algn="just">
              <a:lnSpc>
                <a:spcPct val="150000"/>
              </a:lnSpc>
              <a:spcBef>
                <a:spcPts val="600"/>
              </a:spcBef>
              <a:buClr>
                <a:srgbClr val="973735"/>
              </a:buClr>
              <a:buSzPct val="50000"/>
              <a:buFont typeface="Wingdings" pitchFamily="2" charset="2"/>
              <a:buChar char="u"/>
              <a:defRPr/>
            </a:pPr>
            <a:r>
              <a:rPr lang="en-US" dirty="0"/>
              <a:t>The Choo sense-making KM Model</a:t>
            </a:r>
          </a:p>
          <a:p>
            <a:pPr marL="342900" indent="-342900" algn="just">
              <a:lnSpc>
                <a:spcPct val="150000"/>
              </a:lnSpc>
              <a:spcBef>
                <a:spcPts val="600"/>
              </a:spcBef>
              <a:buClr>
                <a:srgbClr val="973735"/>
              </a:buClr>
              <a:buSzPct val="50000"/>
              <a:buFont typeface="Wingdings" pitchFamily="2" charset="2"/>
              <a:buChar char="u"/>
              <a:defRPr/>
            </a:pPr>
            <a:r>
              <a:rPr lang="en-US" dirty="0"/>
              <a:t>The Wiig Model for Building and Using Knowledge</a:t>
            </a:r>
          </a:p>
          <a:p>
            <a:pPr marL="342900" indent="-342900" algn="just">
              <a:lnSpc>
                <a:spcPct val="150000"/>
              </a:lnSpc>
              <a:spcBef>
                <a:spcPts val="600"/>
              </a:spcBef>
              <a:buClr>
                <a:srgbClr val="973735"/>
              </a:buClr>
              <a:buSzPct val="50000"/>
              <a:buFont typeface="Wingdings" pitchFamily="2" charset="2"/>
              <a:buChar char="u"/>
              <a:defRPr/>
            </a:pPr>
            <a:r>
              <a:rPr lang="en-US" dirty="0"/>
              <a:t>The </a:t>
            </a:r>
            <a:r>
              <a:rPr lang="en-US" dirty="0" err="1"/>
              <a:t>Boisot</a:t>
            </a:r>
            <a:r>
              <a:rPr lang="en-US" dirty="0"/>
              <a:t> I-Space KM Model </a:t>
            </a:r>
          </a:p>
          <a:p>
            <a:pPr marL="342900" indent="-342900" algn="just">
              <a:lnSpc>
                <a:spcPct val="150000"/>
              </a:lnSpc>
              <a:spcBef>
                <a:spcPts val="600"/>
              </a:spcBef>
              <a:buClr>
                <a:srgbClr val="973735"/>
              </a:buClr>
              <a:buSzPct val="50000"/>
              <a:buFont typeface="Wingdings" pitchFamily="2" charset="2"/>
              <a:buChar char="u"/>
              <a:defRPr/>
            </a:pPr>
            <a:r>
              <a:rPr lang="en-US" sz="2800" dirty="0"/>
              <a:t>Complex adaptive system models of KM</a:t>
            </a:r>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Theoretical KM Models</a:t>
            </a:r>
          </a:p>
        </p:txBody>
      </p:sp>
    </p:spTree>
    <p:extLst>
      <p:ext uri="{BB962C8B-B14F-4D97-AF65-F5344CB8AC3E}">
        <p14:creationId xmlns:p14="http://schemas.microsoft.com/office/powerpoint/2010/main" val="2121531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4" name="Content Placeholder 3"/>
          <p:cNvSpPr>
            <a:spLocks noGrp="1"/>
          </p:cNvSpPr>
          <p:nvPr>
            <p:ph sz="quarter" idx="1"/>
          </p:nvPr>
        </p:nvSpPr>
        <p:spPr>
          <a:xfrm>
            <a:off x="0" y="1664593"/>
            <a:ext cx="11971176" cy="4816106"/>
          </a:xfrm>
        </p:spPr>
        <p:txBody>
          <a:bodyPr>
            <a:noAutofit/>
          </a:bodyPr>
          <a:lstStyle/>
          <a:p>
            <a:pPr marL="342900" indent="-342900" algn="just">
              <a:lnSpc>
                <a:spcPct val="120000"/>
              </a:lnSpc>
              <a:spcBef>
                <a:spcPts val="1200"/>
              </a:spcBef>
              <a:buClr>
                <a:srgbClr val="973735"/>
              </a:buClr>
              <a:buSzPct val="50000"/>
              <a:buFont typeface="Wingdings" pitchFamily="2" charset="2"/>
              <a:buChar char="u"/>
              <a:defRPr/>
            </a:pPr>
            <a:endParaRPr lang="en-US" sz="2600" dirty="0"/>
          </a:p>
          <a:p>
            <a:pPr marL="342900" indent="-342900" algn="just">
              <a:lnSpc>
                <a:spcPct val="120000"/>
              </a:lnSpc>
              <a:spcBef>
                <a:spcPts val="1200"/>
              </a:spcBef>
              <a:buClr>
                <a:srgbClr val="973735"/>
              </a:buClr>
              <a:buSzPct val="50000"/>
              <a:buFont typeface="Wingdings" pitchFamily="2" charset="2"/>
              <a:buChar char="u"/>
              <a:defRPr/>
            </a:pPr>
            <a:r>
              <a:rPr lang="en-US" sz="2600" dirty="0"/>
              <a:t>The von Krogh and </a:t>
            </a:r>
            <a:r>
              <a:rPr lang="en-US" sz="2600" dirty="0" err="1"/>
              <a:t>Roos</a:t>
            </a:r>
            <a:r>
              <a:rPr lang="en-US" sz="2600" dirty="0"/>
              <a:t> KM model (1995) distinguishes between individual knowledge and social knowledge, and they take an epistemological approach to managing organizational knowledge: the organizational epistemology KM model.</a:t>
            </a:r>
          </a:p>
          <a:p>
            <a:pPr marL="342900" indent="-342900" algn="just">
              <a:lnSpc>
                <a:spcPct val="150000"/>
              </a:lnSpc>
              <a:spcBef>
                <a:spcPts val="600"/>
              </a:spcBef>
              <a:buClr>
                <a:srgbClr val="973735"/>
              </a:buClr>
              <a:buSzPct val="50000"/>
              <a:buFont typeface="Wingdings" pitchFamily="2" charset="2"/>
              <a:buChar char="u"/>
              <a:defRPr/>
            </a:pPr>
            <a:endParaRPr lang="en-US" sz="2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4916"/>
            <a:ext cx="10515600" cy="709226"/>
          </a:xfrm>
        </p:spPr>
        <p:txBody>
          <a:bodyPr>
            <a:normAutofit fontScale="90000"/>
          </a:bodyPr>
          <a:lstStyle/>
          <a:p>
            <a:r>
              <a:rPr lang="en-US" sz="4000" b="1" dirty="0">
                <a:solidFill>
                  <a:srgbClr val="ED7D31"/>
                </a:solidFill>
              </a:rPr>
              <a:t>The von Krogh and </a:t>
            </a:r>
            <a:r>
              <a:rPr lang="en-US" sz="4000" b="1" dirty="0" err="1">
                <a:solidFill>
                  <a:srgbClr val="ED7D31"/>
                </a:solidFill>
              </a:rPr>
              <a:t>Roos</a:t>
            </a:r>
            <a:r>
              <a:rPr lang="en-US" sz="4000" b="1" dirty="0">
                <a:solidFill>
                  <a:srgbClr val="ED7D31"/>
                </a:solidFill>
              </a:rPr>
              <a:t> Model of Organizational Epistemology</a:t>
            </a:r>
          </a:p>
        </p:txBody>
      </p:sp>
    </p:spTree>
    <p:extLst>
      <p:ext uri="{BB962C8B-B14F-4D97-AF65-F5344CB8AC3E}">
        <p14:creationId xmlns:p14="http://schemas.microsoft.com/office/powerpoint/2010/main" val="3108543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4" name="Content Placeholder 3"/>
          <p:cNvSpPr>
            <a:spLocks noGrp="1"/>
          </p:cNvSpPr>
          <p:nvPr>
            <p:ph sz="quarter" idx="1"/>
          </p:nvPr>
        </p:nvSpPr>
        <p:spPr>
          <a:xfrm>
            <a:off x="0" y="2024743"/>
            <a:ext cx="11971176" cy="4455956"/>
          </a:xfrm>
        </p:spPr>
        <p:txBody>
          <a:bodyPr>
            <a:no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Whereas the definition of organization has been problematic and the term is often used interchangeably with information, a number of issues must be addressed:</a:t>
            </a:r>
          </a:p>
          <a:p>
            <a:pPr marL="800100" lvl="1" indent="-342900" algn="just">
              <a:lnSpc>
                <a:spcPct val="100000"/>
              </a:lnSpc>
              <a:spcBef>
                <a:spcPts val="2400"/>
              </a:spcBef>
              <a:buClr>
                <a:srgbClr val="973735"/>
              </a:buClr>
              <a:buSzPct val="50000"/>
              <a:buFont typeface="Wingdings" pitchFamily="2" charset="2"/>
              <a:buChar char="u"/>
              <a:defRPr/>
            </a:pPr>
            <a:r>
              <a:rPr lang="en-US" dirty="0"/>
              <a:t>How and why individuals within an organization come to know.</a:t>
            </a:r>
          </a:p>
          <a:p>
            <a:pPr marL="800100" lvl="1" indent="-342900" algn="just">
              <a:lnSpc>
                <a:spcPct val="100000"/>
              </a:lnSpc>
              <a:spcBef>
                <a:spcPts val="2400"/>
              </a:spcBef>
              <a:buClr>
                <a:srgbClr val="973735"/>
              </a:buClr>
              <a:buSzPct val="50000"/>
              <a:buFont typeface="Wingdings" pitchFamily="2" charset="2"/>
              <a:buChar char="u"/>
              <a:defRPr/>
            </a:pPr>
            <a:r>
              <a:rPr lang="en-US" dirty="0"/>
              <a:t>How and why organizations, as social entities, come to know.</a:t>
            </a:r>
          </a:p>
          <a:p>
            <a:pPr marL="800100" lvl="1" indent="-342900" algn="just">
              <a:lnSpc>
                <a:spcPct val="100000"/>
              </a:lnSpc>
              <a:spcBef>
                <a:spcPts val="2400"/>
              </a:spcBef>
              <a:buClr>
                <a:srgbClr val="973735"/>
              </a:buClr>
              <a:buSzPct val="50000"/>
              <a:buFont typeface="Wingdings" pitchFamily="2" charset="2"/>
              <a:buChar char="u"/>
              <a:defRPr/>
            </a:pPr>
            <a:r>
              <a:rPr lang="en-US" dirty="0"/>
              <a:t>What counts for knowledge of the individual and the organization. </a:t>
            </a:r>
          </a:p>
          <a:p>
            <a:pPr marL="800100" lvl="1" indent="-342900" algn="just">
              <a:lnSpc>
                <a:spcPct val="100000"/>
              </a:lnSpc>
              <a:spcBef>
                <a:spcPts val="2400"/>
              </a:spcBef>
              <a:buClr>
                <a:srgbClr val="973735"/>
              </a:buClr>
              <a:buSzPct val="50000"/>
              <a:buFont typeface="Wingdings" pitchFamily="2" charset="2"/>
              <a:buChar char="u"/>
              <a:defRPr/>
            </a:pPr>
            <a:r>
              <a:rPr lang="en-US" dirty="0"/>
              <a:t>What are the impediments in organizational KM.</a:t>
            </a:r>
          </a:p>
          <a:p>
            <a:pPr marL="342900" indent="-342900" algn="just">
              <a:lnSpc>
                <a:spcPct val="150000"/>
              </a:lnSpc>
              <a:spcBef>
                <a:spcPts val="600"/>
              </a:spcBef>
              <a:buClr>
                <a:srgbClr val="973735"/>
              </a:buClr>
              <a:buSzPct val="50000"/>
              <a:buFont typeface="Wingdings" pitchFamily="2" charset="2"/>
              <a:buChar char="u"/>
              <a:defRPr/>
            </a:pPr>
            <a:endParaRPr lang="en-US" sz="2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4916"/>
            <a:ext cx="10515600" cy="709226"/>
          </a:xfrm>
        </p:spPr>
        <p:txBody>
          <a:bodyPr>
            <a:normAutofit fontScale="90000"/>
          </a:bodyPr>
          <a:lstStyle/>
          <a:p>
            <a:r>
              <a:rPr lang="en-US" sz="4000" b="1" dirty="0">
                <a:solidFill>
                  <a:srgbClr val="ED7D31"/>
                </a:solidFill>
              </a:rPr>
              <a:t>The von Krogh and </a:t>
            </a:r>
            <a:r>
              <a:rPr lang="en-US" sz="4000" b="1" dirty="0" err="1">
                <a:solidFill>
                  <a:srgbClr val="ED7D31"/>
                </a:solidFill>
              </a:rPr>
              <a:t>Roos</a:t>
            </a:r>
            <a:r>
              <a:rPr lang="en-US" sz="4000" b="1" dirty="0">
                <a:solidFill>
                  <a:srgbClr val="ED7D31"/>
                </a:solidFill>
              </a:rPr>
              <a:t> Model of Organizational Epistemology</a:t>
            </a:r>
          </a:p>
        </p:txBody>
      </p:sp>
    </p:spTree>
    <p:extLst>
      <p:ext uri="{BB962C8B-B14F-4D97-AF65-F5344CB8AC3E}">
        <p14:creationId xmlns:p14="http://schemas.microsoft.com/office/powerpoint/2010/main" val="4146857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The cognitive perspective</a:t>
            </a:r>
          </a:p>
          <a:p>
            <a:pPr marL="800100" lvl="1" indent="-342900" algn="just">
              <a:lnSpc>
                <a:spcPct val="100000"/>
              </a:lnSpc>
              <a:spcBef>
                <a:spcPts val="2400"/>
              </a:spcBef>
              <a:buClr>
                <a:srgbClr val="973735"/>
              </a:buClr>
              <a:buSzPct val="50000"/>
              <a:buFont typeface="Wingdings" pitchFamily="2" charset="2"/>
              <a:buChar char="u"/>
              <a:defRPr/>
            </a:pPr>
            <a:r>
              <a:rPr lang="en-US" sz="2600" dirty="0"/>
              <a:t>The cognitive perspective (e.g., Varela, 1992 ) proposes that a cognitive system, whether it is a human brain or a computer, creates representations (i.e., models) of reality and that learning occurs when these representations are manipulated.</a:t>
            </a:r>
          </a:p>
          <a:p>
            <a:pPr marL="800100" lvl="1" indent="-342900" algn="just">
              <a:lnSpc>
                <a:spcPct val="100000"/>
              </a:lnSpc>
              <a:spcBef>
                <a:spcPts val="2400"/>
              </a:spcBef>
              <a:buClr>
                <a:srgbClr val="973735"/>
              </a:buClr>
              <a:buSzPct val="50000"/>
              <a:buFont typeface="Wingdings" pitchFamily="2" charset="2"/>
              <a:buChar char="u"/>
              <a:defRPr/>
            </a:pPr>
            <a:r>
              <a:rPr lang="en-US" sz="2600" dirty="0"/>
              <a:t>A cognitive organizational epistemology views organizational knowledge as a self- organizing system in which human s are transparent to the information from the outside.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4916"/>
            <a:ext cx="10515600" cy="709226"/>
          </a:xfrm>
        </p:spPr>
        <p:txBody>
          <a:bodyPr>
            <a:normAutofit fontScale="90000"/>
          </a:bodyPr>
          <a:lstStyle/>
          <a:p>
            <a:r>
              <a:rPr lang="en-US" sz="4000" b="1" dirty="0">
                <a:solidFill>
                  <a:srgbClr val="ED7D31"/>
                </a:solidFill>
              </a:rPr>
              <a:t>The von Krogh and </a:t>
            </a:r>
            <a:r>
              <a:rPr lang="en-US" sz="4000" b="1" dirty="0" err="1">
                <a:solidFill>
                  <a:srgbClr val="ED7D31"/>
                </a:solidFill>
              </a:rPr>
              <a:t>Roos</a:t>
            </a:r>
            <a:r>
              <a:rPr lang="en-US" sz="4000" b="1" dirty="0">
                <a:solidFill>
                  <a:srgbClr val="ED7D31"/>
                </a:solidFill>
              </a:rPr>
              <a:t> Model of Organizational Epistemology</a:t>
            </a:r>
            <a:endParaRPr lang="en-US" sz="4000" b="1" dirty="0"/>
          </a:p>
        </p:txBody>
      </p:sp>
    </p:spTree>
    <p:extLst>
      <p:ext uri="{BB962C8B-B14F-4D97-AF65-F5344CB8AC3E}">
        <p14:creationId xmlns:p14="http://schemas.microsoft.com/office/powerpoint/2010/main" val="2024394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4" name="Content Placeholder 3"/>
          <p:cNvSpPr>
            <a:spLocks noGrp="1"/>
          </p:cNvSpPr>
          <p:nvPr>
            <p:ph sz="quarter" idx="1"/>
          </p:nvPr>
        </p:nvSpPr>
        <p:spPr>
          <a:xfrm>
            <a:off x="0" y="2155371"/>
            <a:ext cx="11971176" cy="3764497"/>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b="1" dirty="0"/>
              <a:t>The connectionist approach</a:t>
            </a:r>
          </a:p>
          <a:p>
            <a:pPr marL="800100" lvl="1" indent="-342900" algn="just">
              <a:lnSpc>
                <a:spcPct val="100000"/>
              </a:lnSpc>
              <a:spcBef>
                <a:spcPts val="2400"/>
              </a:spcBef>
              <a:buClr>
                <a:srgbClr val="973735"/>
              </a:buClr>
              <a:buSzPct val="50000"/>
              <a:buFont typeface="Wingdings" pitchFamily="2" charset="2"/>
              <a:buChar char="u"/>
              <a:defRPr/>
            </a:pPr>
            <a:r>
              <a:rPr lang="en-US" dirty="0"/>
              <a:t>The connectionist approach, on the other hand, is more holistic than reductionist, The brain is not assumed to sequentially process symbols but to perceive "wholeness," global properties, patterns, synergies, and gestalts.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4916"/>
            <a:ext cx="10515600" cy="709226"/>
          </a:xfrm>
        </p:spPr>
        <p:txBody>
          <a:bodyPr>
            <a:normAutofit fontScale="90000"/>
          </a:bodyPr>
          <a:lstStyle/>
          <a:p>
            <a:r>
              <a:rPr lang="en-US" sz="4000" b="1" dirty="0">
                <a:solidFill>
                  <a:srgbClr val="ED7D31"/>
                </a:solidFill>
              </a:rPr>
              <a:t>The von Krogh and </a:t>
            </a:r>
            <a:r>
              <a:rPr lang="en-US" sz="4000" b="1" dirty="0" err="1">
                <a:solidFill>
                  <a:srgbClr val="ED7D31"/>
                </a:solidFill>
              </a:rPr>
              <a:t>Roos</a:t>
            </a:r>
            <a:r>
              <a:rPr lang="en-US" sz="4000" b="1" dirty="0">
                <a:solidFill>
                  <a:srgbClr val="ED7D31"/>
                </a:solidFill>
              </a:rPr>
              <a:t> Model of Organizational Epistemology</a:t>
            </a:r>
            <a:endParaRPr lang="en-US" sz="4000" b="1" dirty="0"/>
          </a:p>
        </p:txBody>
      </p:sp>
    </p:spTree>
    <p:extLst>
      <p:ext uri="{BB962C8B-B14F-4D97-AF65-F5344CB8AC3E}">
        <p14:creationId xmlns:p14="http://schemas.microsoft.com/office/powerpoint/2010/main" val="3752567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4" name="Content Placeholder 3"/>
          <p:cNvSpPr>
            <a:spLocks noGrp="1"/>
          </p:cNvSpPr>
          <p:nvPr>
            <p:ph sz="quarter" idx="1"/>
          </p:nvPr>
        </p:nvSpPr>
        <p:spPr>
          <a:xfrm>
            <a:off x="0" y="1996751"/>
            <a:ext cx="11971176" cy="4483948"/>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Von Krogh and </a:t>
            </a:r>
            <a:r>
              <a:rPr lang="en-US" sz="2600" dirty="0" err="1"/>
              <a:t>Roos</a:t>
            </a:r>
            <a:r>
              <a:rPr lang="en-US" sz="2600" dirty="0"/>
              <a:t> adopt the connectionist approach.</a:t>
            </a:r>
          </a:p>
          <a:p>
            <a:pPr marL="342900" indent="-342900" algn="just">
              <a:lnSpc>
                <a:spcPct val="100000"/>
              </a:lnSpc>
              <a:spcBef>
                <a:spcPts val="1800"/>
              </a:spcBef>
              <a:buClr>
                <a:srgbClr val="973735"/>
              </a:buClr>
              <a:buSzPct val="50000"/>
              <a:buFont typeface="Wingdings" pitchFamily="2" charset="2"/>
              <a:buChar char="u"/>
              <a:defRPr/>
            </a:pPr>
            <a:r>
              <a:rPr lang="en-US" sz="2600" dirty="0"/>
              <a:t>In their organizational epistemology KM model, knowledge resides both in the individuals of an organization and, at the social level, in the relations between the individuals.</a:t>
            </a:r>
          </a:p>
          <a:p>
            <a:pPr marL="342900" indent="-342900" algn="just">
              <a:lnSpc>
                <a:spcPct val="100000"/>
              </a:lnSpc>
              <a:spcBef>
                <a:spcPts val="1800"/>
              </a:spcBef>
              <a:buClr>
                <a:srgbClr val="973735"/>
              </a:buClr>
              <a:buSzPct val="50000"/>
              <a:buFont typeface="Wingdings" pitchFamily="2" charset="2"/>
              <a:buChar char="u"/>
              <a:defRPr/>
            </a:pPr>
            <a:r>
              <a:rPr lang="en-US" sz="2600" dirty="0"/>
              <a:t>Knowledge is characterized as embodied that is, “everything known is known by somebody”.</a:t>
            </a:r>
          </a:p>
          <a:p>
            <a:pPr marL="342900" indent="-342900" algn="just">
              <a:lnSpc>
                <a:spcPct val="100000"/>
              </a:lnSpc>
              <a:spcBef>
                <a:spcPts val="1800"/>
              </a:spcBef>
              <a:buClr>
                <a:srgbClr val="973735"/>
              </a:buClr>
              <a:buSzPct val="50000"/>
              <a:buFont typeface="Wingdings" pitchFamily="2" charset="2"/>
              <a:buChar char="u"/>
              <a:defRPr/>
            </a:pPr>
            <a:r>
              <a:rPr lang="en-US" sz="2600" dirty="0"/>
              <a:t>Unlike cognitivism, which views knowledge as an abstract entity, connectionism maintains that there can be no knowledge without a knower.</a:t>
            </a:r>
          </a:p>
          <a:p>
            <a:pPr marL="0" indent="0" algn="just">
              <a:lnSpc>
                <a:spcPct val="100000"/>
              </a:lnSpc>
              <a:spcBef>
                <a:spcPts val="1200"/>
              </a:spcBef>
              <a:buClr>
                <a:srgbClr val="973735"/>
              </a:buClr>
              <a:buSzPct val="50000"/>
              <a:buNone/>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14916"/>
            <a:ext cx="10515600" cy="709226"/>
          </a:xfrm>
        </p:spPr>
        <p:txBody>
          <a:bodyPr>
            <a:normAutofit fontScale="90000"/>
          </a:bodyPr>
          <a:lstStyle/>
          <a:p>
            <a:r>
              <a:rPr lang="en-US" sz="4000" b="1" dirty="0">
                <a:solidFill>
                  <a:srgbClr val="ED7D31"/>
                </a:solidFill>
              </a:rPr>
              <a:t>The von Krogh and </a:t>
            </a:r>
            <a:r>
              <a:rPr lang="en-US" sz="4000" b="1" dirty="0" err="1">
                <a:solidFill>
                  <a:srgbClr val="ED7D31"/>
                </a:solidFill>
              </a:rPr>
              <a:t>Roos</a:t>
            </a:r>
            <a:r>
              <a:rPr lang="en-US" sz="4000" b="1" dirty="0">
                <a:solidFill>
                  <a:srgbClr val="ED7D31"/>
                </a:solidFill>
              </a:rPr>
              <a:t> Model of Organizational Epistemology</a:t>
            </a:r>
            <a:endParaRPr lang="en-US" sz="4000" b="1" dirty="0"/>
          </a:p>
        </p:txBody>
      </p:sp>
    </p:spTree>
    <p:extLst>
      <p:ext uri="{BB962C8B-B14F-4D97-AF65-F5344CB8AC3E}">
        <p14:creationId xmlns:p14="http://schemas.microsoft.com/office/powerpoint/2010/main" val="7416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4" name="Content Placeholder 3"/>
          <p:cNvSpPr>
            <a:spLocks noGrp="1"/>
          </p:cNvSpPr>
          <p:nvPr>
            <p:ph sz="quarter" idx="1"/>
          </p:nvPr>
        </p:nvSpPr>
        <p:spPr>
          <a:xfrm>
            <a:off x="0" y="1664593"/>
            <a:ext cx="11971176" cy="4255275"/>
          </a:xfrm>
        </p:spPr>
        <p:txBody>
          <a:bodyPr>
            <a:normAutofit lnSpcReduction="10000"/>
          </a:bodyPr>
          <a:lstStyle/>
          <a:p>
            <a:pPr marL="342900" indent="-342900" algn="just">
              <a:lnSpc>
                <a:spcPct val="150000"/>
              </a:lnSpc>
              <a:spcBef>
                <a:spcPts val="600"/>
              </a:spcBef>
              <a:buClr>
                <a:srgbClr val="973735"/>
              </a:buClr>
              <a:buSzPct val="50000"/>
              <a:buFont typeface="Wingdings" pitchFamily="2" charset="2"/>
              <a:buChar char="u"/>
              <a:defRPr/>
            </a:pPr>
            <a:r>
              <a:rPr lang="en-US" dirty="0"/>
              <a:t>The von Krogh and </a:t>
            </a:r>
            <a:r>
              <a:rPr lang="en-US" dirty="0" err="1"/>
              <a:t>Roos</a:t>
            </a:r>
            <a:r>
              <a:rPr lang="en-US" dirty="0"/>
              <a:t> Model of Organizational Epistemology</a:t>
            </a:r>
          </a:p>
          <a:p>
            <a:pPr marL="342900" indent="-342900" algn="just">
              <a:lnSpc>
                <a:spcPct val="150000"/>
              </a:lnSpc>
              <a:spcBef>
                <a:spcPts val="600"/>
              </a:spcBef>
              <a:buClr>
                <a:srgbClr val="973735"/>
              </a:buClr>
              <a:buSzPct val="50000"/>
              <a:buFont typeface="Wingdings" pitchFamily="2" charset="2"/>
              <a:buChar char="u"/>
              <a:defRPr/>
            </a:pPr>
            <a:r>
              <a:rPr lang="en-US" b="1" dirty="0">
                <a:solidFill>
                  <a:srgbClr val="ED7D31"/>
                </a:solidFill>
              </a:rPr>
              <a:t>The Nonaka and Takeuchi knowledge spiral Model</a:t>
            </a:r>
          </a:p>
          <a:p>
            <a:pPr marL="342900" indent="-342900" algn="just">
              <a:lnSpc>
                <a:spcPct val="150000"/>
              </a:lnSpc>
              <a:spcBef>
                <a:spcPts val="600"/>
              </a:spcBef>
              <a:buClr>
                <a:srgbClr val="973735"/>
              </a:buClr>
              <a:buSzPct val="50000"/>
              <a:buFont typeface="Wingdings" pitchFamily="2" charset="2"/>
              <a:buChar char="u"/>
              <a:defRPr/>
            </a:pPr>
            <a:r>
              <a:rPr lang="en-US" dirty="0"/>
              <a:t>The Choo sense-making KM Model</a:t>
            </a:r>
          </a:p>
          <a:p>
            <a:pPr marL="342900" indent="-342900" algn="just">
              <a:lnSpc>
                <a:spcPct val="150000"/>
              </a:lnSpc>
              <a:spcBef>
                <a:spcPts val="600"/>
              </a:spcBef>
              <a:buClr>
                <a:srgbClr val="973735"/>
              </a:buClr>
              <a:buSzPct val="50000"/>
              <a:buFont typeface="Wingdings" pitchFamily="2" charset="2"/>
              <a:buChar char="u"/>
              <a:defRPr/>
            </a:pPr>
            <a:r>
              <a:rPr lang="en-US" dirty="0"/>
              <a:t>The Wiig Model for Building and Using Knowledge</a:t>
            </a:r>
          </a:p>
          <a:p>
            <a:pPr marL="342900" indent="-342900" algn="just">
              <a:lnSpc>
                <a:spcPct val="150000"/>
              </a:lnSpc>
              <a:spcBef>
                <a:spcPts val="600"/>
              </a:spcBef>
              <a:buClr>
                <a:srgbClr val="973735"/>
              </a:buClr>
              <a:buSzPct val="50000"/>
              <a:buFont typeface="Wingdings" pitchFamily="2" charset="2"/>
              <a:buChar char="u"/>
              <a:defRPr/>
            </a:pPr>
            <a:r>
              <a:rPr lang="en-US" dirty="0"/>
              <a:t>The </a:t>
            </a:r>
            <a:r>
              <a:rPr lang="en-US" dirty="0" err="1"/>
              <a:t>Boisot</a:t>
            </a:r>
            <a:r>
              <a:rPr lang="en-US" dirty="0"/>
              <a:t> I-Space KM Model </a:t>
            </a:r>
          </a:p>
          <a:p>
            <a:pPr marL="342900" indent="-342900" algn="just">
              <a:lnSpc>
                <a:spcPct val="150000"/>
              </a:lnSpc>
              <a:spcBef>
                <a:spcPts val="600"/>
              </a:spcBef>
              <a:buClr>
                <a:srgbClr val="973735"/>
              </a:buClr>
              <a:buSzPct val="50000"/>
              <a:buFont typeface="Wingdings" pitchFamily="2" charset="2"/>
              <a:buChar char="u"/>
              <a:defRPr/>
            </a:pPr>
            <a:r>
              <a:rPr lang="en-US" sz="2800" dirty="0"/>
              <a:t>Complex adaptive system models of KM</a:t>
            </a:r>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Theoretical KM Models</a:t>
            </a:r>
          </a:p>
        </p:txBody>
      </p:sp>
    </p:spTree>
    <p:extLst>
      <p:ext uri="{BB962C8B-B14F-4D97-AF65-F5344CB8AC3E}">
        <p14:creationId xmlns:p14="http://schemas.microsoft.com/office/powerpoint/2010/main" val="715049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4" name="Content Placeholder 3"/>
          <p:cNvSpPr>
            <a:spLocks noGrp="1"/>
          </p:cNvSpPr>
          <p:nvPr>
            <p:ph sz="quarter" idx="1"/>
          </p:nvPr>
        </p:nvSpPr>
        <p:spPr>
          <a:xfrm>
            <a:off x="0" y="1664593"/>
            <a:ext cx="11812555"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Nonaka and Takeuchi (1995) studied the success of Japanese companies in achieving creativity and innovation. They quickly found that it was far from a mechanistic processing of objective knowledge.</a:t>
            </a:r>
          </a:p>
          <a:p>
            <a:pPr marL="342900" indent="-342900" algn="just">
              <a:lnSpc>
                <a:spcPct val="100000"/>
              </a:lnSpc>
              <a:spcBef>
                <a:spcPts val="1800"/>
              </a:spcBef>
              <a:buClr>
                <a:srgbClr val="973735"/>
              </a:buClr>
              <a:buSzPct val="50000"/>
              <a:buFont typeface="Wingdings" pitchFamily="2" charset="2"/>
              <a:buChar char="u"/>
              <a:defRPr/>
            </a:pPr>
            <a:r>
              <a:rPr lang="en-US" sz="2600" dirty="0"/>
              <a:t>Instead, they discovered that organizational innovation often stemmed from highly subjective insights that can best be described in the form of metaphors, slogans, or symbols.</a:t>
            </a:r>
          </a:p>
          <a:p>
            <a:pPr marL="342900" indent="-342900" algn="just">
              <a:lnSpc>
                <a:spcPct val="100000"/>
              </a:lnSpc>
              <a:spcBef>
                <a:spcPts val="1800"/>
              </a:spcBef>
              <a:buClr>
                <a:srgbClr val="973735"/>
              </a:buClr>
              <a:buSzPct val="50000"/>
              <a:buFont typeface="Wingdings" pitchFamily="2" charset="2"/>
              <a:buChar char="u"/>
              <a:defRPr/>
            </a:pPr>
            <a:r>
              <a:rPr lang="en-US" sz="2600" dirty="0"/>
              <a:t>The Nonaka and Takeuchi model of KM has its roots in a holistic model of knowledge creation and the management of "serendipity”.</a:t>
            </a:r>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599683" cy="709226"/>
          </a:xfrm>
        </p:spPr>
        <p:txBody>
          <a:bodyPr>
            <a:normAutofit fontScale="90000"/>
          </a:bodyPr>
          <a:lstStyle/>
          <a:p>
            <a:r>
              <a:rPr lang="en-US" sz="4000" b="1" dirty="0">
                <a:solidFill>
                  <a:srgbClr val="ED7D31"/>
                </a:solidFill>
              </a:rPr>
              <a:t>The Nonaka and Takeuchi knowledge spiral Model</a:t>
            </a:r>
          </a:p>
        </p:txBody>
      </p:sp>
    </p:spTree>
    <p:extLst>
      <p:ext uri="{BB962C8B-B14F-4D97-AF65-F5344CB8AC3E}">
        <p14:creationId xmlns:p14="http://schemas.microsoft.com/office/powerpoint/2010/main" val="1574414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lvl="1" indent="-342900" algn="just">
              <a:lnSpc>
                <a:spcPct val="100000"/>
              </a:lnSpc>
              <a:spcBef>
                <a:spcPts val="1800"/>
              </a:spcBef>
              <a:buClr>
                <a:srgbClr val="973735"/>
              </a:buClr>
              <a:buSzPct val="50000"/>
              <a:buFont typeface="Wingdings" pitchFamily="2" charset="2"/>
              <a:buChar char="u"/>
              <a:defRPr/>
            </a:pPr>
            <a:r>
              <a:rPr lang="en-US" sz="2600" dirty="0"/>
              <a:t>Nonaka and Takeuchi argue that a key factor behind the Japanese enterprises‘ successful track record in innovation stems from the more tacit-driven approach to knowledge management.</a:t>
            </a:r>
          </a:p>
          <a:p>
            <a:pPr marL="342900" lvl="1" indent="-342900" algn="just">
              <a:lnSpc>
                <a:spcPct val="100000"/>
              </a:lnSpc>
              <a:spcBef>
                <a:spcPts val="1800"/>
              </a:spcBef>
              <a:buClr>
                <a:srgbClr val="973735"/>
              </a:buClr>
              <a:buSzPct val="50000"/>
              <a:buFont typeface="Wingdings" pitchFamily="2" charset="2"/>
              <a:buChar char="u"/>
              <a:defRPr/>
            </a:pPr>
            <a:r>
              <a:rPr lang="en-US" sz="2600" dirty="0"/>
              <a:t>They maintain that Western culture considers knower and known as separate entities </a:t>
            </a:r>
          </a:p>
          <a:p>
            <a:pPr marL="342900" lvl="1" indent="-342900" algn="just">
              <a:lnSpc>
                <a:spcPct val="100000"/>
              </a:lnSpc>
              <a:spcBef>
                <a:spcPts val="1800"/>
              </a:spcBef>
              <a:buClr>
                <a:srgbClr val="973735"/>
              </a:buClr>
              <a:buSzPct val="50000"/>
              <a:buFont typeface="Wingdings" pitchFamily="2" charset="2"/>
              <a:buChar char="u"/>
              <a:defRPr/>
            </a:pPr>
            <a:r>
              <a:rPr lang="en-US" sz="2600" dirty="0"/>
              <a:t>In contrast, the Japanese, through the structural characteristics of their language and through influences such as Zen Buddhism, believe in the oneness of humanity and nature, body and mind, self and other</a:t>
            </a:r>
          </a:p>
          <a:p>
            <a:pPr marL="342900" lvl="1" indent="-342900" algn="just">
              <a:lnSpc>
                <a:spcPct val="100000"/>
              </a:lnSpc>
              <a:spcBef>
                <a:spcPts val="1800"/>
              </a:spcBef>
              <a:buClr>
                <a:srgbClr val="973735"/>
              </a:buClr>
              <a:buSzPct val="50000"/>
              <a:buFont typeface="Wingdings" pitchFamily="2" charset="2"/>
              <a:buChar char="u"/>
              <a:defRPr/>
            </a:pPr>
            <a:r>
              <a:rPr lang="en-US" sz="2600" dirty="0"/>
              <a:t>In such a cultural environment, knowledge is principally "group knowledge," easily converted and mobilized</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223763" cy="709226"/>
          </a:xfrm>
        </p:spPr>
        <p:txBody>
          <a:bodyPr>
            <a:normAutofit fontScale="90000"/>
          </a:bodyPr>
          <a:lstStyle/>
          <a:p>
            <a:r>
              <a:rPr lang="en-US" sz="4000" b="1" dirty="0">
                <a:solidFill>
                  <a:srgbClr val="ED7D31"/>
                </a:solidFill>
              </a:rPr>
              <a:t>The Nonaka and Takeuchi knowledge spiral Model</a:t>
            </a:r>
            <a:endParaRPr lang="en-US" sz="4000" b="1" dirty="0"/>
          </a:p>
        </p:txBody>
      </p:sp>
    </p:spTree>
    <p:extLst>
      <p:ext uri="{BB962C8B-B14F-4D97-AF65-F5344CB8AC3E}">
        <p14:creationId xmlns:p14="http://schemas.microsoft.com/office/powerpoint/2010/main" val="524258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0" y="1664593"/>
            <a:ext cx="11756571" cy="4255275"/>
          </a:xfrm>
        </p:spPr>
        <p:txBody>
          <a:bodyPr>
            <a:normAutofit/>
          </a:bodyPr>
          <a:lstStyle/>
          <a:p>
            <a:pPr marL="342900" lvl="1" indent="-342900" algn="just">
              <a:lnSpc>
                <a:spcPct val="100000"/>
              </a:lnSpc>
              <a:spcBef>
                <a:spcPts val="2400"/>
              </a:spcBef>
              <a:buClr>
                <a:srgbClr val="973735"/>
              </a:buClr>
              <a:buSzPct val="50000"/>
              <a:buFont typeface="Wingdings" pitchFamily="2" charset="2"/>
              <a:buChar char="u"/>
              <a:defRPr/>
            </a:pPr>
            <a:r>
              <a:rPr lang="en-US" sz="2600" dirty="0"/>
              <a:t>Nonaka and Takeuchi underline the necessity of integrating the two approaches from the cultural, epistemological, and organizational points of view, in order to acquire new cultural and operational tools for better knowledge-creating organizations.</a:t>
            </a:r>
          </a:p>
          <a:p>
            <a:pPr marL="342900" lvl="1" indent="-342900" algn="just">
              <a:lnSpc>
                <a:spcPct val="100000"/>
              </a:lnSpc>
              <a:spcBef>
                <a:spcPts val="2400"/>
              </a:spcBef>
              <a:buClr>
                <a:srgbClr val="973735"/>
              </a:buClr>
              <a:buSzPct val="50000"/>
              <a:buFont typeface="Wingdings" pitchFamily="2" charset="2"/>
              <a:buChar char="u"/>
              <a:defRPr/>
            </a:pPr>
            <a:r>
              <a:rPr lang="en-US" sz="2600" dirty="0"/>
              <a:t>Their construct of the hypertext organization formalizes the need for integrating the traditionally opposed concepts of Western and Japanese schools of thought</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559043" cy="709226"/>
          </a:xfrm>
        </p:spPr>
        <p:txBody>
          <a:bodyPr>
            <a:normAutofit fontScale="90000"/>
          </a:bodyPr>
          <a:lstStyle/>
          <a:p>
            <a:r>
              <a:rPr lang="en-US" sz="4000" b="1" dirty="0">
                <a:solidFill>
                  <a:srgbClr val="ED7D31"/>
                </a:solidFill>
              </a:rPr>
              <a:t>The Nonaka and Takeuchi knowledge spiral Model</a:t>
            </a:r>
            <a:endParaRPr lang="en-US" sz="4000" b="1" dirty="0"/>
          </a:p>
        </p:txBody>
      </p:sp>
    </p:spTree>
    <p:extLst>
      <p:ext uri="{BB962C8B-B14F-4D97-AF65-F5344CB8AC3E}">
        <p14:creationId xmlns:p14="http://schemas.microsoft.com/office/powerpoint/2010/main" val="330319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The knowledge creation process</a:t>
            </a:r>
          </a:p>
          <a:p>
            <a:pPr marL="800100" lvl="1" indent="-342900" algn="just">
              <a:lnSpc>
                <a:spcPct val="100000"/>
              </a:lnSpc>
              <a:spcBef>
                <a:spcPts val="1800"/>
              </a:spcBef>
              <a:buClr>
                <a:srgbClr val="973735"/>
              </a:buClr>
              <a:buSzPct val="50000"/>
              <a:buFont typeface="Wingdings" pitchFamily="2" charset="2"/>
              <a:buChar char="u"/>
              <a:defRPr/>
            </a:pPr>
            <a:r>
              <a:rPr lang="en-US" sz="2600" dirty="0"/>
              <a:t>Knowledge creation always begins with the individual.</a:t>
            </a:r>
          </a:p>
          <a:p>
            <a:pPr marL="800100" lvl="1" indent="-342900" algn="just">
              <a:lnSpc>
                <a:spcPct val="100000"/>
              </a:lnSpc>
              <a:spcBef>
                <a:spcPts val="1800"/>
              </a:spcBef>
              <a:buClr>
                <a:srgbClr val="973735"/>
              </a:buClr>
              <a:buSzPct val="50000"/>
              <a:buFont typeface="Wingdings" pitchFamily="2" charset="2"/>
              <a:buChar char="u"/>
              <a:defRPr/>
            </a:pPr>
            <a:r>
              <a:rPr lang="en-US" sz="2600" dirty="0"/>
              <a:t>Making personal knowledge available to others in the company is at the core of this KM model.</a:t>
            </a:r>
          </a:p>
          <a:p>
            <a:pPr marL="800100" lvl="1" indent="-342900" algn="just">
              <a:lnSpc>
                <a:spcPct val="100000"/>
              </a:lnSpc>
              <a:spcBef>
                <a:spcPts val="1800"/>
              </a:spcBef>
              <a:buClr>
                <a:srgbClr val="973735"/>
              </a:buClr>
              <a:buSzPct val="50000"/>
              <a:buFont typeface="Wingdings" pitchFamily="2" charset="2"/>
              <a:buChar char="u"/>
              <a:defRPr/>
            </a:pPr>
            <a:r>
              <a:rPr lang="en-US" sz="2600" dirty="0"/>
              <a:t>Knowledge creation consists of a social process between individuals in which knowledge transformation is not simply a unidirectional process but it is interactive and spiral.</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305043" cy="709226"/>
          </a:xfrm>
        </p:spPr>
        <p:txBody>
          <a:bodyPr>
            <a:normAutofit fontScale="90000"/>
          </a:bodyPr>
          <a:lstStyle/>
          <a:p>
            <a:r>
              <a:rPr lang="en-US" sz="4000" b="1" dirty="0">
                <a:solidFill>
                  <a:srgbClr val="ED7D31"/>
                </a:solidFill>
              </a:rPr>
              <a:t>The Nonaka and Takeuchi knowledge spiral Model</a:t>
            </a:r>
            <a:endParaRPr lang="en-US" sz="4000" b="1" dirty="0"/>
          </a:p>
        </p:txBody>
      </p:sp>
    </p:spTree>
    <p:extLst>
      <p:ext uri="{BB962C8B-B14F-4D97-AF65-F5344CB8AC3E}">
        <p14:creationId xmlns:p14="http://schemas.microsoft.com/office/powerpoint/2010/main" val="973474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4" name="Content Placeholder 3"/>
          <p:cNvSpPr>
            <a:spLocks noGrp="1"/>
          </p:cNvSpPr>
          <p:nvPr>
            <p:ph sz="quarter" idx="1"/>
          </p:nvPr>
        </p:nvSpPr>
        <p:spPr>
          <a:xfrm>
            <a:off x="0" y="2062065"/>
            <a:ext cx="11971176" cy="3857803"/>
          </a:xfrm>
        </p:spPr>
        <p:txBody>
          <a:bodyPr>
            <a:normAutofit fontScale="92500"/>
          </a:bodyPr>
          <a:lstStyle/>
          <a:p>
            <a:pPr marL="342900" indent="-342900" algn="just">
              <a:lnSpc>
                <a:spcPct val="100000"/>
              </a:lnSpc>
              <a:spcBef>
                <a:spcPts val="1800"/>
              </a:spcBef>
              <a:buClr>
                <a:srgbClr val="973735"/>
              </a:buClr>
              <a:buSzPct val="50000"/>
              <a:buFont typeface="Wingdings" pitchFamily="2" charset="2"/>
              <a:buChar char="u"/>
              <a:defRPr/>
            </a:pPr>
            <a:r>
              <a:rPr lang="en-US" b="1" dirty="0">
                <a:solidFill>
                  <a:srgbClr val="ED7D31"/>
                </a:solidFill>
              </a:rPr>
              <a:t>Knowledge conversion: </a:t>
            </a:r>
            <a:r>
              <a:rPr lang="en-US" dirty="0"/>
              <a:t>There are four modes of knowledge conversion:</a:t>
            </a:r>
          </a:p>
          <a:p>
            <a:pPr marL="0" indent="0" algn="just">
              <a:lnSpc>
                <a:spcPct val="100000"/>
              </a:lnSpc>
              <a:spcBef>
                <a:spcPts val="1800"/>
              </a:spcBef>
              <a:buClr>
                <a:srgbClr val="973735"/>
              </a:buClr>
              <a:buSzPct val="50000"/>
              <a:buNone/>
              <a:defRPr/>
            </a:pPr>
            <a:r>
              <a:rPr lang="en-US" dirty="0"/>
              <a:t>1. From tacit knowledge to tacit knowledge: the process of socialization.</a:t>
            </a:r>
          </a:p>
          <a:p>
            <a:pPr marL="0" indent="0" algn="just">
              <a:lnSpc>
                <a:spcPct val="100000"/>
              </a:lnSpc>
              <a:spcBef>
                <a:spcPts val="1800"/>
              </a:spcBef>
              <a:buClr>
                <a:srgbClr val="973735"/>
              </a:buClr>
              <a:buSzPct val="50000"/>
              <a:buNone/>
              <a:defRPr/>
            </a:pPr>
            <a:r>
              <a:rPr lang="en-US" dirty="0"/>
              <a:t>2. From tacit knowledge to explicit knowledge: the process of externalization.</a:t>
            </a:r>
          </a:p>
          <a:p>
            <a:pPr marL="0" indent="0" algn="just">
              <a:lnSpc>
                <a:spcPct val="100000"/>
              </a:lnSpc>
              <a:spcBef>
                <a:spcPts val="1800"/>
              </a:spcBef>
              <a:buClr>
                <a:srgbClr val="973735"/>
              </a:buClr>
              <a:buSzPct val="50000"/>
              <a:buNone/>
              <a:defRPr/>
            </a:pPr>
            <a:r>
              <a:rPr lang="en-US" dirty="0"/>
              <a:t>3. From explicit knowledge to explicit knowledge: the process of combination.</a:t>
            </a:r>
          </a:p>
          <a:p>
            <a:pPr marL="0" indent="0" algn="just">
              <a:lnSpc>
                <a:spcPct val="100000"/>
              </a:lnSpc>
              <a:spcBef>
                <a:spcPts val="1800"/>
              </a:spcBef>
              <a:buClr>
                <a:srgbClr val="973735"/>
              </a:buClr>
              <a:buSzPct val="50000"/>
              <a:buNone/>
              <a:defRPr/>
            </a:pPr>
            <a:r>
              <a:rPr lang="en-US" dirty="0"/>
              <a:t>4. From explicit knowledge to tacit knowledge: the process of internalization.</a:t>
            </a:r>
            <a:endParaRPr lang="en-US" b="1" dirty="0">
              <a:solidFill>
                <a:srgbClr val="ED7D31"/>
              </a:solidFill>
            </a:endParaRP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589523" cy="709226"/>
          </a:xfrm>
        </p:spPr>
        <p:txBody>
          <a:bodyPr>
            <a:normAutofit fontScale="90000"/>
          </a:bodyPr>
          <a:lstStyle/>
          <a:p>
            <a:r>
              <a:rPr lang="en-US" sz="4000" b="1" dirty="0">
                <a:solidFill>
                  <a:srgbClr val="ED7D31"/>
                </a:solidFill>
              </a:rPr>
              <a:t>The Nonaka and Takeuchi knowledge spiral Model</a:t>
            </a:r>
            <a:endParaRPr lang="en-US" sz="4000" b="1" dirty="0"/>
          </a:p>
        </p:txBody>
      </p:sp>
    </p:spTree>
    <p:extLst>
      <p:ext uri="{BB962C8B-B14F-4D97-AF65-F5344CB8AC3E}">
        <p14:creationId xmlns:p14="http://schemas.microsoft.com/office/powerpoint/2010/main" val="206790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437123" cy="709226"/>
          </a:xfrm>
        </p:spPr>
        <p:txBody>
          <a:bodyPr>
            <a:normAutofit fontScale="90000"/>
          </a:bodyPr>
          <a:lstStyle/>
          <a:p>
            <a:r>
              <a:rPr lang="en-US" sz="4000" b="1" dirty="0">
                <a:solidFill>
                  <a:srgbClr val="ED7D31"/>
                </a:solidFill>
              </a:rPr>
              <a:t>The Nonaka and Takeuchi knowledge spiral Model</a:t>
            </a:r>
            <a:endParaRPr lang="en-US" sz="4000" b="1" dirty="0"/>
          </a:p>
        </p:txBody>
      </p:sp>
      <p:graphicFrame>
        <p:nvGraphicFramePr>
          <p:cNvPr id="5" name="Object 4">
            <a:extLst>
              <a:ext uri="{FF2B5EF4-FFF2-40B4-BE49-F238E27FC236}">
                <a16:creationId xmlns:a16="http://schemas.microsoft.com/office/drawing/2014/main" id="{6AAC28E6-B65B-A9A9-DF88-17F485F97696}"/>
              </a:ext>
            </a:extLst>
          </p:cNvPr>
          <p:cNvGraphicFramePr>
            <a:graphicFrameLocks noChangeAspect="1"/>
          </p:cNvGraphicFramePr>
          <p:nvPr>
            <p:extLst>
              <p:ext uri="{D42A27DB-BD31-4B8C-83A1-F6EECF244321}">
                <p14:modId xmlns:p14="http://schemas.microsoft.com/office/powerpoint/2010/main" val="4054158420"/>
              </p:ext>
            </p:extLst>
          </p:nvPr>
        </p:nvGraphicFramePr>
        <p:xfrm>
          <a:off x="2769864" y="6065848"/>
          <a:ext cx="6988175" cy="296863"/>
        </p:xfrm>
        <a:graphic>
          <a:graphicData uri="http://schemas.openxmlformats.org/presentationml/2006/ole">
            <mc:AlternateContent xmlns:mc="http://schemas.openxmlformats.org/markup-compatibility/2006">
              <mc:Choice xmlns:v="urn:schemas-microsoft-com:vml" Requires="v">
                <p:oleObj name="Bitmap Image" r:id="rId3" imgW="6987600" imgH="297360" progId="PBrush">
                  <p:embed/>
                </p:oleObj>
              </mc:Choice>
              <mc:Fallback>
                <p:oleObj name="Bitmap Image" r:id="rId3" imgW="6987600" imgH="297360" progId="PBrush">
                  <p:embed/>
                  <p:pic>
                    <p:nvPicPr>
                      <p:cNvPr id="0" name=""/>
                      <p:cNvPicPr/>
                      <p:nvPr/>
                    </p:nvPicPr>
                    <p:blipFill>
                      <a:blip r:embed="rId4"/>
                      <a:stretch>
                        <a:fillRect/>
                      </a:stretch>
                    </p:blipFill>
                    <p:spPr>
                      <a:xfrm>
                        <a:off x="2769864" y="6065848"/>
                        <a:ext cx="6988175" cy="29686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61C35EB6-9662-67B4-F9B9-BB44D2E57338}"/>
              </a:ext>
            </a:extLst>
          </p:cNvPr>
          <p:cNvGraphicFramePr>
            <a:graphicFrameLocks noChangeAspect="1"/>
          </p:cNvGraphicFramePr>
          <p:nvPr>
            <p:extLst>
              <p:ext uri="{D42A27DB-BD31-4B8C-83A1-F6EECF244321}">
                <p14:modId xmlns:p14="http://schemas.microsoft.com/office/powerpoint/2010/main" val="3549505497"/>
              </p:ext>
            </p:extLst>
          </p:nvPr>
        </p:nvGraphicFramePr>
        <p:xfrm>
          <a:off x="2414588" y="1859093"/>
          <a:ext cx="6446837" cy="3733800"/>
        </p:xfrm>
        <a:graphic>
          <a:graphicData uri="http://schemas.openxmlformats.org/presentationml/2006/ole">
            <mc:AlternateContent xmlns:mc="http://schemas.openxmlformats.org/markup-compatibility/2006">
              <mc:Choice xmlns:v="urn:schemas-microsoft-com:vml" Requires="v">
                <p:oleObj name="Bitmap Image" r:id="rId5" imgW="6446520" imgH="3733920" progId="PBrush">
                  <p:embed/>
                </p:oleObj>
              </mc:Choice>
              <mc:Fallback>
                <p:oleObj name="Bitmap Image" r:id="rId5" imgW="6446520" imgH="3733920" progId="PBrush">
                  <p:embed/>
                  <p:pic>
                    <p:nvPicPr>
                      <p:cNvPr id="0" name=""/>
                      <p:cNvPicPr/>
                      <p:nvPr/>
                    </p:nvPicPr>
                    <p:blipFill>
                      <a:blip r:embed="rId6"/>
                      <a:stretch>
                        <a:fillRect/>
                      </a:stretch>
                    </p:blipFill>
                    <p:spPr>
                      <a:xfrm>
                        <a:off x="2414588" y="1859093"/>
                        <a:ext cx="6446837" cy="3733800"/>
                      </a:xfrm>
                      <a:prstGeom prst="rect">
                        <a:avLst/>
                      </a:prstGeom>
                    </p:spPr>
                  </p:pic>
                </p:oleObj>
              </mc:Fallback>
            </mc:AlternateContent>
          </a:graphicData>
        </a:graphic>
      </p:graphicFrame>
    </p:spTree>
    <p:extLst>
      <p:ext uri="{BB962C8B-B14F-4D97-AF65-F5344CB8AC3E}">
        <p14:creationId xmlns:p14="http://schemas.microsoft.com/office/powerpoint/2010/main" val="2192288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4" name="Content Placeholder 3"/>
          <p:cNvSpPr>
            <a:spLocks noGrp="1"/>
          </p:cNvSpPr>
          <p:nvPr>
            <p:ph sz="quarter" idx="1"/>
          </p:nvPr>
        </p:nvSpPr>
        <p:spPr>
          <a:xfrm>
            <a:off x="0" y="1664592"/>
            <a:ext cx="11776966" cy="4816107"/>
          </a:xfrm>
        </p:spPr>
        <p:txBody>
          <a:bodyPr>
            <a:normAutofit/>
          </a:bodyPr>
          <a:lstStyle/>
          <a:p>
            <a:pPr marL="342900" indent="-342900" algn="just">
              <a:lnSpc>
                <a:spcPct val="110000"/>
              </a:lnSpc>
              <a:spcBef>
                <a:spcPts val="1800"/>
              </a:spcBef>
              <a:buClr>
                <a:srgbClr val="973735"/>
              </a:buClr>
              <a:buSzPct val="50000"/>
              <a:buFont typeface="Wingdings" pitchFamily="2" charset="2"/>
              <a:buChar char="u"/>
              <a:defRPr/>
            </a:pPr>
            <a:r>
              <a:rPr lang="en-US" b="1" dirty="0">
                <a:solidFill>
                  <a:srgbClr val="ED7D31"/>
                </a:solidFill>
              </a:rPr>
              <a:t>Knowledge Spiral </a:t>
            </a:r>
          </a:p>
          <a:p>
            <a:pPr marL="800100" lvl="1" indent="-342900" algn="just">
              <a:lnSpc>
                <a:spcPct val="100000"/>
              </a:lnSpc>
              <a:spcBef>
                <a:spcPts val="1800"/>
              </a:spcBef>
              <a:buClr>
                <a:srgbClr val="973735"/>
              </a:buClr>
              <a:buSzPct val="50000"/>
              <a:buFont typeface="Wingdings" pitchFamily="2" charset="2"/>
              <a:buChar char="u"/>
              <a:defRPr/>
            </a:pPr>
            <a:r>
              <a:rPr lang="en-US" sz="2600" dirty="0"/>
              <a:t>Knowledge creation is not a sequential process</a:t>
            </a:r>
          </a:p>
          <a:p>
            <a:pPr marL="800100" lvl="1" indent="-342900" algn="just">
              <a:lnSpc>
                <a:spcPct val="100000"/>
              </a:lnSpc>
              <a:spcBef>
                <a:spcPts val="1800"/>
              </a:spcBef>
              <a:buClr>
                <a:srgbClr val="973735"/>
              </a:buClr>
              <a:buSzPct val="50000"/>
              <a:buFont typeface="Wingdings" pitchFamily="2" charset="2"/>
              <a:buChar char="u"/>
              <a:defRPr/>
            </a:pPr>
            <a:r>
              <a:rPr lang="en-US" sz="2600" dirty="0"/>
              <a:t>Knowledge creation is not a sequential process. Rather, it depends on a continuous and dynamic interaction between tacit and explicit knowledge throughout the four quadrants.</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knowledge spiral shows how organizations articulate, organize and systematize individual tacit knowledge.</a:t>
            </a:r>
          </a:p>
          <a:p>
            <a:pPr marL="800100" lvl="1" indent="-342900" algn="just">
              <a:lnSpc>
                <a:spcPct val="100000"/>
              </a:lnSpc>
              <a:spcBef>
                <a:spcPts val="1800"/>
              </a:spcBef>
              <a:buClr>
                <a:srgbClr val="973735"/>
              </a:buClr>
              <a:buSzPct val="50000"/>
              <a:buFont typeface="Wingdings" pitchFamily="2" charset="2"/>
              <a:buChar char="u"/>
              <a:defRPr/>
            </a:pPr>
            <a:r>
              <a:rPr lang="en-US" sz="2600" dirty="0"/>
              <a:t>Organizations produce and develop tools, structures, and models to accumulate and share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1776966" cy="709226"/>
          </a:xfrm>
        </p:spPr>
        <p:txBody>
          <a:bodyPr>
            <a:normAutofit fontScale="90000"/>
          </a:bodyPr>
          <a:lstStyle/>
          <a:p>
            <a:r>
              <a:rPr lang="en-US" sz="4000" b="1" dirty="0">
                <a:solidFill>
                  <a:srgbClr val="ED7D31"/>
                </a:solidFill>
              </a:rPr>
              <a:t>The Nonaka and Takeuchi knowledge spiral Model</a:t>
            </a:r>
            <a:endParaRPr lang="en-US" sz="4000" b="1" dirty="0"/>
          </a:p>
        </p:txBody>
      </p:sp>
    </p:spTree>
    <p:extLst>
      <p:ext uri="{BB962C8B-B14F-4D97-AF65-F5344CB8AC3E}">
        <p14:creationId xmlns:p14="http://schemas.microsoft.com/office/powerpoint/2010/main" val="432956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sp>
        <p:nvSpPr>
          <p:cNvPr id="4" name="Content Placeholder 3"/>
          <p:cNvSpPr>
            <a:spLocks noGrp="1"/>
          </p:cNvSpPr>
          <p:nvPr>
            <p:ph sz="quarter" idx="1"/>
          </p:nvPr>
        </p:nvSpPr>
        <p:spPr>
          <a:xfrm>
            <a:off x="0" y="1627269"/>
            <a:ext cx="11663265"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solidFill>
                  <a:srgbClr val="ED7D31"/>
                </a:solidFill>
              </a:rPr>
              <a:t>Knowledge Spiral (</a:t>
            </a:r>
            <a:r>
              <a:rPr lang="en-US" b="1" dirty="0" err="1">
                <a:solidFill>
                  <a:srgbClr val="ED7D31"/>
                </a:solidFill>
              </a:rPr>
              <a:t>con’t</a:t>
            </a:r>
            <a:r>
              <a:rPr lang="en-US" b="1" dirty="0">
                <a:solidFill>
                  <a:srgbClr val="ED7D31"/>
                </a:solidFill>
              </a:rPr>
              <a:t>)</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knowledge spiral is a continuous activity of knowledge flow, sharing, and conversion by individuals, communities, and the organization itself.</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two steps in the knowledge spiral :</a:t>
            </a:r>
          </a:p>
          <a:p>
            <a:pPr marL="1257300" lvl="2" indent="-342900" algn="just">
              <a:lnSpc>
                <a:spcPct val="100000"/>
              </a:lnSpc>
              <a:spcBef>
                <a:spcPts val="1800"/>
              </a:spcBef>
              <a:buClr>
                <a:srgbClr val="973735"/>
              </a:buClr>
              <a:buSzPct val="50000"/>
              <a:buFont typeface="Wingdings" pitchFamily="2" charset="2"/>
              <a:buChar char="u"/>
              <a:defRPr/>
            </a:pPr>
            <a:r>
              <a:rPr lang="en-US" sz="2600" dirty="0"/>
              <a:t>externalization, which converts tacit into explicit know ledge </a:t>
            </a:r>
          </a:p>
          <a:p>
            <a:pPr marL="1257300" lvl="2" indent="-342900" algn="just">
              <a:lnSpc>
                <a:spcPct val="100000"/>
              </a:lnSpc>
              <a:spcBef>
                <a:spcPts val="1800"/>
              </a:spcBef>
              <a:buClr>
                <a:srgbClr val="973735"/>
              </a:buClr>
              <a:buSzPct val="50000"/>
              <a:buFont typeface="Wingdings" pitchFamily="2" charset="2"/>
              <a:buChar char="u"/>
              <a:defRPr/>
            </a:pPr>
            <a:r>
              <a:rPr lang="en-US" sz="2600" dirty="0"/>
              <a:t>internalization, which converts explicit into tacit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467603" cy="709226"/>
          </a:xfrm>
        </p:spPr>
        <p:txBody>
          <a:bodyPr>
            <a:normAutofit fontScale="90000"/>
          </a:bodyPr>
          <a:lstStyle/>
          <a:p>
            <a:r>
              <a:rPr lang="en-US" sz="4000" b="1" dirty="0">
                <a:solidFill>
                  <a:srgbClr val="ED7D31"/>
                </a:solidFill>
              </a:rPr>
              <a:t>The Nonaka and Takeuchi knowledge spiral Model</a:t>
            </a:r>
            <a:endParaRPr lang="en-US" sz="4000" b="1" dirty="0"/>
          </a:p>
        </p:txBody>
      </p:sp>
    </p:spTree>
    <p:extLst>
      <p:ext uri="{BB962C8B-B14F-4D97-AF65-F5344CB8AC3E}">
        <p14:creationId xmlns:p14="http://schemas.microsoft.com/office/powerpoint/2010/main" val="956541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4" name="Content Placeholder 3"/>
          <p:cNvSpPr>
            <a:spLocks noGrp="1"/>
          </p:cNvSpPr>
          <p:nvPr>
            <p:ph sz="quarter" idx="1"/>
          </p:nvPr>
        </p:nvSpPr>
        <p:spPr>
          <a:xfrm>
            <a:off x="0" y="1664593"/>
            <a:ext cx="11971176" cy="4255275"/>
          </a:xfrm>
        </p:spPr>
        <p:txBody>
          <a:bodyPr>
            <a:noAutofit/>
          </a:bodyPr>
          <a:lstStyle/>
          <a:p>
            <a:pPr marL="457200" lvl="1" indent="0" algn="just">
              <a:lnSpc>
                <a:spcPct val="100000"/>
              </a:lnSpc>
              <a:spcBef>
                <a:spcPts val="1800"/>
              </a:spcBef>
              <a:buClr>
                <a:srgbClr val="973735"/>
              </a:buClr>
              <a:buSzPct val="50000"/>
              <a:buNone/>
              <a:defRPr/>
            </a:pPr>
            <a:r>
              <a:rPr lang="en-US" sz="2600" dirty="0"/>
              <a:t>They describe the following "Enabling Conditions for Organizational Knowledge Creation :</a:t>
            </a:r>
          </a:p>
          <a:p>
            <a:pPr marL="457200" lvl="1" indent="0" algn="just">
              <a:lnSpc>
                <a:spcPct val="100000"/>
              </a:lnSpc>
              <a:spcBef>
                <a:spcPts val="1800"/>
              </a:spcBef>
              <a:buClr>
                <a:srgbClr val="973735"/>
              </a:buClr>
              <a:buSzPct val="50000"/>
              <a:buNone/>
              <a:defRPr/>
            </a:pPr>
            <a:r>
              <a:rPr lang="en-US" sz="2600" b="1" dirty="0"/>
              <a:t>1. Intention</a:t>
            </a:r>
            <a:r>
              <a:rPr lang="en-US" sz="2600" dirty="0"/>
              <a:t>: an organization's aspiration to its goals (strategy formulation in a business setting).</a:t>
            </a:r>
          </a:p>
          <a:p>
            <a:pPr marL="457200" lvl="1" indent="0" algn="just">
              <a:lnSpc>
                <a:spcPct val="100000"/>
              </a:lnSpc>
              <a:spcBef>
                <a:spcPts val="1800"/>
              </a:spcBef>
              <a:buClr>
                <a:srgbClr val="973735"/>
              </a:buClr>
              <a:buSzPct val="50000"/>
              <a:buNone/>
              <a:defRPr/>
            </a:pPr>
            <a:r>
              <a:rPr lang="en-US" sz="2600" b="1" dirty="0"/>
              <a:t>2. Autonomy</a:t>
            </a:r>
            <a:r>
              <a:rPr lang="en-US" sz="2600" dirty="0"/>
              <a:t>: condition whereby individuals act autonomously, according to the "minimum critical specification" principle, and are involved in cross-functional self-organized teams.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solidFill>
                  <a:srgbClr val="ED7D31"/>
                </a:solidFill>
              </a:rPr>
              <a:t>The Nonaka and Takeuchi knowledge spiral Model</a:t>
            </a:r>
            <a:endParaRPr lang="en-US" sz="4000" b="1" dirty="0"/>
          </a:p>
        </p:txBody>
      </p:sp>
    </p:spTree>
    <p:extLst>
      <p:ext uri="{BB962C8B-B14F-4D97-AF65-F5344CB8AC3E}">
        <p14:creationId xmlns:p14="http://schemas.microsoft.com/office/powerpoint/2010/main" val="1716622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4" name="Content Placeholder 3"/>
          <p:cNvSpPr>
            <a:spLocks noGrp="1"/>
          </p:cNvSpPr>
          <p:nvPr>
            <p:ph sz="quarter" idx="1"/>
          </p:nvPr>
        </p:nvSpPr>
        <p:spPr>
          <a:xfrm>
            <a:off x="0" y="1617938"/>
            <a:ext cx="11971176" cy="4255275"/>
          </a:xfrm>
        </p:spPr>
        <p:txBody>
          <a:bodyPr>
            <a:noAutofit/>
          </a:bodyPr>
          <a:lstStyle/>
          <a:p>
            <a:pPr marL="457200" lvl="1" indent="0" algn="just">
              <a:lnSpc>
                <a:spcPct val="100000"/>
              </a:lnSpc>
              <a:spcBef>
                <a:spcPts val="1200"/>
              </a:spcBef>
              <a:buClr>
                <a:srgbClr val="973735"/>
              </a:buClr>
              <a:buSzPct val="50000"/>
              <a:buNone/>
              <a:defRPr/>
            </a:pPr>
            <a:r>
              <a:rPr lang="en-US" sz="2600" b="1" dirty="0"/>
              <a:t>3. Fluctuation and Creative Chaos</a:t>
            </a:r>
            <a:r>
              <a:rPr lang="en-US" sz="2600" dirty="0"/>
              <a:t>: condition that stimulates the interaction between the organization and the external environment and/or creates fluctuations and breakdowns by means of creative chaos or strategic equivocality.</a:t>
            </a:r>
          </a:p>
          <a:p>
            <a:pPr marL="457200" lvl="1" indent="0" algn="just">
              <a:lnSpc>
                <a:spcPct val="100000"/>
              </a:lnSpc>
              <a:spcBef>
                <a:spcPts val="1200"/>
              </a:spcBef>
              <a:buClr>
                <a:srgbClr val="973735"/>
              </a:buClr>
              <a:buSzPct val="50000"/>
              <a:buNone/>
              <a:defRPr/>
            </a:pPr>
            <a:r>
              <a:rPr lang="en-US" sz="2600" b="1" dirty="0"/>
              <a:t>4. Redundancy</a:t>
            </a:r>
            <a:r>
              <a:rPr lang="en-US" sz="2600" dirty="0"/>
              <a:t>: existence of information that goes beyond the immediate operational requirements of organizational members; competing multiple teams on the same issue; and strategic rotation of personnel.</a:t>
            </a:r>
          </a:p>
          <a:p>
            <a:pPr marL="457200" lvl="1" indent="0" algn="just">
              <a:lnSpc>
                <a:spcPct val="100000"/>
              </a:lnSpc>
              <a:spcBef>
                <a:spcPts val="1200"/>
              </a:spcBef>
              <a:buClr>
                <a:srgbClr val="973735"/>
              </a:buClr>
              <a:buSzPct val="50000"/>
              <a:buNone/>
              <a:defRPr/>
            </a:pPr>
            <a:r>
              <a:rPr lang="en-US" sz="2600" b="1" dirty="0"/>
              <a:t>5. Requisite Variety</a:t>
            </a:r>
            <a:r>
              <a:rPr lang="en-US" sz="2600" dirty="0"/>
              <a:t>: internal diversity to match the variety and complexity of the environment, and to provide everyone in the organization with the fastest access to the broadest variety of necessary information; flat and flexible organizational structure interlinked with effective information networks.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solidFill>
                  <a:srgbClr val="ED7D31"/>
                </a:solidFill>
              </a:rPr>
              <a:t>The Nonaka and Takeuchi knowledge spiral Model</a:t>
            </a:r>
            <a:endParaRPr lang="en-US" sz="4000" b="1" dirty="0"/>
          </a:p>
        </p:txBody>
      </p:sp>
    </p:spTree>
    <p:extLst>
      <p:ext uri="{BB962C8B-B14F-4D97-AF65-F5344CB8AC3E}">
        <p14:creationId xmlns:p14="http://schemas.microsoft.com/office/powerpoint/2010/main" val="2915799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24</a:t>
            </a:fld>
            <a:endParaRPr kumimoji="0" lang="en-US" dirty="0"/>
          </a:p>
        </p:txBody>
      </p:sp>
      <p:sp>
        <p:nvSpPr>
          <p:cNvPr id="4" name="Content Placeholder 3"/>
          <p:cNvSpPr>
            <a:spLocks noGrp="1"/>
          </p:cNvSpPr>
          <p:nvPr>
            <p:ph sz="quarter" idx="1"/>
          </p:nvPr>
        </p:nvSpPr>
        <p:spPr>
          <a:xfrm>
            <a:off x="0" y="1664593"/>
            <a:ext cx="11971176" cy="4255275"/>
          </a:xfrm>
        </p:spPr>
        <p:txBody>
          <a:bodyPr>
            <a:noAutofit/>
          </a:bodyPr>
          <a:lstStyle/>
          <a:p>
            <a:pPr marL="457200" lvl="1" indent="0" algn="just">
              <a:lnSpc>
                <a:spcPct val="100000"/>
              </a:lnSpc>
              <a:spcBef>
                <a:spcPts val="1800"/>
              </a:spcBef>
              <a:buClr>
                <a:srgbClr val="973735"/>
              </a:buClr>
              <a:buSzPct val="50000"/>
              <a:buNone/>
              <a:defRPr/>
            </a:pPr>
            <a:r>
              <a:rPr lang="en-US" sz="2600" dirty="0"/>
              <a:t>The Nonaka and Takeuchi model has proven to be one of the more robust ones in the field of KM, and it continues to be applied in a variety of settings.</a:t>
            </a:r>
          </a:p>
          <a:p>
            <a:pPr marL="800100" lvl="1" indent="-342900" algn="just">
              <a:lnSpc>
                <a:spcPct val="100000"/>
              </a:lnSpc>
              <a:spcBef>
                <a:spcPts val="1800"/>
              </a:spcBef>
              <a:buClr>
                <a:srgbClr val="973735"/>
              </a:buClr>
              <a:buSzPct val="50000"/>
              <a:buFont typeface="Wingdings" pitchFamily="2" charset="2"/>
              <a:buChar char="u"/>
              <a:defRPr/>
            </a:pPr>
            <a:r>
              <a:rPr lang="en-US" sz="2600" b="1" dirty="0"/>
              <a:t>Strengths:</a:t>
            </a:r>
          </a:p>
          <a:p>
            <a:pPr marL="1257300" lvl="2" indent="-342900" algn="just">
              <a:lnSpc>
                <a:spcPct val="100000"/>
              </a:lnSpc>
              <a:spcBef>
                <a:spcPts val="1800"/>
              </a:spcBef>
              <a:buClr>
                <a:srgbClr val="973735"/>
              </a:buClr>
              <a:buSzPct val="50000"/>
              <a:buFont typeface="Wingdings" pitchFamily="2" charset="2"/>
              <a:buChar char="u"/>
              <a:defRPr/>
            </a:pPr>
            <a:r>
              <a:rPr lang="en-US" sz="2400" dirty="0"/>
              <a:t>One of its greatest strengths is its simplicity-both in terms of understanding the basic tenets of the model and in terms of being able to quickly internalize and apply the KM model.</a:t>
            </a:r>
          </a:p>
          <a:p>
            <a:pPr marL="1257300" lvl="2" indent="-342900" algn="just">
              <a:lnSpc>
                <a:spcPct val="100000"/>
              </a:lnSpc>
              <a:spcBef>
                <a:spcPts val="1200"/>
              </a:spcBef>
              <a:buClr>
                <a:srgbClr val="973735"/>
              </a:buClr>
              <a:buSzPct val="50000"/>
              <a:buFont typeface="Wingdings" pitchFamily="2" charset="2"/>
              <a:buChar char="u"/>
              <a:defRPr/>
            </a:pPr>
            <a:endParaRPr lang="en-US" sz="2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366003" cy="709226"/>
          </a:xfrm>
        </p:spPr>
        <p:txBody>
          <a:bodyPr>
            <a:normAutofit fontScale="90000"/>
          </a:bodyPr>
          <a:lstStyle/>
          <a:p>
            <a:r>
              <a:rPr lang="en-US" sz="4000" b="1" dirty="0">
                <a:solidFill>
                  <a:srgbClr val="ED7D31"/>
                </a:solidFill>
              </a:rPr>
              <a:t>The Nonaka and Takeuchi knowledge spiral Model</a:t>
            </a:r>
            <a:endParaRPr lang="en-US" sz="4000" b="1" dirty="0"/>
          </a:p>
        </p:txBody>
      </p:sp>
    </p:spTree>
    <p:extLst>
      <p:ext uri="{BB962C8B-B14F-4D97-AF65-F5344CB8AC3E}">
        <p14:creationId xmlns:p14="http://schemas.microsoft.com/office/powerpoint/2010/main" val="2637482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25</a:t>
            </a:fld>
            <a:endParaRPr kumimoji="0" lang="en-US" dirty="0"/>
          </a:p>
        </p:txBody>
      </p:sp>
      <p:sp>
        <p:nvSpPr>
          <p:cNvPr id="4" name="Content Placeholder 3"/>
          <p:cNvSpPr>
            <a:spLocks noGrp="1"/>
          </p:cNvSpPr>
          <p:nvPr>
            <p:ph sz="quarter" idx="1"/>
          </p:nvPr>
        </p:nvSpPr>
        <p:spPr>
          <a:xfrm>
            <a:off x="0" y="1664593"/>
            <a:ext cx="11971176" cy="4255275"/>
          </a:xfrm>
        </p:spPr>
        <p:txBody>
          <a:bodyPr>
            <a:no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b="1" dirty="0"/>
              <a:t>Weakness</a:t>
            </a:r>
            <a:r>
              <a:rPr lang="en-US" sz="2600" dirty="0"/>
              <a:t>:</a:t>
            </a:r>
          </a:p>
          <a:p>
            <a:pPr marL="800100" lvl="1" indent="-342900" algn="just">
              <a:lnSpc>
                <a:spcPct val="100000"/>
              </a:lnSpc>
              <a:spcBef>
                <a:spcPts val="1800"/>
              </a:spcBef>
              <a:buClr>
                <a:srgbClr val="973735"/>
              </a:buClr>
              <a:buSzPct val="50000"/>
              <a:buFont typeface="Wingdings" pitchFamily="2" charset="2"/>
              <a:buChar char="u"/>
              <a:defRPr/>
            </a:pPr>
            <a:r>
              <a:rPr lang="en-US" dirty="0"/>
              <a:t>One of its major shortcomings is that, through valid, it does not appear to be sufficient to explain all of the stages involved in managing knowledge.</a:t>
            </a:r>
          </a:p>
          <a:p>
            <a:pPr marL="800100" lvl="1" indent="-342900" algn="just">
              <a:lnSpc>
                <a:spcPct val="100000"/>
              </a:lnSpc>
              <a:spcBef>
                <a:spcPts val="1800"/>
              </a:spcBef>
              <a:buClr>
                <a:srgbClr val="973735"/>
              </a:buClr>
              <a:buSzPct val="50000"/>
              <a:buFont typeface="Wingdings" pitchFamily="2" charset="2"/>
              <a:buChar char="u"/>
              <a:defRPr/>
            </a:pPr>
            <a:r>
              <a:rPr lang="en-US" dirty="0"/>
              <a:t>The Nonaka and Takeuchi model focuses on the knowledge transformations between tacit and explicit knowledge, but the model does not address larger issues of how decision making takes place by leveraging both forms of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498083" cy="709226"/>
          </a:xfrm>
        </p:spPr>
        <p:txBody>
          <a:bodyPr>
            <a:normAutofit fontScale="90000"/>
          </a:bodyPr>
          <a:lstStyle/>
          <a:p>
            <a:r>
              <a:rPr lang="en-US" sz="4000" b="1" dirty="0">
                <a:solidFill>
                  <a:srgbClr val="ED7D31"/>
                </a:solidFill>
              </a:rPr>
              <a:t>The Nonaka and Takeuchi knowledge spiral Model</a:t>
            </a:r>
            <a:endParaRPr lang="en-US" sz="4000" b="1" dirty="0"/>
          </a:p>
        </p:txBody>
      </p:sp>
    </p:spTree>
    <p:extLst>
      <p:ext uri="{BB962C8B-B14F-4D97-AF65-F5344CB8AC3E}">
        <p14:creationId xmlns:p14="http://schemas.microsoft.com/office/powerpoint/2010/main" val="791839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26</a:t>
            </a:fld>
            <a:endParaRPr kumimoji="0" lang="en-US" dirty="0"/>
          </a:p>
        </p:txBody>
      </p:sp>
      <p:sp>
        <p:nvSpPr>
          <p:cNvPr id="4" name="Content Placeholder 3"/>
          <p:cNvSpPr>
            <a:spLocks noGrp="1"/>
          </p:cNvSpPr>
          <p:nvPr>
            <p:ph sz="quarter" idx="1"/>
          </p:nvPr>
        </p:nvSpPr>
        <p:spPr>
          <a:xfrm>
            <a:off x="0" y="1664593"/>
            <a:ext cx="11971176" cy="4255275"/>
          </a:xfrm>
        </p:spPr>
        <p:txBody>
          <a:bodyPr>
            <a:normAutofit lnSpcReduction="10000"/>
          </a:bodyPr>
          <a:lstStyle/>
          <a:p>
            <a:pPr marL="342900" indent="-342900" algn="just">
              <a:lnSpc>
                <a:spcPct val="150000"/>
              </a:lnSpc>
              <a:spcBef>
                <a:spcPts val="600"/>
              </a:spcBef>
              <a:buClr>
                <a:srgbClr val="973735"/>
              </a:buClr>
              <a:buSzPct val="50000"/>
              <a:buFont typeface="Wingdings" pitchFamily="2" charset="2"/>
              <a:buChar char="u"/>
              <a:defRPr/>
            </a:pPr>
            <a:r>
              <a:rPr lang="en-US" dirty="0"/>
              <a:t>The von Krogh and </a:t>
            </a:r>
            <a:r>
              <a:rPr lang="en-US" dirty="0" err="1"/>
              <a:t>Roos</a:t>
            </a:r>
            <a:r>
              <a:rPr lang="en-US" dirty="0"/>
              <a:t> Model of Organizational Epistemology</a:t>
            </a:r>
          </a:p>
          <a:p>
            <a:pPr marL="342900" indent="-342900" algn="just">
              <a:lnSpc>
                <a:spcPct val="150000"/>
              </a:lnSpc>
              <a:spcBef>
                <a:spcPts val="600"/>
              </a:spcBef>
              <a:buClr>
                <a:srgbClr val="973735"/>
              </a:buClr>
              <a:buSzPct val="50000"/>
              <a:buFont typeface="Wingdings" pitchFamily="2" charset="2"/>
              <a:buChar char="u"/>
              <a:defRPr/>
            </a:pPr>
            <a:r>
              <a:rPr lang="en-US" dirty="0"/>
              <a:t>The Nonaka and Takeuchi knowledge spiral Model</a:t>
            </a:r>
          </a:p>
          <a:p>
            <a:pPr marL="342900" indent="-342900" algn="just">
              <a:lnSpc>
                <a:spcPct val="150000"/>
              </a:lnSpc>
              <a:spcBef>
                <a:spcPts val="600"/>
              </a:spcBef>
              <a:buClr>
                <a:srgbClr val="973735"/>
              </a:buClr>
              <a:buSzPct val="50000"/>
              <a:buFont typeface="Wingdings" pitchFamily="2" charset="2"/>
              <a:buChar char="u"/>
              <a:defRPr/>
            </a:pPr>
            <a:r>
              <a:rPr lang="en-US" b="1" dirty="0">
                <a:solidFill>
                  <a:srgbClr val="ED7D31"/>
                </a:solidFill>
              </a:rPr>
              <a:t>The Choo sense-making KM Model</a:t>
            </a:r>
          </a:p>
          <a:p>
            <a:pPr marL="342900" indent="-342900" algn="just">
              <a:lnSpc>
                <a:spcPct val="150000"/>
              </a:lnSpc>
              <a:spcBef>
                <a:spcPts val="600"/>
              </a:spcBef>
              <a:buClr>
                <a:srgbClr val="973735"/>
              </a:buClr>
              <a:buSzPct val="50000"/>
              <a:buFont typeface="Wingdings" pitchFamily="2" charset="2"/>
              <a:buChar char="u"/>
              <a:defRPr/>
            </a:pPr>
            <a:r>
              <a:rPr lang="en-US" dirty="0"/>
              <a:t>The Wiig Model for Building and Using Knowledge</a:t>
            </a:r>
          </a:p>
          <a:p>
            <a:pPr marL="342900" indent="-342900" algn="just">
              <a:lnSpc>
                <a:spcPct val="150000"/>
              </a:lnSpc>
              <a:spcBef>
                <a:spcPts val="600"/>
              </a:spcBef>
              <a:buClr>
                <a:srgbClr val="973735"/>
              </a:buClr>
              <a:buSzPct val="50000"/>
              <a:buFont typeface="Wingdings" pitchFamily="2" charset="2"/>
              <a:buChar char="u"/>
              <a:defRPr/>
            </a:pPr>
            <a:r>
              <a:rPr lang="en-US" dirty="0"/>
              <a:t>The </a:t>
            </a:r>
            <a:r>
              <a:rPr lang="en-US" dirty="0" err="1"/>
              <a:t>Boisot</a:t>
            </a:r>
            <a:r>
              <a:rPr lang="en-US" dirty="0"/>
              <a:t> I-Space KM Model </a:t>
            </a:r>
          </a:p>
          <a:p>
            <a:pPr marL="342900" indent="-342900" algn="just">
              <a:lnSpc>
                <a:spcPct val="150000"/>
              </a:lnSpc>
              <a:spcBef>
                <a:spcPts val="600"/>
              </a:spcBef>
              <a:buClr>
                <a:srgbClr val="973735"/>
              </a:buClr>
              <a:buSzPct val="50000"/>
              <a:buFont typeface="Wingdings" pitchFamily="2" charset="2"/>
              <a:buChar char="u"/>
              <a:defRPr/>
            </a:pPr>
            <a:r>
              <a:rPr lang="en-US" sz="2800" dirty="0"/>
              <a:t>Complex adaptive system models of KM</a:t>
            </a:r>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Theoretical KM Models</a:t>
            </a:r>
          </a:p>
        </p:txBody>
      </p:sp>
    </p:spTree>
    <p:extLst>
      <p:ext uri="{BB962C8B-B14F-4D97-AF65-F5344CB8AC3E}">
        <p14:creationId xmlns:p14="http://schemas.microsoft.com/office/powerpoint/2010/main" val="31591606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27</a:t>
            </a:fld>
            <a:endParaRPr kumimoji="0" lang="en-US" dirty="0"/>
          </a:p>
        </p:txBody>
      </p:sp>
      <p:sp>
        <p:nvSpPr>
          <p:cNvPr id="4" name="Content Placeholder 3"/>
          <p:cNvSpPr>
            <a:spLocks noGrp="1"/>
          </p:cNvSpPr>
          <p:nvPr>
            <p:ph sz="quarter" idx="1"/>
          </p:nvPr>
        </p:nvSpPr>
        <p:spPr>
          <a:xfrm>
            <a:off x="0" y="1664593"/>
            <a:ext cx="5374433" cy="469888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Choo (1998) has described a model of knowledge management that stresses sense making, knowledge creation and decision making concepts, bounded rationality.</a:t>
            </a:r>
          </a:p>
          <a:p>
            <a:pPr marL="342900" indent="-342900" algn="just">
              <a:lnSpc>
                <a:spcPct val="100000"/>
              </a:lnSpc>
              <a:spcBef>
                <a:spcPts val="1800"/>
              </a:spcBef>
              <a:buClr>
                <a:srgbClr val="973735"/>
              </a:buClr>
              <a:buSzPct val="50000"/>
              <a:buFont typeface="Wingdings" pitchFamily="2" charset="2"/>
              <a:buChar char="u"/>
              <a:defRPr/>
            </a:pPr>
            <a:r>
              <a:rPr lang="en-US" sz="2600" dirty="0"/>
              <a:t>The Choo KM model focuses on how information element s are selected and subsequently fed into organizational actions.</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Choo sense-making KM Model</a:t>
            </a:r>
          </a:p>
        </p:txBody>
      </p:sp>
      <p:graphicFrame>
        <p:nvGraphicFramePr>
          <p:cNvPr id="5" name="Object 4">
            <a:extLst>
              <a:ext uri="{FF2B5EF4-FFF2-40B4-BE49-F238E27FC236}">
                <a16:creationId xmlns:a16="http://schemas.microsoft.com/office/drawing/2014/main" id="{D5D54E93-B803-2795-DEC3-813D76CEDF1F}"/>
              </a:ext>
            </a:extLst>
          </p:cNvPr>
          <p:cNvGraphicFramePr>
            <a:graphicFrameLocks noChangeAspect="1"/>
          </p:cNvGraphicFramePr>
          <p:nvPr>
            <p:extLst>
              <p:ext uri="{D42A27DB-BD31-4B8C-83A1-F6EECF244321}">
                <p14:modId xmlns:p14="http://schemas.microsoft.com/office/powerpoint/2010/main" val="3248918070"/>
              </p:ext>
            </p:extLst>
          </p:nvPr>
        </p:nvGraphicFramePr>
        <p:xfrm>
          <a:off x="6534702" y="6159722"/>
          <a:ext cx="5318125" cy="288925"/>
        </p:xfrm>
        <a:graphic>
          <a:graphicData uri="http://schemas.openxmlformats.org/presentationml/2006/ole">
            <mc:AlternateContent xmlns:mc="http://schemas.openxmlformats.org/markup-compatibility/2006">
              <mc:Choice xmlns:v="urn:schemas-microsoft-com:vml" Requires="v">
                <p:oleObj name="Bitmap Image" r:id="rId3" imgW="5318640" imgH="289440" progId="PBrush">
                  <p:embed/>
                </p:oleObj>
              </mc:Choice>
              <mc:Fallback>
                <p:oleObj name="Bitmap Image" r:id="rId3" imgW="5318640" imgH="289440" progId="PBrush">
                  <p:embed/>
                  <p:pic>
                    <p:nvPicPr>
                      <p:cNvPr id="0" name=""/>
                      <p:cNvPicPr/>
                      <p:nvPr/>
                    </p:nvPicPr>
                    <p:blipFill>
                      <a:blip r:embed="rId4"/>
                      <a:stretch>
                        <a:fillRect/>
                      </a:stretch>
                    </p:blipFill>
                    <p:spPr>
                      <a:xfrm>
                        <a:off x="6534702" y="6159722"/>
                        <a:ext cx="5318125" cy="28892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CD1F5771-2DBC-90D0-D147-53BD27058D80}"/>
              </a:ext>
            </a:extLst>
          </p:cNvPr>
          <p:cNvGraphicFramePr>
            <a:graphicFrameLocks noChangeAspect="1"/>
          </p:cNvGraphicFramePr>
          <p:nvPr>
            <p:extLst>
              <p:ext uri="{D42A27DB-BD31-4B8C-83A1-F6EECF244321}">
                <p14:modId xmlns:p14="http://schemas.microsoft.com/office/powerpoint/2010/main" val="3854201829"/>
              </p:ext>
            </p:extLst>
          </p:nvPr>
        </p:nvGraphicFramePr>
        <p:xfrm>
          <a:off x="6105346" y="1276253"/>
          <a:ext cx="5799137" cy="4770437"/>
        </p:xfrm>
        <a:graphic>
          <a:graphicData uri="http://schemas.openxmlformats.org/presentationml/2006/ole">
            <mc:AlternateContent xmlns:mc="http://schemas.openxmlformats.org/markup-compatibility/2006">
              <mc:Choice xmlns:v="urn:schemas-microsoft-com:vml" Requires="v">
                <p:oleObj name="Bitmap Image" r:id="rId5" imgW="5798880" imgH="4770000" progId="PBrush">
                  <p:embed/>
                </p:oleObj>
              </mc:Choice>
              <mc:Fallback>
                <p:oleObj name="Bitmap Image" r:id="rId5" imgW="5798880" imgH="4770000" progId="PBrush">
                  <p:embed/>
                  <p:pic>
                    <p:nvPicPr>
                      <p:cNvPr id="0" name=""/>
                      <p:cNvPicPr/>
                      <p:nvPr/>
                    </p:nvPicPr>
                    <p:blipFill>
                      <a:blip r:embed="rId6"/>
                      <a:stretch>
                        <a:fillRect/>
                      </a:stretch>
                    </p:blipFill>
                    <p:spPr>
                      <a:xfrm>
                        <a:off x="6105346" y="1276253"/>
                        <a:ext cx="5799137" cy="4770437"/>
                      </a:xfrm>
                      <a:prstGeom prst="rect">
                        <a:avLst/>
                      </a:prstGeom>
                    </p:spPr>
                  </p:pic>
                </p:oleObj>
              </mc:Fallback>
            </mc:AlternateContent>
          </a:graphicData>
        </a:graphic>
      </p:graphicFrame>
    </p:spTree>
    <p:extLst>
      <p:ext uri="{BB962C8B-B14F-4D97-AF65-F5344CB8AC3E}">
        <p14:creationId xmlns:p14="http://schemas.microsoft.com/office/powerpoint/2010/main" val="1026677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28</a:t>
            </a:fld>
            <a:endParaRPr kumimoji="0" lang="en-US" dirty="0"/>
          </a:p>
        </p:txBody>
      </p:sp>
      <p:sp>
        <p:nvSpPr>
          <p:cNvPr id="4" name="Content Placeholder 3"/>
          <p:cNvSpPr>
            <a:spLocks noGrp="1"/>
          </p:cNvSpPr>
          <p:nvPr>
            <p:ph sz="quarter" idx="1"/>
          </p:nvPr>
        </p:nvSpPr>
        <p:spPr>
          <a:xfrm>
            <a:off x="0" y="1664593"/>
            <a:ext cx="11793894" cy="4816106"/>
          </a:xfrm>
        </p:spPr>
        <p:txBody>
          <a:bodyPr>
            <a:no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t>Sense-making: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 the sense-making stage; one attempts to make sense of the information streaming in from the external environment .</a:t>
            </a:r>
          </a:p>
          <a:p>
            <a:pPr marL="800100" lvl="1" indent="-342900" algn="just">
              <a:lnSpc>
                <a:spcPct val="100000"/>
              </a:lnSpc>
              <a:spcBef>
                <a:spcPts val="1800"/>
              </a:spcBef>
              <a:buClr>
                <a:srgbClr val="973735"/>
              </a:buClr>
              <a:buSzPct val="50000"/>
              <a:buFont typeface="Wingdings" pitchFamily="2" charset="2"/>
              <a:buChar char="u"/>
              <a:defRPr/>
            </a:pPr>
            <a:r>
              <a:rPr lang="en-US" sz="2600" dirty="0"/>
              <a:t>Weick (2001) proposes that sense making in organizations consists of four integrated processes: ecological change, enactment, selection, and retention.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Choo sense-making KM Model</a:t>
            </a:r>
            <a:endParaRPr lang="en-US" sz="4000" b="1" dirty="0"/>
          </a:p>
        </p:txBody>
      </p:sp>
    </p:spTree>
    <p:extLst>
      <p:ext uri="{BB962C8B-B14F-4D97-AF65-F5344CB8AC3E}">
        <p14:creationId xmlns:p14="http://schemas.microsoft.com/office/powerpoint/2010/main" val="1138499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29</a:t>
            </a:fld>
            <a:endParaRPr kumimoji="0" lang="en-US" dirty="0"/>
          </a:p>
        </p:txBody>
      </p:sp>
      <p:sp>
        <p:nvSpPr>
          <p:cNvPr id="4" name="Content Placeholder 3"/>
          <p:cNvSpPr>
            <a:spLocks noGrp="1"/>
          </p:cNvSpPr>
          <p:nvPr>
            <p:ph sz="quarter" idx="1"/>
          </p:nvPr>
        </p:nvSpPr>
        <p:spPr>
          <a:xfrm>
            <a:off x="0" y="1664593"/>
            <a:ext cx="11756571" cy="4255275"/>
          </a:xfrm>
        </p:spPr>
        <p:txBody>
          <a:bodyPr>
            <a:no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Sense-making (</a:t>
            </a:r>
            <a:r>
              <a:rPr lang="en-US" b="1" dirty="0" err="1"/>
              <a:t>con’t</a:t>
            </a:r>
            <a:r>
              <a:rPr lang="en-US" b="1" dirty="0"/>
              <a:t>):</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ecological change</a:t>
            </a:r>
            <a:r>
              <a:rPr lang="en-US" sz="2600" dirty="0"/>
              <a:t>: is a change in the environment that is external to the organization- one that disturbs the flow of Information to participants and triggers an ecological change in the organization.</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enactment</a:t>
            </a:r>
            <a:r>
              <a:rPr lang="en-US" sz="2600" dirty="0"/>
              <a:t>: people try to construct, rearrange, single out, or demolish specific elements of content.</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Selection &amp; Retention: </a:t>
            </a:r>
            <a:r>
              <a:rPr lang="en-US" sz="2600" dirty="0"/>
              <a:t>are the phases in which individuals attempt to interpret the rationale for the observed and enacted changes by making selections. The retention process in turn furnishes the organization with an organizational memory of successful sense-making experiences.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Choo sense-making KM Model</a:t>
            </a:r>
            <a:endParaRPr lang="en-US" sz="4000" b="1" dirty="0"/>
          </a:p>
        </p:txBody>
      </p:sp>
    </p:spTree>
    <p:extLst>
      <p:ext uri="{BB962C8B-B14F-4D97-AF65-F5344CB8AC3E}">
        <p14:creationId xmlns:p14="http://schemas.microsoft.com/office/powerpoint/2010/main" val="1211732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30</a:t>
            </a:fld>
            <a:endParaRPr kumimoji="0" lang="en-US" dirty="0"/>
          </a:p>
        </p:txBody>
      </p:sp>
      <p:sp>
        <p:nvSpPr>
          <p:cNvPr id="4" name="Content Placeholder 3"/>
          <p:cNvSpPr>
            <a:spLocks noGrp="1"/>
          </p:cNvSpPr>
          <p:nvPr>
            <p:ph sz="quarter" idx="1"/>
          </p:nvPr>
        </p:nvSpPr>
        <p:spPr>
          <a:xfrm>
            <a:off x="0" y="1664593"/>
            <a:ext cx="11971176" cy="4255275"/>
          </a:xfrm>
        </p:spPr>
        <p:txBody>
          <a:bodyPr>
            <a:no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t>Knowledge creation:</a:t>
            </a:r>
          </a:p>
          <a:p>
            <a:pPr marL="800100" lvl="1" indent="-342900" algn="just">
              <a:lnSpc>
                <a:spcPct val="100000"/>
              </a:lnSpc>
              <a:spcBef>
                <a:spcPts val="1800"/>
              </a:spcBef>
              <a:buClr>
                <a:srgbClr val="973735"/>
              </a:buClr>
              <a:buSzPct val="50000"/>
              <a:buFont typeface="Wingdings" pitchFamily="2" charset="2"/>
              <a:buChar char="u"/>
              <a:defRPr/>
            </a:pPr>
            <a:r>
              <a:rPr lang="en-US" sz="2600" dirty="0"/>
              <a:t>Knowledge creating may be viewed as the transformation of personal knowledge between individuals through dialogue, discourse, sharing, and storytelling.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This phase is directed by a knowledge vision of "as is" (cur rent situation) and " to be" (future, desired state). Knowledge creation widens the spectrum of potential choices in decision making by providing new knowledge and new competencies.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Choo sense-making KM Model</a:t>
            </a:r>
            <a:endParaRPr lang="en-US" sz="4000" b="1" dirty="0"/>
          </a:p>
        </p:txBody>
      </p:sp>
    </p:spTree>
    <p:extLst>
      <p:ext uri="{BB962C8B-B14F-4D97-AF65-F5344CB8AC3E}">
        <p14:creationId xmlns:p14="http://schemas.microsoft.com/office/powerpoint/2010/main" val="16037492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31</a:t>
            </a:fld>
            <a:endParaRPr kumimoji="0" lang="en-US" dirty="0"/>
          </a:p>
        </p:txBody>
      </p:sp>
      <p:sp>
        <p:nvSpPr>
          <p:cNvPr id="4" name="Content Placeholder 3"/>
          <p:cNvSpPr>
            <a:spLocks noGrp="1"/>
          </p:cNvSpPr>
          <p:nvPr>
            <p:ph sz="quarter" idx="1"/>
          </p:nvPr>
        </p:nvSpPr>
        <p:spPr>
          <a:xfrm>
            <a:off x="0" y="1664593"/>
            <a:ext cx="11971176" cy="4908927"/>
          </a:xfrm>
        </p:spPr>
        <p:txBody>
          <a:bodyPr>
            <a:normAutofit fontScale="70000" lnSpcReduction="20000"/>
          </a:bodyPr>
          <a:lstStyle/>
          <a:p>
            <a:pPr marL="342900" indent="-342900" algn="just">
              <a:lnSpc>
                <a:spcPct val="120000"/>
              </a:lnSpc>
              <a:spcBef>
                <a:spcPts val="1200"/>
              </a:spcBef>
              <a:buClr>
                <a:srgbClr val="973735"/>
              </a:buClr>
              <a:buSzPct val="50000"/>
              <a:buFont typeface="Wingdings" pitchFamily="2" charset="2"/>
              <a:buChar char="u"/>
              <a:defRPr/>
            </a:pPr>
            <a:r>
              <a:rPr lang="en-US" sz="4000" b="1" dirty="0"/>
              <a:t>Decision making</a:t>
            </a:r>
          </a:p>
          <a:p>
            <a:pPr marL="800100" lvl="1" indent="-342900" algn="just">
              <a:lnSpc>
                <a:spcPct val="120000"/>
              </a:lnSpc>
              <a:spcBef>
                <a:spcPts val="1200"/>
              </a:spcBef>
              <a:buClr>
                <a:srgbClr val="973735"/>
              </a:buClr>
              <a:buSzPct val="50000"/>
              <a:buFont typeface="Wingdings" pitchFamily="2" charset="2"/>
              <a:buChar char="u"/>
              <a:defRPr/>
            </a:pPr>
            <a:r>
              <a:rPr lang="en-US" sz="3400" dirty="0"/>
              <a:t>Decision making models that are used to identify and Decision making is situated in rational decision- making models that are used to identify and evaluate alternatives by processing the information and knowledge collected to date.</a:t>
            </a:r>
          </a:p>
          <a:p>
            <a:pPr marL="800100" lvl="1" indent="-342900" algn="just">
              <a:lnSpc>
                <a:spcPct val="120000"/>
              </a:lnSpc>
              <a:spcBef>
                <a:spcPts val="1200"/>
              </a:spcBef>
              <a:buClr>
                <a:srgbClr val="973735"/>
              </a:buClr>
              <a:buSzPct val="50000"/>
              <a:buFont typeface="Wingdings" pitchFamily="2" charset="2"/>
              <a:buChar char="u"/>
              <a:defRPr/>
            </a:pPr>
            <a:r>
              <a:rPr lang="en-US" sz="3400" dirty="0"/>
              <a:t>There are a wide range of decision-making theories such as the theory of games and economic behavior </a:t>
            </a:r>
          </a:p>
          <a:p>
            <a:pPr marL="800100" lvl="1" indent="-342900" algn="just">
              <a:lnSpc>
                <a:spcPct val="120000"/>
              </a:lnSpc>
              <a:spcBef>
                <a:spcPts val="1200"/>
              </a:spcBef>
              <a:buClr>
                <a:srgbClr val="973735"/>
              </a:buClr>
              <a:buSzPct val="50000"/>
              <a:buFont typeface="Wingdings" pitchFamily="2" charset="2"/>
              <a:buChar char="u"/>
              <a:defRPr/>
            </a:pPr>
            <a:r>
              <a:rPr lang="en-US" sz="3400" dirty="0"/>
              <a:t>The Garbage Can model (GCM) of organizational decision making was developed in reference to "ambiguous behaviors," that is, explanations or interpretations of behaviors that at least appear to contradict classical theory.</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Choo sense-making KM Model</a:t>
            </a:r>
            <a:endParaRPr lang="en-US" sz="4000" b="1" dirty="0"/>
          </a:p>
        </p:txBody>
      </p:sp>
    </p:spTree>
    <p:extLst>
      <p:ext uri="{BB962C8B-B14F-4D97-AF65-F5344CB8AC3E}">
        <p14:creationId xmlns:p14="http://schemas.microsoft.com/office/powerpoint/2010/main" val="20033115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32</a:t>
            </a:fld>
            <a:endParaRPr kumimoji="0" lang="en-US" dirty="0"/>
          </a:p>
        </p:txBody>
      </p:sp>
      <p:sp>
        <p:nvSpPr>
          <p:cNvPr id="4" name="Content Placeholder 3"/>
          <p:cNvSpPr>
            <a:spLocks noGrp="1"/>
          </p:cNvSpPr>
          <p:nvPr>
            <p:ph sz="quarter" idx="1"/>
          </p:nvPr>
        </p:nvSpPr>
        <p:spPr>
          <a:xfrm>
            <a:off x="0" y="1664593"/>
            <a:ext cx="11971176" cy="4255275"/>
          </a:xfrm>
        </p:spPr>
        <p:txBody>
          <a:bodyPr>
            <a:normAutofit lnSpcReduction="10000"/>
          </a:bodyPr>
          <a:lstStyle/>
          <a:p>
            <a:pPr marL="342900" indent="-342900" algn="just">
              <a:lnSpc>
                <a:spcPct val="150000"/>
              </a:lnSpc>
              <a:spcBef>
                <a:spcPts val="600"/>
              </a:spcBef>
              <a:buClr>
                <a:srgbClr val="973735"/>
              </a:buClr>
              <a:buSzPct val="50000"/>
              <a:buFont typeface="Wingdings" pitchFamily="2" charset="2"/>
              <a:buChar char="u"/>
              <a:defRPr/>
            </a:pPr>
            <a:r>
              <a:rPr lang="en-US" dirty="0"/>
              <a:t>The von Krogh and </a:t>
            </a:r>
            <a:r>
              <a:rPr lang="en-US" dirty="0" err="1"/>
              <a:t>Roos</a:t>
            </a:r>
            <a:r>
              <a:rPr lang="en-US" dirty="0"/>
              <a:t> Model of Organizational Epistemology</a:t>
            </a:r>
          </a:p>
          <a:p>
            <a:pPr marL="342900" indent="-342900" algn="just">
              <a:lnSpc>
                <a:spcPct val="150000"/>
              </a:lnSpc>
              <a:spcBef>
                <a:spcPts val="600"/>
              </a:spcBef>
              <a:buClr>
                <a:srgbClr val="973735"/>
              </a:buClr>
              <a:buSzPct val="50000"/>
              <a:buFont typeface="Wingdings" pitchFamily="2" charset="2"/>
              <a:buChar char="u"/>
              <a:defRPr/>
            </a:pPr>
            <a:r>
              <a:rPr lang="en-US" dirty="0"/>
              <a:t>The Nonaka and Takeuchi knowledge spiral Model</a:t>
            </a:r>
          </a:p>
          <a:p>
            <a:pPr marL="342900" indent="-342900" algn="just">
              <a:lnSpc>
                <a:spcPct val="150000"/>
              </a:lnSpc>
              <a:spcBef>
                <a:spcPts val="600"/>
              </a:spcBef>
              <a:buClr>
                <a:srgbClr val="973735"/>
              </a:buClr>
              <a:buSzPct val="50000"/>
              <a:buFont typeface="Wingdings" pitchFamily="2" charset="2"/>
              <a:buChar char="u"/>
              <a:defRPr/>
            </a:pPr>
            <a:r>
              <a:rPr lang="en-US" dirty="0"/>
              <a:t>The Choo sense-making KM Model</a:t>
            </a:r>
          </a:p>
          <a:p>
            <a:pPr marL="342900" indent="-342900" algn="just">
              <a:lnSpc>
                <a:spcPct val="150000"/>
              </a:lnSpc>
              <a:spcBef>
                <a:spcPts val="600"/>
              </a:spcBef>
              <a:buClr>
                <a:srgbClr val="973735"/>
              </a:buClr>
              <a:buSzPct val="50000"/>
              <a:buFont typeface="Wingdings" pitchFamily="2" charset="2"/>
              <a:buChar char="u"/>
              <a:defRPr/>
            </a:pPr>
            <a:r>
              <a:rPr lang="en-US" b="1" dirty="0">
                <a:solidFill>
                  <a:srgbClr val="ED7D31"/>
                </a:solidFill>
              </a:rPr>
              <a:t>The Wiig Model for Building and Using Knowledge</a:t>
            </a:r>
          </a:p>
          <a:p>
            <a:pPr marL="342900" indent="-342900" algn="just">
              <a:lnSpc>
                <a:spcPct val="150000"/>
              </a:lnSpc>
              <a:spcBef>
                <a:spcPts val="600"/>
              </a:spcBef>
              <a:buClr>
                <a:srgbClr val="973735"/>
              </a:buClr>
              <a:buSzPct val="50000"/>
              <a:buFont typeface="Wingdings" pitchFamily="2" charset="2"/>
              <a:buChar char="u"/>
              <a:defRPr/>
            </a:pPr>
            <a:r>
              <a:rPr lang="en-US" dirty="0"/>
              <a:t>The </a:t>
            </a:r>
            <a:r>
              <a:rPr lang="en-US" dirty="0" err="1"/>
              <a:t>Boisot</a:t>
            </a:r>
            <a:r>
              <a:rPr lang="en-US" dirty="0"/>
              <a:t> I-Space KM Model </a:t>
            </a:r>
          </a:p>
          <a:p>
            <a:pPr marL="342900" indent="-342900" algn="just">
              <a:lnSpc>
                <a:spcPct val="150000"/>
              </a:lnSpc>
              <a:spcBef>
                <a:spcPts val="600"/>
              </a:spcBef>
              <a:buClr>
                <a:srgbClr val="973735"/>
              </a:buClr>
              <a:buSzPct val="50000"/>
              <a:buFont typeface="Wingdings" pitchFamily="2" charset="2"/>
              <a:buChar char="u"/>
              <a:defRPr/>
            </a:pPr>
            <a:r>
              <a:rPr lang="en-US" sz="2800" dirty="0"/>
              <a:t>Complex adaptive system models of KM</a:t>
            </a:r>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Theoretical KM Models</a:t>
            </a:r>
          </a:p>
        </p:txBody>
      </p:sp>
    </p:spTree>
    <p:extLst>
      <p:ext uri="{BB962C8B-B14F-4D97-AF65-F5344CB8AC3E}">
        <p14:creationId xmlns:p14="http://schemas.microsoft.com/office/powerpoint/2010/main" val="246858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sz="2600" dirty="0"/>
              <a:t>Wiig (1993) approached his KM model with the following principle:</a:t>
            </a:r>
          </a:p>
          <a:p>
            <a:pPr marL="800100" lvl="1" indent="-342900" algn="just">
              <a:lnSpc>
                <a:spcPct val="100000"/>
              </a:lnSpc>
              <a:spcBef>
                <a:spcPts val="1200"/>
              </a:spcBef>
              <a:buClr>
                <a:srgbClr val="973735"/>
              </a:buClr>
              <a:buSzPct val="50000"/>
              <a:buFont typeface="Wingdings" pitchFamily="2" charset="2"/>
              <a:buChar char="u"/>
              <a:defRPr/>
            </a:pPr>
            <a:r>
              <a:rPr lang="en-US" sz="2600" dirty="0"/>
              <a:t>In order for knowledge to be useful and valuable, it must be organized. Knowledge should be organized differently depending on what use will be made of the knowledge.</a:t>
            </a:r>
          </a:p>
          <a:p>
            <a:pPr marL="800100" lvl="1" indent="-342900" algn="just">
              <a:lnSpc>
                <a:spcPct val="100000"/>
              </a:lnSpc>
              <a:spcBef>
                <a:spcPts val="1200"/>
              </a:spcBef>
              <a:buClr>
                <a:srgbClr val="973735"/>
              </a:buClr>
              <a:buSzPct val="50000"/>
              <a:buFont typeface="Wingdings" pitchFamily="2" charset="2"/>
              <a:buChar char="u"/>
              <a:defRPr/>
            </a:pPr>
            <a:r>
              <a:rPr lang="en-US" sz="2600" dirty="0"/>
              <a:t>Some useful dimensions to consider in Wiig's KM model include:</a:t>
            </a:r>
          </a:p>
          <a:p>
            <a:pPr marL="1828800" lvl="4" indent="0" algn="just">
              <a:lnSpc>
                <a:spcPct val="100000"/>
              </a:lnSpc>
              <a:spcBef>
                <a:spcPts val="1200"/>
              </a:spcBef>
              <a:buClr>
                <a:srgbClr val="973735"/>
              </a:buClr>
              <a:buSzPct val="50000"/>
              <a:buNone/>
              <a:defRPr/>
            </a:pPr>
            <a:r>
              <a:rPr lang="en-US" sz="2400" dirty="0"/>
              <a:t>1. Completeness</a:t>
            </a:r>
          </a:p>
          <a:p>
            <a:pPr marL="1828800" lvl="4" indent="0" algn="just">
              <a:lnSpc>
                <a:spcPct val="100000"/>
              </a:lnSpc>
              <a:spcBef>
                <a:spcPts val="1200"/>
              </a:spcBef>
              <a:buClr>
                <a:srgbClr val="973735"/>
              </a:buClr>
              <a:buSzPct val="50000"/>
              <a:buNone/>
              <a:defRPr/>
            </a:pPr>
            <a:r>
              <a:rPr lang="en-US" sz="2400" dirty="0"/>
              <a:t>2. Connectedness</a:t>
            </a:r>
          </a:p>
          <a:p>
            <a:pPr marL="1828800" lvl="4" indent="0" algn="just">
              <a:lnSpc>
                <a:spcPct val="100000"/>
              </a:lnSpc>
              <a:spcBef>
                <a:spcPts val="1200"/>
              </a:spcBef>
              <a:buClr>
                <a:srgbClr val="973735"/>
              </a:buClr>
              <a:buSzPct val="50000"/>
              <a:buNone/>
              <a:defRPr/>
            </a:pPr>
            <a:r>
              <a:rPr lang="en-US" sz="2400" dirty="0"/>
              <a:t>3. congruency</a:t>
            </a:r>
          </a:p>
          <a:p>
            <a:pPr marL="1828800" lvl="4" indent="0" algn="just">
              <a:lnSpc>
                <a:spcPct val="100000"/>
              </a:lnSpc>
              <a:spcBef>
                <a:spcPts val="1200"/>
              </a:spcBef>
              <a:buClr>
                <a:srgbClr val="973735"/>
              </a:buClr>
              <a:buSzPct val="50000"/>
              <a:buNone/>
              <a:defRPr/>
            </a:pPr>
            <a:r>
              <a:rPr lang="en-US" sz="2400" dirty="0"/>
              <a:t>4. perspective and purpose</a:t>
            </a:r>
          </a:p>
          <a:p>
            <a:pPr marL="1257300" lvl="2" indent="-342900" algn="just">
              <a:lnSpc>
                <a:spcPct val="150000"/>
              </a:lnSpc>
              <a:spcBef>
                <a:spcPts val="600"/>
              </a:spcBef>
              <a:buClr>
                <a:srgbClr val="973735"/>
              </a:buClr>
              <a:buSzPct val="50000"/>
              <a:buFont typeface="Wingdings" pitchFamily="2" charset="2"/>
              <a:buChar char="u"/>
              <a:defRPr/>
            </a:pPr>
            <a:endParaRPr lang="en-US" dirty="0"/>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589523" cy="709226"/>
          </a:xfrm>
        </p:spPr>
        <p:txBody>
          <a:bodyPr>
            <a:normAutofit fontScale="90000"/>
          </a:bodyPr>
          <a:lstStyle/>
          <a:p>
            <a:r>
              <a:rPr lang="en-US" sz="4000" b="1" dirty="0">
                <a:solidFill>
                  <a:srgbClr val="ED7D31"/>
                </a:solidFill>
              </a:rPr>
              <a:t>The Wiig Model for Building and Using Knowledge</a:t>
            </a:r>
          </a:p>
        </p:txBody>
      </p:sp>
    </p:spTree>
    <p:extLst>
      <p:ext uri="{BB962C8B-B14F-4D97-AF65-F5344CB8AC3E}">
        <p14:creationId xmlns:p14="http://schemas.microsoft.com/office/powerpoint/2010/main" val="14174036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34</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2600" dirty="0"/>
              <a:t>Some useful dimensions to consider in Wiig's KM model include:</a:t>
            </a:r>
          </a:p>
          <a:p>
            <a:pPr marL="1371600" lvl="3" indent="0" algn="just">
              <a:lnSpc>
                <a:spcPct val="150000"/>
              </a:lnSpc>
              <a:spcBef>
                <a:spcPts val="600"/>
              </a:spcBef>
              <a:buClr>
                <a:srgbClr val="973735"/>
              </a:buClr>
              <a:buSzPct val="50000"/>
              <a:buNone/>
              <a:defRPr/>
            </a:pPr>
            <a:r>
              <a:rPr lang="en-US" sz="2600" dirty="0"/>
              <a:t>1. Completeness</a:t>
            </a:r>
          </a:p>
          <a:p>
            <a:pPr marL="1371600" lvl="3" indent="0" algn="just">
              <a:lnSpc>
                <a:spcPct val="150000"/>
              </a:lnSpc>
              <a:spcBef>
                <a:spcPts val="600"/>
              </a:spcBef>
              <a:buClr>
                <a:srgbClr val="973735"/>
              </a:buClr>
              <a:buSzPct val="50000"/>
              <a:buNone/>
              <a:defRPr/>
            </a:pPr>
            <a:r>
              <a:rPr lang="en-US" sz="2600" dirty="0"/>
              <a:t>2. Connectedness</a:t>
            </a:r>
          </a:p>
          <a:p>
            <a:pPr marL="1371600" lvl="3" indent="0" algn="just">
              <a:lnSpc>
                <a:spcPct val="150000"/>
              </a:lnSpc>
              <a:spcBef>
                <a:spcPts val="600"/>
              </a:spcBef>
              <a:buClr>
                <a:srgbClr val="973735"/>
              </a:buClr>
              <a:buSzPct val="50000"/>
              <a:buNone/>
              <a:defRPr/>
            </a:pPr>
            <a:r>
              <a:rPr lang="en-US" sz="2600" dirty="0"/>
              <a:t>3. Congruency</a:t>
            </a:r>
          </a:p>
          <a:p>
            <a:pPr marL="1371600" lvl="3" indent="0" algn="just">
              <a:lnSpc>
                <a:spcPct val="150000"/>
              </a:lnSpc>
              <a:spcBef>
                <a:spcPts val="600"/>
              </a:spcBef>
              <a:buClr>
                <a:srgbClr val="973735"/>
              </a:buClr>
              <a:buSzPct val="50000"/>
              <a:buNone/>
              <a:defRPr/>
            </a:pPr>
            <a:r>
              <a:rPr lang="en-US" sz="2600" dirty="0"/>
              <a:t>4. Perspective and purpose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971175" cy="709226"/>
          </a:xfrm>
        </p:spPr>
        <p:txBody>
          <a:bodyPr>
            <a:normAutofit fontScale="90000"/>
          </a:bodyPr>
          <a:lstStyle/>
          <a:p>
            <a:r>
              <a:rPr lang="en-US" sz="4000" b="1" dirty="0">
                <a:solidFill>
                  <a:srgbClr val="ED7D31"/>
                </a:solidFill>
              </a:rPr>
              <a:t>The Wiig Model for Building and Using Knowledge</a:t>
            </a:r>
            <a:endParaRPr lang="en-US" sz="4000" b="1" dirty="0"/>
          </a:p>
        </p:txBody>
      </p:sp>
    </p:spTree>
    <p:extLst>
      <p:ext uri="{BB962C8B-B14F-4D97-AF65-F5344CB8AC3E}">
        <p14:creationId xmlns:p14="http://schemas.microsoft.com/office/powerpoint/2010/main" val="26870554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35</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376163" cy="709226"/>
          </a:xfrm>
        </p:spPr>
        <p:txBody>
          <a:bodyPr>
            <a:normAutofit fontScale="90000"/>
          </a:bodyPr>
          <a:lstStyle/>
          <a:p>
            <a:r>
              <a:rPr lang="en-US" sz="4000" b="1" dirty="0">
                <a:solidFill>
                  <a:srgbClr val="ED7D31"/>
                </a:solidFill>
              </a:rPr>
              <a:t>The Wiig Model for Building and Using Knowledge</a:t>
            </a:r>
            <a:endParaRPr lang="en-US" sz="4000" b="1" dirty="0"/>
          </a:p>
        </p:txBody>
      </p:sp>
      <p:graphicFrame>
        <p:nvGraphicFramePr>
          <p:cNvPr id="5" name="Object 4">
            <a:extLst>
              <a:ext uri="{FF2B5EF4-FFF2-40B4-BE49-F238E27FC236}">
                <a16:creationId xmlns:a16="http://schemas.microsoft.com/office/drawing/2014/main" id="{4822B5C5-A5B2-69D2-17C6-22B939DCECF8}"/>
              </a:ext>
            </a:extLst>
          </p:cNvPr>
          <p:cNvGraphicFramePr>
            <a:graphicFrameLocks noChangeAspect="1"/>
          </p:cNvGraphicFramePr>
          <p:nvPr>
            <p:extLst>
              <p:ext uri="{D42A27DB-BD31-4B8C-83A1-F6EECF244321}">
                <p14:modId xmlns:p14="http://schemas.microsoft.com/office/powerpoint/2010/main" val="1061939867"/>
              </p:ext>
            </p:extLst>
          </p:nvPr>
        </p:nvGraphicFramePr>
        <p:xfrm>
          <a:off x="4322213" y="4916211"/>
          <a:ext cx="3306763" cy="365125"/>
        </p:xfrm>
        <a:graphic>
          <a:graphicData uri="http://schemas.openxmlformats.org/presentationml/2006/ole">
            <mc:AlternateContent xmlns:mc="http://schemas.openxmlformats.org/markup-compatibility/2006">
              <mc:Choice xmlns:v="urn:schemas-microsoft-com:vml" Requires="v">
                <p:oleObj name="Bitmap Image" r:id="rId3" imgW="3306960" imgH="365760" progId="PBrush">
                  <p:embed/>
                </p:oleObj>
              </mc:Choice>
              <mc:Fallback>
                <p:oleObj name="Bitmap Image" r:id="rId3" imgW="3306960" imgH="365760" progId="PBrush">
                  <p:embed/>
                  <p:pic>
                    <p:nvPicPr>
                      <p:cNvPr id="0" name=""/>
                      <p:cNvPicPr/>
                      <p:nvPr/>
                    </p:nvPicPr>
                    <p:blipFill>
                      <a:blip r:embed="rId4"/>
                      <a:stretch>
                        <a:fillRect/>
                      </a:stretch>
                    </p:blipFill>
                    <p:spPr>
                      <a:xfrm>
                        <a:off x="4322213" y="4916211"/>
                        <a:ext cx="3306763" cy="36512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3937E273-5D4A-B7A7-A03A-28E6F7809635}"/>
              </a:ext>
            </a:extLst>
          </p:cNvPr>
          <p:cNvGraphicFramePr>
            <a:graphicFrameLocks noChangeAspect="1"/>
          </p:cNvGraphicFramePr>
          <p:nvPr>
            <p:extLst>
              <p:ext uri="{D42A27DB-BD31-4B8C-83A1-F6EECF244321}">
                <p14:modId xmlns:p14="http://schemas.microsoft.com/office/powerpoint/2010/main" val="2309040449"/>
              </p:ext>
            </p:extLst>
          </p:nvPr>
        </p:nvGraphicFramePr>
        <p:xfrm>
          <a:off x="3865014" y="2340883"/>
          <a:ext cx="4221163" cy="1782763"/>
        </p:xfrm>
        <a:graphic>
          <a:graphicData uri="http://schemas.openxmlformats.org/presentationml/2006/ole">
            <mc:AlternateContent xmlns:mc="http://schemas.openxmlformats.org/markup-compatibility/2006">
              <mc:Choice xmlns:v="urn:schemas-microsoft-com:vml" Requires="v">
                <p:oleObj name="Bitmap Image" r:id="rId5" imgW="4221360" imgH="1783080" progId="PBrush">
                  <p:embed/>
                </p:oleObj>
              </mc:Choice>
              <mc:Fallback>
                <p:oleObj name="Bitmap Image" r:id="rId5" imgW="4221360" imgH="1783080" progId="PBrush">
                  <p:embed/>
                  <p:pic>
                    <p:nvPicPr>
                      <p:cNvPr id="0" name=""/>
                      <p:cNvPicPr/>
                      <p:nvPr/>
                    </p:nvPicPr>
                    <p:blipFill>
                      <a:blip r:embed="rId6"/>
                      <a:stretch>
                        <a:fillRect/>
                      </a:stretch>
                    </p:blipFill>
                    <p:spPr>
                      <a:xfrm>
                        <a:off x="3865014" y="2340883"/>
                        <a:ext cx="4221163" cy="1782763"/>
                      </a:xfrm>
                      <a:prstGeom prst="rect">
                        <a:avLst/>
                      </a:prstGeom>
                    </p:spPr>
                  </p:pic>
                </p:oleObj>
              </mc:Fallback>
            </mc:AlternateContent>
          </a:graphicData>
        </a:graphic>
      </p:graphicFrame>
    </p:spTree>
    <p:extLst>
      <p:ext uri="{BB962C8B-B14F-4D97-AF65-F5344CB8AC3E}">
        <p14:creationId xmlns:p14="http://schemas.microsoft.com/office/powerpoint/2010/main" val="5341187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36</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416803" cy="709226"/>
          </a:xfrm>
        </p:spPr>
        <p:txBody>
          <a:bodyPr>
            <a:normAutofit fontScale="90000"/>
          </a:bodyPr>
          <a:lstStyle/>
          <a:p>
            <a:r>
              <a:rPr lang="en-US" sz="4000" b="1" dirty="0">
                <a:solidFill>
                  <a:srgbClr val="ED7D31"/>
                </a:solidFill>
              </a:rPr>
              <a:t>The Wiig Model for Building and Using Knowledge</a:t>
            </a:r>
            <a:endParaRPr lang="en-US" sz="4000" b="1" dirty="0"/>
          </a:p>
        </p:txBody>
      </p:sp>
      <p:graphicFrame>
        <p:nvGraphicFramePr>
          <p:cNvPr id="5" name="Object 4">
            <a:extLst>
              <a:ext uri="{FF2B5EF4-FFF2-40B4-BE49-F238E27FC236}">
                <a16:creationId xmlns:a16="http://schemas.microsoft.com/office/drawing/2014/main" id="{AE688779-D155-C65B-ED12-8E0B2BEEFC12}"/>
              </a:ext>
            </a:extLst>
          </p:cNvPr>
          <p:cNvGraphicFramePr>
            <a:graphicFrameLocks noChangeAspect="1"/>
          </p:cNvGraphicFramePr>
          <p:nvPr>
            <p:extLst>
              <p:ext uri="{D42A27DB-BD31-4B8C-83A1-F6EECF244321}">
                <p14:modId xmlns:p14="http://schemas.microsoft.com/office/powerpoint/2010/main" val="2698579399"/>
              </p:ext>
            </p:extLst>
          </p:nvPr>
        </p:nvGraphicFramePr>
        <p:xfrm>
          <a:off x="3485409" y="4569264"/>
          <a:ext cx="4740275" cy="304800"/>
        </p:xfrm>
        <a:graphic>
          <a:graphicData uri="http://schemas.openxmlformats.org/presentationml/2006/ole">
            <mc:AlternateContent xmlns:mc="http://schemas.openxmlformats.org/markup-compatibility/2006">
              <mc:Choice xmlns:v="urn:schemas-microsoft-com:vml" Requires="v">
                <p:oleObj name="Bitmap Image" r:id="rId3" imgW="4739760" imgH="304920" progId="PBrush">
                  <p:embed/>
                </p:oleObj>
              </mc:Choice>
              <mc:Fallback>
                <p:oleObj name="Bitmap Image" r:id="rId3" imgW="4739760" imgH="304920" progId="PBrush">
                  <p:embed/>
                  <p:pic>
                    <p:nvPicPr>
                      <p:cNvPr id="0" name=""/>
                      <p:cNvPicPr/>
                      <p:nvPr/>
                    </p:nvPicPr>
                    <p:blipFill>
                      <a:blip r:embed="rId4"/>
                      <a:stretch>
                        <a:fillRect/>
                      </a:stretch>
                    </p:blipFill>
                    <p:spPr>
                      <a:xfrm>
                        <a:off x="3485409" y="4569264"/>
                        <a:ext cx="4740275" cy="3048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6269C285-7B33-9398-054F-B61E31C3B06A}"/>
              </a:ext>
            </a:extLst>
          </p:cNvPr>
          <p:cNvGraphicFramePr>
            <a:graphicFrameLocks noChangeAspect="1"/>
          </p:cNvGraphicFramePr>
          <p:nvPr>
            <p:extLst>
              <p:ext uri="{D42A27DB-BD31-4B8C-83A1-F6EECF244321}">
                <p14:modId xmlns:p14="http://schemas.microsoft.com/office/powerpoint/2010/main" val="426196669"/>
              </p:ext>
            </p:extLst>
          </p:nvPr>
        </p:nvGraphicFramePr>
        <p:xfrm>
          <a:off x="3025035" y="2314510"/>
          <a:ext cx="5661025" cy="1927225"/>
        </p:xfrm>
        <a:graphic>
          <a:graphicData uri="http://schemas.openxmlformats.org/presentationml/2006/ole">
            <mc:AlternateContent xmlns:mc="http://schemas.openxmlformats.org/markup-compatibility/2006">
              <mc:Choice xmlns:v="urn:schemas-microsoft-com:vml" Requires="v">
                <p:oleObj name="Bitmap Image" r:id="rId5" imgW="5661720" imgH="1927800" progId="PBrush">
                  <p:embed/>
                </p:oleObj>
              </mc:Choice>
              <mc:Fallback>
                <p:oleObj name="Bitmap Image" r:id="rId5" imgW="5661720" imgH="1927800" progId="PBrush">
                  <p:embed/>
                  <p:pic>
                    <p:nvPicPr>
                      <p:cNvPr id="0" name=""/>
                      <p:cNvPicPr/>
                      <p:nvPr/>
                    </p:nvPicPr>
                    <p:blipFill>
                      <a:blip r:embed="rId6"/>
                      <a:stretch>
                        <a:fillRect/>
                      </a:stretch>
                    </p:blipFill>
                    <p:spPr>
                      <a:xfrm>
                        <a:off x="3025035" y="2314510"/>
                        <a:ext cx="5661025" cy="1927225"/>
                      </a:xfrm>
                      <a:prstGeom prst="rect">
                        <a:avLst/>
                      </a:prstGeom>
                    </p:spPr>
                  </p:pic>
                </p:oleObj>
              </mc:Fallback>
            </mc:AlternateContent>
          </a:graphicData>
        </a:graphic>
      </p:graphicFrame>
    </p:spTree>
    <p:extLst>
      <p:ext uri="{BB962C8B-B14F-4D97-AF65-F5344CB8AC3E}">
        <p14:creationId xmlns:p14="http://schemas.microsoft.com/office/powerpoint/2010/main" val="18733305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solidFill>
                  <a:srgbClr val="ED7D31"/>
                </a:solidFill>
              </a:rPr>
              <a:t>The Wiig Model for Building and Using Knowledge</a:t>
            </a:r>
            <a:endParaRPr lang="en-US" sz="4000" b="1" dirty="0"/>
          </a:p>
        </p:txBody>
      </p:sp>
      <p:graphicFrame>
        <p:nvGraphicFramePr>
          <p:cNvPr id="5" name="Object 4">
            <a:extLst>
              <a:ext uri="{FF2B5EF4-FFF2-40B4-BE49-F238E27FC236}">
                <a16:creationId xmlns:a16="http://schemas.microsoft.com/office/drawing/2014/main" id="{8F52E478-F9AF-F510-B6E2-C4BF62694E65}"/>
              </a:ext>
            </a:extLst>
          </p:cNvPr>
          <p:cNvGraphicFramePr>
            <a:graphicFrameLocks noChangeAspect="1"/>
          </p:cNvGraphicFramePr>
          <p:nvPr>
            <p:extLst>
              <p:ext uri="{D42A27DB-BD31-4B8C-83A1-F6EECF244321}">
                <p14:modId xmlns:p14="http://schemas.microsoft.com/office/powerpoint/2010/main" val="3857944157"/>
              </p:ext>
            </p:extLst>
          </p:nvPr>
        </p:nvGraphicFramePr>
        <p:xfrm>
          <a:off x="3653550" y="5022074"/>
          <a:ext cx="4664075" cy="312737"/>
        </p:xfrm>
        <a:graphic>
          <a:graphicData uri="http://schemas.openxmlformats.org/presentationml/2006/ole">
            <mc:AlternateContent xmlns:mc="http://schemas.openxmlformats.org/markup-compatibility/2006">
              <mc:Choice xmlns:v="urn:schemas-microsoft-com:vml" Requires="v">
                <p:oleObj name="Bitmap Image" r:id="rId3" imgW="4663440" imgH="312480" progId="PBrush">
                  <p:embed/>
                </p:oleObj>
              </mc:Choice>
              <mc:Fallback>
                <p:oleObj name="Bitmap Image" r:id="rId3" imgW="4663440" imgH="312480" progId="PBrush">
                  <p:embed/>
                  <p:pic>
                    <p:nvPicPr>
                      <p:cNvPr id="0" name=""/>
                      <p:cNvPicPr/>
                      <p:nvPr/>
                    </p:nvPicPr>
                    <p:blipFill>
                      <a:blip r:embed="rId4"/>
                      <a:stretch>
                        <a:fillRect/>
                      </a:stretch>
                    </p:blipFill>
                    <p:spPr>
                      <a:xfrm>
                        <a:off x="3653550" y="5022074"/>
                        <a:ext cx="4664075" cy="312737"/>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F7E75F48-D22F-3685-89A0-9371DC7503BF}"/>
              </a:ext>
            </a:extLst>
          </p:cNvPr>
          <p:cNvGraphicFramePr>
            <a:graphicFrameLocks noChangeAspect="1"/>
          </p:cNvGraphicFramePr>
          <p:nvPr>
            <p:extLst>
              <p:ext uri="{D42A27DB-BD31-4B8C-83A1-F6EECF244321}">
                <p14:modId xmlns:p14="http://schemas.microsoft.com/office/powerpoint/2010/main" val="342264609"/>
              </p:ext>
            </p:extLst>
          </p:nvPr>
        </p:nvGraphicFramePr>
        <p:xfrm>
          <a:off x="3356768" y="2730295"/>
          <a:ext cx="5478463" cy="2011363"/>
        </p:xfrm>
        <a:graphic>
          <a:graphicData uri="http://schemas.openxmlformats.org/presentationml/2006/ole">
            <mc:AlternateContent xmlns:mc="http://schemas.openxmlformats.org/markup-compatibility/2006">
              <mc:Choice xmlns:v="urn:schemas-microsoft-com:vml" Requires="v">
                <p:oleObj name="Bitmap Image" r:id="rId5" imgW="5478840" imgH="2011680" progId="PBrush">
                  <p:embed/>
                </p:oleObj>
              </mc:Choice>
              <mc:Fallback>
                <p:oleObj name="Bitmap Image" r:id="rId5" imgW="5478840" imgH="2011680" progId="PBrush">
                  <p:embed/>
                  <p:pic>
                    <p:nvPicPr>
                      <p:cNvPr id="0" name=""/>
                      <p:cNvPicPr/>
                      <p:nvPr/>
                    </p:nvPicPr>
                    <p:blipFill>
                      <a:blip r:embed="rId6"/>
                      <a:stretch>
                        <a:fillRect/>
                      </a:stretch>
                    </p:blipFill>
                    <p:spPr>
                      <a:xfrm>
                        <a:off x="3356768" y="2730295"/>
                        <a:ext cx="5478463" cy="2011363"/>
                      </a:xfrm>
                      <a:prstGeom prst="rect">
                        <a:avLst/>
                      </a:prstGeom>
                    </p:spPr>
                  </p:pic>
                </p:oleObj>
              </mc:Fallback>
            </mc:AlternateContent>
          </a:graphicData>
        </a:graphic>
      </p:graphicFrame>
    </p:spTree>
    <p:extLst>
      <p:ext uri="{BB962C8B-B14F-4D97-AF65-F5344CB8AC3E}">
        <p14:creationId xmlns:p14="http://schemas.microsoft.com/office/powerpoint/2010/main" val="17066342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38</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141743" cy="709226"/>
          </a:xfrm>
        </p:spPr>
        <p:txBody>
          <a:bodyPr>
            <a:normAutofit fontScale="90000"/>
          </a:bodyPr>
          <a:lstStyle/>
          <a:p>
            <a:r>
              <a:rPr lang="en-US" sz="4000" b="1" dirty="0">
                <a:solidFill>
                  <a:srgbClr val="ED7D31"/>
                </a:solidFill>
              </a:rPr>
              <a:t>The Wiig Model for Building and Using Knowledge</a:t>
            </a:r>
            <a:endParaRPr lang="en-US" sz="4000" b="1" dirty="0"/>
          </a:p>
        </p:txBody>
      </p:sp>
      <p:graphicFrame>
        <p:nvGraphicFramePr>
          <p:cNvPr id="5" name="Object 4">
            <a:extLst>
              <a:ext uri="{FF2B5EF4-FFF2-40B4-BE49-F238E27FC236}">
                <a16:creationId xmlns:a16="http://schemas.microsoft.com/office/drawing/2014/main" id="{EA8FA014-9D45-F4F0-DA41-BAD83E6EC2CA}"/>
              </a:ext>
            </a:extLst>
          </p:cNvPr>
          <p:cNvGraphicFramePr>
            <a:graphicFrameLocks noChangeAspect="1"/>
          </p:cNvGraphicFramePr>
          <p:nvPr>
            <p:extLst>
              <p:ext uri="{D42A27DB-BD31-4B8C-83A1-F6EECF244321}">
                <p14:modId xmlns:p14="http://schemas.microsoft.com/office/powerpoint/2010/main" val="1012832110"/>
              </p:ext>
            </p:extLst>
          </p:nvPr>
        </p:nvGraphicFramePr>
        <p:xfrm>
          <a:off x="3779837" y="4751508"/>
          <a:ext cx="4632325" cy="244475"/>
        </p:xfrm>
        <a:graphic>
          <a:graphicData uri="http://schemas.openxmlformats.org/presentationml/2006/ole">
            <mc:AlternateContent xmlns:mc="http://schemas.openxmlformats.org/markup-compatibility/2006">
              <mc:Choice xmlns:v="urn:schemas-microsoft-com:vml" Requires="v">
                <p:oleObj name="Bitmap Image" r:id="rId3" imgW="4632840" imgH="243720" progId="PBrush">
                  <p:embed/>
                </p:oleObj>
              </mc:Choice>
              <mc:Fallback>
                <p:oleObj name="Bitmap Image" r:id="rId3" imgW="4632840" imgH="243720" progId="PBrush">
                  <p:embed/>
                  <p:pic>
                    <p:nvPicPr>
                      <p:cNvPr id="0" name=""/>
                      <p:cNvPicPr/>
                      <p:nvPr/>
                    </p:nvPicPr>
                    <p:blipFill>
                      <a:blip r:embed="rId4"/>
                      <a:stretch>
                        <a:fillRect/>
                      </a:stretch>
                    </p:blipFill>
                    <p:spPr>
                      <a:xfrm>
                        <a:off x="3779837" y="4751508"/>
                        <a:ext cx="4632325" cy="24447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288A266D-973A-BFD7-1C1E-E76DE2A254C9}"/>
              </a:ext>
            </a:extLst>
          </p:cNvPr>
          <p:cNvGraphicFramePr>
            <a:graphicFrameLocks noChangeAspect="1"/>
          </p:cNvGraphicFramePr>
          <p:nvPr>
            <p:extLst>
              <p:ext uri="{D42A27DB-BD31-4B8C-83A1-F6EECF244321}">
                <p14:modId xmlns:p14="http://schemas.microsoft.com/office/powerpoint/2010/main" val="3552313159"/>
              </p:ext>
            </p:extLst>
          </p:nvPr>
        </p:nvGraphicFramePr>
        <p:xfrm>
          <a:off x="3073118" y="2474017"/>
          <a:ext cx="5570537" cy="1997075"/>
        </p:xfrm>
        <a:graphic>
          <a:graphicData uri="http://schemas.openxmlformats.org/presentationml/2006/ole">
            <mc:AlternateContent xmlns:mc="http://schemas.openxmlformats.org/markup-compatibility/2006">
              <mc:Choice xmlns:v="urn:schemas-microsoft-com:vml" Requires="v">
                <p:oleObj name="Bitmap Image" r:id="rId5" imgW="5570280" imgH="1996560" progId="PBrush">
                  <p:embed/>
                </p:oleObj>
              </mc:Choice>
              <mc:Fallback>
                <p:oleObj name="Bitmap Image" r:id="rId5" imgW="5570280" imgH="1996560" progId="PBrush">
                  <p:embed/>
                  <p:pic>
                    <p:nvPicPr>
                      <p:cNvPr id="0" name=""/>
                      <p:cNvPicPr/>
                      <p:nvPr/>
                    </p:nvPicPr>
                    <p:blipFill>
                      <a:blip r:embed="rId6"/>
                      <a:stretch>
                        <a:fillRect/>
                      </a:stretch>
                    </p:blipFill>
                    <p:spPr>
                      <a:xfrm>
                        <a:off x="3073118" y="2474017"/>
                        <a:ext cx="5570537" cy="1997075"/>
                      </a:xfrm>
                      <a:prstGeom prst="rect">
                        <a:avLst/>
                      </a:prstGeom>
                    </p:spPr>
                  </p:pic>
                </p:oleObj>
              </mc:Fallback>
            </mc:AlternateContent>
          </a:graphicData>
        </a:graphic>
      </p:graphicFrame>
    </p:spTree>
    <p:extLst>
      <p:ext uri="{BB962C8B-B14F-4D97-AF65-F5344CB8AC3E}">
        <p14:creationId xmlns:p14="http://schemas.microsoft.com/office/powerpoint/2010/main" val="1095741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solidFill>
                  <a:srgbClr val="ED7D31"/>
                </a:solidFill>
              </a:rPr>
              <a:t>The Wiig Model for Building and Using Knowledge</a:t>
            </a:r>
            <a:endParaRPr lang="en-US" sz="4000" b="1" dirty="0"/>
          </a:p>
        </p:txBody>
      </p:sp>
      <p:graphicFrame>
        <p:nvGraphicFramePr>
          <p:cNvPr id="5" name="Object 4">
            <a:extLst>
              <a:ext uri="{FF2B5EF4-FFF2-40B4-BE49-F238E27FC236}">
                <a16:creationId xmlns:a16="http://schemas.microsoft.com/office/drawing/2014/main" id="{11B5DEE1-BF07-166C-F88A-6D82AED7BFBE}"/>
              </a:ext>
            </a:extLst>
          </p:cNvPr>
          <p:cNvGraphicFramePr>
            <a:graphicFrameLocks noChangeAspect="1"/>
          </p:cNvGraphicFramePr>
          <p:nvPr>
            <p:extLst>
              <p:ext uri="{D42A27DB-BD31-4B8C-83A1-F6EECF244321}">
                <p14:modId xmlns:p14="http://schemas.microsoft.com/office/powerpoint/2010/main" val="564403854"/>
              </p:ext>
            </p:extLst>
          </p:nvPr>
        </p:nvGraphicFramePr>
        <p:xfrm>
          <a:off x="4294577" y="4781995"/>
          <a:ext cx="4479925" cy="266700"/>
        </p:xfrm>
        <a:graphic>
          <a:graphicData uri="http://schemas.openxmlformats.org/presentationml/2006/ole">
            <mc:AlternateContent xmlns:mc="http://schemas.openxmlformats.org/markup-compatibility/2006">
              <mc:Choice xmlns:v="urn:schemas-microsoft-com:vml" Requires="v">
                <p:oleObj name="Bitmap Image" r:id="rId3" imgW="4480560" imgH="266760" progId="PBrush">
                  <p:embed/>
                </p:oleObj>
              </mc:Choice>
              <mc:Fallback>
                <p:oleObj name="Bitmap Image" r:id="rId3" imgW="4480560" imgH="266760" progId="PBrush">
                  <p:embed/>
                  <p:pic>
                    <p:nvPicPr>
                      <p:cNvPr id="0" name=""/>
                      <p:cNvPicPr/>
                      <p:nvPr/>
                    </p:nvPicPr>
                    <p:blipFill>
                      <a:blip r:embed="rId4"/>
                      <a:stretch>
                        <a:fillRect/>
                      </a:stretch>
                    </p:blipFill>
                    <p:spPr>
                      <a:xfrm>
                        <a:off x="4294577" y="4781995"/>
                        <a:ext cx="4479925" cy="2667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BA0F0A7B-B70A-A0D0-DF73-103405BD45B7}"/>
              </a:ext>
            </a:extLst>
          </p:cNvPr>
          <p:cNvGraphicFramePr>
            <a:graphicFrameLocks noChangeAspect="1"/>
          </p:cNvGraphicFramePr>
          <p:nvPr>
            <p:extLst>
              <p:ext uri="{D42A27DB-BD31-4B8C-83A1-F6EECF244321}">
                <p14:modId xmlns:p14="http://schemas.microsoft.com/office/powerpoint/2010/main" val="785179538"/>
              </p:ext>
            </p:extLst>
          </p:nvPr>
        </p:nvGraphicFramePr>
        <p:xfrm>
          <a:off x="3173413" y="2501900"/>
          <a:ext cx="5845175" cy="1852613"/>
        </p:xfrm>
        <a:graphic>
          <a:graphicData uri="http://schemas.openxmlformats.org/presentationml/2006/ole">
            <mc:AlternateContent xmlns:mc="http://schemas.openxmlformats.org/markup-compatibility/2006">
              <mc:Choice xmlns:v="urn:schemas-microsoft-com:vml" Requires="v">
                <p:oleObj name="Bitmap Image" r:id="rId5" imgW="5844600" imgH="1851840" progId="PBrush">
                  <p:embed/>
                </p:oleObj>
              </mc:Choice>
              <mc:Fallback>
                <p:oleObj name="Bitmap Image" r:id="rId5" imgW="5844600" imgH="1851840" progId="PBrush">
                  <p:embed/>
                  <p:pic>
                    <p:nvPicPr>
                      <p:cNvPr id="0" name=""/>
                      <p:cNvPicPr/>
                      <p:nvPr/>
                    </p:nvPicPr>
                    <p:blipFill>
                      <a:blip r:embed="rId6"/>
                      <a:stretch>
                        <a:fillRect/>
                      </a:stretch>
                    </p:blipFill>
                    <p:spPr>
                      <a:xfrm>
                        <a:off x="3173413" y="2501900"/>
                        <a:ext cx="5845175" cy="1852613"/>
                      </a:xfrm>
                      <a:prstGeom prst="rect">
                        <a:avLst/>
                      </a:prstGeom>
                    </p:spPr>
                  </p:pic>
                </p:oleObj>
              </mc:Fallback>
            </mc:AlternateContent>
          </a:graphicData>
        </a:graphic>
      </p:graphicFrame>
    </p:spTree>
    <p:extLst>
      <p:ext uri="{BB962C8B-B14F-4D97-AF65-F5344CB8AC3E}">
        <p14:creationId xmlns:p14="http://schemas.microsoft.com/office/powerpoint/2010/main" val="3119607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40</a:t>
            </a:fld>
            <a:endParaRPr kumimoji="0" lang="en-US" dirty="0"/>
          </a:p>
        </p:txBody>
      </p:sp>
      <p:graphicFrame>
        <p:nvGraphicFramePr>
          <p:cNvPr id="2" name="Table 6">
            <a:extLst>
              <a:ext uri="{FF2B5EF4-FFF2-40B4-BE49-F238E27FC236}">
                <a16:creationId xmlns:a16="http://schemas.microsoft.com/office/drawing/2014/main" id="{74337604-0B48-BA45-EFC1-1B118494804E}"/>
              </a:ext>
            </a:extLst>
          </p:cNvPr>
          <p:cNvGraphicFramePr>
            <a:graphicFrameLocks noGrp="1"/>
          </p:cNvGraphicFramePr>
          <p:nvPr>
            <p:ph sz="quarter" idx="1"/>
            <p:extLst>
              <p:ext uri="{D42A27DB-BD31-4B8C-83A1-F6EECF244321}">
                <p14:modId xmlns:p14="http://schemas.microsoft.com/office/powerpoint/2010/main" val="2374697777"/>
              </p:ext>
            </p:extLst>
          </p:nvPr>
        </p:nvGraphicFramePr>
        <p:xfrm>
          <a:off x="604520" y="2040197"/>
          <a:ext cx="10982959" cy="3032760"/>
        </p:xfrm>
        <a:graphic>
          <a:graphicData uri="http://schemas.openxmlformats.org/drawingml/2006/table">
            <a:tbl>
              <a:tblPr firstRow="1" bandRow="1">
                <a:tableStyleId>{21E4AEA4-8DFA-4A89-87EB-49C32662AFE0}</a:tableStyleId>
              </a:tblPr>
              <a:tblGrid>
                <a:gridCol w="803446">
                  <a:extLst>
                    <a:ext uri="{9D8B030D-6E8A-4147-A177-3AD203B41FA5}">
                      <a16:colId xmlns:a16="http://schemas.microsoft.com/office/drawing/2014/main" val="27827015"/>
                    </a:ext>
                  </a:extLst>
                </a:gridCol>
                <a:gridCol w="1900336">
                  <a:extLst>
                    <a:ext uri="{9D8B030D-6E8A-4147-A177-3AD203B41FA5}">
                      <a16:colId xmlns:a16="http://schemas.microsoft.com/office/drawing/2014/main" val="1791281299"/>
                    </a:ext>
                  </a:extLst>
                </a:gridCol>
                <a:gridCol w="8279177">
                  <a:extLst>
                    <a:ext uri="{9D8B030D-6E8A-4147-A177-3AD203B41FA5}">
                      <a16:colId xmlns:a16="http://schemas.microsoft.com/office/drawing/2014/main" val="1444884897"/>
                    </a:ext>
                  </a:extLst>
                </a:gridCol>
              </a:tblGrid>
              <a:tr h="370840">
                <a:tc>
                  <a:txBody>
                    <a:bodyPr/>
                    <a:lstStyle/>
                    <a:p>
                      <a:pPr algn="ctr"/>
                      <a:r>
                        <a:rPr lang="en-US" dirty="0"/>
                        <a:t>Level</a:t>
                      </a:r>
                    </a:p>
                  </a:txBody>
                  <a:tcPr anchor="ctr"/>
                </a:tc>
                <a:tc>
                  <a:txBody>
                    <a:bodyPr/>
                    <a:lstStyle/>
                    <a:p>
                      <a:pPr algn="ctr"/>
                      <a:r>
                        <a:rPr lang="en-US" dirty="0"/>
                        <a:t>Type</a:t>
                      </a:r>
                    </a:p>
                  </a:txBody>
                  <a:tcPr anchor="ctr"/>
                </a:tc>
                <a:tc>
                  <a:txBody>
                    <a:bodyPr/>
                    <a:lstStyle/>
                    <a:p>
                      <a:pPr algn="ctr"/>
                      <a:r>
                        <a:rPr lang="en-US" dirty="0"/>
                        <a:t>Description</a:t>
                      </a:r>
                    </a:p>
                  </a:txBody>
                  <a:tcPr anchor="ctr"/>
                </a:tc>
                <a:extLst>
                  <a:ext uri="{0D108BD9-81ED-4DB2-BD59-A6C34878D82A}">
                    <a16:rowId xmlns:a16="http://schemas.microsoft.com/office/drawing/2014/main" val="3324279023"/>
                  </a:ext>
                </a:extLst>
              </a:tr>
              <a:tr h="370840">
                <a:tc>
                  <a:txBody>
                    <a:bodyPr/>
                    <a:lstStyle/>
                    <a:p>
                      <a:pPr algn="l"/>
                      <a:r>
                        <a:rPr lang="en-US" dirty="0"/>
                        <a:t>1</a:t>
                      </a:r>
                    </a:p>
                  </a:txBody>
                  <a:tcPr anchor="ctr"/>
                </a:tc>
                <a:tc>
                  <a:txBody>
                    <a:bodyPr/>
                    <a:lstStyle/>
                    <a:p>
                      <a:pPr algn="l"/>
                      <a:r>
                        <a:rPr lang="en-US" dirty="0"/>
                        <a:t>Novice</a:t>
                      </a:r>
                    </a:p>
                  </a:txBody>
                  <a:tcPr anchor="ctr"/>
                </a:tc>
                <a:tc>
                  <a:txBody>
                    <a:bodyPr/>
                    <a:lstStyle/>
                    <a:p>
                      <a:pPr algn="l"/>
                      <a:r>
                        <a:rPr lang="en-US" dirty="0"/>
                        <a:t>Barely aware or not aware of the knowledge and how it can be used</a:t>
                      </a:r>
                    </a:p>
                  </a:txBody>
                  <a:tcPr anchor="ctr"/>
                </a:tc>
                <a:extLst>
                  <a:ext uri="{0D108BD9-81ED-4DB2-BD59-A6C34878D82A}">
                    <a16:rowId xmlns:a16="http://schemas.microsoft.com/office/drawing/2014/main" val="3124746831"/>
                  </a:ext>
                </a:extLst>
              </a:tr>
              <a:tr h="370840">
                <a:tc>
                  <a:txBody>
                    <a:bodyPr/>
                    <a:lstStyle/>
                    <a:p>
                      <a:pPr algn="l"/>
                      <a:r>
                        <a:rPr lang="en-US" dirty="0"/>
                        <a:t>2</a:t>
                      </a:r>
                    </a:p>
                  </a:txBody>
                  <a:tcPr anchor="ctr"/>
                </a:tc>
                <a:tc>
                  <a:txBody>
                    <a:bodyPr/>
                    <a:lstStyle/>
                    <a:p>
                      <a:pPr algn="l"/>
                      <a:r>
                        <a:rPr lang="en-US" dirty="0"/>
                        <a:t>Beginner</a:t>
                      </a:r>
                    </a:p>
                  </a:txBody>
                  <a:tcPr anchor="ctr"/>
                </a:tc>
                <a:tc>
                  <a:txBody>
                    <a:bodyPr/>
                    <a:lstStyle/>
                    <a:p>
                      <a:pPr algn="l"/>
                      <a:r>
                        <a:rPr lang="en-US" dirty="0"/>
                        <a:t>Knows that the knowledge exists and where to get it but cannot reason with it</a:t>
                      </a:r>
                    </a:p>
                  </a:txBody>
                  <a:tcPr anchor="ctr"/>
                </a:tc>
                <a:extLst>
                  <a:ext uri="{0D108BD9-81ED-4DB2-BD59-A6C34878D82A}">
                    <a16:rowId xmlns:a16="http://schemas.microsoft.com/office/drawing/2014/main" val="1834550062"/>
                  </a:ext>
                </a:extLst>
              </a:tr>
              <a:tr h="370840">
                <a:tc>
                  <a:txBody>
                    <a:bodyPr/>
                    <a:lstStyle/>
                    <a:p>
                      <a:pPr algn="l"/>
                      <a:r>
                        <a:rPr lang="en-US" dirty="0"/>
                        <a:t>3</a:t>
                      </a:r>
                    </a:p>
                  </a:txBody>
                  <a:tcPr anchor="ctr"/>
                </a:tc>
                <a:tc>
                  <a:txBody>
                    <a:bodyPr/>
                    <a:lstStyle/>
                    <a:p>
                      <a:pPr algn="l"/>
                      <a:r>
                        <a:rPr lang="en-US" dirty="0"/>
                        <a:t>Competent</a:t>
                      </a:r>
                    </a:p>
                  </a:txBody>
                  <a:tcPr anchor="ctr"/>
                </a:tc>
                <a:tc>
                  <a:txBody>
                    <a:bodyPr/>
                    <a:lstStyle/>
                    <a:p>
                      <a:pPr algn="l"/>
                      <a:r>
                        <a:rPr lang="en-US" dirty="0"/>
                        <a:t>Knows about the knowledge, can use and reason with the knowledge given</a:t>
                      </a:r>
                    </a:p>
                    <a:p>
                      <a:pPr algn="l"/>
                      <a:r>
                        <a:rPr lang="en-US" dirty="0"/>
                        <a:t>external knowledge bases such as documents and people to help</a:t>
                      </a:r>
                    </a:p>
                  </a:txBody>
                  <a:tcPr anchor="ctr"/>
                </a:tc>
                <a:extLst>
                  <a:ext uri="{0D108BD9-81ED-4DB2-BD59-A6C34878D82A}">
                    <a16:rowId xmlns:a16="http://schemas.microsoft.com/office/drawing/2014/main" val="790555795"/>
                  </a:ext>
                </a:extLst>
              </a:tr>
              <a:tr h="370840">
                <a:tc>
                  <a:txBody>
                    <a:bodyPr/>
                    <a:lstStyle/>
                    <a:p>
                      <a:pPr algn="l"/>
                      <a:r>
                        <a:rPr lang="en-US" dirty="0"/>
                        <a:t>4</a:t>
                      </a:r>
                    </a:p>
                  </a:txBody>
                  <a:tcPr anchor="ctr"/>
                </a:tc>
                <a:tc>
                  <a:txBody>
                    <a:bodyPr/>
                    <a:lstStyle/>
                    <a:p>
                      <a:pPr algn="l"/>
                      <a:r>
                        <a:rPr lang="en-US" dirty="0"/>
                        <a:t>Expert</a:t>
                      </a:r>
                    </a:p>
                  </a:txBody>
                  <a:tcPr anchor="ctr"/>
                </a:tc>
                <a:tc>
                  <a:txBody>
                    <a:bodyPr/>
                    <a:lstStyle/>
                    <a:p>
                      <a:pPr algn="l"/>
                      <a:r>
                        <a:rPr lang="en-US" dirty="0"/>
                        <a:t>Knows the knowledge, holds the knowledge in memory, understands where it applies, reasons with it without any outside help</a:t>
                      </a:r>
                    </a:p>
                  </a:txBody>
                  <a:tcPr anchor="ctr"/>
                </a:tc>
                <a:extLst>
                  <a:ext uri="{0D108BD9-81ED-4DB2-BD59-A6C34878D82A}">
                    <a16:rowId xmlns:a16="http://schemas.microsoft.com/office/drawing/2014/main" val="1367692517"/>
                  </a:ext>
                </a:extLst>
              </a:tr>
              <a:tr h="370840">
                <a:tc>
                  <a:txBody>
                    <a:bodyPr/>
                    <a:lstStyle/>
                    <a:p>
                      <a:pPr algn="l"/>
                      <a:r>
                        <a:rPr lang="en-US" dirty="0"/>
                        <a:t>5</a:t>
                      </a:r>
                    </a:p>
                  </a:txBody>
                  <a:tcPr anchor="ctr"/>
                </a:tc>
                <a:tc>
                  <a:txBody>
                    <a:bodyPr/>
                    <a:lstStyle/>
                    <a:p>
                      <a:pPr algn="l"/>
                      <a:r>
                        <a:rPr lang="en-US" dirty="0"/>
                        <a:t>Master</a:t>
                      </a:r>
                    </a:p>
                  </a:txBody>
                  <a:tcPr anchor="ctr"/>
                </a:tc>
                <a:tc>
                  <a:txBody>
                    <a:bodyPr/>
                    <a:lstStyle/>
                    <a:p>
                      <a:pPr algn="l"/>
                      <a:r>
                        <a:rPr lang="en-US" dirty="0"/>
                        <a:t>Internalizes the knowledge fully, has a deep understanding with full integration into values, judgments, and consequences of using that knowledge</a:t>
                      </a:r>
                    </a:p>
                  </a:txBody>
                  <a:tcPr anchor="ctr"/>
                </a:tc>
                <a:extLst>
                  <a:ext uri="{0D108BD9-81ED-4DB2-BD59-A6C34878D82A}">
                    <a16:rowId xmlns:a16="http://schemas.microsoft.com/office/drawing/2014/main" val="246127790"/>
                  </a:ext>
                </a:extLst>
              </a:tr>
            </a:tbl>
          </a:graphicData>
        </a:graphic>
      </p:graphicFrame>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559043" cy="709226"/>
          </a:xfrm>
        </p:spPr>
        <p:txBody>
          <a:bodyPr>
            <a:normAutofit fontScale="90000"/>
          </a:bodyPr>
          <a:lstStyle/>
          <a:p>
            <a:r>
              <a:rPr lang="en-US" sz="4000" b="1" dirty="0">
                <a:solidFill>
                  <a:srgbClr val="ED7D31"/>
                </a:solidFill>
              </a:rPr>
              <a:t>The Wiig Model for Building and Using Knowledge</a:t>
            </a:r>
            <a:endParaRPr lang="en-US" sz="4000" b="1" dirty="0"/>
          </a:p>
        </p:txBody>
      </p:sp>
      <p:graphicFrame>
        <p:nvGraphicFramePr>
          <p:cNvPr id="8" name="Object 7">
            <a:extLst>
              <a:ext uri="{FF2B5EF4-FFF2-40B4-BE49-F238E27FC236}">
                <a16:creationId xmlns:a16="http://schemas.microsoft.com/office/drawing/2014/main" id="{5BFFF89E-46DA-3BA8-B6FE-178DD7257284}"/>
              </a:ext>
            </a:extLst>
          </p:cNvPr>
          <p:cNvGraphicFramePr>
            <a:graphicFrameLocks noChangeAspect="1"/>
          </p:cNvGraphicFramePr>
          <p:nvPr>
            <p:extLst>
              <p:ext uri="{D42A27DB-BD31-4B8C-83A1-F6EECF244321}">
                <p14:modId xmlns:p14="http://schemas.microsoft.com/office/powerpoint/2010/main" val="127925765"/>
              </p:ext>
            </p:extLst>
          </p:nvPr>
        </p:nvGraphicFramePr>
        <p:xfrm>
          <a:off x="3997730" y="5343064"/>
          <a:ext cx="4138613" cy="274637"/>
        </p:xfrm>
        <a:graphic>
          <a:graphicData uri="http://schemas.openxmlformats.org/presentationml/2006/ole">
            <mc:AlternateContent xmlns:mc="http://schemas.openxmlformats.org/markup-compatibility/2006">
              <mc:Choice xmlns:v="urn:schemas-microsoft-com:vml" Requires="v">
                <p:oleObj name="Bitmap Image" r:id="rId3" imgW="4137840" imgH="274320" progId="PBrush">
                  <p:embed/>
                </p:oleObj>
              </mc:Choice>
              <mc:Fallback>
                <p:oleObj name="Bitmap Image" r:id="rId3" imgW="4137840" imgH="274320" progId="PBrush">
                  <p:embed/>
                  <p:pic>
                    <p:nvPicPr>
                      <p:cNvPr id="0" name=""/>
                      <p:cNvPicPr/>
                      <p:nvPr/>
                    </p:nvPicPr>
                    <p:blipFill>
                      <a:blip r:embed="rId4"/>
                      <a:stretch>
                        <a:fillRect/>
                      </a:stretch>
                    </p:blipFill>
                    <p:spPr>
                      <a:xfrm>
                        <a:off x="3997730" y="5343064"/>
                        <a:ext cx="4138613" cy="274637"/>
                      </a:xfrm>
                      <a:prstGeom prst="rect">
                        <a:avLst/>
                      </a:prstGeom>
                    </p:spPr>
                  </p:pic>
                </p:oleObj>
              </mc:Fallback>
            </mc:AlternateContent>
          </a:graphicData>
        </a:graphic>
      </p:graphicFrame>
    </p:spTree>
    <p:extLst>
      <p:ext uri="{BB962C8B-B14F-4D97-AF65-F5344CB8AC3E}">
        <p14:creationId xmlns:p14="http://schemas.microsoft.com/office/powerpoint/2010/main" val="29264566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41</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528563" cy="709226"/>
          </a:xfrm>
        </p:spPr>
        <p:txBody>
          <a:bodyPr>
            <a:normAutofit fontScale="90000"/>
          </a:bodyPr>
          <a:lstStyle/>
          <a:p>
            <a:r>
              <a:rPr lang="en-US" sz="4000" b="1" dirty="0">
                <a:solidFill>
                  <a:srgbClr val="ED7D31"/>
                </a:solidFill>
              </a:rPr>
              <a:t>The Wiig Model for Building and Using Knowledge</a:t>
            </a:r>
            <a:endParaRPr lang="en-US" sz="4000" b="1" dirty="0"/>
          </a:p>
        </p:txBody>
      </p:sp>
      <p:graphicFrame>
        <p:nvGraphicFramePr>
          <p:cNvPr id="2" name="Object 1">
            <a:extLst>
              <a:ext uri="{FF2B5EF4-FFF2-40B4-BE49-F238E27FC236}">
                <a16:creationId xmlns:a16="http://schemas.microsoft.com/office/drawing/2014/main" id="{A7B6CB78-A176-CE0B-E9A2-8F42F27057DF}"/>
              </a:ext>
            </a:extLst>
          </p:cNvPr>
          <p:cNvGraphicFramePr>
            <a:graphicFrameLocks noChangeAspect="1"/>
          </p:cNvGraphicFramePr>
          <p:nvPr>
            <p:extLst>
              <p:ext uri="{D42A27DB-BD31-4B8C-83A1-F6EECF244321}">
                <p14:modId xmlns:p14="http://schemas.microsoft.com/office/powerpoint/2010/main" val="125893801"/>
              </p:ext>
            </p:extLst>
          </p:nvPr>
        </p:nvGraphicFramePr>
        <p:xfrm>
          <a:off x="4045303" y="1664592"/>
          <a:ext cx="2626943" cy="280415"/>
        </p:xfrm>
        <a:graphic>
          <a:graphicData uri="http://schemas.openxmlformats.org/presentationml/2006/ole">
            <mc:AlternateContent xmlns:mc="http://schemas.openxmlformats.org/markup-compatibility/2006">
              <mc:Choice xmlns:v="urn:schemas-microsoft-com:vml" Requires="v">
                <p:oleObj name="Bitmap Image" r:id="rId3" imgW="2141280" imgH="228600" progId="PBrush">
                  <p:embed/>
                </p:oleObj>
              </mc:Choice>
              <mc:Fallback>
                <p:oleObj name="Bitmap Image" r:id="rId3" imgW="2141280" imgH="228600" progId="PBrush">
                  <p:embed/>
                  <p:pic>
                    <p:nvPicPr>
                      <p:cNvPr id="0" name=""/>
                      <p:cNvPicPr/>
                      <p:nvPr/>
                    </p:nvPicPr>
                    <p:blipFill>
                      <a:blip r:embed="rId4"/>
                      <a:stretch>
                        <a:fillRect/>
                      </a:stretch>
                    </p:blipFill>
                    <p:spPr>
                      <a:xfrm>
                        <a:off x="4045303" y="1664592"/>
                        <a:ext cx="2626943" cy="28041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48A5C701-7250-DF29-144A-916DFE9C2262}"/>
              </a:ext>
            </a:extLst>
          </p:cNvPr>
          <p:cNvGraphicFramePr>
            <a:graphicFrameLocks noChangeAspect="1"/>
          </p:cNvGraphicFramePr>
          <p:nvPr>
            <p:extLst>
              <p:ext uri="{D42A27DB-BD31-4B8C-83A1-F6EECF244321}">
                <p14:modId xmlns:p14="http://schemas.microsoft.com/office/powerpoint/2010/main" val="1582128850"/>
              </p:ext>
            </p:extLst>
          </p:nvPr>
        </p:nvGraphicFramePr>
        <p:xfrm>
          <a:off x="1561652" y="2074719"/>
          <a:ext cx="8751453" cy="3974860"/>
        </p:xfrm>
        <a:graphic>
          <a:graphicData uri="http://schemas.openxmlformats.org/presentationml/2006/ole">
            <mc:AlternateContent xmlns:mc="http://schemas.openxmlformats.org/markup-compatibility/2006">
              <mc:Choice xmlns:v="urn:schemas-microsoft-com:vml" Requires="v">
                <p:oleObj name="Bitmap Image" r:id="rId5" imgW="5753160" imgH="2613600" progId="PBrush">
                  <p:embed/>
                </p:oleObj>
              </mc:Choice>
              <mc:Fallback>
                <p:oleObj name="Bitmap Image" r:id="rId5" imgW="5753160" imgH="2613600" progId="PBrush">
                  <p:embed/>
                  <p:pic>
                    <p:nvPicPr>
                      <p:cNvPr id="0" name=""/>
                      <p:cNvPicPr/>
                      <p:nvPr/>
                    </p:nvPicPr>
                    <p:blipFill>
                      <a:blip r:embed="rId6"/>
                      <a:stretch>
                        <a:fillRect/>
                      </a:stretch>
                    </p:blipFill>
                    <p:spPr>
                      <a:xfrm>
                        <a:off x="1561652" y="2074719"/>
                        <a:ext cx="8751453" cy="3974860"/>
                      </a:xfrm>
                      <a:prstGeom prst="rect">
                        <a:avLst/>
                      </a:prstGeom>
                    </p:spPr>
                  </p:pic>
                </p:oleObj>
              </mc:Fallback>
            </mc:AlternateContent>
          </a:graphicData>
        </a:graphic>
      </p:graphicFrame>
    </p:spTree>
    <p:extLst>
      <p:ext uri="{BB962C8B-B14F-4D97-AF65-F5344CB8AC3E}">
        <p14:creationId xmlns:p14="http://schemas.microsoft.com/office/powerpoint/2010/main" val="1554607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42</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366003" cy="709226"/>
          </a:xfrm>
        </p:spPr>
        <p:txBody>
          <a:bodyPr>
            <a:normAutofit fontScale="90000"/>
          </a:bodyPr>
          <a:lstStyle/>
          <a:p>
            <a:r>
              <a:rPr lang="en-US" sz="4000" b="1" dirty="0">
                <a:solidFill>
                  <a:srgbClr val="ED7D31"/>
                </a:solidFill>
              </a:rPr>
              <a:t>The Wiig Model for Building and Using Knowledge</a:t>
            </a:r>
            <a:endParaRPr lang="en-US" sz="4000" b="1" dirty="0"/>
          </a:p>
        </p:txBody>
      </p:sp>
      <p:graphicFrame>
        <p:nvGraphicFramePr>
          <p:cNvPr id="2" name="Object 1">
            <a:extLst>
              <a:ext uri="{FF2B5EF4-FFF2-40B4-BE49-F238E27FC236}">
                <a16:creationId xmlns:a16="http://schemas.microsoft.com/office/drawing/2014/main" id="{113AB310-2C0B-00A9-BBFC-038D4BC1C597}"/>
              </a:ext>
            </a:extLst>
          </p:cNvPr>
          <p:cNvGraphicFramePr>
            <a:graphicFrameLocks noChangeAspect="1"/>
          </p:cNvGraphicFramePr>
          <p:nvPr>
            <p:extLst>
              <p:ext uri="{D42A27DB-BD31-4B8C-83A1-F6EECF244321}">
                <p14:modId xmlns:p14="http://schemas.microsoft.com/office/powerpoint/2010/main" val="1130767695"/>
              </p:ext>
            </p:extLst>
          </p:nvPr>
        </p:nvGraphicFramePr>
        <p:xfrm>
          <a:off x="3951742" y="5919868"/>
          <a:ext cx="4549775" cy="334963"/>
        </p:xfrm>
        <a:graphic>
          <a:graphicData uri="http://schemas.openxmlformats.org/presentationml/2006/ole">
            <mc:AlternateContent xmlns:mc="http://schemas.openxmlformats.org/markup-compatibility/2006">
              <mc:Choice xmlns:v="urn:schemas-microsoft-com:vml" Requires="v">
                <p:oleObj name="Bitmap Image" r:id="rId3" imgW="4549320" imgH="335160" progId="PBrush">
                  <p:embed/>
                </p:oleObj>
              </mc:Choice>
              <mc:Fallback>
                <p:oleObj name="Bitmap Image" r:id="rId3" imgW="4549320" imgH="335160" progId="PBrush">
                  <p:embed/>
                  <p:pic>
                    <p:nvPicPr>
                      <p:cNvPr id="0" name=""/>
                      <p:cNvPicPr/>
                      <p:nvPr/>
                    </p:nvPicPr>
                    <p:blipFill>
                      <a:blip r:embed="rId4"/>
                      <a:stretch>
                        <a:fillRect/>
                      </a:stretch>
                    </p:blipFill>
                    <p:spPr>
                      <a:xfrm>
                        <a:off x="3951742" y="5919868"/>
                        <a:ext cx="4549775" cy="33496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B500A451-F013-611C-C205-E4AFE8F9F209}"/>
              </a:ext>
            </a:extLst>
          </p:cNvPr>
          <p:cNvGraphicFramePr>
            <a:graphicFrameLocks noChangeAspect="1"/>
          </p:cNvGraphicFramePr>
          <p:nvPr>
            <p:extLst>
              <p:ext uri="{D42A27DB-BD31-4B8C-83A1-F6EECF244321}">
                <p14:modId xmlns:p14="http://schemas.microsoft.com/office/powerpoint/2010/main" val="2781238490"/>
              </p:ext>
            </p:extLst>
          </p:nvPr>
        </p:nvGraphicFramePr>
        <p:xfrm>
          <a:off x="2537618" y="1384177"/>
          <a:ext cx="7116763" cy="4275137"/>
        </p:xfrm>
        <a:graphic>
          <a:graphicData uri="http://schemas.openxmlformats.org/presentationml/2006/ole">
            <mc:AlternateContent xmlns:mc="http://schemas.openxmlformats.org/markup-compatibility/2006">
              <mc:Choice xmlns:v="urn:schemas-microsoft-com:vml" Requires="v">
                <p:oleObj name="Bitmap Image" r:id="rId5" imgW="7117200" imgH="4275000" progId="PBrush">
                  <p:embed/>
                </p:oleObj>
              </mc:Choice>
              <mc:Fallback>
                <p:oleObj name="Bitmap Image" r:id="rId5" imgW="7117200" imgH="4275000" progId="PBrush">
                  <p:embed/>
                  <p:pic>
                    <p:nvPicPr>
                      <p:cNvPr id="0" name=""/>
                      <p:cNvPicPr/>
                      <p:nvPr/>
                    </p:nvPicPr>
                    <p:blipFill>
                      <a:blip r:embed="rId6"/>
                      <a:stretch>
                        <a:fillRect/>
                      </a:stretch>
                    </p:blipFill>
                    <p:spPr>
                      <a:xfrm>
                        <a:off x="2537618" y="1384177"/>
                        <a:ext cx="7116763" cy="4275137"/>
                      </a:xfrm>
                      <a:prstGeom prst="rect">
                        <a:avLst/>
                      </a:prstGeom>
                    </p:spPr>
                  </p:pic>
                </p:oleObj>
              </mc:Fallback>
            </mc:AlternateContent>
          </a:graphicData>
        </a:graphic>
      </p:graphicFrame>
    </p:spTree>
    <p:extLst>
      <p:ext uri="{BB962C8B-B14F-4D97-AF65-F5344CB8AC3E}">
        <p14:creationId xmlns:p14="http://schemas.microsoft.com/office/powerpoint/2010/main" val="13361571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43</a:t>
            </a:fld>
            <a:endParaRPr kumimoji="0" lang="en-US" dirty="0"/>
          </a:p>
        </p:txBody>
      </p:sp>
      <p:sp>
        <p:nvSpPr>
          <p:cNvPr id="4" name="Content Placeholder 3"/>
          <p:cNvSpPr>
            <a:spLocks noGrp="1"/>
          </p:cNvSpPr>
          <p:nvPr>
            <p:ph sz="quarter" idx="1"/>
          </p:nvPr>
        </p:nvSpPr>
        <p:spPr>
          <a:xfrm>
            <a:off x="0" y="1664593"/>
            <a:ext cx="11971176" cy="4255275"/>
          </a:xfrm>
        </p:spPr>
        <p:txBody>
          <a:bodyPr>
            <a:normAutofit lnSpcReduction="10000"/>
          </a:bodyPr>
          <a:lstStyle/>
          <a:p>
            <a:pPr marL="342900" indent="-342900" algn="just">
              <a:lnSpc>
                <a:spcPct val="150000"/>
              </a:lnSpc>
              <a:spcBef>
                <a:spcPts val="600"/>
              </a:spcBef>
              <a:buClr>
                <a:srgbClr val="973735"/>
              </a:buClr>
              <a:buSzPct val="50000"/>
              <a:buFont typeface="Wingdings" pitchFamily="2" charset="2"/>
              <a:buChar char="u"/>
              <a:defRPr/>
            </a:pPr>
            <a:r>
              <a:rPr lang="en-US" dirty="0"/>
              <a:t>The von Krogh and </a:t>
            </a:r>
            <a:r>
              <a:rPr lang="en-US" dirty="0" err="1"/>
              <a:t>Roos</a:t>
            </a:r>
            <a:r>
              <a:rPr lang="en-US" dirty="0"/>
              <a:t> Model of Organizational Epistemology</a:t>
            </a:r>
          </a:p>
          <a:p>
            <a:pPr marL="342900" indent="-342900" algn="just">
              <a:lnSpc>
                <a:spcPct val="150000"/>
              </a:lnSpc>
              <a:spcBef>
                <a:spcPts val="600"/>
              </a:spcBef>
              <a:buClr>
                <a:srgbClr val="973735"/>
              </a:buClr>
              <a:buSzPct val="50000"/>
              <a:buFont typeface="Wingdings" pitchFamily="2" charset="2"/>
              <a:buChar char="u"/>
              <a:defRPr/>
            </a:pPr>
            <a:r>
              <a:rPr lang="en-US" dirty="0"/>
              <a:t>The Nonaka and Takeuchi knowledge spiral Model</a:t>
            </a:r>
          </a:p>
          <a:p>
            <a:pPr marL="342900" indent="-342900" algn="just">
              <a:lnSpc>
                <a:spcPct val="150000"/>
              </a:lnSpc>
              <a:spcBef>
                <a:spcPts val="600"/>
              </a:spcBef>
              <a:buClr>
                <a:srgbClr val="973735"/>
              </a:buClr>
              <a:buSzPct val="50000"/>
              <a:buFont typeface="Wingdings" pitchFamily="2" charset="2"/>
              <a:buChar char="u"/>
              <a:defRPr/>
            </a:pPr>
            <a:r>
              <a:rPr lang="en-US" dirty="0"/>
              <a:t>The Choo sense-making KM Model</a:t>
            </a:r>
          </a:p>
          <a:p>
            <a:pPr marL="342900" indent="-342900" algn="just">
              <a:lnSpc>
                <a:spcPct val="150000"/>
              </a:lnSpc>
              <a:spcBef>
                <a:spcPts val="600"/>
              </a:spcBef>
              <a:buClr>
                <a:srgbClr val="973735"/>
              </a:buClr>
              <a:buSzPct val="50000"/>
              <a:buFont typeface="Wingdings" pitchFamily="2" charset="2"/>
              <a:buChar char="u"/>
              <a:defRPr/>
            </a:pPr>
            <a:r>
              <a:rPr lang="en-US" dirty="0"/>
              <a:t>The Wiig Model for Building and Using Knowledge</a:t>
            </a:r>
          </a:p>
          <a:p>
            <a:pPr marL="342900" indent="-342900" algn="just">
              <a:lnSpc>
                <a:spcPct val="150000"/>
              </a:lnSpc>
              <a:spcBef>
                <a:spcPts val="600"/>
              </a:spcBef>
              <a:buClr>
                <a:srgbClr val="973735"/>
              </a:buClr>
              <a:buSzPct val="50000"/>
              <a:buFont typeface="Wingdings" pitchFamily="2" charset="2"/>
              <a:buChar char="u"/>
              <a:defRPr/>
            </a:pPr>
            <a:r>
              <a:rPr lang="en-US" b="1" dirty="0">
                <a:solidFill>
                  <a:srgbClr val="ED7D31"/>
                </a:solidFill>
              </a:rPr>
              <a:t>The </a:t>
            </a:r>
            <a:r>
              <a:rPr lang="en-US" b="1" dirty="0" err="1">
                <a:solidFill>
                  <a:srgbClr val="ED7D31"/>
                </a:solidFill>
              </a:rPr>
              <a:t>Boisot</a:t>
            </a:r>
            <a:r>
              <a:rPr lang="en-US" b="1" dirty="0">
                <a:solidFill>
                  <a:srgbClr val="ED7D31"/>
                </a:solidFill>
              </a:rPr>
              <a:t> I-Space KM Model </a:t>
            </a:r>
          </a:p>
          <a:p>
            <a:pPr marL="342900" indent="-342900" algn="just">
              <a:lnSpc>
                <a:spcPct val="150000"/>
              </a:lnSpc>
              <a:spcBef>
                <a:spcPts val="600"/>
              </a:spcBef>
              <a:buClr>
                <a:srgbClr val="973735"/>
              </a:buClr>
              <a:buSzPct val="50000"/>
              <a:buFont typeface="Wingdings" pitchFamily="2" charset="2"/>
              <a:buChar char="u"/>
              <a:defRPr/>
            </a:pPr>
            <a:r>
              <a:rPr lang="en-US" sz="2800" dirty="0"/>
              <a:t>Complex adaptive system models of KM</a:t>
            </a:r>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Theoretical KM Models</a:t>
            </a:r>
          </a:p>
        </p:txBody>
      </p:sp>
    </p:spTree>
    <p:extLst>
      <p:ext uri="{BB962C8B-B14F-4D97-AF65-F5344CB8AC3E}">
        <p14:creationId xmlns:p14="http://schemas.microsoft.com/office/powerpoint/2010/main" val="9124007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44</a:t>
            </a:fld>
            <a:endParaRPr kumimoji="0" lang="en-US" dirty="0"/>
          </a:p>
        </p:txBody>
      </p:sp>
      <p:sp>
        <p:nvSpPr>
          <p:cNvPr id="4" name="Content Placeholder 3"/>
          <p:cNvSpPr>
            <a:spLocks noGrp="1"/>
          </p:cNvSpPr>
          <p:nvPr>
            <p:ph sz="quarter" idx="1"/>
          </p:nvPr>
        </p:nvSpPr>
        <p:spPr>
          <a:xfrm>
            <a:off x="0" y="2192694"/>
            <a:ext cx="11700588" cy="438082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The </a:t>
            </a:r>
            <a:r>
              <a:rPr lang="en-US" sz="2600" dirty="0" err="1"/>
              <a:t>Boisot</a:t>
            </a:r>
            <a:r>
              <a:rPr lang="en-US" sz="2600" dirty="0"/>
              <a:t> KM model is based on the key concept of an "information good“ that differs from a physical asset.</a:t>
            </a:r>
          </a:p>
          <a:p>
            <a:pPr marL="342900" indent="-342900" algn="just">
              <a:lnSpc>
                <a:spcPct val="100000"/>
              </a:lnSpc>
              <a:spcBef>
                <a:spcPts val="2400"/>
              </a:spcBef>
              <a:buClr>
                <a:srgbClr val="973735"/>
              </a:buClr>
              <a:buSzPct val="50000"/>
              <a:buFont typeface="Wingdings" pitchFamily="2" charset="2"/>
              <a:buChar char="u"/>
              <a:defRPr/>
            </a:pPr>
            <a:r>
              <a:rPr lang="en-US" sz="2600" dirty="0" err="1"/>
              <a:t>Boisot</a:t>
            </a:r>
            <a:r>
              <a:rPr lang="en-US" sz="2600" dirty="0"/>
              <a:t> distinguishes information from data by emphasizing that information is what an observer will extract from data as a function of his or her expectations or prior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Boisot</a:t>
            </a:r>
            <a:r>
              <a:rPr lang="en-US" sz="4000" b="1" dirty="0">
                <a:solidFill>
                  <a:srgbClr val="ED7D31"/>
                </a:solidFill>
              </a:rPr>
              <a:t> I-Space KM Model </a:t>
            </a:r>
          </a:p>
        </p:txBody>
      </p:sp>
    </p:spTree>
    <p:extLst>
      <p:ext uri="{BB962C8B-B14F-4D97-AF65-F5344CB8AC3E}">
        <p14:creationId xmlns:p14="http://schemas.microsoft.com/office/powerpoint/2010/main" val="34002911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45</a:t>
            </a:fld>
            <a:endParaRPr kumimoji="0" lang="en-US" dirty="0"/>
          </a:p>
        </p:txBody>
      </p:sp>
      <p:sp>
        <p:nvSpPr>
          <p:cNvPr id="4" name="Content Placeholder 3"/>
          <p:cNvSpPr>
            <a:spLocks noGrp="1"/>
          </p:cNvSpPr>
          <p:nvPr>
            <p:ph sz="quarter" idx="1"/>
          </p:nvPr>
        </p:nvSpPr>
        <p:spPr>
          <a:xfrm>
            <a:off x="0" y="2192694"/>
            <a:ext cx="11971176" cy="438082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err="1"/>
              <a:t>Boisot</a:t>
            </a:r>
            <a:r>
              <a:rPr lang="en-US" sz="2600" dirty="0"/>
              <a:t> (1998) proposes the following two key points:</a:t>
            </a:r>
          </a:p>
          <a:p>
            <a:pPr marL="457200" lvl="1" indent="0" algn="just">
              <a:lnSpc>
                <a:spcPct val="100000"/>
              </a:lnSpc>
              <a:spcBef>
                <a:spcPts val="2400"/>
              </a:spcBef>
              <a:buClr>
                <a:srgbClr val="973735"/>
              </a:buClr>
              <a:buSzPct val="50000"/>
              <a:buNone/>
              <a:defRPr/>
            </a:pPr>
            <a:r>
              <a:rPr lang="en-US" dirty="0"/>
              <a:t>1. The more easily data can be structured and converted into information, the more diffusible it becomes.</a:t>
            </a:r>
          </a:p>
          <a:p>
            <a:pPr marL="457200" lvl="1" indent="0" algn="just">
              <a:lnSpc>
                <a:spcPct val="100000"/>
              </a:lnSpc>
              <a:spcBef>
                <a:spcPts val="2400"/>
              </a:spcBef>
              <a:buClr>
                <a:srgbClr val="973735"/>
              </a:buClr>
              <a:buSzPct val="50000"/>
              <a:buNone/>
              <a:defRPr/>
            </a:pPr>
            <a:r>
              <a:rPr lang="en-US" dirty="0"/>
              <a:t>2. The less data that has been so structured requites a shared context for its diffusion, the more diffusible it becomes.</a:t>
            </a:r>
          </a:p>
          <a:p>
            <a:pPr marL="342900" indent="-342900" algn="just">
              <a:lnSpc>
                <a:spcPct val="10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Boisot</a:t>
            </a:r>
            <a:r>
              <a:rPr lang="en-US" sz="4000" b="1" dirty="0">
                <a:solidFill>
                  <a:srgbClr val="ED7D31"/>
                </a:solidFill>
              </a:rPr>
              <a:t> I-Space KM Model </a:t>
            </a:r>
          </a:p>
        </p:txBody>
      </p:sp>
    </p:spTree>
    <p:extLst>
      <p:ext uri="{BB962C8B-B14F-4D97-AF65-F5344CB8AC3E}">
        <p14:creationId xmlns:p14="http://schemas.microsoft.com/office/powerpoint/2010/main" val="31961382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46</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0" indent="0" algn="just">
              <a:lnSpc>
                <a:spcPct val="150000"/>
              </a:lnSpc>
              <a:spcBef>
                <a:spcPts val="600"/>
              </a:spcBef>
              <a:buClr>
                <a:srgbClr val="973735"/>
              </a:buClr>
              <a:buSzPct val="50000"/>
              <a:buNone/>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Boisot</a:t>
            </a:r>
            <a:r>
              <a:rPr lang="en-US" sz="4000" b="1" dirty="0">
                <a:solidFill>
                  <a:srgbClr val="ED7D31"/>
                </a:solidFill>
              </a:rPr>
              <a:t> I-Space KM Model </a:t>
            </a:r>
          </a:p>
        </p:txBody>
      </p:sp>
      <p:graphicFrame>
        <p:nvGraphicFramePr>
          <p:cNvPr id="2" name="Object 1">
            <a:extLst>
              <a:ext uri="{FF2B5EF4-FFF2-40B4-BE49-F238E27FC236}">
                <a16:creationId xmlns:a16="http://schemas.microsoft.com/office/drawing/2014/main" id="{0B66369A-504A-9EF5-8FFD-157AA944DFF4}"/>
              </a:ext>
            </a:extLst>
          </p:cNvPr>
          <p:cNvGraphicFramePr>
            <a:graphicFrameLocks noChangeAspect="1"/>
          </p:cNvGraphicFramePr>
          <p:nvPr>
            <p:extLst>
              <p:ext uri="{D42A27DB-BD31-4B8C-83A1-F6EECF244321}">
                <p14:modId xmlns:p14="http://schemas.microsoft.com/office/powerpoint/2010/main" val="1720186519"/>
              </p:ext>
            </p:extLst>
          </p:nvPr>
        </p:nvGraphicFramePr>
        <p:xfrm>
          <a:off x="4219284" y="5214978"/>
          <a:ext cx="4237037" cy="350837"/>
        </p:xfrm>
        <a:graphic>
          <a:graphicData uri="http://schemas.openxmlformats.org/presentationml/2006/ole">
            <mc:AlternateContent xmlns:mc="http://schemas.openxmlformats.org/markup-compatibility/2006">
              <mc:Choice xmlns:v="urn:schemas-microsoft-com:vml" Requires="v">
                <p:oleObj name="Bitmap Image" r:id="rId3" imgW="4236840" imgH="350640" progId="PBrush">
                  <p:embed/>
                </p:oleObj>
              </mc:Choice>
              <mc:Fallback>
                <p:oleObj name="Bitmap Image" r:id="rId3" imgW="4236840" imgH="350640" progId="PBrush">
                  <p:embed/>
                  <p:pic>
                    <p:nvPicPr>
                      <p:cNvPr id="0" name=""/>
                      <p:cNvPicPr/>
                      <p:nvPr/>
                    </p:nvPicPr>
                    <p:blipFill>
                      <a:blip r:embed="rId4"/>
                      <a:stretch>
                        <a:fillRect/>
                      </a:stretch>
                    </p:blipFill>
                    <p:spPr>
                      <a:xfrm>
                        <a:off x="4219284" y="5214978"/>
                        <a:ext cx="4237037" cy="350837"/>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61A80170-BA0D-AE4B-32F1-CF2C120C0AD7}"/>
              </a:ext>
            </a:extLst>
          </p:cNvPr>
          <p:cNvGraphicFramePr>
            <a:graphicFrameLocks noChangeAspect="1"/>
          </p:cNvGraphicFramePr>
          <p:nvPr>
            <p:extLst>
              <p:ext uri="{D42A27DB-BD31-4B8C-83A1-F6EECF244321}">
                <p14:modId xmlns:p14="http://schemas.microsoft.com/office/powerpoint/2010/main" val="1380185902"/>
              </p:ext>
            </p:extLst>
          </p:nvPr>
        </p:nvGraphicFramePr>
        <p:xfrm>
          <a:off x="3554413" y="1995488"/>
          <a:ext cx="5083175" cy="2865437"/>
        </p:xfrm>
        <a:graphic>
          <a:graphicData uri="http://schemas.openxmlformats.org/presentationml/2006/ole">
            <mc:AlternateContent xmlns:mc="http://schemas.openxmlformats.org/markup-compatibility/2006">
              <mc:Choice xmlns:v="urn:schemas-microsoft-com:vml" Requires="v">
                <p:oleObj name="Bitmap Image" r:id="rId5" imgW="5082480" imgH="2865240" progId="PBrush">
                  <p:embed/>
                </p:oleObj>
              </mc:Choice>
              <mc:Fallback>
                <p:oleObj name="Bitmap Image" r:id="rId5" imgW="5082480" imgH="2865240" progId="PBrush">
                  <p:embed/>
                  <p:pic>
                    <p:nvPicPr>
                      <p:cNvPr id="0" name=""/>
                      <p:cNvPicPr/>
                      <p:nvPr/>
                    </p:nvPicPr>
                    <p:blipFill>
                      <a:blip r:embed="rId6"/>
                      <a:stretch>
                        <a:fillRect/>
                      </a:stretch>
                    </p:blipFill>
                    <p:spPr>
                      <a:xfrm>
                        <a:off x="3554413" y="1995488"/>
                        <a:ext cx="5083175" cy="2865437"/>
                      </a:xfrm>
                      <a:prstGeom prst="rect">
                        <a:avLst/>
                      </a:prstGeom>
                    </p:spPr>
                  </p:pic>
                </p:oleObj>
              </mc:Fallback>
            </mc:AlternateContent>
          </a:graphicData>
        </a:graphic>
      </p:graphicFrame>
    </p:spTree>
    <p:extLst>
      <p:ext uri="{BB962C8B-B14F-4D97-AF65-F5344CB8AC3E}">
        <p14:creationId xmlns:p14="http://schemas.microsoft.com/office/powerpoint/2010/main" val="16658157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47</a:t>
            </a:fld>
            <a:endParaRPr kumimoji="0" lang="en-US" dirty="0"/>
          </a:p>
        </p:txBody>
      </p:sp>
      <p:sp>
        <p:nvSpPr>
          <p:cNvPr id="4" name="Content Placeholder 3"/>
          <p:cNvSpPr>
            <a:spLocks noGrp="1"/>
          </p:cNvSpPr>
          <p:nvPr>
            <p:ph sz="quarter" idx="1"/>
          </p:nvPr>
        </p:nvSpPr>
        <p:spPr>
          <a:xfrm>
            <a:off x="0" y="1664593"/>
            <a:ext cx="11709918"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t>Phase 1: Scanning </a:t>
            </a:r>
            <a:endParaRPr lang="en-US" dirty="0"/>
          </a:p>
          <a:p>
            <a:pPr marL="800100" lvl="1" indent="-342900" algn="just">
              <a:lnSpc>
                <a:spcPct val="100000"/>
              </a:lnSpc>
              <a:spcBef>
                <a:spcPts val="1800"/>
              </a:spcBef>
              <a:buClr>
                <a:srgbClr val="973735"/>
              </a:buClr>
              <a:buSzPct val="50000"/>
              <a:buFont typeface="Wingdings" pitchFamily="2" charset="2"/>
              <a:buChar char="u"/>
              <a:defRPr/>
            </a:pPr>
            <a:r>
              <a:rPr lang="en-US" sz="2600" dirty="0"/>
              <a:t>Identifying threats and opportunities in generally available but often fuzzy content</a:t>
            </a:r>
          </a:p>
          <a:p>
            <a:pPr marL="800100" lvl="1" indent="-342900" algn="just">
              <a:lnSpc>
                <a:spcPct val="100000"/>
              </a:lnSpc>
              <a:spcBef>
                <a:spcPts val="1800"/>
              </a:spcBef>
              <a:buClr>
                <a:srgbClr val="973735"/>
              </a:buClr>
              <a:buSzPct val="50000"/>
              <a:buFont typeface="Wingdings" pitchFamily="2" charset="2"/>
              <a:buChar char="u"/>
              <a:defRPr/>
            </a:pPr>
            <a:r>
              <a:rPr lang="en-US" sz="2600" dirty="0"/>
              <a:t>Scanning patterns such as unique or idiosyncratic insights that then become the possession of individuals or small groups</a:t>
            </a:r>
          </a:p>
          <a:p>
            <a:pPr marL="800100" lvl="1" indent="-342900" algn="just">
              <a:lnSpc>
                <a:spcPct val="100000"/>
              </a:lnSpc>
              <a:spcBef>
                <a:spcPts val="1800"/>
              </a:spcBef>
              <a:buClr>
                <a:srgbClr val="973735"/>
              </a:buClr>
              <a:buSzPct val="50000"/>
              <a:buFont typeface="Wingdings" pitchFamily="2" charset="2"/>
              <a:buChar char="u"/>
              <a:defRPr/>
            </a:pPr>
            <a:r>
              <a:rPr lang="en-US" sz="2600" dirty="0"/>
              <a:t>Scanning may be very rapid when the data is well codified and abstract and very slow and random when the data is uncodified and context-specific</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Boisot</a:t>
            </a:r>
            <a:r>
              <a:rPr lang="en-US" sz="4000" b="1" dirty="0">
                <a:solidFill>
                  <a:srgbClr val="ED7D31"/>
                </a:solidFill>
              </a:rPr>
              <a:t> I-Space KM Model </a:t>
            </a:r>
            <a:endParaRPr lang="en-US" sz="4000" b="1" dirty="0"/>
          </a:p>
        </p:txBody>
      </p:sp>
    </p:spTree>
    <p:extLst>
      <p:ext uri="{BB962C8B-B14F-4D97-AF65-F5344CB8AC3E}">
        <p14:creationId xmlns:p14="http://schemas.microsoft.com/office/powerpoint/2010/main" val="38979929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48</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Phase 2: Problem solving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 process of giving structure and coherence to such insights—that is, codifying them;</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 this phase they are given a definite shape and much of the uncertainty initially associated with them is eliminated</a:t>
            </a:r>
          </a:p>
          <a:p>
            <a:pPr marL="800100" lvl="1" indent="-342900" algn="just">
              <a:lnSpc>
                <a:spcPct val="100000"/>
              </a:lnSpc>
              <a:spcBef>
                <a:spcPts val="1800"/>
              </a:spcBef>
              <a:buClr>
                <a:srgbClr val="973735"/>
              </a:buClr>
              <a:buSzPct val="50000"/>
              <a:buFont typeface="Wingdings" pitchFamily="2" charset="2"/>
              <a:buChar char="u"/>
              <a:defRPr/>
            </a:pPr>
            <a:r>
              <a:rPr lang="en-US" sz="2600" dirty="0"/>
              <a:t>Problem solving initiated in the uncodified region of the I-Space is often both risky and conflict-laden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Boisot</a:t>
            </a:r>
            <a:r>
              <a:rPr lang="en-US" sz="4000" b="1" dirty="0">
                <a:solidFill>
                  <a:srgbClr val="ED7D31"/>
                </a:solidFill>
              </a:rPr>
              <a:t> I-Space KM Model </a:t>
            </a:r>
            <a:endParaRPr lang="en-US" sz="4000" b="1" dirty="0"/>
          </a:p>
        </p:txBody>
      </p:sp>
    </p:spTree>
    <p:extLst>
      <p:ext uri="{BB962C8B-B14F-4D97-AF65-F5344CB8AC3E}">
        <p14:creationId xmlns:p14="http://schemas.microsoft.com/office/powerpoint/2010/main" val="33859974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Phase 3: Abstracting </a:t>
            </a:r>
          </a:p>
          <a:p>
            <a:pPr marL="800100" lvl="1" indent="-342900" algn="just">
              <a:lnSpc>
                <a:spcPct val="100000"/>
              </a:lnSpc>
              <a:spcBef>
                <a:spcPts val="1800"/>
              </a:spcBef>
              <a:buClr>
                <a:srgbClr val="973735"/>
              </a:buClr>
              <a:buSzPct val="50000"/>
              <a:buFont typeface="Wingdings" pitchFamily="2" charset="2"/>
              <a:buChar char="u"/>
              <a:defRPr/>
            </a:pPr>
            <a:r>
              <a:rPr lang="en-US" sz="2600" dirty="0"/>
              <a:t>Generalizing the application of newly codified insights to a wider range of situations</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Involves reducing them to their most essential features—that is, conceptualizing them</a:t>
            </a:r>
          </a:p>
          <a:p>
            <a:pPr marL="800100" lvl="1" indent="-342900" algn="just">
              <a:lnSpc>
                <a:spcPct val="100000"/>
              </a:lnSpc>
              <a:spcBef>
                <a:spcPts val="1800"/>
              </a:spcBef>
              <a:buClr>
                <a:srgbClr val="973735"/>
              </a:buClr>
              <a:buSzPct val="50000"/>
              <a:buFont typeface="Wingdings" pitchFamily="2" charset="2"/>
              <a:buChar char="u"/>
              <a:defRPr/>
            </a:pPr>
            <a:r>
              <a:rPr lang="en-US" sz="2600" dirty="0"/>
              <a:t>Problem solving and abstraction often work in tandem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Boisot</a:t>
            </a:r>
            <a:r>
              <a:rPr lang="en-US" sz="4000" b="1" dirty="0">
                <a:solidFill>
                  <a:srgbClr val="ED7D31"/>
                </a:solidFill>
              </a:rPr>
              <a:t> I-Space KM Model </a:t>
            </a:r>
            <a:endParaRPr lang="en-US" sz="4000" b="1" dirty="0"/>
          </a:p>
        </p:txBody>
      </p:sp>
    </p:spTree>
    <p:extLst>
      <p:ext uri="{BB962C8B-B14F-4D97-AF65-F5344CB8AC3E}">
        <p14:creationId xmlns:p14="http://schemas.microsoft.com/office/powerpoint/2010/main" val="16676681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50</a:t>
            </a:fld>
            <a:endParaRPr kumimoji="0" lang="en-US" dirty="0"/>
          </a:p>
        </p:txBody>
      </p:sp>
      <p:sp>
        <p:nvSpPr>
          <p:cNvPr id="4" name="Content Placeholder 3"/>
          <p:cNvSpPr>
            <a:spLocks noGrp="1"/>
          </p:cNvSpPr>
          <p:nvPr>
            <p:ph sz="quarter" idx="1"/>
          </p:nvPr>
        </p:nvSpPr>
        <p:spPr>
          <a:xfrm>
            <a:off x="0" y="1664593"/>
            <a:ext cx="11812555" cy="4255275"/>
          </a:xfrm>
        </p:spPr>
        <p:txBody>
          <a:bodyPr>
            <a:no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Phase 4: Diffusing</a:t>
            </a:r>
          </a:p>
          <a:p>
            <a:pPr marL="800100" lvl="1" indent="-342900" algn="just">
              <a:lnSpc>
                <a:spcPct val="100000"/>
              </a:lnSpc>
              <a:spcBef>
                <a:spcPts val="1200"/>
              </a:spcBef>
              <a:buClr>
                <a:srgbClr val="973735"/>
              </a:buClr>
              <a:buSzPct val="50000"/>
              <a:buFont typeface="Wingdings" pitchFamily="2" charset="2"/>
              <a:buChar char="u"/>
              <a:defRPr/>
            </a:pPr>
            <a:r>
              <a:rPr lang="en-US" sz="2600" dirty="0"/>
              <a:t>Sharing the newly created insights with a target population </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diffusion of well-codified and abstract content to a large population will be technically less problematic than that of content which is uncodified and context-specific</a:t>
            </a:r>
          </a:p>
          <a:p>
            <a:pPr marL="800100" lvl="1" indent="-342900" algn="just">
              <a:lnSpc>
                <a:spcPct val="100000"/>
              </a:lnSpc>
              <a:spcBef>
                <a:spcPts val="1200"/>
              </a:spcBef>
              <a:buClr>
                <a:srgbClr val="973735"/>
              </a:buClr>
              <a:buSzPct val="50000"/>
              <a:buFont typeface="Wingdings" pitchFamily="2" charset="2"/>
              <a:buChar char="u"/>
              <a:defRPr/>
            </a:pPr>
            <a:r>
              <a:rPr lang="en-US" sz="2600" dirty="0"/>
              <a:t>Only a sharing of context by sender and receiver can speed up the diffusion of uncodified data</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probability of a shared context is inversely achieving proportional to population size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Boisot</a:t>
            </a:r>
            <a:r>
              <a:rPr lang="en-US" sz="4000" b="1" dirty="0">
                <a:solidFill>
                  <a:srgbClr val="ED7D31"/>
                </a:solidFill>
              </a:rPr>
              <a:t> I-Space KM Model </a:t>
            </a:r>
            <a:endParaRPr lang="en-US" sz="4000" b="1" dirty="0"/>
          </a:p>
        </p:txBody>
      </p:sp>
    </p:spTree>
    <p:extLst>
      <p:ext uri="{BB962C8B-B14F-4D97-AF65-F5344CB8AC3E}">
        <p14:creationId xmlns:p14="http://schemas.microsoft.com/office/powerpoint/2010/main" val="18731086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51</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Phase 5: Absorption </a:t>
            </a:r>
            <a:endParaRPr lang="en-US" dirty="0"/>
          </a:p>
          <a:p>
            <a:pPr marL="800100" lvl="1" indent="-342900" algn="just">
              <a:lnSpc>
                <a:spcPct val="100000"/>
              </a:lnSpc>
              <a:spcBef>
                <a:spcPts val="2400"/>
              </a:spcBef>
              <a:buClr>
                <a:srgbClr val="973735"/>
              </a:buClr>
              <a:buSzPct val="50000"/>
              <a:buFont typeface="Wingdings" pitchFamily="2" charset="2"/>
              <a:buChar char="u"/>
              <a:defRPr/>
            </a:pPr>
            <a:r>
              <a:rPr lang="en-US" sz="2600" dirty="0"/>
              <a:t>Applying the new codified insights to different situations in a “learning by doing” or a “learning by using” fashion. </a:t>
            </a:r>
          </a:p>
          <a:p>
            <a:pPr marL="800100" lvl="1" indent="-342900" algn="just">
              <a:lnSpc>
                <a:spcPct val="100000"/>
              </a:lnSpc>
              <a:spcBef>
                <a:spcPts val="2400"/>
              </a:spcBef>
              <a:buClr>
                <a:srgbClr val="973735"/>
              </a:buClr>
              <a:buSzPct val="50000"/>
              <a:buFont typeface="Wingdings" pitchFamily="2" charset="2"/>
              <a:buChar char="u"/>
              <a:defRPr/>
            </a:pPr>
            <a:r>
              <a:rPr lang="en-US" sz="2600" dirty="0"/>
              <a:t>Over time, such codified insights come to acquire a penumbra of uncodified knowledge which helps to guide their application in particular circumstances.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Boisot</a:t>
            </a:r>
            <a:r>
              <a:rPr lang="en-US" sz="4000" b="1" dirty="0">
                <a:solidFill>
                  <a:srgbClr val="ED7D31"/>
                </a:solidFill>
              </a:rPr>
              <a:t> I-Space KM Model </a:t>
            </a:r>
            <a:endParaRPr lang="en-US" sz="4000" b="1" dirty="0"/>
          </a:p>
        </p:txBody>
      </p:sp>
    </p:spTree>
    <p:extLst>
      <p:ext uri="{BB962C8B-B14F-4D97-AF65-F5344CB8AC3E}">
        <p14:creationId xmlns:p14="http://schemas.microsoft.com/office/powerpoint/2010/main" val="3671484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52</a:t>
            </a:fld>
            <a:endParaRPr kumimoji="0" lang="en-US" dirty="0"/>
          </a:p>
        </p:txBody>
      </p:sp>
      <p:sp>
        <p:nvSpPr>
          <p:cNvPr id="4" name="Content Placeholder 3"/>
          <p:cNvSpPr>
            <a:spLocks noGrp="1"/>
          </p:cNvSpPr>
          <p:nvPr>
            <p:ph sz="quarter" idx="1"/>
          </p:nvPr>
        </p:nvSpPr>
        <p:spPr>
          <a:xfrm>
            <a:off x="0" y="1664593"/>
            <a:ext cx="11681927"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Phase 6: Impacting</a:t>
            </a:r>
          </a:p>
          <a:p>
            <a:pPr marL="800100" lvl="1" indent="-342900" algn="just">
              <a:lnSpc>
                <a:spcPct val="100000"/>
              </a:lnSpc>
              <a:spcBef>
                <a:spcPts val="2400"/>
              </a:spcBef>
              <a:buClr>
                <a:srgbClr val="973735"/>
              </a:buClr>
              <a:buSzPct val="50000"/>
              <a:buFont typeface="Wingdings" pitchFamily="2" charset="2"/>
              <a:buChar char="u"/>
              <a:defRPr/>
            </a:pPr>
            <a:r>
              <a:rPr lang="en-US" dirty="0"/>
              <a:t>The embedding of abstract knowledge in concrete practices</a:t>
            </a:r>
          </a:p>
          <a:p>
            <a:pPr marL="800100" lvl="1" indent="-342900" algn="just">
              <a:lnSpc>
                <a:spcPct val="100000"/>
              </a:lnSpc>
              <a:spcBef>
                <a:spcPts val="2400"/>
              </a:spcBef>
              <a:buClr>
                <a:srgbClr val="973735"/>
              </a:buClr>
              <a:buSzPct val="50000"/>
              <a:buFont typeface="Wingdings" pitchFamily="2" charset="2"/>
              <a:buChar char="u"/>
              <a:defRPr/>
            </a:pPr>
            <a:r>
              <a:rPr lang="en-US" dirty="0"/>
              <a:t>The embedding can take place in artifacts, technical or organizational rules, or in behavioral practices</a:t>
            </a:r>
          </a:p>
          <a:p>
            <a:pPr marL="800100" lvl="1" indent="-342900" algn="just">
              <a:lnSpc>
                <a:spcPct val="100000"/>
              </a:lnSpc>
              <a:spcBef>
                <a:spcPts val="2400"/>
              </a:spcBef>
              <a:buClr>
                <a:srgbClr val="973735"/>
              </a:buClr>
              <a:buSzPct val="50000"/>
              <a:buFont typeface="Wingdings" pitchFamily="2" charset="2"/>
              <a:buChar char="u"/>
              <a:defRPr/>
            </a:pPr>
            <a:r>
              <a:rPr lang="en-US" dirty="0"/>
              <a:t>Absorption and impact often work in tandem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Boisot</a:t>
            </a:r>
            <a:r>
              <a:rPr lang="en-US" sz="4000" b="1" dirty="0">
                <a:solidFill>
                  <a:srgbClr val="ED7D31"/>
                </a:solidFill>
              </a:rPr>
              <a:t> I-Space KM Model </a:t>
            </a:r>
            <a:endParaRPr lang="en-US" sz="4000" b="1" dirty="0"/>
          </a:p>
        </p:txBody>
      </p:sp>
    </p:spTree>
    <p:extLst>
      <p:ext uri="{BB962C8B-B14F-4D97-AF65-F5344CB8AC3E}">
        <p14:creationId xmlns:p14="http://schemas.microsoft.com/office/powerpoint/2010/main" val="35796925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53</a:t>
            </a:fld>
            <a:endParaRPr kumimoji="0" lang="en-US" dirty="0"/>
          </a:p>
        </p:txBody>
      </p:sp>
      <p:sp>
        <p:nvSpPr>
          <p:cNvPr id="4" name="Content Placeholder 3"/>
          <p:cNvSpPr>
            <a:spLocks noGrp="1"/>
          </p:cNvSpPr>
          <p:nvPr>
            <p:ph sz="quarter" idx="1"/>
          </p:nvPr>
        </p:nvSpPr>
        <p:spPr>
          <a:xfrm>
            <a:off x="0" y="1664593"/>
            <a:ext cx="11971176" cy="4255275"/>
          </a:xfrm>
        </p:spPr>
        <p:txBody>
          <a:bodyPr>
            <a:normAutofit lnSpcReduction="10000"/>
          </a:bodyPr>
          <a:lstStyle/>
          <a:p>
            <a:pPr marL="342900" indent="-342900" algn="just">
              <a:lnSpc>
                <a:spcPct val="150000"/>
              </a:lnSpc>
              <a:spcBef>
                <a:spcPts val="600"/>
              </a:spcBef>
              <a:buClr>
                <a:srgbClr val="973735"/>
              </a:buClr>
              <a:buSzPct val="50000"/>
              <a:buFont typeface="Wingdings" pitchFamily="2" charset="2"/>
              <a:buChar char="u"/>
              <a:defRPr/>
            </a:pPr>
            <a:r>
              <a:rPr lang="en-US" dirty="0"/>
              <a:t>The von Krogh and </a:t>
            </a:r>
            <a:r>
              <a:rPr lang="en-US" dirty="0" err="1"/>
              <a:t>Roos</a:t>
            </a:r>
            <a:r>
              <a:rPr lang="en-US" dirty="0"/>
              <a:t> Model of Organizational Epistemology</a:t>
            </a:r>
          </a:p>
          <a:p>
            <a:pPr marL="342900" indent="-342900" algn="just">
              <a:lnSpc>
                <a:spcPct val="150000"/>
              </a:lnSpc>
              <a:spcBef>
                <a:spcPts val="600"/>
              </a:spcBef>
              <a:buClr>
                <a:srgbClr val="973735"/>
              </a:buClr>
              <a:buSzPct val="50000"/>
              <a:buFont typeface="Wingdings" pitchFamily="2" charset="2"/>
              <a:buChar char="u"/>
              <a:defRPr/>
            </a:pPr>
            <a:r>
              <a:rPr lang="en-US" dirty="0"/>
              <a:t>The Nonaka and Takeuchi knowledge spiral Model</a:t>
            </a:r>
          </a:p>
          <a:p>
            <a:pPr marL="342900" indent="-342900" algn="just">
              <a:lnSpc>
                <a:spcPct val="150000"/>
              </a:lnSpc>
              <a:spcBef>
                <a:spcPts val="600"/>
              </a:spcBef>
              <a:buClr>
                <a:srgbClr val="973735"/>
              </a:buClr>
              <a:buSzPct val="50000"/>
              <a:buFont typeface="Wingdings" pitchFamily="2" charset="2"/>
              <a:buChar char="u"/>
              <a:defRPr/>
            </a:pPr>
            <a:r>
              <a:rPr lang="en-US" dirty="0"/>
              <a:t>The Choo sense-making KM Model</a:t>
            </a:r>
          </a:p>
          <a:p>
            <a:pPr marL="342900" indent="-342900" algn="just">
              <a:lnSpc>
                <a:spcPct val="150000"/>
              </a:lnSpc>
              <a:spcBef>
                <a:spcPts val="600"/>
              </a:spcBef>
              <a:buClr>
                <a:srgbClr val="973735"/>
              </a:buClr>
              <a:buSzPct val="50000"/>
              <a:buFont typeface="Wingdings" pitchFamily="2" charset="2"/>
              <a:buChar char="u"/>
              <a:defRPr/>
            </a:pPr>
            <a:r>
              <a:rPr lang="en-US" dirty="0"/>
              <a:t>The Wiig Model for Building and Using Knowledge</a:t>
            </a:r>
          </a:p>
          <a:p>
            <a:pPr marL="342900" indent="-342900" algn="just">
              <a:lnSpc>
                <a:spcPct val="150000"/>
              </a:lnSpc>
              <a:spcBef>
                <a:spcPts val="600"/>
              </a:spcBef>
              <a:buClr>
                <a:srgbClr val="973735"/>
              </a:buClr>
              <a:buSzPct val="50000"/>
              <a:buFont typeface="Wingdings" pitchFamily="2" charset="2"/>
              <a:buChar char="u"/>
              <a:defRPr/>
            </a:pPr>
            <a:r>
              <a:rPr lang="en-US" dirty="0"/>
              <a:t>The </a:t>
            </a:r>
            <a:r>
              <a:rPr lang="en-US" dirty="0" err="1"/>
              <a:t>Boisot</a:t>
            </a:r>
            <a:r>
              <a:rPr lang="en-US" dirty="0"/>
              <a:t> I-Space KM Model </a:t>
            </a:r>
          </a:p>
          <a:p>
            <a:pPr marL="342900" indent="-342900" algn="just">
              <a:lnSpc>
                <a:spcPct val="150000"/>
              </a:lnSpc>
              <a:spcBef>
                <a:spcPts val="600"/>
              </a:spcBef>
              <a:buClr>
                <a:srgbClr val="973735"/>
              </a:buClr>
              <a:buSzPct val="50000"/>
              <a:buFont typeface="Wingdings" pitchFamily="2" charset="2"/>
              <a:buChar char="u"/>
              <a:defRPr/>
            </a:pPr>
            <a:r>
              <a:rPr lang="en-US" sz="2800" b="1" dirty="0">
                <a:solidFill>
                  <a:srgbClr val="ED7D31"/>
                </a:solidFill>
              </a:rPr>
              <a:t>Complex adaptive system models of KM</a:t>
            </a:r>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a:p>
            <a:pPr marL="342900" indent="-342900" algn="just">
              <a:lnSpc>
                <a:spcPct val="150000"/>
              </a:lnSpc>
              <a:spcBef>
                <a:spcPts val="600"/>
              </a:spcBef>
              <a:buClr>
                <a:srgbClr val="973735"/>
              </a:buClr>
              <a:buSzPct val="50000"/>
              <a:buFont typeface="Wingdings" pitchFamily="2" charset="2"/>
              <a:buChar char="u"/>
              <a:defRPr/>
            </a:pPr>
            <a:endParaRPr lang="en-US" b="1" dirty="0">
              <a:solidFill>
                <a:srgbClr val="ED7D31"/>
              </a:solidFill>
            </a:endParaRP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Theoretical KM Models</a:t>
            </a:r>
          </a:p>
        </p:txBody>
      </p:sp>
    </p:spTree>
    <p:extLst>
      <p:ext uri="{BB962C8B-B14F-4D97-AF65-F5344CB8AC3E}">
        <p14:creationId xmlns:p14="http://schemas.microsoft.com/office/powerpoint/2010/main" val="3423558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54</a:t>
            </a:fld>
            <a:endParaRPr kumimoji="0" lang="en-US" dirty="0"/>
          </a:p>
        </p:txBody>
      </p:sp>
      <p:sp>
        <p:nvSpPr>
          <p:cNvPr id="4" name="Content Placeholder 3"/>
          <p:cNvSpPr>
            <a:spLocks noGrp="1"/>
          </p:cNvSpPr>
          <p:nvPr>
            <p:ph sz="quarter" idx="1"/>
          </p:nvPr>
        </p:nvSpPr>
        <p:spPr>
          <a:xfrm>
            <a:off x="0" y="1664593"/>
            <a:ext cx="11831216" cy="4816106"/>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sz="2600" dirty="0"/>
              <a:t>The ICAS is a conceptual model developed to bring out the most important capabilities necessary to live and contribute in an unpredictable, dynamic, and complex society.</a:t>
            </a:r>
          </a:p>
          <a:p>
            <a:pPr marL="342900" indent="-342900" algn="just">
              <a:lnSpc>
                <a:spcPct val="100000"/>
              </a:lnSpc>
              <a:spcBef>
                <a:spcPts val="1200"/>
              </a:spcBef>
              <a:buClr>
                <a:srgbClr val="973735"/>
              </a:buClr>
              <a:buSzPct val="50000"/>
              <a:buFont typeface="Wingdings" pitchFamily="2" charset="2"/>
              <a:buChar char="u"/>
              <a:defRPr/>
            </a:pPr>
            <a:r>
              <a:rPr lang="en-US" sz="2600" dirty="0"/>
              <a:t>The variation in human experience and behavior, together with the practical demands of the workforce and natural difficulties in communication create a reality that is often far from ideal.</a:t>
            </a:r>
          </a:p>
          <a:p>
            <a:pPr marL="342900" indent="-342900" algn="just">
              <a:lnSpc>
                <a:spcPct val="100000"/>
              </a:lnSpc>
              <a:spcBef>
                <a:spcPts val="1200"/>
              </a:spcBef>
              <a:buClr>
                <a:srgbClr val="973735"/>
              </a:buClr>
              <a:buSzPct val="50000"/>
              <a:buFont typeface="Wingdings" pitchFamily="2" charset="2"/>
              <a:buChar char="u"/>
              <a:defRPr/>
            </a:pPr>
            <a:r>
              <a:rPr lang="en-US" sz="2600" dirty="0"/>
              <a:t>Nevertheless, new concepts, perceptions, relationships, and communications are essential if our organizations are to keep up with the pace, direction, and demands of society in the age of complexity.</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Complex adaptive system models of KM</a:t>
            </a:r>
          </a:p>
        </p:txBody>
      </p:sp>
    </p:spTree>
    <p:extLst>
      <p:ext uri="{BB962C8B-B14F-4D97-AF65-F5344CB8AC3E}">
        <p14:creationId xmlns:p14="http://schemas.microsoft.com/office/powerpoint/2010/main" val="3036697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55</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The key processes in the ICAS KM model can be summarized as:</a:t>
            </a:r>
          </a:p>
          <a:p>
            <a:pPr marL="457200" lvl="1" indent="0" algn="just">
              <a:lnSpc>
                <a:spcPct val="100000"/>
              </a:lnSpc>
              <a:spcBef>
                <a:spcPts val="1800"/>
              </a:spcBef>
              <a:buClr>
                <a:srgbClr val="973735"/>
              </a:buClr>
              <a:buSzPct val="50000"/>
              <a:buNone/>
              <a:defRPr/>
            </a:pPr>
            <a:r>
              <a:rPr lang="en-US" sz="2600" dirty="0"/>
              <a:t>1. Understanding.</a:t>
            </a:r>
          </a:p>
          <a:p>
            <a:pPr marL="457200" lvl="1" indent="0" algn="just">
              <a:lnSpc>
                <a:spcPct val="100000"/>
              </a:lnSpc>
              <a:spcBef>
                <a:spcPts val="1800"/>
              </a:spcBef>
              <a:buClr>
                <a:srgbClr val="973735"/>
              </a:buClr>
              <a:buSzPct val="50000"/>
              <a:buNone/>
              <a:defRPr/>
            </a:pPr>
            <a:r>
              <a:rPr lang="en-US" sz="2600" dirty="0"/>
              <a:t>2. Creating new ideas. </a:t>
            </a:r>
          </a:p>
          <a:p>
            <a:pPr marL="457200" lvl="1" indent="0" algn="just">
              <a:lnSpc>
                <a:spcPct val="100000"/>
              </a:lnSpc>
              <a:spcBef>
                <a:spcPts val="1800"/>
              </a:spcBef>
              <a:buClr>
                <a:srgbClr val="973735"/>
              </a:buClr>
              <a:buSzPct val="50000"/>
              <a:buNone/>
              <a:defRPr/>
            </a:pPr>
            <a:r>
              <a:rPr lang="en-US" sz="2600" dirty="0"/>
              <a:t>3. Solving problems. </a:t>
            </a:r>
          </a:p>
          <a:p>
            <a:pPr marL="457200" lvl="1" indent="0" algn="just">
              <a:lnSpc>
                <a:spcPct val="100000"/>
              </a:lnSpc>
              <a:spcBef>
                <a:spcPts val="1800"/>
              </a:spcBef>
              <a:buClr>
                <a:srgbClr val="973735"/>
              </a:buClr>
              <a:buSzPct val="50000"/>
              <a:buNone/>
              <a:defRPr/>
            </a:pPr>
            <a:r>
              <a:rPr lang="en-US" sz="2600" dirty="0"/>
              <a:t>4. Making decisions.</a:t>
            </a:r>
          </a:p>
          <a:p>
            <a:pPr marL="457200" lvl="1" indent="0" algn="just">
              <a:lnSpc>
                <a:spcPct val="100000"/>
              </a:lnSpc>
              <a:spcBef>
                <a:spcPts val="1800"/>
              </a:spcBef>
              <a:buClr>
                <a:srgbClr val="973735"/>
              </a:buClr>
              <a:buSzPct val="50000"/>
              <a:buNone/>
              <a:defRPr/>
            </a:pPr>
            <a:r>
              <a:rPr lang="en-US" sz="2600" dirty="0"/>
              <a:t>5. Taking actions to achieve desired results.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Complex adaptive system models of KM</a:t>
            </a:r>
            <a:endParaRPr lang="en-US" sz="4000" b="1" dirty="0"/>
          </a:p>
        </p:txBody>
      </p:sp>
    </p:spTree>
    <p:extLst>
      <p:ext uri="{BB962C8B-B14F-4D97-AF65-F5344CB8AC3E}">
        <p14:creationId xmlns:p14="http://schemas.microsoft.com/office/powerpoint/2010/main" val="29869134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56</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graphicFrame>
        <p:nvGraphicFramePr>
          <p:cNvPr id="4" name="Object 3">
            <a:extLst>
              <a:ext uri="{FF2B5EF4-FFF2-40B4-BE49-F238E27FC236}">
                <a16:creationId xmlns:a16="http://schemas.microsoft.com/office/drawing/2014/main" id="{212F8E00-7538-8C54-E408-245B44B9C52A}"/>
              </a:ext>
            </a:extLst>
          </p:cNvPr>
          <p:cNvGraphicFramePr>
            <a:graphicFrameLocks noChangeAspect="1"/>
          </p:cNvGraphicFramePr>
          <p:nvPr>
            <p:extLst>
              <p:ext uri="{D42A27DB-BD31-4B8C-83A1-F6EECF244321}">
                <p14:modId xmlns:p14="http://schemas.microsoft.com/office/powerpoint/2010/main" val="810805080"/>
              </p:ext>
            </p:extLst>
          </p:nvPr>
        </p:nvGraphicFramePr>
        <p:xfrm>
          <a:off x="2932535" y="1384177"/>
          <a:ext cx="5524500" cy="4625975"/>
        </p:xfrm>
        <a:graphic>
          <a:graphicData uri="http://schemas.openxmlformats.org/presentationml/2006/ole">
            <mc:AlternateContent xmlns:mc="http://schemas.openxmlformats.org/markup-compatibility/2006">
              <mc:Choice xmlns:v="urn:schemas-microsoft-com:vml" Requires="v">
                <p:oleObj name="Bitmap Image" r:id="rId3" imgW="5524560" imgH="4625280" progId="PBrush">
                  <p:embed/>
                </p:oleObj>
              </mc:Choice>
              <mc:Fallback>
                <p:oleObj name="Bitmap Image" r:id="rId3" imgW="5524560" imgH="4625280" progId="PBrush">
                  <p:embed/>
                  <p:pic>
                    <p:nvPicPr>
                      <p:cNvPr id="0" name=""/>
                      <p:cNvPicPr/>
                      <p:nvPr/>
                    </p:nvPicPr>
                    <p:blipFill>
                      <a:blip r:embed="rId4"/>
                      <a:stretch>
                        <a:fillRect/>
                      </a:stretch>
                    </p:blipFill>
                    <p:spPr>
                      <a:xfrm>
                        <a:off x="2932535" y="1384177"/>
                        <a:ext cx="5524500" cy="4625975"/>
                      </a:xfrm>
                      <a:prstGeom prst="rect">
                        <a:avLst/>
                      </a:prstGeom>
                    </p:spPr>
                  </p:pic>
                </p:oleObj>
              </mc:Fallback>
            </mc:AlternateContent>
          </a:graphicData>
        </a:graphic>
      </p:graphicFrame>
      <p:sp>
        <p:nvSpPr>
          <p:cNvPr id="5" name="Title 1">
            <a:extLst>
              <a:ext uri="{FF2B5EF4-FFF2-40B4-BE49-F238E27FC236}">
                <a16:creationId xmlns:a16="http://schemas.microsoft.com/office/drawing/2014/main" id="{46DEBE32-BC01-39EB-B3BB-BFB9ED6594E4}"/>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Complex adaptive system models of KM</a:t>
            </a:r>
            <a:endParaRPr lang="en-US" sz="4000" b="1" dirty="0"/>
          </a:p>
        </p:txBody>
      </p:sp>
      <p:graphicFrame>
        <p:nvGraphicFramePr>
          <p:cNvPr id="7" name="Object 6">
            <a:extLst>
              <a:ext uri="{FF2B5EF4-FFF2-40B4-BE49-F238E27FC236}">
                <a16:creationId xmlns:a16="http://schemas.microsoft.com/office/drawing/2014/main" id="{6AFA4F56-895E-84B5-70F0-D766DD7E2896}"/>
              </a:ext>
            </a:extLst>
          </p:cNvPr>
          <p:cNvGraphicFramePr>
            <a:graphicFrameLocks noChangeAspect="1"/>
          </p:cNvGraphicFramePr>
          <p:nvPr>
            <p:extLst>
              <p:ext uri="{D42A27DB-BD31-4B8C-83A1-F6EECF244321}">
                <p14:modId xmlns:p14="http://schemas.microsoft.com/office/powerpoint/2010/main" val="3706577341"/>
              </p:ext>
            </p:extLst>
          </p:nvPr>
        </p:nvGraphicFramePr>
        <p:xfrm>
          <a:off x="2932535" y="6094029"/>
          <a:ext cx="5321383" cy="312122"/>
        </p:xfrm>
        <a:graphic>
          <a:graphicData uri="http://schemas.openxmlformats.org/presentationml/2006/ole">
            <mc:AlternateContent xmlns:mc="http://schemas.openxmlformats.org/markup-compatibility/2006">
              <mc:Choice xmlns:v="urn:schemas-microsoft-com:vml" Requires="v">
                <p:oleObj name="Bitmap Image" r:id="rId5" imgW="4412160" imgH="259200" progId="PBrush">
                  <p:embed/>
                </p:oleObj>
              </mc:Choice>
              <mc:Fallback>
                <p:oleObj name="Bitmap Image" r:id="rId5" imgW="4412160" imgH="259200" progId="PBrush">
                  <p:embed/>
                  <p:pic>
                    <p:nvPicPr>
                      <p:cNvPr id="0" name=""/>
                      <p:cNvPicPr/>
                      <p:nvPr/>
                    </p:nvPicPr>
                    <p:blipFill>
                      <a:blip r:embed="rId6"/>
                      <a:stretch>
                        <a:fillRect/>
                      </a:stretch>
                    </p:blipFill>
                    <p:spPr>
                      <a:xfrm>
                        <a:off x="2932535" y="6094029"/>
                        <a:ext cx="5321383" cy="312122"/>
                      </a:xfrm>
                      <a:prstGeom prst="rect">
                        <a:avLst/>
                      </a:prstGeom>
                    </p:spPr>
                  </p:pic>
                </p:oleObj>
              </mc:Fallback>
            </mc:AlternateContent>
          </a:graphicData>
        </a:graphic>
      </p:graphicFrame>
    </p:spTree>
    <p:extLst>
      <p:ext uri="{BB962C8B-B14F-4D97-AF65-F5344CB8AC3E}">
        <p14:creationId xmlns:p14="http://schemas.microsoft.com/office/powerpoint/2010/main" val="1613908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70000"/>
              </a:lnSpc>
              <a:spcBef>
                <a:spcPts val="600"/>
              </a:spcBef>
              <a:buClr>
                <a:srgbClr val="973735"/>
              </a:buClr>
              <a:buSzPct val="50000"/>
              <a:buFont typeface="Wingdings" pitchFamily="2" charset="2"/>
              <a:buChar char="u"/>
              <a:defRPr/>
            </a:pPr>
            <a:r>
              <a:rPr lang="en-US" b="1" dirty="0">
                <a:solidFill>
                  <a:srgbClr val="ED7D31"/>
                </a:solidFill>
              </a:rPr>
              <a:t>Complex adaptive system models of KM</a:t>
            </a:r>
          </a:p>
          <a:p>
            <a:pPr marL="800100" lvl="1" indent="-342900" algn="just">
              <a:lnSpc>
                <a:spcPct val="100000"/>
              </a:lnSpc>
              <a:spcBef>
                <a:spcPts val="1200"/>
              </a:spcBef>
              <a:buClr>
                <a:srgbClr val="973735"/>
              </a:buClr>
              <a:buSzPct val="50000"/>
              <a:buFont typeface="Wingdings" pitchFamily="2" charset="2"/>
              <a:buChar char="u"/>
              <a:defRPr/>
            </a:pPr>
            <a:r>
              <a:rPr lang="en-US" sz="2600" dirty="0"/>
              <a:t>Organizational Intelligence </a:t>
            </a:r>
          </a:p>
          <a:p>
            <a:pPr marL="800100" lvl="1" indent="-342900" algn="just">
              <a:lnSpc>
                <a:spcPct val="100000"/>
              </a:lnSpc>
              <a:spcBef>
                <a:spcPts val="1200"/>
              </a:spcBef>
              <a:buClr>
                <a:srgbClr val="973735"/>
              </a:buClr>
              <a:buSzPct val="50000"/>
              <a:buFont typeface="Wingdings" pitchFamily="2" charset="2"/>
              <a:buChar char="u"/>
              <a:defRPr/>
            </a:pPr>
            <a:r>
              <a:rPr lang="en-US" sz="2600" dirty="0"/>
              <a:t>Unity and Shared Purpose </a:t>
            </a:r>
          </a:p>
          <a:p>
            <a:pPr marL="800100" lvl="1" indent="-342900" algn="just">
              <a:lnSpc>
                <a:spcPct val="100000"/>
              </a:lnSpc>
              <a:spcBef>
                <a:spcPts val="1200"/>
              </a:spcBef>
              <a:buClr>
                <a:srgbClr val="973735"/>
              </a:buClr>
              <a:buSzPct val="50000"/>
              <a:buFont typeface="Wingdings" pitchFamily="2" charset="2"/>
              <a:buChar char="u"/>
              <a:defRPr/>
            </a:pPr>
            <a:r>
              <a:rPr lang="en-US" sz="2600" dirty="0"/>
              <a:t>Optimum Complexity </a:t>
            </a:r>
          </a:p>
          <a:p>
            <a:pPr marL="800100" lvl="1" indent="-342900" algn="just">
              <a:lnSpc>
                <a:spcPct val="100000"/>
              </a:lnSpc>
              <a:spcBef>
                <a:spcPts val="1200"/>
              </a:spcBef>
              <a:buClr>
                <a:srgbClr val="973735"/>
              </a:buClr>
              <a:buSzPct val="50000"/>
              <a:buFont typeface="Wingdings" pitchFamily="2" charset="2"/>
              <a:buChar char="u"/>
              <a:defRPr/>
            </a:pPr>
            <a:r>
              <a:rPr lang="en-US" sz="2600" dirty="0"/>
              <a:t>Multidimensionality </a:t>
            </a:r>
          </a:p>
          <a:p>
            <a:pPr marL="800100" lvl="1" indent="-342900" algn="just">
              <a:lnSpc>
                <a:spcPct val="100000"/>
              </a:lnSpc>
              <a:spcBef>
                <a:spcPts val="1200"/>
              </a:spcBef>
              <a:buClr>
                <a:srgbClr val="973735"/>
              </a:buClr>
              <a:buSzPct val="50000"/>
              <a:buFont typeface="Wingdings" pitchFamily="2" charset="2"/>
              <a:buChar char="u"/>
              <a:defRPr/>
            </a:pPr>
            <a:r>
              <a:rPr lang="en-US" sz="2600" dirty="0"/>
              <a:t>Knowledge Centricity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Complex adaptive system models of KM</a:t>
            </a:r>
            <a:endParaRPr lang="en-US" sz="4000" b="1" dirty="0"/>
          </a:p>
        </p:txBody>
      </p:sp>
      <p:sp>
        <p:nvSpPr>
          <p:cNvPr id="2" name="Content Placeholder 3">
            <a:extLst>
              <a:ext uri="{FF2B5EF4-FFF2-40B4-BE49-F238E27FC236}">
                <a16:creationId xmlns:a16="http://schemas.microsoft.com/office/drawing/2014/main" id="{29CBD403-09F3-04F2-40CF-AF243E8D13EE}"/>
              </a:ext>
            </a:extLst>
          </p:cNvPr>
          <p:cNvSpPr txBox="1">
            <a:spLocks/>
          </p:cNvSpPr>
          <p:nvPr/>
        </p:nvSpPr>
        <p:spPr>
          <a:xfrm>
            <a:off x="6569209" y="2550139"/>
            <a:ext cx="5211788" cy="26432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gn="just">
              <a:lnSpc>
                <a:spcPct val="100000"/>
              </a:lnSpc>
              <a:spcBef>
                <a:spcPts val="1200"/>
              </a:spcBef>
              <a:buClr>
                <a:srgbClr val="973735"/>
              </a:buClr>
              <a:buSzPct val="50000"/>
              <a:buFont typeface="Wingdings" pitchFamily="2" charset="2"/>
              <a:buChar char="u"/>
              <a:defRPr/>
            </a:pPr>
            <a:r>
              <a:rPr lang="en-US" sz="2600" dirty="0"/>
              <a:t>Selectivity</a:t>
            </a:r>
          </a:p>
          <a:p>
            <a:pPr marL="800100" lvl="1" indent="-342900" algn="just">
              <a:lnSpc>
                <a:spcPct val="100000"/>
              </a:lnSpc>
              <a:spcBef>
                <a:spcPts val="1200"/>
              </a:spcBef>
              <a:buClr>
                <a:srgbClr val="973735"/>
              </a:buClr>
              <a:buSzPct val="50000"/>
              <a:buFont typeface="Wingdings" pitchFamily="2" charset="2"/>
              <a:buChar char="u"/>
              <a:defRPr/>
            </a:pPr>
            <a:r>
              <a:rPr lang="en-US" sz="2600" dirty="0"/>
              <a:t>Flow</a:t>
            </a:r>
          </a:p>
          <a:p>
            <a:pPr marL="800100" lvl="1" indent="-342900" algn="just">
              <a:lnSpc>
                <a:spcPct val="100000"/>
              </a:lnSpc>
              <a:spcBef>
                <a:spcPts val="1200"/>
              </a:spcBef>
              <a:buClr>
                <a:srgbClr val="973735"/>
              </a:buClr>
              <a:buSzPct val="50000"/>
              <a:buFont typeface="Wingdings" pitchFamily="2" charset="2"/>
              <a:buChar char="u"/>
              <a:defRPr/>
            </a:pPr>
            <a:r>
              <a:rPr lang="en-US" sz="2600" dirty="0"/>
              <a:t>Permeable Boundaries</a:t>
            </a:r>
          </a:p>
        </p:txBody>
      </p:sp>
    </p:spTree>
    <p:extLst>
      <p:ext uri="{BB962C8B-B14F-4D97-AF65-F5344CB8AC3E}">
        <p14:creationId xmlns:p14="http://schemas.microsoft.com/office/powerpoint/2010/main" val="32546041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58</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b="1" dirty="0"/>
              <a:t>Organizational intelligence</a:t>
            </a:r>
          </a:p>
          <a:p>
            <a:pPr marL="800100" lvl="1" indent="-342900" algn="just">
              <a:lnSpc>
                <a:spcPct val="110000"/>
              </a:lnSpc>
              <a:spcBef>
                <a:spcPts val="1200"/>
              </a:spcBef>
              <a:buClr>
                <a:srgbClr val="973735"/>
              </a:buClr>
              <a:buSzPct val="50000"/>
              <a:buFont typeface="Wingdings" pitchFamily="2" charset="2"/>
              <a:buChar char="u"/>
              <a:defRPr/>
            </a:pPr>
            <a:r>
              <a:rPr lang="en-US" sz="2600" dirty="0"/>
              <a:t>Intelligence, according to Webster’s Dictionary (1996), is the capacity for reasoning and understanding or an aptitude for grasping truths.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Complex adaptive system models of KM</a:t>
            </a:r>
            <a:endParaRPr lang="en-US" sz="4000" b="1" dirty="0"/>
          </a:p>
        </p:txBody>
      </p:sp>
    </p:spTree>
    <p:extLst>
      <p:ext uri="{BB962C8B-B14F-4D97-AF65-F5344CB8AC3E}">
        <p14:creationId xmlns:p14="http://schemas.microsoft.com/office/powerpoint/2010/main" val="2929979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b="1" dirty="0"/>
              <a:t>Organizational intelligence (</a:t>
            </a:r>
            <a:r>
              <a:rPr lang="en-US" b="1" dirty="0" err="1"/>
              <a:t>con’t</a:t>
            </a:r>
            <a:r>
              <a:rPr lang="en-US" b="1" dirty="0"/>
              <a:t>)</a:t>
            </a:r>
          </a:p>
          <a:p>
            <a:pPr marL="800100" lvl="1" indent="-342900" algn="just">
              <a:lnSpc>
                <a:spcPct val="110000"/>
              </a:lnSpc>
              <a:spcBef>
                <a:spcPts val="1200"/>
              </a:spcBef>
              <a:buClr>
                <a:srgbClr val="973735"/>
              </a:buClr>
              <a:buSzPct val="50000"/>
              <a:buFont typeface="Wingdings" pitchFamily="2" charset="2"/>
              <a:buChar char="u"/>
              <a:defRPr/>
            </a:pPr>
            <a:r>
              <a:rPr lang="en-US" dirty="0"/>
              <a:t>When applied to organizations, Wiig (1993) broadens this view of intelligence and considers it the ability of a person to think, reason, understand, and act. He further considers intelligence as applying to organizations and includes the capabilities to innovate, acquire knowledge, and apply that knowledge to relevant situations. (From an organizational viewpoint, both employees and their organization can exhibit intelligent behavior.)</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Complex adaptive system models of KM</a:t>
            </a:r>
            <a:endParaRPr lang="en-US" sz="4000" b="1" dirty="0"/>
          </a:p>
        </p:txBody>
      </p:sp>
    </p:spTree>
    <p:extLst>
      <p:ext uri="{BB962C8B-B14F-4D97-AF65-F5344CB8AC3E}">
        <p14:creationId xmlns:p14="http://schemas.microsoft.com/office/powerpoint/2010/main" val="33561654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60</a:t>
            </a:fld>
            <a:endParaRPr kumimoji="0" lang="en-US" dirty="0"/>
          </a:p>
        </p:txBody>
      </p:sp>
      <p:sp>
        <p:nvSpPr>
          <p:cNvPr id="4" name="Content Placeholder 3"/>
          <p:cNvSpPr>
            <a:spLocks noGrp="1"/>
          </p:cNvSpPr>
          <p:nvPr>
            <p:ph sz="quarter" idx="1"/>
          </p:nvPr>
        </p:nvSpPr>
        <p:spPr>
          <a:xfrm>
            <a:off x="0" y="1580614"/>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Organizational intelligence (</a:t>
            </a:r>
            <a:r>
              <a:rPr lang="en-US" b="1" dirty="0" err="1"/>
              <a:t>con’t</a:t>
            </a:r>
            <a:r>
              <a:rPr lang="en-US" b="1" dirty="0"/>
              <a:t>)</a:t>
            </a:r>
          </a:p>
          <a:p>
            <a:pPr marL="800100" lvl="1" indent="-342900" algn="just">
              <a:lnSpc>
                <a:spcPct val="100000"/>
              </a:lnSpc>
              <a:spcBef>
                <a:spcPts val="1200"/>
              </a:spcBef>
              <a:buClr>
                <a:srgbClr val="973735"/>
              </a:buClr>
              <a:buSzPct val="50000"/>
              <a:buFont typeface="Wingdings" pitchFamily="2" charset="2"/>
              <a:buChar char="u"/>
              <a:defRPr/>
            </a:pPr>
            <a:r>
              <a:rPr lang="en-US" sz="2600" dirty="0"/>
              <a:t>Organizational intelligence to be the ability of an organization to perceive, interpret, and respond to its environment in a manner that simultaneously meets its organizational goals while satisfying its stakeholders, that is, its employees, customers, investors, community, and environment. Although data and information are necessary for acting intelligently, it is the knowledge that is created and acted upon that is the critical factor for the ICAS.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Complex adaptive system models of KM</a:t>
            </a:r>
            <a:endParaRPr lang="en-US" sz="4000" b="1" dirty="0"/>
          </a:p>
        </p:txBody>
      </p:sp>
    </p:spTree>
    <p:extLst>
      <p:ext uri="{BB962C8B-B14F-4D97-AF65-F5344CB8AC3E}">
        <p14:creationId xmlns:p14="http://schemas.microsoft.com/office/powerpoint/2010/main" val="7921222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61</a:t>
            </a:fld>
            <a:endParaRPr kumimoji="0" lang="en-US" dirty="0"/>
          </a:p>
        </p:txBody>
      </p:sp>
      <p:sp>
        <p:nvSpPr>
          <p:cNvPr id="4" name="Content Placeholder 3"/>
          <p:cNvSpPr>
            <a:spLocks noGrp="1"/>
          </p:cNvSpPr>
          <p:nvPr>
            <p:ph sz="quarter" idx="1"/>
          </p:nvPr>
        </p:nvSpPr>
        <p:spPr>
          <a:xfrm>
            <a:off x="0" y="1664593"/>
            <a:ext cx="11775233"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t>Unity and a shared purpose:</a:t>
            </a:r>
          </a:p>
          <a:p>
            <a:pPr marL="800100" lvl="1" indent="-342900" algn="just">
              <a:lnSpc>
                <a:spcPct val="100000"/>
              </a:lnSpc>
              <a:spcBef>
                <a:spcPts val="1800"/>
              </a:spcBef>
              <a:buClr>
                <a:srgbClr val="973735"/>
              </a:buClr>
              <a:buSzPct val="50000"/>
              <a:buFont typeface="Wingdings" pitchFamily="2" charset="2"/>
              <a:buChar char="u"/>
              <a:defRPr/>
            </a:pPr>
            <a:r>
              <a:rPr lang="en-US" sz="2600" dirty="0"/>
              <a:t>Unity and shared purpose represents the ability of an organization Unity and shared purpose represents the ability of an organization to integrate and mobilize resources to: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(1) provide a continuous line of focus and attention and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(2) pull together the relevant parts of the organization when and where they are needed.</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Complex adaptive system models of KM</a:t>
            </a:r>
            <a:endParaRPr lang="en-US" sz="4000" b="1" dirty="0"/>
          </a:p>
        </p:txBody>
      </p:sp>
    </p:spTree>
    <p:extLst>
      <p:ext uri="{BB962C8B-B14F-4D97-AF65-F5344CB8AC3E}">
        <p14:creationId xmlns:p14="http://schemas.microsoft.com/office/powerpoint/2010/main" val="29015684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62</a:t>
            </a:fld>
            <a:endParaRPr kumimoji="0" lang="en-US" dirty="0"/>
          </a:p>
        </p:txBody>
      </p:sp>
      <p:sp>
        <p:nvSpPr>
          <p:cNvPr id="4" name="Content Placeholder 3"/>
          <p:cNvSpPr>
            <a:spLocks noGrp="1"/>
          </p:cNvSpPr>
          <p:nvPr>
            <p:ph sz="quarter" idx="1"/>
          </p:nvPr>
        </p:nvSpPr>
        <p:spPr>
          <a:xfrm>
            <a:off x="0" y="1664593"/>
            <a:ext cx="11756571"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b="1" dirty="0"/>
              <a:t>Unity and a shared purpose:</a:t>
            </a:r>
          </a:p>
          <a:p>
            <a:pPr marL="800100" lvl="1" indent="-342900" algn="just">
              <a:lnSpc>
                <a:spcPct val="100000"/>
              </a:lnSpc>
              <a:spcBef>
                <a:spcPts val="1800"/>
              </a:spcBef>
              <a:buClr>
                <a:srgbClr val="973735"/>
              </a:buClr>
              <a:buSzPct val="50000"/>
              <a:buFont typeface="Wingdings" pitchFamily="2" charset="2"/>
              <a:buChar char="u"/>
              <a:defRPr/>
            </a:pPr>
            <a:r>
              <a:rPr lang="en-US" sz="2600" dirty="0"/>
              <a:t>Senge (1990) addresses a partial solution to this problem in his management book, The Fifth Discipline. He emphasizes the importance of a shared vision where employees participate in the development of a corporate vision, and can then make decisions and take actions consistent with the direction set by senior leadership.</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Complex adaptive system models of KM</a:t>
            </a:r>
            <a:endParaRPr lang="en-US" sz="4000" b="1" dirty="0"/>
          </a:p>
        </p:txBody>
      </p:sp>
    </p:spTree>
    <p:extLst>
      <p:ext uri="{BB962C8B-B14F-4D97-AF65-F5344CB8AC3E}">
        <p14:creationId xmlns:p14="http://schemas.microsoft.com/office/powerpoint/2010/main" val="9781067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63</a:t>
            </a:fld>
            <a:endParaRPr kumimoji="0" lang="en-US" dirty="0"/>
          </a:p>
        </p:txBody>
      </p:sp>
      <p:sp>
        <p:nvSpPr>
          <p:cNvPr id="4" name="Content Placeholder 3"/>
          <p:cNvSpPr>
            <a:spLocks noGrp="1"/>
          </p:cNvSpPr>
          <p:nvPr>
            <p:ph sz="quarter" idx="1"/>
          </p:nvPr>
        </p:nvSpPr>
        <p:spPr>
          <a:xfrm>
            <a:off x="551329" y="2220686"/>
            <a:ext cx="11214574" cy="3699182"/>
          </a:xfrm>
        </p:spPr>
        <p:txBody>
          <a:bodyPr>
            <a:normAutofit/>
          </a:bodyPr>
          <a:lstStyle/>
          <a:p>
            <a:pPr marL="0" indent="0" algn="just">
              <a:lnSpc>
                <a:spcPct val="100000"/>
              </a:lnSpc>
              <a:spcBef>
                <a:spcPts val="2400"/>
              </a:spcBef>
              <a:buClr>
                <a:srgbClr val="973735"/>
              </a:buClr>
              <a:buSzPct val="50000"/>
              <a:buNone/>
              <a:defRPr/>
            </a:pPr>
            <a:r>
              <a:rPr lang="en-US" sz="2600" dirty="0"/>
              <a:t>At any given moment, every individual and every organization has a huge number of signals impinging on its boundaries: data, information, sounds, images, ideas, etc. How the organization avoids becoming overwhelmed with these signals and is able to select, receive, process, and maintain a balance of unity, variety, and flexibility is an amazing feat.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Major Theoretical KM Models</a:t>
            </a:r>
          </a:p>
        </p:txBody>
      </p:sp>
    </p:spTree>
    <p:extLst>
      <p:ext uri="{BB962C8B-B14F-4D97-AF65-F5344CB8AC3E}">
        <p14:creationId xmlns:p14="http://schemas.microsoft.com/office/powerpoint/2010/main" val="33749903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64</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The require of a solid foundation of understanding what KM is, what the key KM cycle processes are, and how these fit in to a model that enables us to interpret, to establish cause and effect, and to successfully implement knowledge management solutions.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Strategic Implications of KM Models</a:t>
            </a:r>
          </a:p>
        </p:txBody>
      </p:sp>
    </p:spTree>
    <p:extLst>
      <p:ext uri="{BB962C8B-B14F-4D97-AF65-F5344CB8AC3E}">
        <p14:creationId xmlns:p14="http://schemas.microsoft.com/office/powerpoint/2010/main" val="20119236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65</a:t>
            </a:fld>
            <a:endParaRPr kumimoji="0" lang="en-US" dirty="0"/>
          </a:p>
        </p:txBody>
      </p:sp>
      <p:sp>
        <p:nvSpPr>
          <p:cNvPr id="4" name="Content Placeholder 3"/>
          <p:cNvSpPr>
            <a:spLocks noGrp="1"/>
          </p:cNvSpPr>
          <p:nvPr>
            <p:ph sz="quarter" idx="1"/>
          </p:nvPr>
        </p:nvSpPr>
        <p:spPr>
          <a:xfrm>
            <a:off x="618565" y="1664593"/>
            <a:ext cx="10810696" cy="4255275"/>
          </a:xfrm>
        </p:spPr>
        <p:txBody>
          <a:bodyPr>
            <a:normAutofit/>
          </a:bodyPr>
          <a:lstStyle/>
          <a:p>
            <a:pPr marL="0" indent="0" algn="just">
              <a:lnSpc>
                <a:spcPct val="100000"/>
              </a:lnSpc>
              <a:spcBef>
                <a:spcPts val="1200"/>
              </a:spcBef>
              <a:buClr>
                <a:srgbClr val="973735"/>
              </a:buClr>
              <a:buSzPct val="50000"/>
              <a:buNone/>
              <a:defRPr/>
            </a:pPr>
            <a:r>
              <a:rPr lang="en-US" dirty="0"/>
              <a:t>Measurement was the most influential component. The next in terms of level of influence were culture (including reward and motivation components) followed by technology as a strong enabler of KM.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51422" y="674951"/>
            <a:ext cx="10515600" cy="709226"/>
          </a:xfrm>
        </p:spPr>
        <p:txBody>
          <a:bodyPr>
            <a:normAutofit/>
          </a:bodyPr>
          <a:lstStyle/>
          <a:p>
            <a:r>
              <a:rPr lang="en-US" sz="4000" b="1" dirty="0"/>
              <a:t>Practical Implications of KM Models</a:t>
            </a:r>
          </a:p>
        </p:txBody>
      </p:sp>
    </p:spTree>
    <p:extLst>
      <p:ext uri="{BB962C8B-B14F-4D97-AF65-F5344CB8AC3E}">
        <p14:creationId xmlns:p14="http://schemas.microsoft.com/office/powerpoint/2010/main" val="33997816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66</a:t>
            </a:fld>
            <a:endParaRPr kumimoji="0" lang="en-US" dirty="0"/>
          </a:p>
        </p:txBody>
      </p:sp>
      <p:sp>
        <p:nvSpPr>
          <p:cNvPr id="4" name="Content Placeholder 3"/>
          <p:cNvSpPr>
            <a:spLocks noGrp="1"/>
          </p:cNvSpPr>
          <p:nvPr>
            <p:ph sz="quarter" idx="1"/>
          </p:nvPr>
        </p:nvSpPr>
        <p:spPr>
          <a:xfrm>
            <a:off x="0" y="1714726"/>
            <a:ext cx="12002308" cy="4765973"/>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Knowledge management encompasses data, information, and knowledge and it addresses both tacit and explicit forms of knowledge.</a:t>
            </a:r>
          </a:p>
          <a:p>
            <a:pPr marL="342900" indent="-342900" algn="just">
              <a:lnSpc>
                <a:spcPct val="100000"/>
              </a:lnSpc>
              <a:spcBef>
                <a:spcPts val="1800"/>
              </a:spcBef>
              <a:buClr>
                <a:srgbClr val="973735"/>
              </a:buClr>
              <a:buSzPct val="50000"/>
              <a:buFont typeface="Wingdings" pitchFamily="2" charset="2"/>
              <a:buChar char="u"/>
              <a:defRPr/>
            </a:pPr>
            <a:r>
              <a:rPr lang="en-US" sz="2600" dirty="0"/>
              <a:t>There are many KM models but they have common critical characteristics such as present, be reviewed and be implemented</a:t>
            </a:r>
          </a:p>
          <a:p>
            <a:pPr marL="342900" indent="-342900" algn="just">
              <a:lnSpc>
                <a:spcPct val="100000"/>
              </a:lnSpc>
              <a:spcBef>
                <a:spcPts val="1800"/>
              </a:spcBef>
              <a:buClr>
                <a:srgbClr val="973735"/>
              </a:buClr>
              <a:buSzPct val="50000"/>
              <a:buFont typeface="Wingdings" pitchFamily="2" charset="2"/>
              <a:buChar char="u"/>
              <a:defRPr/>
            </a:pPr>
            <a:r>
              <a:rPr lang="en-US" sz="2600" dirty="0"/>
              <a:t>The KM strategy models emphasize the importance of matching your KM model to the organizational business goals.</a:t>
            </a:r>
          </a:p>
          <a:p>
            <a:pPr marL="342900" indent="-342900" algn="just">
              <a:lnSpc>
                <a:spcPct val="100000"/>
              </a:lnSpc>
              <a:spcBef>
                <a:spcPts val="1800"/>
              </a:spcBef>
              <a:buClr>
                <a:srgbClr val="973735"/>
              </a:buClr>
              <a:buSzPct val="50000"/>
              <a:buFont typeface="Wingdings" pitchFamily="2" charset="2"/>
              <a:buChar char="u"/>
              <a:defRPr/>
            </a:pPr>
            <a:r>
              <a:rPr lang="en-US" sz="2600" dirty="0"/>
              <a:t>The collaboration models emphasize the critical success factors that must be in place if effective knowledge sharing is to occur, especially tacit knowledge sharing.</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Summary</a:t>
            </a:r>
          </a:p>
        </p:txBody>
      </p:sp>
    </p:spTree>
    <p:extLst>
      <p:ext uri="{BB962C8B-B14F-4D97-AF65-F5344CB8AC3E}">
        <p14:creationId xmlns:p14="http://schemas.microsoft.com/office/powerpoint/2010/main" val="30924627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iscussion Vectors &amp; Illustrations for Free Download | Freepik">
            <a:extLst>
              <a:ext uri="{FF2B5EF4-FFF2-40B4-BE49-F238E27FC236}">
                <a16:creationId xmlns:a16="http://schemas.microsoft.com/office/drawing/2014/main" id="{A642F2C7-2523-4678-C65A-F521C8D27C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29266" y="4886580"/>
            <a:ext cx="2404623" cy="157632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CA15C064-DD44-4CAC-873E-2D1F54821676}" type="slidenum">
              <a:rPr kumimoji="0" lang="en-US" smtClean="0"/>
              <a:pPr/>
              <a:t>67</a:t>
            </a:fld>
            <a:endParaRPr kumimoji="0" lang="en-US" dirty="0"/>
          </a:p>
        </p:txBody>
      </p:sp>
      <p:sp>
        <p:nvSpPr>
          <p:cNvPr id="4" name="Content Placeholder 3"/>
          <p:cNvSpPr>
            <a:spLocks noGrp="1"/>
          </p:cNvSpPr>
          <p:nvPr>
            <p:ph sz="quarter" idx="1"/>
          </p:nvPr>
        </p:nvSpPr>
        <p:spPr>
          <a:xfrm>
            <a:off x="0" y="1714726"/>
            <a:ext cx="12002308" cy="4765973"/>
          </a:xfrm>
        </p:spPr>
        <p:txBody>
          <a:bodyPr>
            <a:normAutofit fontScale="62500" lnSpcReduction="20000"/>
          </a:bodyPr>
          <a:lstStyle/>
          <a:p>
            <a:pPr marL="514350" indent="-514350" algn="just">
              <a:lnSpc>
                <a:spcPct val="120000"/>
              </a:lnSpc>
              <a:spcBef>
                <a:spcPts val="1200"/>
              </a:spcBef>
              <a:buClr>
                <a:srgbClr val="973735"/>
              </a:buClr>
              <a:buSzPct val="100000"/>
              <a:buFont typeface="+mj-lt"/>
              <a:buAutoNum type="arabicPeriod"/>
              <a:defRPr/>
            </a:pPr>
            <a:r>
              <a:rPr lang="en-US" dirty="0"/>
              <a:t>Compare and contrast the cognitive and connectionist/constructivist approaches to knowledge management. </a:t>
            </a:r>
          </a:p>
          <a:p>
            <a:pPr marL="514350" indent="-514350" algn="just">
              <a:lnSpc>
                <a:spcPct val="120000"/>
              </a:lnSpc>
              <a:spcBef>
                <a:spcPts val="1200"/>
              </a:spcBef>
              <a:buClr>
                <a:srgbClr val="973735"/>
              </a:buClr>
              <a:buSzPct val="100000"/>
              <a:buFont typeface="+mj-lt"/>
              <a:buAutoNum type="arabicPeriod"/>
              <a:defRPr/>
            </a:pPr>
            <a:r>
              <a:rPr lang="en-US" dirty="0"/>
              <a:t>Describe how the major types of knowledge </a:t>
            </a:r>
          </a:p>
          <a:p>
            <a:pPr marL="514350" indent="-514350" algn="just">
              <a:lnSpc>
                <a:spcPct val="120000"/>
              </a:lnSpc>
              <a:spcBef>
                <a:spcPts val="1200"/>
              </a:spcBef>
              <a:buClr>
                <a:srgbClr val="973735"/>
              </a:buClr>
              <a:buSzPct val="100000"/>
              <a:buFont typeface="+mj-lt"/>
              <a:buAutoNum type="arabicPeriod"/>
              <a:defRPr/>
            </a:pPr>
            <a:r>
              <a:rPr lang="en-US" dirty="0"/>
              <a:t>Compare the Choo model similar to the Nonaka and Takeuchi KM model, the Wiig KM model related to the Nonaka and Takeuchi model? </a:t>
            </a:r>
          </a:p>
          <a:p>
            <a:pPr marL="514350" indent="-514350" algn="just">
              <a:lnSpc>
                <a:spcPct val="120000"/>
              </a:lnSpc>
              <a:spcBef>
                <a:spcPts val="1200"/>
              </a:spcBef>
              <a:buClr>
                <a:srgbClr val="973735"/>
              </a:buClr>
              <a:buSzPct val="100000"/>
              <a:buFont typeface="+mj-lt"/>
              <a:buAutoNum type="arabicPeriod"/>
              <a:defRPr/>
            </a:pPr>
            <a:r>
              <a:rPr lang="en-US" dirty="0"/>
              <a:t>Outline the general strategy you would use in order to implement the </a:t>
            </a:r>
            <a:r>
              <a:rPr lang="en-US" dirty="0" err="1"/>
              <a:t>Boisot</a:t>
            </a:r>
            <a:r>
              <a:rPr lang="en-US" dirty="0"/>
              <a:t> I-Space KM model</a:t>
            </a:r>
          </a:p>
          <a:p>
            <a:pPr marL="514350" indent="-514350" algn="just">
              <a:lnSpc>
                <a:spcPct val="120000"/>
              </a:lnSpc>
              <a:spcBef>
                <a:spcPts val="1200"/>
              </a:spcBef>
              <a:buClr>
                <a:srgbClr val="973735"/>
              </a:buClr>
              <a:buSzPct val="100000"/>
              <a:buFont typeface="+mj-lt"/>
              <a:buAutoNum type="arabicPeriod"/>
              <a:defRPr/>
            </a:pPr>
            <a:r>
              <a:rPr lang="en-US" dirty="0"/>
              <a:t>What is the major advantage of a complex adaptive system approach to a KM model? What are some of the drawbacks?</a:t>
            </a:r>
          </a:p>
          <a:p>
            <a:pPr marL="514350" indent="-514350" algn="just">
              <a:lnSpc>
                <a:spcPct val="120000"/>
              </a:lnSpc>
              <a:spcBef>
                <a:spcPts val="1200"/>
              </a:spcBef>
              <a:buClr>
                <a:srgbClr val="973735"/>
              </a:buClr>
              <a:buSzPct val="100000"/>
              <a:buFont typeface="+mj-lt"/>
              <a:buAutoNum type="arabicPeriod"/>
              <a:defRPr/>
            </a:pPr>
            <a:r>
              <a:rPr lang="en-US" dirty="0"/>
              <a:t>What additional factors do the EFQM and Inukshuk KM models introduce?</a:t>
            </a:r>
          </a:p>
          <a:p>
            <a:pPr marL="514350" indent="-514350" algn="just">
              <a:lnSpc>
                <a:spcPct val="120000"/>
              </a:lnSpc>
              <a:spcBef>
                <a:spcPts val="1200"/>
              </a:spcBef>
              <a:buClr>
                <a:srgbClr val="973735"/>
              </a:buClr>
              <a:buSzPct val="100000"/>
              <a:buFont typeface="+mj-lt"/>
              <a:buAutoNum type="arabicPeriod"/>
              <a:defRPr/>
            </a:pPr>
            <a:r>
              <a:rPr lang="en-US" dirty="0"/>
              <a:t>How would you go about identifying whether your company has a personalization KM strategy or codification KM strategy model?</a:t>
            </a:r>
          </a:p>
          <a:p>
            <a:pPr marL="514350" indent="-514350" algn="just">
              <a:lnSpc>
                <a:spcPct val="120000"/>
              </a:lnSpc>
              <a:spcBef>
                <a:spcPts val="1200"/>
              </a:spcBef>
              <a:buClr>
                <a:srgbClr val="973735"/>
              </a:buClr>
              <a:buSzPct val="100000"/>
              <a:buFont typeface="+mj-lt"/>
              <a:buAutoNum type="arabicPeriod"/>
              <a:defRPr/>
            </a:pPr>
            <a:r>
              <a:rPr lang="en-US" dirty="0"/>
              <a:t>What are some of the advantages of the knowledge jam over informal brainstorming?</a:t>
            </a:r>
          </a:p>
          <a:p>
            <a:pPr marL="514350" indent="-514350" algn="just">
              <a:lnSpc>
                <a:spcPct val="120000"/>
              </a:lnSpc>
              <a:spcBef>
                <a:spcPts val="1200"/>
              </a:spcBef>
              <a:buClr>
                <a:srgbClr val="973735"/>
              </a:buClr>
              <a:buSzPct val="100000"/>
              <a:buFont typeface="+mj-lt"/>
              <a:buAutoNum type="arabicPeriod"/>
              <a:defRPr/>
            </a:pPr>
            <a:r>
              <a:rPr lang="en-US" dirty="0"/>
              <a:t>What are some potential obstacles identified in the collaboration models?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spTree>
    <p:extLst>
      <p:ext uri="{BB962C8B-B14F-4D97-AF65-F5344CB8AC3E}">
        <p14:creationId xmlns:p14="http://schemas.microsoft.com/office/powerpoint/2010/main" val="4222055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2735</TotalTime>
  <Words>3988</Words>
  <Application>Microsoft Office PowerPoint</Application>
  <PresentationFormat>Widescreen</PresentationFormat>
  <Paragraphs>516</Paragraphs>
  <Slides>67</Slides>
  <Notes>67</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67</vt:i4>
      </vt:variant>
    </vt:vector>
  </HeadingPairs>
  <TitlesOfParts>
    <vt:vector size="72" baseType="lpstr">
      <vt:lpstr>Arial</vt:lpstr>
      <vt:lpstr>Calibri</vt:lpstr>
      <vt:lpstr>Wingdings</vt:lpstr>
      <vt:lpstr>Office Theme</vt:lpstr>
      <vt:lpstr>Bitmap Image</vt:lpstr>
      <vt:lpstr>Chapter 03  Knowledge Management Models</vt:lpstr>
      <vt:lpstr>Objectives</vt:lpstr>
      <vt:lpstr>Introduction</vt:lpstr>
      <vt:lpstr>Introduction</vt:lpstr>
      <vt:lpstr>Major Theoretical KM Models</vt:lpstr>
      <vt:lpstr>Major Theoretical KM Models</vt:lpstr>
      <vt:lpstr>Major Theoretical KM Models</vt:lpstr>
      <vt:lpstr>The von Krogh and Roos Model of Organizational Epistemology</vt:lpstr>
      <vt:lpstr>The von Krogh and Roos Model of Organizational Epistemology</vt:lpstr>
      <vt:lpstr>The von Krogh and Roos Model of Organizational Epistemology</vt:lpstr>
      <vt:lpstr>The von Krogh and Roos Model of Organizational Epistemology</vt:lpstr>
      <vt:lpstr>The von Krogh and Roos Model of Organizational Epistemology</vt:lpstr>
      <vt:lpstr>Major Theoretical KM Models</vt:lpstr>
      <vt:lpstr>The Nonaka and Takeuchi knowledge spiral Model</vt:lpstr>
      <vt:lpstr>The Nonaka and Takeuchi knowledge spiral Model</vt:lpstr>
      <vt:lpstr>The Nonaka and Takeuchi knowledge spiral Model</vt:lpstr>
      <vt:lpstr>The Nonaka and Takeuchi knowledge spiral Model</vt:lpstr>
      <vt:lpstr>The Nonaka and Takeuchi knowledge spiral Model</vt:lpstr>
      <vt:lpstr>The Nonaka and Takeuchi knowledge spiral Model</vt:lpstr>
      <vt:lpstr>The Nonaka and Takeuchi knowledge spiral Model</vt:lpstr>
      <vt:lpstr>The Nonaka and Takeuchi knowledge spiral Model</vt:lpstr>
      <vt:lpstr>The Nonaka and Takeuchi knowledge spiral Model</vt:lpstr>
      <vt:lpstr>The Nonaka and Takeuchi knowledge spiral Model</vt:lpstr>
      <vt:lpstr>The Nonaka and Takeuchi knowledge spiral Model</vt:lpstr>
      <vt:lpstr>The Nonaka and Takeuchi knowledge spiral Model</vt:lpstr>
      <vt:lpstr>Major Theoretical KM Models</vt:lpstr>
      <vt:lpstr>The Choo sense-making KM Model</vt:lpstr>
      <vt:lpstr>The Choo sense-making KM Model</vt:lpstr>
      <vt:lpstr>The Choo sense-making KM Model</vt:lpstr>
      <vt:lpstr>The Choo sense-making KM Model</vt:lpstr>
      <vt:lpstr>The Choo sense-making KM Model</vt:lpstr>
      <vt:lpstr>Major Theoretical KM Models</vt:lpstr>
      <vt:lpstr>The Wiig Model for Building and Using Knowledge</vt:lpstr>
      <vt:lpstr>The Wiig Model for Building and Using Knowledge</vt:lpstr>
      <vt:lpstr>The Wiig Model for Building and Using Knowledge</vt:lpstr>
      <vt:lpstr>The Wiig Model for Building and Using Knowledge</vt:lpstr>
      <vt:lpstr>The Wiig Model for Building and Using Knowledge</vt:lpstr>
      <vt:lpstr>The Wiig Model for Building and Using Knowledge</vt:lpstr>
      <vt:lpstr>The Wiig Model for Building and Using Knowledge</vt:lpstr>
      <vt:lpstr>The Wiig Model for Building and Using Knowledge</vt:lpstr>
      <vt:lpstr>The Wiig Model for Building and Using Knowledge</vt:lpstr>
      <vt:lpstr>The Wiig Model for Building and Using Knowledge</vt:lpstr>
      <vt:lpstr>Major Theoretical KM Models</vt:lpstr>
      <vt:lpstr>The Boisot I-Space KM Model </vt:lpstr>
      <vt:lpstr>The Boisot I-Space KM Model </vt:lpstr>
      <vt:lpstr>The Boisot I-Space KM Model </vt:lpstr>
      <vt:lpstr>The Boisot I-Space KM Model </vt:lpstr>
      <vt:lpstr>The Boisot I-Space KM Model </vt:lpstr>
      <vt:lpstr>The Boisot I-Space KM Model </vt:lpstr>
      <vt:lpstr>The Boisot I-Space KM Model </vt:lpstr>
      <vt:lpstr>The Boisot I-Space KM Model </vt:lpstr>
      <vt:lpstr>The Boisot I-Space KM Model </vt:lpstr>
      <vt:lpstr>Major Theoretical KM Models</vt:lpstr>
      <vt:lpstr>Complex adaptive system models of KM</vt:lpstr>
      <vt:lpstr>Complex adaptive system models of KM</vt:lpstr>
      <vt:lpstr>Complex adaptive system models of KM</vt:lpstr>
      <vt:lpstr>Complex adaptive system models of KM</vt:lpstr>
      <vt:lpstr>Complex adaptive system models of KM</vt:lpstr>
      <vt:lpstr>Complex adaptive system models of KM</vt:lpstr>
      <vt:lpstr>Complex adaptive system models of KM</vt:lpstr>
      <vt:lpstr>Complex adaptive system models of KM</vt:lpstr>
      <vt:lpstr>Complex adaptive system models of KM</vt:lpstr>
      <vt:lpstr>Major Theoretical KM Models</vt:lpstr>
      <vt:lpstr>Strategic Implications of KM Models</vt:lpstr>
      <vt:lpstr>Practical Implications of KM Models</vt:lpstr>
      <vt:lpstr>Summary</vt:lpstr>
      <vt:lpstr>Discussion / Homework / Team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129</cp:revision>
  <dcterms:created xsi:type="dcterms:W3CDTF">2021-01-25T08:25:31Z</dcterms:created>
  <dcterms:modified xsi:type="dcterms:W3CDTF">2023-09-20T21:05:36Z</dcterms:modified>
</cp:coreProperties>
</file>