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330" r:id="rId3"/>
    <p:sldId id="278" r:id="rId4"/>
    <p:sldId id="279" r:id="rId5"/>
    <p:sldId id="313" r:id="rId6"/>
    <p:sldId id="322" r:id="rId7"/>
    <p:sldId id="406" r:id="rId8"/>
    <p:sldId id="323" r:id="rId9"/>
    <p:sldId id="407" r:id="rId10"/>
    <p:sldId id="408" r:id="rId11"/>
    <p:sldId id="409" r:id="rId12"/>
    <p:sldId id="410" r:id="rId13"/>
    <p:sldId id="411" r:id="rId14"/>
    <p:sldId id="324" r:id="rId15"/>
    <p:sldId id="325" r:id="rId16"/>
    <p:sldId id="412" r:id="rId17"/>
    <p:sldId id="413" r:id="rId18"/>
    <p:sldId id="420" r:id="rId19"/>
    <p:sldId id="414" r:id="rId20"/>
    <p:sldId id="326" r:id="rId21"/>
    <p:sldId id="415" r:id="rId22"/>
    <p:sldId id="327" r:id="rId23"/>
    <p:sldId id="416" r:id="rId24"/>
    <p:sldId id="328" r:id="rId25"/>
    <p:sldId id="329" r:id="rId26"/>
    <p:sldId id="331" r:id="rId27"/>
    <p:sldId id="421" r:id="rId28"/>
    <p:sldId id="4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353" autoAdjust="0"/>
    <p:restoredTop sz="83777" autoAdjust="0"/>
  </p:normalViewPr>
  <p:slideViewPr>
    <p:cSldViewPr snapToGrid="0">
      <p:cViewPr varScale="1">
        <p:scale>
          <a:sx n="88" d="100"/>
          <a:sy n="88" d="100"/>
        </p:scale>
        <p:origin x="432" y="7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499060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704919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062957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2862162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3699596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750581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3406435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2332259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1429401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49211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1614643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3682268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582816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35217847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39087787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693232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41295296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3921331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7535351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694436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5966"/>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05 </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Knowledge Sharing</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 Social Nature of Knowledge</a:t>
            </a:r>
          </a:p>
          <a:p>
            <a:pPr marL="342900" indent="-342900" algn="just">
              <a:lnSpc>
                <a:spcPct val="150000"/>
              </a:lnSpc>
              <a:spcBef>
                <a:spcPts val="600"/>
              </a:spcBef>
              <a:buClr>
                <a:srgbClr val="973735"/>
              </a:buClr>
              <a:buSzPct val="50000"/>
              <a:buFont typeface="Wingdings" pitchFamily="2" charset="2"/>
              <a:buChar char="u"/>
              <a:defRPr/>
            </a:pPr>
            <a:r>
              <a:rPr lang="en-US" dirty="0"/>
              <a:t>Knowledge Networks</a:t>
            </a:r>
          </a:p>
          <a:p>
            <a:pPr marL="342900" indent="-342900" algn="just">
              <a:lnSpc>
                <a:spcPct val="150000"/>
              </a:lnSpc>
              <a:spcBef>
                <a:spcPts val="600"/>
              </a:spcBef>
              <a:buClr>
                <a:srgbClr val="973735"/>
              </a:buClr>
              <a:buSzPct val="50000"/>
              <a:buFont typeface="Wingdings" pitchFamily="2" charset="2"/>
              <a:buChar char="u"/>
              <a:defRPr/>
            </a:pPr>
            <a:r>
              <a:rPr lang="en-US" dirty="0"/>
              <a:t>Sociograms and Social Network Analysis</a:t>
            </a:r>
          </a:p>
          <a:p>
            <a:pPr marL="342900" indent="-342900" algn="just">
              <a:lnSpc>
                <a:spcPct val="150000"/>
              </a:lnSpc>
              <a:spcBef>
                <a:spcPts val="600"/>
              </a:spcBef>
              <a:buClr>
                <a:srgbClr val="973735"/>
              </a:buClr>
              <a:buSzPct val="50000"/>
              <a:buFont typeface="Wingdings" pitchFamily="2" charset="2"/>
              <a:buChar char="u"/>
              <a:defRPr/>
            </a:pPr>
            <a:r>
              <a:rPr lang="en-US" dirty="0"/>
              <a:t>Knowledge-Sharing Communities</a:t>
            </a:r>
          </a:p>
          <a:p>
            <a:pPr marL="342900" indent="-342900" algn="just">
              <a:lnSpc>
                <a:spcPct val="150000"/>
              </a:lnSpc>
              <a:spcBef>
                <a:spcPts val="600"/>
              </a:spcBef>
              <a:buClr>
                <a:srgbClr val="973735"/>
              </a:buClr>
              <a:buSzPct val="50000"/>
              <a:buFont typeface="Wingdings" pitchFamily="2" charset="2"/>
              <a:buChar char="u"/>
              <a:defRPr/>
            </a:pPr>
            <a:r>
              <a:rPr lang="en-US" dirty="0"/>
              <a:t>Types of Communities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extLst>
      <p:ext uri="{BB962C8B-B14F-4D97-AF65-F5344CB8AC3E}">
        <p14:creationId xmlns:p14="http://schemas.microsoft.com/office/powerpoint/2010/main" val="2265344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Obstacles to Knowledge Sharing</a:t>
            </a:r>
          </a:p>
          <a:p>
            <a:pPr marL="342900" indent="-342900" algn="just">
              <a:lnSpc>
                <a:spcPct val="150000"/>
              </a:lnSpc>
              <a:spcBef>
                <a:spcPts val="600"/>
              </a:spcBef>
              <a:buClr>
                <a:srgbClr val="973735"/>
              </a:buClr>
              <a:buSzPct val="50000"/>
              <a:buFont typeface="Wingdings" pitchFamily="2" charset="2"/>
              <a:buChar char="u"/>
              <a:defRPr/>
            </a:pPr>
            <a:r>
              <a:rPr lang="en-US" dirty="0"/>
              <a:t>Organizational Learning and Social Capital</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Knowledge Sharing</a:t>
            </a:r>
          </a:p>
          <a:p>
            <a:pPr marL="342900" indent="-342900" algn="just">
              <a:lnSpc>
                <a:spcPct val="150000"/>
              </a:lnSpc>
              <a:spcBef>
                <a:spcPts val="600"/>
              </a:spcBef>
              <a:buClr>
                <a:srgbClr val="973735"/>
              </a:buClr>
              <a:buSzPct val="50000"/>
              <a:buFont typeface="Wingdings" pitchFamily="2" charset="2"/>
              <a:buChar char="u"/>
              <a:defRPr/>
            </a:pPr>
            <a:r>
              <a:rPr lang="en-US" dirty="0"/>
              <a:t>Practical Implications of Knowledge Sharing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 (</a:t>
            </a:r>
            <a:r>
              <a:rPr lang="en-US" sz="4000" b="1" dirty="0" err="1"/>
              <a:t>con’t</a:t>
            </a:r>
            <a:r>
              <a:rPr lang="en-US" sz="4000" b="1"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1" y="2135898"/>
            <a:ext cx="4654192" cy="260260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0" i="0" dirty="0">
                <a:solidFill>
                  <a:srgbClr val="222222"/>
                </a:solidFill>
                <a:effectLst/>
                <a:latin typeface="Sabon-Roman"/>
              </a:rPr>
              <a:t>Once knowledge has been captured and codified, it needs to be shared and disseminated throughout the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5" name="Content Placeholder 3">
            <a:extLst>
              <a:ext uri="{FF2B5EF4-FFF2-40B4-BE49-F238E27FC236}">
                <a16:creationId xmlns:a16="http://schemas.microsoft.com/office/drawing/2014/main" id="{A07FE4DD-242B-419B-5214-10A9101F9628}"/>
              </a:ext>
            </a:extLst>
          </p:cNvPr>
          <p:cNvSpPr txBox="1">
            <a:spLocks/>
          </p:cNvSpPr>
          <p:nvPr/>
        </p:nvSpPr>
        <p:spPr>
          <a:xfrm>
            <a:off x="0" y="4705564"/>
            <a:ext cx="11904483" cy="14947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200"/>
              </a:spcBef>
              <a:buClr>
                <a:srgbClr val="973735"/>
              </a:buClr>
              <a:buSzPct val="50000"/>
              <a:buFont typeface="Wingdings" pitchFamily="2" charset="2"/>
              <a:buChar char="u"/>
              <a:defRPr/>
            </a:pPr>
            <a:r>
              <a:rPr lang="en-US" dirty="0">
                <a:solidFill>
                  <a:srgbClr val="222222"/>
                </a:solidFill>
                <a:latin typeface="Sabon-Roman"/>
              </a:rPr>
              <a:t>Information-based approaches focus primarily on knowledge capture and codification. The information-based approach tends to emphasize explicit knowledge rather than tacit and favors the externalization objective.</a:t>
            </a:r>
            <a:endParaRPr lang="en-US" dirty="0"/>
          </a:p>
        </p:txBody>
      </p:sp>
      <p:graphicFrame>
        <p:nvGraphicFramePr>
          <p:cNvPr id="2" name="Object 1">
            <a:extLst>
              <a:ext uri="{FF2B5EF4-FFF2-40B4-BE49-F238E27FC236}">
                <a16:creationId xmlns:a16="http://schemas.microsoft.com/office/drawing/2014/main" id="{0357796D-59AC-2C09-C633-EFA0B7E4550E}"/>
              </a:ext>
            </a:extLst>
          </p:cNvPr>
          <p:cNvGraphicFramePr>
            <a:graphicFrameLocks noChangeAspect="1"/>
          </p:cNvGraphicFramePr>
          <p:nvPr>
            <p:extLst>
              <p:ext uri="{D42A27DB-BD31-4B8C-83A1-F6EECF244321}">
                <p14:modId xmlns:p14="http://schemas.microsoft.com/office/powerpoint/2010/main" val="2858754436"/>
              </p:ext>
            </p:extLst>
          </p:nvPr>
        </p:nvGraphicFramePr>
        <p:xfrm>
          <a:off x="5303837" y="119848"/>
          <a:ext cx="6888163" cy="3863975"/>
        </p:xfrm>
        <a:graphic>
          <a:graphicData uri="http://schemas.openxmlformats.org/presentationml/2006/ole">
            <mc:AlternateContent xmlns:mc="http://schemas.openxmlformats.org/markup-compatibility/2006">
              <mc:Choice xmlns:v="urn:schemas-microsoft-com:vml" Requires="v">
                <p:oleObj name="Bitmap Image" r:id="rId3" imgW="6888600" imgH="3863520" progId="PBrush">
                  <p:embed/>
                </p:oleObj>
              </mc:Choice>
              <mc:Fallback>
                <p:oleObj name="Bitmap Image" r:id="rId3" imgW="6888600" imgH="3863520" progId="PBrush">
                  <p:embed/>
                  <p:pic>
                    <p:nvPicPr>
                      <p:cNvPr id="0" name=""/>
                      <p:cNvPicPr/>
                      <p:nvPr/>
                    </p:nvPicPr>
                    <p:blipFill>
                      <a:blip r:embed="rId4"/>
                      <a:stretch>
                        <a:fillRect/>
                      </a:stretch>
                    </p:blipFill>
                    <p:spPr>
                      <a:xfrm>
                        <a:off x="5303837" y="119848"/>
                        <a:ext cx="6888163" cy="386397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AF4850A-36D8-3C62-CE30-5C6F4C028CD0}"/>
              </a:ext>
            </a:extLst>
          </p:cNvPr>
          <p:cNvGraphicFramePr>
            <a:graphicFrameLocks noChangeAspect="1"/>
          </p:cNvGraphicFramePr>
          <p:nvPr>
            <p:extLst>
              <p:ext uri="{D42A27DB-BD31-4B8C-83A1-F6EECF244321}">
                <p14:modId xmlns:p14="http://schemas.microsoft.com/office/powerpoint/2010/main" val="496725783"/>
              </p:ext>
            </p:extLst>
          </p:nvPr>
        </p:nvGraphicFramePr>
        <p:xfrm>
          <a:off x="6777830" y="4126172"/>
          <a:ext cx="3940175" cy="441325"/>
        </p:xfrm>
        <a:graphic>
          <a:graphicData uri="http://schemas.openxmlformats.org/presentationml/2006/ole">
            <mc:AlternateContent xmlns:mc="http://schemas.openxmlformats.org/markup-compatibility/2006">
              <mc:Choice xmlns:v="urn:schemas-microsoft-com:vml" Requires="v">
                <p:oleObj name="Bitmap Image" r:id="rId5" imgW="3939480" imgH="442080" progId="PBrush">
                  <p:embed/>
                </p:oleObj>
              </mc:Choice>
              <mc:Fallback>
                <p:oleObj name="Bitmap Image" r:id="rId5" imgW="3939480" imgH="442080" progId="PBrush">
                  <p:embed/>
                  <p:pic>
                    <p:nvPicPr>
                      <p:cNvPr id="0" name=""/>
                      <p:cNvPicPr/>
                      <p:nvPr/>
                    </p:nvPicPr>
                    <p:blipFill>
                      <a:blip r:embed="rId6"/>
                      <a:stretch>
                        <a:fillRect/>
                      </a:stretch>
                    </p:blipFill>
                    <p:spPr>
                      <a:xfrm>
                        <a:off x="6777830" y="4126172"/>
                        <a:ext cx="3940175" cy="441325"/>
                      </a:xfrm>
                      <a:prstGeom prst="rect">
                        <a:avLst/>
                      </a:prstGeom>
                    </p:spPr>
                  </p:pic>
                </p:oleObj>
              </mc:Fallback>
            </mc:AlternateContent>
          </a:graphicData>
        </a:graphic>
      </p:graphicFrame>
    </p:spTree>
    <p:extLst>
      <p:ext uri="{BB962C8B-B14F-4D97-AF65-F5344CB8AC3E}">
        <p14:creationId xmlns:p14="http://schemas.microsoft.com/office/powerpoint/2010/main" val="1991387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Knowledge management needs to view knowledge as something that is actively constructed in a social setting (McDermott, 2000). </a:t>
            </a:r>
          </a:p>
          <a:p>
            <a:pPr marL="342900" indent="-342900" algn="just">
              <a:lnSpc>
                <a:spcPct val="100000"/>
              </a:lnSpc>
              <a:spcBef>
                <a:spcPts val="2400"/>
              </a:spcBef>
              <a:buClr>
                <a:srgbClr val="973735"/>
              </a:buClr>
              <a:buSzPct val="50000"/>
              <a:buFont typeface="Wingdings" pitchFamily="2" charset="2"/>
              <a:buChar char="u"/>
              <a:defRPr/>
            </a:pPr>
            <a:r>
              <a:rPr lang="en-US" dirty="0"/>
              <a:t>Group members produce knowledge by their interactions, and a group memory is created. </a:t>
            </a:r>
          </a:p>
          <a:p>
            <a:pPr marL="342900" indent="-342900" algn="just">
              <a:lnSpc>
                <a:spcPct val="100000"/>
              </a:lnSpc>
              <a:spcBef>
                <a:spcPts val="2400"/>
              </a:spcBef>
              <a:buClr>
                <a:srgbClr val="973735"/>
              </a:buClr>
              <a:buSzPct val="50000"/>
              <a:buFont typeface="Wingdings" pitchFamily="2" charset="2"/>
              <a:buChar char="u"/>
              <a:defRPr/>
            </a:pPr>
            <a:r>
              <a:rPr lang="en-US" dirty="0"/>
              <a:t>Social constructivism views knowledge not as an objective entity but as a subjective, social artifact (Berger and </a:t>
            </a:r>
            <a:r>
              <a:rPr lang="en-US" dirty="0" err="1"/>
              <a:t>Luckmann</a:t>
            </a:r>
            <a:r>
              <a:rPr lang="en-US" dirty="0"/>
              <a:t>, 1966).</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The Social Nature of Knowledge</a:t>
            </a:r>
          </a:p>
        </p:txBody>
      </p:sp>
    </p:spTree>
    <p:extLst>
      <p:ext uri="{BB962C8B-B14F-4D97-AF65-F5344CB8AC3E}">
        <p14:creationId xmlns:p14="http://schemas.microsoft.com/office/powerpoint/2010/main" val="94861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452063" y="1690406"/>
            <a:ext cx="11085816" cy="1428109"/>
          </a:xfrm>
        </p:spPr>
        <p:txBody>
          <a:bodyPr>
            <a:noAutofit/>
          </a:bodyPr>
          <a:lstStyle/>
          <a:p>
            <a:pPr marL="0" indent="0" algn="just">
              <a:lnSpc>
                <a:spcPct val="100000"/>
              </a:lnSpc>
              <a:spcBef>
                <a:spcPts val="1200"/>
              </a:spcBef>
              <a:buClr>
                <a:srgbClr val="973735"/>
              </a:buClr>
              <a:buSzPct val="50000"/>
              <a:buNone/>
              <a:defRPr/>
            </a:pPr>
            <a:r>
              <a:rPr lang="en-US" dirty="0"/>
              <a:t>Pugh and </a:t>
            </a:r>
            <a:r>
              <a:rPr lang="en-US" dirty="0" err="1"/>
              <a:t>Prusak</a:t>
            </a:r>
            <a:r>
              <a:rPr lang="en-US" dirty="0"/>
              <a:t> (2013) further identified eight key dimensions of knowledge networks that span strategic, structural, and tactical organizational levels: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Knowledge Networks</a:t>
            </a:r>
          </a:p>
        </p:txBody>
      </p:sp>
      <p:sp>
        <p:nvSpPr>
          <p:cNvPr id="2" name="Content Placeholder 3">
            <a:extLst>
              <a:ext uri="{FF2B5EF4-FFF2-40B4-BE49-F238E27FC236}">
                <a16:creationId xmlns:a16="http://schemas.microsoft.com/office/drawing/2014/main" id="{43BB0654-B3E2-AE7C-9576-7E102936D3D7}"/>
              </a:ext>
            </a:extLst>
          </p:cNvPr>
          <p:cNvSpPr txBox="1">
            <a:spLocks/>
          </p:cNvSpPr>
          <p:nvPr/>
        </p:nvSpPr>
        <p:spPr>
          <a:xfrm>
            <a:off x="-306512" y="3424744"/>
            <a:ext cx="5618251" cy="48721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gn="just">
              <a:lnSpc>
                <a:spcPct val="100000"/>
              </a:lnSpc>
              <a:spcBef>
                <a:spcPts val="1200"/>
              </a:spcBef>
              <a:buClr>
                <a:srgbClr val="973735"/>
              </a:buClr>
              <a:buSzPct val="50000"/>
              <a:buFont typeface="Arial" panose="020B0604020202020204" pitchFamily="34" charset="0"/>
              <a:buNone/>
              <a:defRPr/>
            </a:pPr>
            <a:r>
              <a:rPr lang="en-US" sz="2600" dirty="0"/>
              <a:t>1. Leader’s theory of change</a:t>
            </a:r>
          </a:p>
          <a:p>
            <a:pPr marL="914400" lvl="2" indent="0" algn="just">
              <a:lnSpc>
                <a:spcPct val="100000"/>
              </a:lnSpc>
              <a:spcBef>
                <a:spcPts val="1200"/>
              </a:spcBef>
              <a:buClr>
                <a:srgbClr val="973735"/>
              </a:buClr>
              <a:buSzPct val="50000"/>
              <a:buFont typeface="Arial" panose="020B0604020202020204" pitchFamily="34" charset="0"/>
              <a:buNone/>
              <a:defRPr/>
            </a:pPr>
            <a:r>
              <a:rPr lang="en-US" sz="2600" dirty="0"/>
              <a:t>2. Objectives, outcomes, and purpose</a:t>
            </a:r>
          </a:p>
          <a:p>
            <a:pPr marL="914400" lvl="2" indent="0" algn="just">
              <a:lnSpc>
                <a:spcPct val="100000"/>
              </a:lnSpc>
              <a:spcBef>
                <a:spcPts val="1200"/>
              </a:spcBef>
              <a:buClr>
                <a:srgbClr val="973735"/>
              </a:buClr>
              <a:buSzPct val="50000"/>
              <a:buFont typeface="Arial" panose="020B0604020202020204" pitchFamily="34" charset="0"/>
              <a:buNone/>
              <a:defRPr/>
            </a:pPr>
            <a:r>
              <a:rPr lang="en-US" sz="2600" dirty="0"/>
              <a:t>3. Role of expertise and experimental learning</a:t>
            </a:r>
          </a:p>
          <a:p>
            <a:pPr marL="914400" lvl="2" indent="0" algn="just">
              <a:lnSpc>
                <a:spcPct val="100000"/>
              </a:lnSpc>
              <a:spcBef>
                <a:spcPts val="1200"/>
              </a:spcBef>
              <a:buClr>
                <a:srgbClr val="973735"/>
              </a:buClr>
              <a:buSzPct val="50000"/>
              <a:buNone/>
              <a:defRPr/>
            </a:pPr>
            <a:r>
              <a:rPr lang="en-US" sz="2600" dirty="0"/>
              <a:t>4. Inclusion and participation</a:t>
            </a:r>
          </a:p>
          <a:p>
            <a:pPr marL="914400" lvl="2" indent="0" algn="just">
              <a:lnSpc>
                <a:spcPct val="100000"/>
              </a:lnSpc>
              <a:spcBef>
                <a:spcPts val="1200"/>
              </a:spcBef>
              <a:buClr>
                <a:srgbClr val="973735"/>
              </a:buClr>
              <a:buSzPct val="50000"/>
              <a:buFont typeface="Arial" panose="020B0604020202020204" pitchFamily="34" charset="0"/>
              <a:buNone/>
              <a:defRPr/>
            </a:pPr>
            <a:endParaRPr lang="en-US" sz="2600" dirty="0"/>
          </a:p>
        </p:txBody>
      </p:sp>
      <p:sp>
        <p:nvSpPr>
          <p:cNvPr id="5" name="Content Placeholder 3">
            <a:extLst>
              <a:ext uri="{FF2B5EF4-FFF2-40B4-BE49-F238E27FC236}">
                <a16:creationId xmlns:a16="http://schemas.microsoft.com/office/drawing/2014/main" id="{3329DD77-861B-2910-AE5D-351A2D67A4A9}"/>
              </a:ext>
            </a:extLst>
          </p:cNvPr>
          <p:cNvSpPr txBox="1">
            <a:spLocks/>
          </p:cNvSpPr>
          <p:nvPr/>
        </p:nvSpPr>
        <p:spPr>
          <a:xfrm>
            <a:off x="5681614" y="3448742"/>
            <a:ext cx="5835719" cy="22909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spcBef>
                <a:spcPts val="1200"/>
              </a:spcBef>
              <a:buClr>
                <a:srgbClr val="973735"/>
              </a:buClr>
              <a:buSzPct val="50000"/>
              <a:buFont typeface="Arial" panose="020B0604020202020204" pitchFamily="34" charset="0"/>
              <a:buNone/>
              <a:defRPr/>
            </a:pPr>
            <a:r>
              <a:rPr lang="en-US" sz="2600" dirty="0"/>
              <a:t>5. Operating model</a:t>
            </a:r>
          </a:p>
          <a:p>
            <a:pPr marL="914400" lvl="2" indent="0">
              <a:lnSpc>
                <a:spcPct val="100000"/>
              </a:lnSpc>
              <a:spcBef>
                <a:spcPts val="1200"/>
              </a:spcBef>
              <a:buClr>
                <a:srgbClr val="973735"/>
              </a:buClr>
              <a:buSzPct val="50000"/>
              <a:buFont typeface="Arial" panose="020B0604020202020204" pitchFamily="34" charset="0"/>
              <a:buNone/>
              <a:defRPr/>
            </a:pPr>
            <a:r>
              <a:rPr lang="en-US" sz="2600" dirty="0"/>
              <a:t>6. Structures and infrastructures</a:t>
            </a:r>
          </a:p>
          <a:p>
            <a:pPr marL="914400" lvl="2" indent="0">
              <a:lnSpc>
                <a:spcPct val="100000"/>
              </a:lnSpc>
              <a:spcBef>
                <a:spcPts val="1200"/>
              </a:spcBef>
              <a:buClr>
                <a:srgbClr val="973735"/>
              </a:buClr>
              <a:buSzPct val="50000"/>
              <a:buFont typeface="Arial" panose="020B0604020202020204" pitchFamily="34" charset="0"/>
              <a:buNone/>
              <a:defRPr/>
            </a:pPr>
            <a:r>
              <a:rPr lang="en-US" sz="2600" dirty="0"/>
              <a:t>7. Facilitation and social norm development</a:t>
            </a:r>
          </a:p>
          <a:p>
            <a:pPr marL="914400" lvl="2" indent="0">
              <a:lnSpc>
                <a:spcPct val="100000"/>
              </a:lnSpc>
              <a:spcBef>
                <a:spcPts val="1200"/>
              </a:spcBef>
              <a:buClr>
                <a:srgbClr val="973735"/>
              </a:buClr>
              <a:buSzPct val="50000"/>
              <a:buFont typeface="Arial" panose="020B0604020202020204" pitchFamily="34" charset="0"/>
              <a:buNone/>
              <a:defRPr/>
            </a:pPr>
            <a:r>
              <a:rPr lang="en-US" sz="2600" dirty="0"/>
              <a:t>8. Measurement, feedback, and incentives</a:t>
            </a:r>
          </a:p>
        </p:txBody>
      </p:sp>
    </p:spTree>
    <p:extLst>
      <p:ext uri="{BB962C8B-B14F-4D97-AF65-F5344CB8AC3E}">
        <p14:creationId xmlns:p14="http://schemas.microsoft.com/office/powerpoint/2010/main" val="201192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The term “community of practice” (CoP) is being replaced by the label “knowledge network” (KN). </a:t>
            </a:r>
          </a:p>
          <a:p>
            <a:pPr marL="342900" indent="-342900" algn="just">
              <a:lnSpc>
                <a:spcPct val="100000"/>
              </a:lnSpc>
              <a:spcBef>
                <a:spcPts val="1800"/>
              </a:spcBef>
              <a:buClr>
                <a:srgbClr val="973735"/>
              </a:buClr>
              <a:buSzPct val="50000"/>
              <a:buFont typeface="Wingdings" pitchFamily="2" charset="2"/>
              <a:buChar char="u"/>
              <a:defRPr/>
            </a:pPr>
            <a:r>
              <a:rPr lang="en-US" dirty="0"/>
              <a:t>Communities of Practice (CoPs) are working to strengthen public health as members learn, share expertise, and work together on solving common problems in their communities’ focus areas. </a:t>
            </a:r>
          </a:p>
          <a:p>
            <a:pPr marL="342900" indent="-342900" algn="just">
              <a:lnSpc>
                <a:spcPct val="100000"/>
              </a:lnSpc>
              <a:spcBef>
                <a:spcPts val="1800"/>
              </a:spcBef>
              <a:buClr>
                <a:srgbClr val="973735"/>
              </a:buClr>
              <a:buSzPct val="50000"/>
              <a:buFont typeface="Wingdings" pitchFamily="2" charset="2"/>
              <a:buChar char="u"/>
              <a:defRPr/>
            </a:pPr>
            <a:r>
              <a:rPr lang="en-US" dirty="0"/>
              <a:t>Social network analysis (SNA) is the mapping and measuring of relationships and flows between people, groups, organizations, computers, or other information/knowledge processing entities (Krebs, 2000). </a:t>
            </a:r>
          </a:p>
          <a:p>
            <a:pPr marL="342900" indent="-342900" algn="just">
              <a:lnSpc>
                <a:spcPct val="10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Knowledge Networks</a:t>
            </a:r>
          </a:p>
        </p:txBody>
      </p:sp>
    </p:spTree>
    <p:extLst>
      <p:ext uri="{BB962C8B-B14F-4D97-AF65-F5344CB8AC3E}">
        <p14:creationId xmlns:p14="http://schemas.microsoft.com/office/powerpoint/2010/main" val="245195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4" name="Content Placeholder 3"/>
          <p:cNvSpPr>
            <a:spLocks noGrp="1"/>
          </p:cNvSpPr>
          <p:nvPr>
            <p:ph sz="quarter" idx="1"/>
          </p:nvPr>
        </p:nvSpPr>
        <p:spPr>
          <a:xfrm>
            <a:off x="0" y="1664593"/>
            <a:ext cx="5054885" cy="4974332"/>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SNA can map and measure relationships and flows between people, groups, organizations, computers, or other information/knowledge processing entities.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graphicFrame>
        <p:nvGraphicFramePr>
          <p:cNvPr id="5" name="Object 4">
            <a:extLst>
              <a:ext uri="{FF2B5EF4-FFF2-40B4-BE49-F238E27FC236}">
                <a16:creationId xmlns:a16="http://schemas.microsoft.com/office/drawing/2014/main" id="{E5BC3164-8B44-45EF-234B-6251FD07B09D}"/>
              </a:ext>
            </a:extLst>
          </p:cNvPr>
          <p:cNvGraphicFramePr>
            <a:graphicFrameLocks noChangeAspect="1"/>
          </p:cNvGraphicFramePr>
          <p:nvPr>
            <p:extLst>
              <p:ext uri="{D42A27DB-BD31-4B8C-83A1-F6EECF244321}">
                <p14:modId xmlns:p14="http://schemas.microsoft.com/office/powerpoint/2010/main" val="87886710"/>
              </p:ext>
            </p:extLst>
          </p:nvPr>
        </p:nvGraphicFramePr>
        <p:xfrm>
          <a:off x="6438900" y="1664593"/>
          <a:ext cx="4800600" cy="3856037"/>
        </p:xfrm>
        <a:graphic>
          <a:graphicData uri="http://schemas.openxmlformats.org/presentationml/2006/ole">
            <mc:AlternateContent xmlns:mc="http://schemas.openxmlformats.org/markup-compatibility/2006">
              <mc:Choice xmlns:v="urn:schemas-microsoft-com:vml" Requires="v">
                <p:oleObj name="Bitmap Image" r:id="rId3" imgW="4800600" imgH="3855600" progId="PBrush">
                  <p:embed/>
                </p:oleObj>
              </mc:Choice>
              <mc:Fallback>
                <p:oleObj name="Bitmap Image" r:id="rId3" imgW="4800600" imgH="3855600" progId="PBrush">
                  <p:embed/>
                  <p:pic>
                    <p:nvPicPr>
                      <p:cNvPr id="0" name=""/>
                      <p:cNvPicPr/>
                      <p:nvPr/>
                    </p:nvPicPr>
                    <p:blipFill>
                      <a:blip r:embed="rId4"/>
                      <a:stretch>
                        <a:fillRect/>
                      </a:stretch>
                    </p:blipFill>
                    <p:spPr>
                      <a:xfrm>
                        <a:off x="6438900" y="1664593"/>
                        <a:ext cx="4800600" cy="385603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02CEEF7-E2D4-8516-E35D-ABB8F50D9C15}"/>
              </a:ext>
            </a:extLst>
          </p:cNvPr>
          <p:cNvGraphicFramePr>
            <a:graphicFrameLocks noChangeAspect="1"/>
          </p:cNvGraphicFramePr>
          <p:nvPr>
            <p:extLst>
              <p:ext uri="{D42A27DB-BD31-4B8C-83A1-F6EECF244321}">
                <p14:modId xmlns:p14="http://schemas.microsoft.com/office/powerpoint/2010/main" val="415029190"/>
              </p:ext>
            </p:extLst>
          </p:nvPr>
        </p:nvGraphicFramePr>
        <p:xfrm>
          <a:off x="6554646" y="5756012"/>
          <a:ext cx="4999037" cy="427037"/>
        </p:xfrm>
        <a:graphic>
          <a:graphicData uri="http://schemas.openxmlformats.org/presentationml/2006/ole">
            <mc:AlternateContent xmlns:mc="http://schemas.openxmlformats.org/markup-compatibility/2006">
              <mc:Choice xmlns:v="urn:schemas-microsoft-com:vml" Requires="v">
                <p:oleObj name="Bitmap Image" r:id="rId5" imgW="4998600" imgH="426600" progId="PBrush">
                  <p:embed/>
                </p:oleObj>
              </mc:Choice>
              <mc:Fallback>
                <p:oleObj name="Bitmap Image" r:id="rId5" imgW="4998600" imgH="426600" progId="PBrush">
                  <p:embed/>
                  <p:pic>
                    <p:nvPicPr>
                      <p:cNvPr id="0" name=""/>
                      <p:cNvPicPr/>
                      <p:nvPr/>
                    </p:nvPicPr>
                    <p:blipFill>
                      <a:blip r:embed="rId6"/>
                      <a:stretch>
                        <a:fillRect/>
                      </a:stretch>
                    </p:blipFill>
                    <p:spPr>
                      <a:xfrm>
                        <a:off x="6554646" y="5756012"/>
                        <a:ext cx="4999037" cy="427037"/>
                      </a:xfrm>
                      <a:prstGeom prst="rect">
                        <a:avLst/>
                      </a:prstGeom>
                    </p:spPr>
                  </p:pic>
                </p:oleObj>
              </mc:Fallback>
            </mc:AlternateContent>
          </a:graphicData>
        </a:graphic>
      </p:graphicFrame>
    </p:spTree>
    <p:extLst>
      <p:ext uri="{BB962C8B-B14F-4D97-AF65-F5344CB8AC3E}">
        <p14:creationId xmlns:p14="http://schemas.microsoft.com/office/powerpoint/2010/main" val="3399781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graphicFrame>
        <p:nvGraphicFramePr>
          <p:cNvPr id="2" name="Object 1">
            <a:extLst>
              <a:ext uri="{FF2B5EF4-FFF2-40B4-BE49-F238E27FC236}">
                <a16:creationId xmlns:a16="http://schemas.microsoft.com/office/drawing/2014/main" id="{C32C2659-38FA-5E71-43A2-804C7A3B8381}"/>
              </a:ext>
            </a:extLst>
          </p:cNvPr>
          <p:cNvGraphicFramePr>
            <a:graphicFrameLocks noChangeAspect="1"/>
          </p:cNvGraphicFramePr>
          <p:nvPr>
            <p:extLst>
              <p:ext uri="{D42A27DB-BD31-4B8C-83A1-F6EECF244321}">
                <p14:modId xmlns:p14="http://schemas.microsoft.com/office/powerpoint/2010/main" val="3284458137"/>
              </p:ext>
            </p:extLst>
          </p:nvPr>
        </p:nvGraphicFramePr>
        <p:xfrm>
          <a:off x="4952145" y="1335224"/>
          <a:ext cx="6165354" cy="5510600"/>
        </p:xfrm>
        <a:graphic>
          <a:graphicData uri="http://schemas.openxmlformats.org/presentationml/2006/ole">
            <mc:AlternateContent xmlns:mc="http://schemas.openxmlformats.org/markup-compatibility/2006">
              <mc:Choice xmlns:v="urn:schemas-microsoft-com:vml" Requires="v">
                <p:oleObj name="Bitmap Image" r:id="rId3" imgW="6606720" imgH="5905440" progId="PBrush">
                  <p:embed/>
                </p:oleObj>
              </mc:Choice>
              <mc:Fallback>
                <p:oleObj name="Bitmap Image" r:id="rId3" imgW="6606720" imgH="5905440" progId="PBrush">
                  <p:embed/>
                  <p:pic>
                    <p:nvPicPr>
                      <p:cNvPr id="0" name=""/>
                      <p:cNvPicPr/>
                      <p:nvPr/>
                    </p:nvPicPr>
                    <p:blipFill>
                      <a:blip r:embed="rId4"/>
                      <a:stretch>
                        <a:fillRect/>
                      </a:stretch>
                    </p:blipFill>
                    <p:spPr>
                      <a:xfrm>
                        <a:off x="4952145" y="1335224"/>
                        <a:ext cx="6165354" cy="55106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FEC66C59-2896-756C-48E0-F5F624D0BF1D}"/>
              </a:ext>
            </a:extLst>
          </p:cNvPr>
          <p:cNvGraphicFramePr>
            <a:graphicFrameLocks noChangeAspect="1"/>
          </p:cNvGraphicFramePr>
          <p:nvPr>
            <p:extLst>
              <p:ext uri="{D42A27DB-BD31-4B8C-83A1-F6EECF244321}">
                <p14:modId xmlns:p14="http://schemas.microsoft.com/office/powerpoint/2010/main" val="181492219"/>
              </p:ext>
            </p:extLst>
          </p:nvPr>
        </p:nvGraphicFramePr>
        <p:xfrm>
          <a:off x="625905" y="3429000"/>
          <a:ext cx="4203125" cy="562747"/>
        </p:xfrm>
        <a:graphic>
          <a:graphicData uri="http://schemas.openxmlformats.org/presentationml/2006/ole">
            <mc:AlternateContent xmlns:mc="http://schemas.openxmlformats.org/markup-compatibility/2006">
              <mc:Choice xmlns:v="urn:schemas-microsoft-com:vml" Requires="v">
                <p:oleObj name="Bitmap Image" r:id="rId5" imgW="3817800" imgH="510480" progId="PBrush">
                  <p:embed/>
                </p:oleObj>
              </mc:Choice>
              <mc:Fallback>
                <p:oleObj name="Bitmap Image" r:id="rId5" imgW="3817800" imgH="510480" progId="PBrush">
                  <p:embed/>
                  <p:pic>
                    <p:nvPicPr>
                      <p:cNvPr id="0" name=""/>
                      <p:cNvPicPr/>
                      <p:nvPr/>
                    </p:nvPicPr>
                    <p:blipFill>
                      <a:blip r:embed="rId6"/>
                      <a:stretch>
                        <a:fillRect/>
                      </a:stretch>
                    </p:blipFill>
                    <p:spPr>
                      <a:xfrm>
                        <a:off x="625905" y="3429000"/>
                        <a:ext cx="4203125" cy="562747"/>
                      </a:xfrm>
                      <a:prstGeom prst="rect">
                        <a:avLst/>
                      </a:prstGeom>
                    </p:spPr>
                  </p:pic>
                </p:oleObj>
              </mc:Fallback>
            </mc:AlternateContent>
          </a:graphicData>
        </a:graphic>
      </p:graphicFrame>
    </p:spTree>
    <p:extLst>
      <p:ext uri="{BB962C8B-B14F-4D97-AF65-F5344CB8AC3E}">
        <p14:creationId xmlns:p14="http://schemas.microsoft.com/office/powerpoint/2010/main" val="2108358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Key stages of the process will typically include:</a:t>
            </a:r>
          </a:p>
          <a:p>
            <a:pPr marL="800100" lvl="1" indent="-342900" algn="just">
              <a:lnSpc>
                <a:spcPct val="100000"/>
              </a:lnSpc>
              <a:spcBef>
                <a:spcPts val="2400"/>
              </a:spcBef>
              <a:buClr>
                <a:srgbClr val="973735"/>
              </a:buClr>
              <a:buSzPct val="50000"/>
              <a:buFont typeface="Wingdings" pitchFamily="2" charset="2"/>
              <a:buChar char="u"/>
              <a:defRPr/>
            </a:pPr>
            <a:r>
              <a:rPr lang="en-US" sz="2600" dirty="0"/>
              <a:t>Identifying the network of people to be analyzed (e.g., team, workgroup, department).</a:t>
            </a:r>
          </a:p>
          <a:p>
            <a:pPr marL="800100" lvl="1" indent="-342900" algn="just">
              <a:lnSpc>
                <a:spcPct val="100000"/>
              </a:lnSpc>
              <a:spcBef>
                <a:spcPts val="2400"/>
              </a:spcBef>
              <a:buClr>
                <a:srgbClr val="973735"/>
              </a:buClr>
              <a:buSzPct val="50000"/>
              <a:buFont typeface="Wingdings" pitchFamily="2" charset="2"/>
              <a:buChar char="u"/>
              <a:defRPr/>
            </a:pPr>
            <a:r>
              <a:rPr lang="en-US" sz="2600" dirty="0"/>
              <a:t>Clarifying objectives and formulating hypotheses and questions.</a:t>
            </a:r>
          </a:p>
          <a:p>
            <a:pPr marL="800100" lvl="1" indent="-342900" algn="just">
              <a:lnSpc>
                <a:spcPct val="100000"/>
              </a:lnSpc>
              <a:spcBef>
                <a:spcPts val="2400"/>
              </a:spcBef>
              <a:buClr>
                <a:srgbClr val="973735"/>
              </a:buClr>
              <a:buSzPct val="50000"/>
              <a:buFont typeface="Wingdings" pitchFamily="2" charset="2"/>
              <a:buChar char="u"/>
              <a:defRPr/>
            </a:pPr>
            <a:r>
              <a:rPr lang="en-US" sz="2600" dirty="0"/>
              <a:t>Developing the survey methodology and designing the questionnaire.</a:t>
            </a:r>
          </a:p>
          <a:p>
            <a:pPr marL="800100" lvl="1" indent="-342900" algn="just">
              <a:lnSpc>
                <a:spcPct val="100000"/>
              </a:lnSpc>
              <a:spcBef>
                <a:spcPts val="2400"/>
              </a:spcBef>
              <a:buClr>
                <a:srgbClr val="973735"/>
              </a:buClr>
              <a:buSzPct val="50000"/>
              <a:buFont typeface="Wingdings" pitchFamily="2" charset="2"/>
              <a:buChar char="u"/>
              <a:defRPr/>
            </a:pPr>
            <a:r>
              <a:rPr lang="en-US" sz="2600" dirty="0"/>
              <a:t>Surveying the individuals in the network to identify the relationships and knowledge flows between them.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spTree>
    <p:extLst>
      <p:ext uri="{BB962C8B-B14F-4D97-AF65-F5344CB8AC3E}">
        <p14:creationId xmlns:p14="http://schemas.microsoft.com/office/powerpoint/2010/main" val="144642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971176" cy="4707632"/>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Key stages of the process will typically include (</a:t>
            </a:r>
            <a:r>
              <a:rPr lang="en-US" dirty="0" err="1"/>
              <a:t>con’t</a:t>
            </a:r>
            <a:r>
              <a:rPr lang="en-US" dirty="0"/>
              <a:t>):</a:t>
            </a:r>
          </a:p>
          <a:p>
            <a:pPr marL="800100" lvl="1" indent="-342900" algn="just">
              <a:lnSpc>
                <a:spcPct val="100000"/>
              </a:lnSpc>
              <a:spcBef>
                <a:spcPts val="2400"/>
              </a:spcBef>
              <a:buClr>
                <a:srgbClr val="973735"/>
              </a:buClr>
              <a:buSzPct val="50000"/>
              <a:buFont typeface="Wingdings" pitchFamily="2" charset="2"/>
              <a:buChar char="u"/>
              <a:defRPr/>
            </a:pPr>
            <a:r>
              <a:rPr lang="en-US" sz="2600" dirty="0"/>
              <a:t>Using a software mapping tool to visually map out the network.</a:t>
            </a:r>
          </a:p>
          <a:p>
            <a:pPr marL="800100" lvl="1" indent="-342900" algn="just">
              <a:lnSpc>
                <a:spcPct val="100000"/>
              </a:lnSpc>
              <a:spcBef>
                <a:spcPts val="2400"/>
              </a:spcBef>
              <a:buClr>
                <a:srgbClr val="973735"/>
              </a:buClr>
              <a:buSzPct val="50000"/>
              <a:buFont typeface="Wingdings" pitchFamily="2" charset="2"/>
              <a:buChar char="u"/>
              <a:defRPr/>
            </a:pPr>
            <a:r>
              <a:rPr lang="en-US" sz="2600" dirty="0"/>
              <a:t>Analyzing the map and the problems and opportunities highlighted using interviews and/or workshops.</a:t>
            </a:r>
          </a:p>
          <a:p>
            <a:pPr marL="800100" lvl="1" indent="-342900" algn="just">
              <a:lnSpc>
                <a:spcPct val="100000"/>
              </a:lnSpc>
              <a:spcBef>
                <a:spcPts val="2400"/>
              </a:spcBef>
              <a:buClr>
                <a:srgbClr val="973735"/>
              </a:buClr>
              <a:buSzPct val="50000"/>
              <a:buFont typeface="Wingdings" pitchFamily="2" charset="2"/>
              <a:buChar char="u"/>
              <a:defRPr/>
            </a:pPr>
            <a:r>
              <a:rPr lang="en-US" sz="2600" dirty="0"/>
              <a:t>Designing and implementing actions to bring about desired changes.</a:t>
            </a:r>
          </a:p>
          <a:p>
            <a:pPr marL="800100" lvl="1" indent="-342900" algn="just">
              <a:lnSpc>
                <a:spcPct val="100000"/>
              </a:lnSpc>
              <a:spcBef>
                <a:spcPts val="2400"/>
              </a:spcBef>
              <a:buClr>
                <a:srgbClr val="973735"/>
              </a:buClr>
              <a:buSzPct val="50000"/>
              <a:buFont typeface="Wingdings" pitchFamily="2" charset="2"/>
              <a:buChar char="u"/>
              <a:defRPr/>
            </a:pPr>
            <a:r>
              <a:rPr lang="en-US" sz="2600" dirty="0"/>
              <a:t>Mapping the network again after a suitable period of time.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spTree>
    <p:extLst>
      <p:ext uri="{BB962C8B-B14F-4D97-AF65-F5344CB8AC3E}">
        <p14:creationId xmlns:p14="http://schemas.microsoft.com/office/powerpoint/2010/main" val="1412665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It is important to know what information you need to gather in order to build a relevant picture of your group or network.</a:t>
            </a:r>
          </a:p>
          <a:p>
            <a:pPr marL="342900" indent="-342900" algn="just">
              <a:lnSpc>
                <a:spcPct val="100000"/>
              </a:lnSpc>
              <a:spcBef>
                <a:spcPts val="2400"/>
              </a:spcBef>
              <a:buClr>
                <a:srgbClr val="973735"/>
              </a:buClr>
              <a:buSzPct val="50000"/>
              <a:buFont typeface="Wingdings" pitchFamily="2" charset="2"/>
              <a:buChar char="u"/>
              <a:defRPr/>
            </a:pPr>
            <a:r>
              <a:rPr lang="en-US" dirty="0"/>
              <a:t>Good survey design and questionnaire design are therefore key considerations.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spTree>
    <p:extLst>
      <p:ext uri="{BB962C8B-B14F-4D97-AF65-F5344CB8AC3E}">
        <p14:creationId xmlns:p14="http://schemas.microsoft.com/office/powerpoint/2010/main" val="1149609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763910" cy="4955282"/>
          </a:xfrm>
        </p:spPr>
        <p:txBody>
          <a:bodyPr>
            <a:normAutofit/>
          </a:bodyPr>
          <a:lstStyle/>
          <a:p>
            <a:pPr marL="0" indent="0" algn="just">
              <a:lnSpc>
                <a:spcPct val="100000"/>
              </a:lnSpc>
              <a:spcBef>
                <a:spcPts val="1800"/>
              </a:spcBef>
              <a:buClr>
                <a:srgbClr val="973735"/>
              </a:buClr>
              <a:buSzPct val="50000"/>
              <a:buNone/>
              <a:defRPr/>
            </a:pPr>
            <a:r>
              <a:rPr lang="en-US" sz="2600" b="1" dirty="0"/>
              <a:t>Questions will be typically based on factors such as:</a:t>
            </a:r>
          </a:p>
          <a:p>
            <a:pPr marL="342900" indent="-342900" algn="just">
              <a:lnSpc>
                <a:spcPct val="100000"/>
              </a:lnSpc>
              <a:spcBef>
                <a:spcPts val="1800"/>
              </a:spcBef>
              <a:buClr>
                <a:srgbClr val="973735"/>
              </a:buClr>
              <a:buSzPct val="50000"/>
              <a:buFont typeface="Wingdings" pitchFamily="2" charset="2"/>
              <a:buChar char="u"/>
              <a:defRPr/>
            </a:pPr>
            <a:r>
              <a:rPr lang="en-US" sz="2600" dirty="0"/>
              <a:t>Who knows who and how well?</a:t>
            </a:r>
          </a:p>
          <a:p>
            <a:pPr marL="342900" indent="-342900" algn="just">
              <a:lnSpc>
                <a:spcPct val="100000"/>
              </a:lnSpc>
              <a:spcBef>
                <a:spcPts val="1800"/>
              </a:spcBef>
              <a:buClr>
                <a:srgbClr val="973735"/>
              </a:buClr>
              <a:buSzPct val="50000"/>
              <a:buFont typeface="Wingdings" pitchFamily="2" charset="2"/>
              <a:buChar char="u"/>
              <a:defRPr/>
            </a:pPr>
            <a:r>
              <a:rPr lang="en-US" sz="2600" dirty="0"/>
              <a:t>How well do people know each other’s knowledge and skills?</a:t>
            </a:r>
          </a:p>
          <a:p>
            <a:pPr marL="342900" indent="-342900" algn="just">
              <a:lnSpc>
                <a:spcPct val="100000"/>
              </a:lnSpc>
              <a:spcBef>
                <a:spcPts val="1800"/>
              </a:spcBef>
              <a:buClr>
                <a:srgbClr val="973735"/>
              </a:buClr>
              <a:buSzPct val="50000"/>
              <a:buFont typeface="Wingdings" pitchFamily="2" charset="2"/>
              <a:buChar char="u"/>
              <a:defRPr/>
            </a:pPr>
            <a:r>
              <a:rPr lang="en-US" sz="2600" dirty="0"/>
              <a:t>Who or what gives people information about </a:t>
            </a:r>
            <a:r>
              <a:rPr lang="en-US" sz="2600" dirty="0" err="1"/>
              <a:t>xyz</a:t>
            </a:r>
            <a:r>
              <a:rPr lang="en-US" sz="2600" dirty="0"/>
              <a:t>?</a:t>
            </a:r>
          </a:p>
          <a:p>
            <a:pPr marL="342900" indent="-342900" algn="just">
              <a:lnSpc>
                <a:spcPct val="100000"/>
              </a:lnSpc>
              <a:spcBef>
                <a:spcPts val="1800"/>
              </a:spcBef>
              <a:buClr>
                <a:srgbClr val="973735"/>
              </a:buClr>
              <a:buSzPct val="50000"/>
              <a:buFont typeface="Wingdings" pitchFamily="2" charset="2"/>
              <a:buChar char="u"/>
              <a:defRPr/>
            </a:pPr>
            <a:r>
              <a:rPr lang="en-US" sz="2600" dirty="0"/>
              <a:t>What resources do people use to find information/feedback/ideas/advice about </a:t>
            </a:r>
            <a:r>
              <a:rPr lang="en-US" sz="2600" dirty="0" err="1"/>
              <a:t>xyz</a:t>
            </a:r>
            <a:r>
              <a:rPr lang="en-US" sz="2600" dirty="0"/>
              <a:t>?</a:t>
            </a:r>
          </a:p>
          <a:p>
            <a:pPr marL="342900" indent="-342900" algn="just">
              <a:lnSpc>
                <a:spcPct val="100000"/>
              </a:lnSpc>
              <a:spcBef>
                <a:spcPts val="1800"/>
              </a:spcBef>
              <a:buClr>
                <a:srgbClr val="973735"/>
              </a:buClr>
              <a:buSzPct val="50000"/>
              <a:buFont typeface="Wingdings" pitchFamily="2" charset="2"/>
              <a:buChar char="u"/>
              <a:defRPr/>
            </a:pPr>
            <a:r>
              <a:rPr lang="en-US" sz="2600" dirty="0"/>
              <a:t>What resources do people use to share information about </a:t>
            </a:r>
            <a:r>
              <a:rPr lang="en-US" sz="2600" dirty="0" err="1"/>
              <a:t>xyz</a:t>
            </a:r>
            <a:r>
              <a:rPr lang="en-US" sz="2600" dirty="0"/>
              <a: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Sociograms and Social Network Analysis</a:t>
            </a:r>
          </a:p>
        </p:txBody>
      </p:sp>
    </p:spTree>
    <p:extLst>
      <p:ext uri="{BB962C8B-B14F-4D97-AF65-F5344CB8AC3E}">
        <p14:creationId xmlns:p14="http://schemas.microsoft.com/office/powerpoint/2010/main" val="2352846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671443" cy="4255275"/>
          </a:xfrm>
        </p:spPr>
        <p:txBody>
          <a:bodyPr>
            <a:no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Although technology is a feature of some communities, technological means of interacting are not a necessary component of communities. Technology comes into play when members are more dispersed and when they have fewer occasions to meet face to face. The critical components of a community lie in the sharing of common work problems between members, a membership that sees the clear benefits of sharing knowledge among themselves and that has developed norms of trust, reciprocity, and cooperation.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Knowledge-Sharing Communities</a:t>
            </a:r>
          </a:p>
        </p:txBody>
      </p:sp>
    </p:spTree>
    <p:extLst>
      <p:ext uri="{BB962C8B-B14F-4D97-AF65-F5344CB8AC3E}">
        <p14:creationId xmlns:p14="http://schemas.microsoft.com/office/powerpoint/2010/main" val="1105735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1" y="1664593"/>
            <a:ext cx="5322014"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dirty="0"/>
              <a:t>All communities share some basic characteristics, regardless of the type of community. Wenger (1998) identifies these characteristics as joint enterprise, mutual engagement, and shared repertoire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351890" y="598675"/>
            <a:ext cx="10515600" cy="709226"/>
          </a:xfrm>
        </p:spPr>
        <p:txBody>
          <a:bodyPr>
            <a:normAutofit/>
          </a:bodyPr>
          <a:lstStyle/>
          <a:p>
            <a:r>
              <a:rPr lang="en-US" sz="4000" b="1" dirty="0"/>
              <a:t>Types of Communities</a:t>
            </a:r>
          </a:p>
        </p:txBody>
      </p:sp>
      <p:graphicFrame>
        <p:nvGraphicFramePr>
          <p:cNvPr id="5" name="Object 4">
            <a:extLst>
              <a:ext uri="{FF2B5EF4-FFF2-40B4-BE49-F238E27FC236}">
                <a16:creationId xmlns:a16="http://schemas.microsoft.com/office/drawing/2014/main" id="{8F885365-03D8-F916-1956-9C603730C26B}"/>
              </a:ext>
            </a:extLst>
          </p:cNvPr>
          <p:cNvGraphicFramePr>
            <a:graphicFrameLocks noChangeAspect="1"/>
          </p:cNvGraphicFramePr>
          <p:nvPr>
            <p:extLst>
              <p:ext uri="{D42A27DB-BD31-4B8C-83A1-F6EECF244321}">
                <p14:modId xmlns:p14="http://schemas.microsoft.com/office/powerpoint/2010/main" val="1593030388"/>
              </p:ext>
            </p:extLst>
          </p:nvPr>
        </p:nvGraphicFramePr>
        <p:xfrm>
          <a:off x="7468651" y="5664280"/>
          <a:ext cx="3717925" cy="511175"/>
        </p:xfrm>
        <a:graphic>
          <a:graphicData uri="http://schemas.openxmlformats.org/presentationml/2006/ole">
            <mc:AlternateContent xmlns:mc="http://schemas.openxmlformats.org/markup-compatibility/2006">
              <mc:Choice xmlns:v="urn:schemas-microsoft-com:vml" Requires="v">
                <p:oleObj name="Bitmap Image" r:id="rId3" imgW="3718440" imgH="510480" progId="PBrush">
                  <p:embed/>
                </p:oleObj>
              </mc:Choice>
              <mc:Fallback>
                <p:oleObj name="Bitmap Image" r:id="rId3" imgW="3718440" imgH="510480" progId="PBrush">
                  <p:embed/>
                  <p:pic>
                    <p:nvPicPr>
                      <p:cNvPr id="0" name=""/>
                      <p:cNvPicPr/>
                      <p:nvPr/>
                    </p:nvPicPr>
                    <p:blipFill>
                      <a:blip r:embed="rId4"/>
                      <a:stretch>
                        <a:fillRect/>
                      </a:stretch>
                    </p:blipFill>
                    <p:spPr>
                      <a:xfrm>
                        <a:off x="7468651" y="5664280"/>
                        <a:ext cx="3717925" cy="5111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D308741-98B4-3E82-9804-AFCDCDC99537}"/>
              </a:ext>
            </a:extLst>
          </p:cNvPr>
          <p:cNvGraphicFramePr>
            <a:graphicFrameLocks noChangeAspect="1"/>
          </p:cNvGraphicFramePr>
          <p:nvPr>
            <p:extLst>
              <p:ext uri="{D42A27DB-BD31-4B8C-83A1-F6EECF244321}">
                <p14:modId xmlns:p14="http://schemas.microsoft.com/office/powerpoint/2010/main" val="2700710237"/>
              </p:ext>
            </p:extLst>
          </p:nvPr>
        </p:nvGraphicFramePr>
        <p:xfrm>
          <a:off x="6650573" y="985472"/>
          <a:ext cx="5189537" cy="4373563"/>
        </p:xfrm>
        <a:graphic>
          <a:graphicData uri="http://schemas.openxmlformats.org/presentationml/2006/ole">
            <mc:AlternateContent xmlns:mc="http://schemas.openxmlformats.org/markup-compatibility/2006">
              <mc:Choice xmlns:v="urn:schemas-microsoft-com:vml" Requires="v">
                <p:oleObj name="Bitmap Image" r:id="rId5" imgW="5189400" imgH="4374000" progId="PBrush">
                  <p:embed/>
                </p:oleObj>
              </mc:Choice>
              <mc:Fallback>
                <p:oleObj name="Bitmap Image" r:id="rId5" imgW="5189400" imgH="4374000" progId="PBrush">
                  <p:embed/>
                  <p:pic>
                    <p:nvPicPr>
                      <p:cNvPr id="0" name=""/>
                      <p:cNvPicPr/>
                      <p:nvPr/>
                    </p:nvPicPr>
                    <p:blipFill>
                      <a:blip r:embed="rId6"/>
                      <a:stretch>
                        <a:fillRect/>
                      </a:stretch>
                    </p:blipFill>
                    <p:spPr>
                      <a:xfrm>
                        <a:off x="6650573" y="985472"/>
                        <a:ext cx="5189537" cy="4373563"/>
                      </a:xfrm>
                      <a:prstGeom prst="rect">
                        <a:avLst/>
                      </a:prstGeom>
                    </p:spPr>
                  </p:pic>
                </p:oleObj>
              </mc:Fallback>
            </mc:AlternateContent>
          </a:graphicData>
        </a:graphic>
      </p:graphicFrame>
    </p:spTree>
    <p:extLst>
      <p:ext uri="{BB962C8B-B14F-4D97-AF65-F5344CB8AC3E}">
        <p14:creationId xmlns:p14="http://schemas.microsoft.com/office/powerpoint/2010/main" val="53300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1" y="1664593"/>
            <a:ext cx="12061372" cy="4707178"/>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There are many types of CoPs, and they are typically defined as a function of some common focal points such as:</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profession such as engineering, law, or medicine.</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work-related function or process such as production, distribution, marketing, sales, and customer service.</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recurring, nagging problem situated in a process or function.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topic such as technology, knowledge retention, or innovation.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An industry such as automotive, banking, or healthcare.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Types of Communities</a:t>
            </a:r>
          </a:p>
        </p:txBody>
      </p:sp>
    </p:spTree>
    <p:extLst>
      <p:ext uri="{BB962C8B-B14F-4D97-AF65-F5344CB8AC3E}">
        <p14:creationId xmlns:p14="http://schemas.microsoft.com/office/powerpoint/2010/main" val="4227820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1" y="1664593"/>
            <a:ext cx="11872687" cy="4255275"/>
          </a:xfrm>
        </p:spPr>
        <p:txBody>
          <a:bodyPr>
            <a:normAutofit/>
          </a:bodyPr>
          <a:lstStyle/>
          <a:p>
            <a:pPr marL="0" indent="0" algn="just">
              <a:lnSpc>
                <a:spcPct val="150000"/>
              </a:lnSpc>
              <a:spcBef>
                <a:spcPts val="600"/>
              </a:spcBef>
              <a:buClr>
                <a:srgbClr val="973735"/>
              </a:buClr>
              <a:buSzPct val="50000"/>
              <a:buNone/>
              <a:defRPr/>
            </a:pPr>
            <a:r>
              <a:rPr lang="en-US" b="1" dirty="0">
                <a:solidFill>
                  <a:srgbClr val="ED7D31"/>
                </a:solidFill>
              </a:rPr>
              <a:t>Roles and Responsibilities in CoPs</a:t>
            </a:r>
          </a:p>
          <a:p>
            <a:pPr marL="0" indent="0" algn="just">
              <a:lnSpc>
                <a:spcPct val="100000"/>
              </a:lnSpc>
              <a:spcBef>
                <a:spcPts val="1800"/>
              </a:spcBef>
              <a:buClr>
                <a:srgbClr val="973735"/>
              </a:buClr>
              <a:buSzPct val="50000"/>
              <a:buNone/>
              <a:defRPr/>
            </a:pPr>
            <a:r>
              <a:rPr lang="en-US" sz="2600" dirty="0"/>
              <a:t>The major CoP roles include a champion, a sponsor, a facilitator, a practice leader, a knowledge service center or office (KSO), and members. </a:t>
            </a:r>
          </a:p>
          <a:p>
            <a:pPr marL="342900" indent="-342900" algn="just">
              <a:lnSpc>
                <a:spcPct val="100000"/>
              </a:lnSpc>
              <a:spcBef>
                <a:spcPts val="1800"/>
              </a:spcBef>
              <a:buClr>
                <a:srgbClr val="973735"/>
              </a:buClr>
              <a:buSzPct val="50000"/>
              <a:buFont typeface="Wingdings" pitchFamily="2" charset="2"/>
              <a:buChar char="u"/>
              <a:defRPr/>
            </a:pPr>
            <a:r>
              <a:rPr lang="en-US" sz="2600" b="1" dirty="0"/>
              <a:t>The champion </a:t>
            </a:r>
            <a:r>
              <a:rPr lang="en-US" sz="2600" dirty="0"/>
              <a:t>ensures support at the highest possible level, communicates the purpose, promotes the community, and ensures impact.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Types of Communities</a:t>
            </a:r>
          </a:p>
        </p:txBody>
      </p:sp>
    </p:spTree>
    <p:extLst>
      <p:ext uri="{BB962C8B-B14F-4D97-AF65-F5344CB8AC3E}">
        <p14:creationId xmlns:p14="http://schemas.microsoft.com/office/powerpoint/2010/main" val="1427445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1" y="1664593"/>
            <a:ext cx="11872687" cy="5260082"/>
          </a:xfrm>
        </p:spPr>
        <p:txBody>
          <a:bodyPr>
            <a:normAutofit/>
          </a:bodyPr>
          <a:lstStyle/>
          <a:p>
            <a:pPr marL="0" indent="0" algn="just">
              <a:lnSpc>
                <a:spcPct val="150000"/>
              </a:lnSpc>
              <a:spcBef>
                <a:spcPts val="600"/>
              </a:spcBef>
              <a:buClr>
                <a:srgbClr val="973735"/>
              </a:buClr>
              <a:buSzPct val="50000"/>
              <a:buNone/>
              <a:defRPr/>
            </a:pPr>
            <a:r>
              <a:rPr lang="en-US" b="1" dirty="0">
                <a:solidFill>
                  <a:srgbClr val="ED7D31"/>
                </a:solidFill>
              </a:rPr>
              <a:t>Roles and Responsibilities in CoPs (</a:t>
            </a:r>
            <a:r>
              <a:rPr lang="en-US" b="1" dirty="0" err="1">
                <a:solidFill>
                  <a:srgbClr val="ED7D31"/>
                </a:solidFill>
              </a:rPr>
              <a:t>con’t</a:t>
            </a:r>
            <a:r>
              <a:rPr lang="en-US" b="1" dirty="0">
                <a:solidFill>
                  <a:srgbClr val="ED7D31"/>
                </a:solidFill>
              </a:rPr>
              <a:t>)</a:t>
            </a:r>
          </a:p>
          <a:p>
            <a:pPr marL="342900" indent="-342900" algn="just">
              <a:lnSpc>
                <a:spcPct val="100000"/>
              </a:lnSpc>
              <a:spcBef>
                <a:spcPts val="1200"/>
              </a:spcBef>
              <a:buClr>
                <a:srgbClr val="973735"/>
              </a:buClr>
              <a:buSzPct val="50000"/>
              <a:buFont typeface="Wingdings" pitchFamily="2" charset="2"/>
              <a:buChar char="u"/>
              <a:defRPr/>
            </a:pPr>
            <a:r>
              <a:rPr lang="en-US" sz="2600" b="1" dirty="0"/>
              <a:t>The sponsor </a:t>
            </a:r>
            <a:r>
              <a:rPr lang="en-US" sz="2600" dirty="0"/>
              <a:t>serves as the bridge between the CoP and the rest of the formal organization, communicates the company’s support for a CoP, and may remove barriers such as time, funding, and other resources. The sponsor is instrumental in establishing the mission and expected outcomes for the community.</a:t>
            </a:r>
          </a:p>
          <a:p>
            <a:pPr marL="342900" indent="-342900" algn="just">
              <a:lnSpc>
                <a:spcPct val="100000"/>
              </a:lnSpc>
              <a:spcBef>
                <a:spcPts val="1200"/>
              </a:spcBef>
              <a:buClr>
                <a:srgbClr val="973735"/>
              </a:buClr>
              <a:buSzPct val="50000"/>
              <a:buFont typeface="Wingdings" pitchFamily="2" charset="2"/>
              <a:buChar char="u"/>
              <a:defRPr/>
            </a:pPr>
            <a:r>
              <a:rPr lang="en-US" sz="2600" b="1" dirty="0"/>
              <a:t>Community members </a:t>
            </a:r>
            <a:r>
              <a:rPr lang="en-US" sz="2600" dirty="0"/>
              <a:t>are recruited for their expertise relevant to the practice or strategic services. They are there to better share knowledge, know-how, and best practices that will benefit the business through active participation.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Types of Communities</a:t>
            </a:r>
          </a:p>
        </p:txBody>
      </p:sp>
    </p:spTree>
    <p:extLst>
      <p:ext uri="{BB962C8B-B14F-4D97-AF65-F5344CB8AC3E}">
        <p14:creationId xmlns:p14="http://schemas.microsoft.com/office/powerpoint/2010/main" val="3497276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1" y="1664593"/>
            <a:ext cx="11872687" cy="4255275"/>
          </a:xfrm>
        </p:spPr>
        <p:txBody>
          <a:bodyPr>
            <a:normAutofit/>
          </a:bodyPr>
          <a:lstStyle/>
          <a:p>
            <a:pPr marL="0" indent="0" algn="just">
              <a:lnSpc>
                <a:spcPct val="150000"/>
              </a:lnSpc>
              <a:spcBef>
                <a:spcPts val="600"/>
              </a:spcBef>
              <a:buClr>
                <a:srgbClr val="973735"/>
              </a:buClr>
              <a:buSzPct val="50000"/>
              <a:buNone/>
              <a:defRPr/>
            </a:pPr>
            <a:r>
              <a:rPr lang="en-US" b="1" dirty="0">
                <a:solidFill>
                  <a:srgbClr val="ED7D31"/>
                </a:solidFill>
              </a:rPr>
              <a:t>Roles and Responsibilities in CoPs (</a:t>
            </a:r>
            <a:r>
              <a:rPr lang="en-US" b="1" dirty="0" err="1">
                <a:solidFill>
                  <a:srgbClr val="ED7D31"/>
                </a:solidFill>
              </a:rPr>
              <a:t>con’t</a:t>
            </a:r>
            <a:r>
              <a:rPr lang="en-US" b="1" dirty="0">
                <a:solidFill>
                  <a:srgbClr val="ED7D31"/>
                </a:solidFill>
              </a:rPr>
              <a:t>)</a:t>
            </a:r>
          </a:p>
          <a:p>
            <a:pPr marL="342900" indent="-342900" algn="just">
              <a:lnSpc>
                <a:spcPct val="100000"/>
              </a:lnSpc>
              <a:spcBef>
                <a:spcPts val="2400"/>
              </a:spcBef>
              <a:buClr>
                <a:srgbClr val="973735"/>
              </a:buClr>
              <a:buSzPct val="50000"/>
              <a:buFont typeface="Wingdings" pitchFamily="2" charset="2"/>
              <a:buChar char="u"/>
              <a:defRPr/>
            </a:pPr>
            <a:r>
              <a:rPr lang="en-US" sz="2600" dirty="0"/>
              <a:t>CoP facilitators have perhaps the most demanding role.</a:t>
            </a:r>
          </a:p>
          <a:p>
            <a:pPr marL="342900" indent="-342900" algn="just">
              <a:lnSpc>
                <a:spcPct val="100000"/>
              </a:lnSpc>
              <a:spcBef>
                <a:spcPts val="2400"/>
              </a:spcBef>
              <a:buClr>
                <a:srgbClr val="973735"/>
              </a:buClr>
              <a:buSzPct val="50000"/>
              <a:buFont typeface="Wingdings" pitchFamily="2" charset="2"/>
              <a:buChar char="u"/>
              <a:defRPr/>
            </a:pPr>
            <a:r>
              <a:rPr lang="en-US" sz="2600" dirty="0"/>
              <a:t>CoP knowledge services are information/knowledge integrators who serve to interface with all CoPs to ensure clarity and lack of duplication of the information disseminated within and from the CoPs.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Types of Communities</a:t>
            </a:r>
          </a:p>
        </p:txBody>
      </p:sp>
    </p:spTree>
    <p:extLst>
      <p:ext uri="{BB962C8B-B14F-4D97-AF65-F5344CB8AC3E}">
        <p14:creationId xmlns:p14="http://schemas.microsoft.com/office/powerpoint/2010/main" val="1287194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609798"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A number of obstacles can hinder knowledge sharing within organizations.</a:t>
            </a:r>
          </a:p>
          <a:p>
            <a:pPr marL="342900" indent="-342900" algn="just">
              <a:lnSpc>
                <a:spcPct val="100000"/>
              </a:lnSpc>
              <a:spcBef>
                <a:spcPts val="2400"/>
              </a:spcBef>
              <a:buClr>
                <a:srgbClr val="973735"/>
              </a:buClr>
              <a:buSzPct val="50000"/>
              <a:buFont typeface="Wingdings" pitchFamily="2" charset="2"/>
              <a:buChar char="u"/>
              <a:defRPr/>
            </a:pPr>
            <a:r>
              <a:rPr lang="en-US" sz="2600" dirty="0"/>
              <a:t>Chief among these obstacles is the notion that knowledge is property and ownership is very important. One of the best ways to counteract this notion is to reassure individuals that authorship and attribution will be maintained. In other words, they will not lose the credit for a knowledge product they created. Maintaining the connection between knowledge and the people who are knowledgeable about it is paramount in any knowledge management system.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Obstacles to Knowledge Sharing</a:t>
            </a:r>
          </a:p>
        </p:txBody>
      </p:sp>
    </p:spTree>
    <p:extLst>
      <p:ext uri="{BB962C8B-B14F-4D97-AF65-F5344CB8AC3E}">
        <p14:creationId xmlns:p14="http://schemas.microsoft.com/office/powerpoint/2010/main" val="351875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825555" cy="4255275"/>
          </a:xfrm>
        </p:spPr>
        <p:txBody>
          <a:bodyPr>
            <a:normAutofit/>
          </a:bodyPr>
          <a:lstStyle/>
          <a:p>
            <a:pPr marL="0" indent="0" algn="just">
              <a:lnSpc>
                <a:spcPct val="110000"/>
              </a:lnSpc>
              <a:spcBef>
                <a:spcPts val="1800"/>
              </a:spcBef>
              <a:buClr>
                <a:srgbClr val="973735"/>
              </a:buClr>
              <a:buSzPct val="50000"/>
              <a:buNone/>
              <a:defRPr/>
            </a:pPr>
            <a:r>
              <a:rPr lang="en-US" sz="2600" dirty="0"/>
              <a:t>There is a prevalent notion of knowledge as power. The more that information is shared between individuals, the more opportunities for knowledge creation occur.</a:t>
            </a:r>
          </a:p>
          <a:p>
            <a:pPr marL="0" indent="0" algn="just">
              <a:lnSpc>
                <a:spcPct val="110000"/>
              </a:lnSpc>
              <a:spcBef>
                <a:spcPts val="1800"/>
              </a:spcBef>
              <a:buClr>
                <a:srgbClr val="973735"/>
              </a:buClr>
              <a:buSzPct val="50000"/>
              <a:buNone/>
              <a:defRPr/>
            </a:pPr>
            <a:r>
              <a:rPr lang="en-US" b="1" dirty="0">
                <a:solidFill>
                  <a:srgbClr val="ED7D31"/>
                </a:solidFill>
              </a:rPr>
              <a:t>The Undernet</a:t>
            </a:r>
          </a:p>
          <a:p>
            <a:pPr marL="342900" indent="-342900" algn="just">
              <a:lnSpc>
                <a:spcPct val="110000"/>
              </a:lnSpc>
              <a:spcBef>
                <a:spcPts val="1800"/>
              </a:spcBef>
              <a:buClr>
                <a:srgbClr val="973735"/>
              </a:buClr>
              <a:buSzPct val="50000"/>
              <a:buFont typeface="Wingdings" pitchFamily="2" charset="2"/>
              <a:buChar char="u"/>
              <a:defRPr/>
            </a:pPr>
            <a:r>
              <a:rPr lang="en-US" sz="2600" dirty="0"/>
              <a:t>The </a:t>
            </a:r>
            <a:r>
              <a:rPr lang="en-US" sz="2600" dirty="0" err="1"/>
              <a:t>undernet</a:t>
            </a:r>
            <a:r>
              <a:rPr lang="en-US" sz="2600" dirty="0"/>
              <a:t> is often referred to as KM’s dirty little secret: however much you invest in high-tech knowledge banks, employees in search of an answer tend to make their first port of call the folks they know from the water cooler.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Obstacles to Knowledge Sharing</a:t>
            </a:r>
          </a:p>
        </p:txBody>
      </p:sp>
    </p:spTree>
    <p:extLst>
      <p:ext uri="{BB962C8B-B14F-4D97-AF65-F5344CB8AC3E}">
        <p14:creationId xmlns:p14="http://schemas.microsoft.com/office/powerpoint/2010/main" val="1285829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sz="2600" b="1" dirty="0"/>
          </a:p>
          <a:p>
            <a:pPr marL="342900" indent="-342900" algn="just">
              <a:lnSpc>
                <a:spcPct val="100000"/>
              </a:lnSpc>
              <a:spcBef>
                <a:spcPts val="2400"/>
              </a:spcBef>
              <a:buClr>
                <a:srgbClr val="973735"/>
              </a:buClr>
              <a:buSzPct val="50000"/>
              <a:buFont typeface="Wingdings" pitchFamily="2" charset="2"/>
              <a:buChar char="u"/>
              <a:defRPr/>
            </a:pPr>
            <a:r>
              <a:rPr lang="en-US" sz="2600" b="1" dirty="0"/>
              <a:t>Human capital </a:t>
            </a:r>
            <a:r>
              <a:rPr lang="en-US" sz="2600" dirty="0"/>
              <a:t>refers to a person’s education, skills, and background necessary to be productive in an organization or profession.</a:t>
            </a:r>
          </a:p>
          <a:p>
            <a:pPr marL="342900" indent="-342900" algn="just">
              <a:lnSpc>
                <a:spcPct val="100000"/>
              </a:lnSpc>
              <a:spcBef>
                <a:spcPts val="2400"/>
              </a:spcBef>
              <a:buClr>
                <a:srgbClr val="973735"/>
              </a:buClr>
              <a:buSzPct val="50000"/>
              <a:buFont typeface="Wingdings" pitchFamily="2" charset="2"/>
              <a:buChar char="u"/>
              <a:defRPr/>
            </a:pPr>
            <a:r>
              <a:rPr lang="en-US" sz="2600" b="1" dirty="0"/>
              <a:t>Social capital </a:t>
            </a:r>
            <a:r>
              <a:rPr lang="en-US" sz="2600" dirty="0"/>
              <a:t>has been coined to refer to the institutions, relationships, and norms that shape the quality and quantity of an organization’s social interactions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 and Social Capital</a:t>
            </a:r>
          </a:p>
        </p:txBody>
      </p:sp>
    </p:spTree>
    <p:extLst>
      <p:ext uri="{BB962C8B-B14F-4D97-AF65-F5344CB8AC3E}">
        <p14:creationId xmlns:p14="http://schemas.microsoft.com/office/powerpoint/2010/main" val="565350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0" indent="0" algn="just">
              <a:lnSpc>
                <a:spcPct val="120000"/>
              </a:lnSpc>
              <a:spcBef>
                <a:spcPts val="1200"/>
              </a:spcBef>
              <a:buClr>
                <a:srgbClr val="973735"/>
              </a:buClr>
              <a:buSzPct val="50000"/>
              <a:buNone/>
              <a:defRPr/>
            </a:pPr>
            <a:r>
              <a:rPr lang="en-US" b="1" dirty="0">
                <a:solidFill>
                  <a:srgbClr val="ED7D31"/>
                </a:solidFill>
              </a:rPr>
              <a:t>Measuring the Value of Social Capital</a:t>
            </a:r>
          </a:p>
          <a:p>
            <a:pPr marL="0" indent="0" algn="just">
              <a:lnSpc>
                <a:spcPct val="100000"/>
              </a:lnSpc>
              <a:spcBef>
                <a:spcPts val="1200"/>
              </a:spcBef>
              <a:buClr>
                <a:srgbClr val="973735"/>
              </a:buClr>
              <a:buSzPct val="50000"/>
              <a:buNone/>
              <a:defRPr/>
            </a:pPr>
            <a:r>
              <a:rPr lang="en-US" sz="2600" dirty="0"/>
              <a:t>Organizations have begun to implement a large number of communities of practice in hopes of achieving such benefits as:</a:t>
            </a:r>
          </a:p>
          <a:p>
            <a:pPr marL="342900" indent="-342900" algn="just">
              <a:lnSpc>
                <a:spcPct val="100000"/>
              </a:lnSpc>
              <a:spcBef>
                <a:spcPts val="1200"/>
              </a:spcBef>
              <a:buClr>
                <a:srgbClr val="973735"/>
              </a:buClr>
              <a:buSzPct val="50000"/>
              <a:buFont typeface="Wingdings" pitchFamily="2" charset="2"/>
              <a:buChar char="u"/>
              <a:defRPr/>
            </a:pPr>
            <a:r>
              <a:rPr lang="en-US" sz="2600" dirty="0"/>
              <a:t>Building loyalty and commitment among stakeholders.</a:t>
            </a:r>
          </a:p>
          <a:p>
            <a:pPr marL="342900" indent="-342900" algn="just">
              <a:lnSpc>
                <a:spcPct val="100000"/>
              </a:lnSpc>
              <a:spcBef>
                <a:spcPts val="1200"/>
              </a:spcBef>
              <a:buClr>
                <a:srgbClr val="973735"/>
              </a:buClr>
              <a:buSzPct val="50000"/>
              <a:buFont typeface="Wingdings" pitchFamily="2" charset="2"/>
              <a:buChar char="u"/>
              <a:defRPr/>
            </a:pPr>
            <a:r>
              <a:rPr lang="en-US" sz="2600" dirty="0"/>
              <a:t>Promoting innovation through better sharing of best practices.</a:t>
            </a:r>
          </a:p>
          <a:p>
            <a:pPr marL="342900" indent="-342900" algn="just">
              <a:lnSpc>
                <a:spcPct val="100000"/>
              </a:lnSpc>
              <a:spcBef>
                <a:spcPts val="1200"/>
              </a:spcBef>
              <a:buClr>
                <a:srgbClr val="973735"/>
              </a:buClr>
              <a:buSzPct val="50000"/>
              <a:buFont typeface="Wingdings" pitchFamily="2" charset="2"/>
              <a:buChar char="u"/>
              <a:defRPr/>
            </a:pPr>
            <a:r>
              <a:rPr lang="en-US" sz="2600" dirty="0"/>
              <a:t>Improving efficiency of processes.</a:t>
            </a:r>
          </a:p>
          <a:p>
            <a:pPr marL="342900" indent="-342900" algn="just">
              <a:lnSpc>
                <a:spcPct val="100000"/>
              </a:lnSpc>
              <a:spcBef>
                <a:spcPts val="1200"/>
              </a:spcBef>
              <a:buClr>
                <a:srgbClr val="973735"/>
              </a:buClr>
              <a:buSzPct val="50000"/>
              <a:buFont typeface="Wingdings" pitchFamily="2" charset="2"/>
              <a:buChar char="u"/>
              <a:defRPr/>
            </a:pPr>
            <a:r>
              <a:rPr lang="en-US" sz="2600" dirty="0"/>
              <a:t>Generating greater revenue and revenue growth.</a:t>
            </a:r>
          </a:p>
          <a:p>
            <a:pPr marL="342900" indent="-342900" algn="just">
              <a:lnSpc>
                <a:spcPct val="100000"/>
              </a:lnSpc>
              <a:spcBef>
                <a:spcPts val="1200"/>
              </a:spcBef>
              <a:buClr>
                <a:srgbClr val="973735"/>
              </a:buClr>
              <a:buSzPct val="50000"/>
              <a:buFont typeface="Wingdings" pitchFamily="2" charset="2"/>
              <a:buChar char="u"/>
              <a:defRPr/>
            </a:pPr>
            <a:r>
              <a:rPr lang="en-US" sz="2600" dirty="0"/>
              <a:t>Decreasing employee turnover and attrition.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Organizational Learning and Social Capital</a:t>
            </a:r>
          </a:p>
        </p:txBody>
      </p:sp>
    </p:spTree>
    <p:extLst>
      <p:ext uri="{BB962C8B-B14F-4D97-AF65-F5344CB8AC3E}">
        <p14:creationId xmlns:p14="http://schemas.microsoft.com/office/powerpoint/2010/main" val="2879990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0" indent="0" algn="just">
              <a:lnSpc>
                <a:spcPct val="100000"/>
              </a:lnSpc>
              <a:spcBef>
                <a:spcPts val="1800"/>
              </a:spcBef>
              <a:buClr>
                <a:srgbClr val="973735"/>
              </a:buClr>
              <a:buSzPct val="50000"/>
              <a:buNone/>
              <a:defRPr/>
            </a:pPr>
            <a:r>
              <a:rPr lang="en-US" sz="2600" dirty="0"/>
              <a:t>Some of the strategically important benefits of knowledge sharing include:</a:t>
            </a:r>
          </a:p>
          <a:p>
            <a:pPr marL="342900" indent="-342900" algn="just">
              <a:lnSpc>
                <a:spcPct val="100000"/>
              </a:lnSpc>
              <a:spcBef>
                <a:spcPts val="1800"/>
              </a:spcBef>
              <a:buClr>
                <a:srgbClr val="973735"/>
              </a:buClr>
              <a:buSzPct val="50000"/>
              <a:buFont typeface="Wingdings" pitchFamily="2" charset="2"/>
              <a:buChar char="u"/>
              <a:defRPr/>
            </a:pPr>
            <a:r>
              <a:rPr lang="en-US" sz="2600" dirty="0"/>
              <a:t>Connecting professionals across platforms, across distances.</a:t>
            </a:r>
          </a:p>
          <a:p>
            <a:pPr marL="342900" indent="-342900" algn="just">
              <a:lnSpc>
                <a:spcPct val="100000"/>
              </a:lnSpc>
              <a:spcBef>
                <a:spcPts val="1800"/>
              </a:spcBef>
              <a:buClr>
                <a:srgbClr val="973735"/>
              </a:buClr>
              <a:buSzPct val="50000"/>
              <a:buFont typeface="Wingdings" pitchFamily="2" charset="2"/>
              <a:buChar char="u"/>
              <a:defRPr/>
            </a:pPr>
            <a:r>
              <a:rPr lang="en-US" sz="2600" dirty="0"/>
              <a:t>Standardizing professional practices.</a:t>
            </a:r>
          </a:p>
          <a:p>
            <a:pPr marL="342900" indent="-342900" algn="just">
              <a:lnSpc>
                <a:spcPct val="100000"/>
              </a:lnSpc>
              <a:spcBef>
                <a:spcPts val="1800"/>
              </a:spcBef>
              <a:buClr>
                <a:srgbClr val="973735"/>
              </a:buClr>
              <a:buSzPct val="50000"/>
              <a:buFont typeface="Wingdings" pitchFamily="2" charset="2"/>
              <a:buChar char="u"/>
              <a:defRPr/>
            </a:pPr>
            <a:r>
              <a:rPr lang="en-US" sz="2600" dirty="0"/>
              <a:t>Avoiding mistakes.</a:t>
            </a:r>
          </a:p>
          <a:p>
            <a:pPr marL="342900" indent="-342900" algn="just">
              <a:lnSpc>
                <a:spcPct val="100000"/>
              </a:lnSpc>
              <a:spcBef>
                <a:spcPts val="1800"/>
              </a:spcBef>
              <a:buClr>
                <a:srgbClr val="973735"/>
              </a:buClr>
              <a:buSzPct val="50000"/>
              <a:buFont typeface="Wingdings" pitchFamily="2" charset="2"/>
              <a:buChar char="u"/>
              <a:defRPr/>
            </a:pPr>
            <a:r>
              <a:rPr lang="en-US" sz="2600" dirty="0"/>
              <a:t>Leveraging best practices.</a:t>
            </a:r>
          </a:p>
          <a:p>
            <a:pPr marL="342900" indent="-342900" algn="just">
              <a:lnSpc>
                <a:spcPct val="100000"/>
              </a:lnSpc>
              <a:spcBef>
                <a:spcPts val="1800"/>
              </a:spcBef>
              <a:buClr>
                <a:srgbClr val="973735"/>
              </a:buClr>
              <a:buSzPct val="50000"/>
              <a:buFont typeface="Wingdings" pitchFamily="2" charset="2"/>
              <a:buChar char="u"/>
              <a:defRPr/>
            </a:pPr>
            <a:r>
              <a:rPr lang="en-US" sz="2600" dirty="0"/>
              <a:t>Reducing time to talent.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Strategic Implications of Knowledge Sharing</a:t>
            </a:r>
          </a:p>
        </p:txBody>
      </p:sp>
      <p:sp>
        <p:nvSpPr>
          <p:cNvPr id="2" name="Content Placeholder 3">
            <a:extLst>
              <a:ext uri="{FF2B5EF4-FFF2-40B4-BE49-F238E27FC236}">
                <a16:creationId xmlns:a16="http://schemas.microsoft.com/office/drawing/2014/main" id="{64466937-C643-7DCF-29B0-D38F23A17FEB}"/>
              </a:ext>
            </a:extLst>
          </p:cNvPr>
          <p:cNvSpPr txBox="1">
            <a:spLocks/>
          </p:cNvSpPr>
          <p:nvPr/>
        </p:nvSpPr>
        <p:spPr>
          <a:xfrm>
            <a:off x="6426946" y="3538503"/>
            <a:ext cx="5059561" cy="42550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1800"/>
              </a:spcBef>
              <a:buClr>
                <a:srgbClr val="973735"/>
              </a:buClr>
              <a:buSzPct val="50000"/>
              <a:buFont typeface="Wingdings" pitchFamily="2" charset="2"/>
              <a:buChar char="u"/>
              <a:defRPr/>
            </a:pPr>
            <a:r>
              <a:rPr lang="en-US" sz="2600" dirty="0"/>
              <a:t>Reducing time to talent.</a:t>
            </a:r>
          </a:p>
          <a:p>
            <a:pPr marL="342900" indent="-342900" algn="just">
              <a:lnSpc>
                <a:spcPct val="100000"/>
              </a:lnSpc>
              <a:spcBef>
                <a:spcPts val="1800"/>
              </a:spcBef>
              <a:buClr>
                <a:srgbClr val="973735"/>
              </a:buClr>
              <a:buSzPct val="50000"/>
              <a:buFont typeface="Wingdings" pitchFamily="2" charset="2"/>
              <a:buChar char="u"/>
              <a:defRPr/>
            </a:pPr>
            <a:r>
              <a:rPr lang="en-US" sz="2600" dirty="0"/>
              <a:t>Building reputation.</a:t>
            </a:r>
          </a:p>
          <a:p>
            <a:pPr marL="342900" indent="-342900" algn="just">
              <a:lnSpc>
                <a:spcPct val="100000"/>
              </a:lnSpc>
              <a:spcBef>
                <a:spcPts val="1800"/>
              </a:spcBef>
              <a:buClr>
                <a:srgbClr val="973735"/>
              </a:buClr>
              <a:buSzPct val="50000"/>
              <a:buFont typeface="Wingdings" pitchFamily="2" charset="2"/>
              <a:buChar char="u"/>
              <a:defRPr/>
            </a:pPr>
            <a:r>
              <a:rPr lang="en-US" sz="2600" dirty="0"/>
              <a:t>Taking on stewardship for strategic capabilities.</a:t>
            </a:r>
          </a:p>
        </p:txBody>
      </p:sp>
    </p:spTree>
    <p:extLst>
      <p:ext uri="{BB962C8B-B14F-4D97-AF65-F5344CB8AC3E}">
        <p14:creationId xmlns:p14="http://schemas.microsoft.com/office/powerpoint/2010/main" val="2949497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701040" y="1664593"/>
            <a:ext cx="10317480" cy="4255275"/>
          </a:xfrm>
        </p:spPr>
        <p:txBody>
          <a:bodyPr>
            <a:normAutofit/>
          </a:bodyPr>
          <a:lstStyle/>
          <a:p>
            <a:pPr marL="0" indent="0" algn="just">
              <a:lnSpc>
                <a:spcPct val="100000"/>
              </a:lnSpc>
              <a:spcBef>
                <a:spcPts val="1200"/>
              </a:spcBef>
              <a:buClr>
                <a:srgbClr val="973735"/>
              </a:buClr>
              <a:buSzPct val="50000"/>
              <a:buNone/>
              <a:defRPr/>
            </a:pPr>
            <a:endParaRPr lang="en-US" sz="2600" dirty="0"/>
          </a:p>
          <a:p>
            <a:pPr marL="0" indent="0" algn="just">
              <a:lnSpc>
                <a:spcPct val="100000"/>
              </a:lnSpc>
              <a:spcBef>
                <a:spcPts val="1200"/>
              </a:spcBef>
              <a:buClr>
                <a:srgbClr val="973735"/>
              </a:buClr>
              <a:buSzPct val="50000"/>
              <a:buNone/>
              <a:defRPr/>
            </a:pPr>
            <a:endParaRPr lang="en-US" sz="2600" dirty="0"/>
          </a:p>
          <a:p>
            <a:pPr marL="0" indent="0" algn="just">
              <a:lnSpc>
                <a:spcPct val="100000"/>
              </a:lnSpc>
              <a:spcBef>
                <a:spcPts val="1200"/>
              </a:spcBef>
              <a:buClr>
                <a:srgbClr val="973735"/>
              </a:buClr>
              <a:buSzPct val="50000"/>
              <a:buNone/>
              <a:defRPr/>
            </a:pPr>
            <a:r>
              <a:rPr lang="en-US" sz="2600" dirty="0"/>
              <a:t>It is important that knowledge-sharing interactions be maintained at a professional level at all times and that all members of a virtual network be aware of and agree to adhere to a professional code of ethics, both online and offline.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Practical Implications of Knowledge Sharing</a:t>
            </a:r>
          </a:p>
        </p:txBody>
      </p:sp>
    </p:spTree>
    <p:extLst>
      <p:ext uri="{BB962C8B-B14F-4D97-AF65-F5344CB8AC3E}">
        <p14:creationId xmlns:p14="http://schemas.microsoft.com/office/powerpoint/2010/main" val="1824928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971176" cy="498278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Describe the key components of a community of practice. The major differences between a team, a knowledge network, and a community of practice.</a:t>
            </a:r>
          </a:p>
          <a:p>
            <a:pPr marL="342900" indent="-342900" algn="just">
              <a:lnSpc>
                <a:spcPct val="100000"/>
              </a:lnSpc>
              <a:spcBef>
                <a:spcPts val="1800"/>
              </a:spcBef>
              <a:buClr>
                <a:srgbClr val="973735"/>
              </a:buClr>
              <a:buSzPct val="50000"/>
              <a:buFont typeface="Wingdings" pitchFamily="2" charset="2"/>
              <a:buChar char="u"/>
              <a:defRPr/>
            </a:pPr>
            <a:r>
              <a:rPr lang="en-US" sz="2600" dirty="0"/>
              <a:t>Outline the major phases in the life cycle of a community and the corresponding information and knowledge management needs for each.</a:t>
            </a:r>
          </a:p>
          <a:p>
            <a:pPr marL="342900" indent="-342900" algn="just">
              <a:lnSpc>
                <a:spcPct val="100000"/>
              </a:lnSpc>
              <a:spcBef>
                <a:spcPts val="1800"/>
              </a:spcBef>
              <a:buClr>
                <a:srgbClr val="973735"/>
              </a:buClr>
              <a:buSzPct val="50000"/>
              <a:buFont typeface="Wingdings" pitchFamily="2" charset="2"/>
              <a:buChar char="u"/>
              <a:defRPr/>
            </a:pPr>
            <a:r>
              <a:rPr lang="en-US" sz="2600" dirty="0"/>
              <a:t>Define the major roles and responsibilities in a community of practice.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982787"/>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Characterize knowledge sharing channels with respect to the dimensions of social presence and media richness.</a:t>
            </a:r>
          </a:p>
          <a:p>
            <a:pPr marL="342900" indent="-342900" algn="just">
              <a:lnSpc>
                <a:spcPct val="100000"/>
              </a:lnSpc>
              <a:spcBef>
                <a:spcPts val="1800"/>
              </a:spcBef>
              <a:buClr>
                <a:srgbClr val="973735"/>
              </a:buClr>
              <a:buSzPct val="50000"/>
              <a:buFont typeface="Wingdings" pitchFamily="2" charset="2"/>
              <a:buChar char="u"/>
              <a:defRPr/>
            </a:pPr>
            <a:r>
              <a:rPr lang="en-US" sz="2600" dirty="0"/>
              <a:t>Analyze the flow of knowledge in a community of practice using appropriate tools and techniques to identify enablers and obstacles to knowledge sharing.</a:t>
            </a:r>
          </a:p>
          <a:p>
            <a:pPr marL="342900" indent="-342900" algn="just">
              <a:lnSpc>
                <a:spcPct val="100000"/>
              </a:lnSpc>
              <a:spcBef>
                <a:spcPts val="1800"/>
              </a:spcBef>
              <a:buClr>
                <a:srgbClr val="973735"/>
              </a:buClr>
              <a:buSzPct val="50000"/>
              <a:buFont typeface="Wingdings" pitchFamily="2" charset="2"/>
              <a:buChar char="u"/>
              <a:defRPr/>
            </a:pPr>
            <a:r>
              <a:rPr lang="en-US" sz="2600" dirty="0"/>
              <a:t>Tools and technologies are used in collaboration.</a:t>
            </a:r>
          </a:p>
          <a:p>
            <a:pPr marL="342900" indent="-342900" algn="just">
              <a:lnSpc>
                <a:spcPct val="100000"/>
              </a:lnSpc>
              <a:spcBef>
                <a:spcPts val="12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 (</a:t>
            </a:r>
            <a:r>
              <a:rPr lang="en-US" sz="4000" b="1" dirty="0" err="1"/>
              <a:t>con’t</a:t>
            </a:r>
            <a:r>
              <a:rPr lang="en-US" sz="4000" b="1" dirty="0"/>
              <a:t>)</a:t>
            </a:r>
          </a:p>
        </p:txBody>
      </p:sp>
    </p:spTree>
    <p:extLst>
      <p:ext uri="{BB962C8B-B14F-4D97-AF65-F5344CB8AC3E}">
        <p14:creationId xmlns:p14="http://schemas.microsoft.com/office/powerpoint/2010/main" val="3283012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1714726"/>
            <a:ext cx="12002308" cy="4765973"/>
          </a:xfrm>
        </p:spPr>
        <p:txBody>
          <a:bodyPr>
            <a:noAutofit/>
          </a:bodyPr>
          <a:lstStyle/>
          <a:p>
            <a:pPr marL="514350" indent="-514350" algn="just">
              <a:lnSpc>
                <a:spcPct val="120000"/>
              </a:lnSpc>
              <a:spcBef>
                <a:spcPts val="1200"/>
              </a:spcBef>
              <a:buClr>
                <a:srgbClr val="973735"/>
              </a:buClr>
              <a:buSzPct val="100000"/>
              <a:buFont typeface="+mj-lt"/>
              <a:buAutoNum type="arabicPeriod"/>
              <a:defRPr/>
            </a:pPr>
            <a:r>
              <a:rPr lang="en-US" sz="2000" dirty="0"/>
              <a:t>Compare and contrast some different types of communities of practice. Describe how they would differ with respect to their goals.</a:t>
            </a:r>
          </a:p>
          <a:p>
            <a:pPr marL="514350" indent="-514350" algn="just">
              <a:lnSpc>
                <a:spcPct val="120000"/>
              </a:lnSpc>
              <a:spcBef>
                <a:spcPts val="1200"/>
              </a:spcBef>
              <a:buClr>
                <a:srgbClr val="973735"/>
              </a:buClr>
              <a:buSzPct val="100000"/>
              <a:buFont typeface="+mj-lt"/>
              <a:buAutoNum type="arabicPeriod"/>
              <a:defRPr/>
            </a:pPr>
            <a:r>
              <a:rPr lang="en-US" sz="2000" dirty="0"/>
              <a:t>What are some of the key deterrents to knowledge sharing and knowledge flow within an organization? How could you help overcome them?</a:t>
            </a:r>
          </a:p>
          <a:p>
            <a:pPr marL="514350" indent="-514350" algn="just">
              <a:lnSpc>
                <a:spcPct val="120000"/>
              </a:lnSpc>
              <a:spcBef>
                <a:spcPts val="1200"/>
              </a:spcBef>
              <a:buClr>
                <a:srgbClr val="973735"/>
              </a:buClr>
              <a:buSzPct val="100000"/>
              <a:buFont typeface="+mj-lt"/>
              <a:buAutoNum type="arabicPeriod"/>
              <a:defRPr/>
            </a:pPr>
            <a:r>
              <a:rPr lang="en-US" sz="2000" dirty="0"/>
              <a:t>List some of the ways in which social network analysis techniques can be used to better understand how knowledge is circulated within an organization.</a:t>
            </a:r>
          </a:p>
          <a:p>
            <a:pPr marL="514350" indent="-514350" algn="just">
              <a:lnSpc>
                <a:spcPct val="120000"/>
              </a:lnSpc>
              <a:spcBef>
                <a:spcPts val="1200"/>
              </a:spcBef>
              <a:buClr>
                <a:srgbClr val="973735"/>
              </a:buClr>
              <a:buSzPct val="100000"/>
              <a:buFont typeface="+mj-lt"/>
              <a:buAutoNum type="arabicPeriod"/>
              <a:defRPr/>
            </a:pPr>
            <a:r>
              <a:rPr lang="en-US" sz="2000" dirty="0"/>
              <a:t>What are some popular technologies used to support knowledge networks and communities of practice? How do they compare? When would it be beneficial to use what tool? How would you make your decision?</a:t>
            </a:r>
          </a:p>
          <a:p>
            <a:pPr marL="514350" indent="-514350" algn="just">
              <a:lnSpc>
                <a:spcPct val="120000"/>
              </a:lnSpc>
              <a:spcBef>
                <a:spcPts val="1200"/>
              </a:spcBef>
              <a:buClr>
                <a:srgbClr val="973735"/>
              </a:buClr>
              <a:buSzPct val="100000"/>
              <a:buFont typeface="+mj-lt"/>
              <a:buAutoNum type="arabicPeriod"/>
              <a:defRPr/>
            </a:pPr>
            <a:r>
              <a:rPr lang="en-US" sz="2000" dirty="0"/>
              <a:t>What are some of the key steps you would need to carry out in order to conduct a social network analysis of an organization?</a:t>
            </a:r>
          </a:p>
          <a:p>
            <a:pPr marL="514350" indent="-514350" algn="just">
              <a:lnSpc>
                <a:spcPct val="120000"/>
              </a:lnSpc>
              <a:spcBef>
                <a:spcPts val="1200"/>
              </a:spcBef>
              <a:buClr>
                <a:srgbClr val="973735"/>
              </a:buClr>
              <a:buSzPct val="100000"/>
              <a:buFont typeface="+mj-lt"/>
              <a:buAutoNum type="arabicPeriod"/>
              <a:defRPr/>
            </a:pPr>
            <a:endParaRPr lang="en-US" sz="2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pic>
        <p:nvPicPr>
          <p:cNvPr id="2" name="Picture 2" descr="Discussion Images | Free Vectors, Stock Photos &amp; PSD">
            <a:extLst>
              <a:ext uri="{FF2B5EF4-FFF2-40B4-BE49-F238E27FC236}">
                <a16:creationId xmlns:a16="http://schemas.microsoft.com/office/drawing/2014/main" id="{E05C5DA6-C666-E0C9-5F0A-A45358FC8F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61868" y="177277"/>
            <a:ext cx="1640440" cy="164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2039</TotalTime>
  <Words>1752</Words>
  <Application>Microsoft Office PowerPoint</Application>
  <PresentationFormat>Widescreen</PresentationFormat>
  <Paragraphs>210</Paragraphs>
  <Slides>28</Slides>
  <Notes>28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Arial</vt:lpstr>
      <vt:lpstr>Calibri</vt:lpstr>
      <vt:lpstr>Sabon-Roman</vt:lpstr>
      <vt:lpstr>Wingdings</vt:lpstr>
      <vt:lpstr>Office Theme</vt:lpstr>
      <vt:lpstr>Bitmap Image</vt:lpstr>
      <vt:lpstr>Chapter 05  Knowledge Sharing</vt:lpstr>
      <vt:lpstr>Objectives</vt:lpstr>
      <vt:lpstr>Objectives (con’t)</vt:lpstr>
      <vt:lpstr>Introduction</vt:lpstr>
      <vt:lpstr>The Social Nature of Knowledge</vt:lpstr>
      <vt:lpstr>Knowledge Networks</vt:lpstr>
      <vt:lpstr>Knowledge Networks</vt:lpstr>
      <vt:lpstr>Sociograms and Social Network Analysis</vt:lpstr>
      <vt:lpstr>Sociograms and Social Network Analysis</vt:lpstr>
      <vt:lpstr>Sociograms and Social Network Analysis</vt:lpstr>
      <vt:lpstr>Sociograms and Social Network Analysis</vt:lpstr>
      <vt:lpstr>Sociograms and Social Network Analysis</vt:lpstr>
      <vt:lpstr>Sociograms and Social Network Analysis</vt:lpstr>
      <vt:lpstr>Knowledge-Sharing Communities</vt:lpstr>
      <vt:lpstr>Types of Communities</vt:lpstr>
      <vt:lpstr>Types of Communities</vt:lpstr>
      <vt:lpstr>Types of Communities</vt:lpstr>
      <vt:lpstr>Types of Communities</vt:lpstr>
      <vt:lpstr>Types of Communities</vt:lpstr>
      <vt:lpstr>Obstacles to Knowledge Sharing</vt:lpstr>
      <vt:lpstr>Obstacles to Knowledge Sharing</vt:lpstr>
      <vt:lpstr>Organizational Learning and Social Capital</vt:lpstr>
      <vt:lpstr>Organizational Learning and Social Capital</vt:lpstr>
      <vt:lpstr>Strategic Implications of Knowledge Sharing</vt:lpstr>
      <vt:lpstr>Practical Implications of Knowledge Sharing</vt:lpstr>
      <vt:lpstr>Summary</vt:lpstr>
      <vt:lpstr>Summary (con’t)</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121</cp:revision>
  <dcterms:created xsi:type="dcterms:W3CDTF">2021-01-25T08:25:31Z</dcterms:created>
  <dcterms:modified xsi:type="dcterms:W3CDTF">2023-09-20T21:06:51Z</dcterms:modified>
</cp:coreProperties>
</file>