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handoutMasterIdLst>
    <p:handoutMasterId r:id="rId60"/>
  </p:handoutMasterIdLst>
  <p:sldIdLst>
    <p:sldId id="256" r:id="rId2"/>
    <p:sldId id="278" r:id="rId3"/>
    <p:sldId id="279" r:id="rId4"/>
    <p:sldId id="404" r:id="rId5"/>
    <p:sldId id="405" r:id="rId6"/>
    <p:sldId id="406" r:id="rId7"/>
    <p:sldId id="313" r:id="rId8"/>
    <p:sldId id="465" r:id="rId9"/>
    <p:sldId id="467" r:id="rId10"/>
    <p:sldId id="445" r:id="rId11"/>
    <p:sldId id="407" r:id="rId12"/>
    <p:sldId id="429" r:id="rId13"/>
    <p:sldId id="410" r:id="rId14"/>
    <p:sldId id="411" r:id="rId15"/>
    <p:sldId id="430" r:id="rId16"/>
    <p:sldId id="444" r:id="rId17"/>
    <p:sldId id="412" r:id="rId18"/>
    <p:sldId id="454" r:id="rId19"/>
    <p:sldId id="455" r:id="rId20"/>
    <p:sldId id="457" r:id="rId21"/>
    <p:sldId id="458" r:id="rId22"/>
    <p:sldId id="459" r:id="rId23"/>
    <p:sldId id="460" r:id="rId24"/>
    <p:sldId id="462" r:id="rId25"/>
    <p:sldId id="461" r:id="rId26"/>
    <p:sldId id="463" r:id="rId27"/>
    <p:sldId id="468" r:id="rId28"/>
    <p:sldId id="416" r:id="rId29"/>
    <p:sldId id="446" r:id="rId30"/>
    <p:sldId id="417" r:id="rId31"/>
    <p:sldId id="420" r:id="rId32"/>
    <p:sldId id="469" r:id="rId33"/>
    <p:sldId id="422" r:id="rId34"/>
    <p:sldId id="423" r:id="rId35"/>
    <p:sldId id="424" r:id="rId36"/>
    <p:sldId id="447" r:id="rId37"/>
    <p:sldId id="418" r:id="rId38"/>
    <p:sldId id="425" r:id="rId39"/>
    <p:sldId id="448" r:id="rId40"/>
    <p:sldId id="426" r:id="rId41"/>
    <p:sldId id="427" r:id="rId42"/>
    <p:sldId id="431" r:id="rId43"/>
    <p:sldId id="432" r:id="rId44"/>
    <p:sldId id="433" r:id="rId45"/>
    <p:sldId id="434" r:id="rId46"/>
    <p:sldId id="324" r:id="rId47"/>
    <p:sldId id="435" r:id="rId48"/>
    <p:sldId id="436" r:id="rId49"/>
    <p:sldId id="437" r:id="rId50"/>
    <p:sldId id="438" r:id="rId51"/>
    <p:sldId id="440" r:id="rId52"/>
    <p:sldId id="450" r:id="rId53"/>
    <p:sldId id="442" r:id="rId54"/>
    <p:sldId id="443" r:id="rId55"/>
    <p:sldId id="439" r:id="rId56"/>
    <p:sldId id="327" r:id="rId57"/>
    <p:sldId id="452"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F4AF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18130" autoAdjust="0"/>
    <p:restoredTop sz="86632" autoAdjust="0"/>
  </p:normalViewPr>
  <p:slideViewPr>
    <p:cSldViewPr snapToGrid="0">
      <p:cViewPr varScale="1">
        <p:scale>
          <a:sx n="88" d="100"/>
          <a:sy n="88" d="100"/>
        </p:scale>
        <p:origin x="350" y="72"/>
      </p:cViewPr>
      <p:guideLst/>
    </p:cSldViewPr>
  </p:slideViewPr>
  <p:outlineViewPr>
    <p:cViewPr>
      <p:scale>
        <a:sx n="33" d="100"/>
        <a:sy n="33" d="100"/>
      </p:scale>
      <p:origin x="0" y="-27034"/>
    </p:cViewPr>
  </p:outlineViewPr>
  <p:notesTextViewPr>
    <p:cViewPr>
      <p:scale>
        <a:sx n="150" d="100"/>
        <a:sy n="15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49DFF5-E44F-48DD-8FAD-EF15CFF7F474}" type="datetimeFigureOut">
              <a:rPr lang="en-US" smtClean="0"/>
              <a:t>9/21/2023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431253-AA71-4F4F-9BF6-D6DC574A3AAF}" type="slidenum">
              <a:rPr lang="en-US" smtClean="0"/>
              <a:t>‹#›</a:t>
            </a:fld>
            <a:endParaRPr lang="en-US"/>
          </a:p>
        </p:txBody>
      </p:sp>
    </p:spTree>
    <p:extLst>
      <p:ext uri="{BB962C8B-B14F-4D97-AF65-F5344CB8AC3E}">
        <p14:creationId xmlns:p14="http://schemas.microsoft.com/office/powerpoint/2010/main" val="1676805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17A13E-60FF-453F-B712-D9BBD0C85FA1}" type="datetimeFigureOut">
              <a:rPr lang="en-US" smtClean="0"/>
              <a:t>9/21/2023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6C0E5-5FD0-48D4-A8DC-243893429241}" type="slidenum">
              <a:rPr lang="en-US" smtClean="0"/>
              <a:t>‹#›</a:t>
            </a:fld>
            <a:endParaRPr lang="en-US"/>
          </a:p>
        </p:txBody>
      </p:sp>
    </p:spTree>
    <p:extLst>
      <p:ext uri="{BB962C8B-B14F-4D97-AF65-F5344CB8AC3E}">
        <p14:creationId xmlns:p14="http://schemas.microsoft.com/office/powerpoint/2010/main" val="429129828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D46C0E5-5FD0-48D4-A8DC-243893429241}" type="slidenum">
              <a:rPr lang="en-US" smtClean="0"/>
              <a:t>1</a:t>
            </a:fld>
            <a:endParaRPr lang="en-US"/>
          </a:p>
        </p:txBody>
      </p:sp>
    </p:spTree>
    <p:extLst>
      <p:ext uri="{BB962C8B-B14F-4D97-AF65-F5344CB8AC3E}">
        <p14:creationId xmlns:p14="http://schemas.microsoft.com/office/powerpoint/2010/main" val="3639860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2</a:t>
            </a:fld>
            <a:endParaRPr lang="en-US"/>
          </a:p>
        </p:txBody>
      </p:sp>
    </p:spTree>
    <p:extLst>
      <p:ext uri="{BB962C8B-B14F-4D97-AF65-F5344CB8AC3E}">
        <p14:creationId xmlns:p14="http://schemas.microsoft.com/office/powerpoint/2010/main" val="628968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a:t>
            </a:fld>
            <a:endParaRPr lang="en-US"/>
          </a:p>
        </p:txBody>
      </p:sp>
    </p:spTree>
    <p:extLst>
      <p:ext uri="{BB962C8B-B14F-4D97-AF65-F5344CB8AC3E}">
        <p14:creationId xmlns:p14="http://schemas.microsoft.com/office/powerpoint/2010/main" val="430860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a:t>
            </a:fld>
            <a:endParaRPr lang="en-US"/>
          </a:p>
        </p:txBody>
      </p:sp>
    </p:spTree>
    <p:extLst>
      <p:ext uri="{BB962C8B-B14F-4D97-AF65-F5344CB8AC3E}">
        <p14:creationId xmlns:p14="http://schemas.microsoft.com/office/powerpoint/2010/main" val="1985499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a:t>
            </a:fld>
            <a:endParaRPr lang="en-US"/>
          </a:p>
        </p:txBody>
      </p:sp>
    </p:spTree>
    <p:extLst>
      <p:ext uri="{BB962C8B-B14F-4D97-AF65-F5344CB8AC3E}">
        <p14:creationId xmlns:p14="http://schemas.microsoft.com/office/powerpoint/2010/main" val="2779994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6</a:t>
            </a:fld>
            <a:endParaRPr lang="en-US"/>
          </a:p>
        </p:txBody>
      </p:sp>
    </p:spTree>
    <p:extLst>
      <p:ext uri="{BB962C8B-B14F-4D97-AF65-F5344CB8AC3E}">
        <p14:creationId xmlns:p14="http://schemas.microsoft.com/office/powerpoint/2010/main" val="3512842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7</a:t>
            </a:fld>
            <a:endParaRPr lang="en-US"/>
          </a:p>
        </p:txBody>
      </p:sp>
    </p:spTree>
    <p:extLst>
      <p:ext uri="{BB962C8B-B14F-4D97-AF65-F5344CB8AC3E}">
        <p14:creationId xmlns:p14="http://schemas.microsoft.com/office/powerpoint/2010/main" val="1936722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8</a:t>
            </a:fld>
            <a:endParaRPr lang="en-US"/>
          </a:p>
        </p:txBody>
      </p:sp>
    </p:spTree>
    <p:extLst>
      <p:ext uri="{BB962C8B-B14F-4D97-AF65-F5344CB8AC3E}">
        <p14:creationId xmlns:p14="http://schemas.microsoft.com/office/powerpoint/2010/main" val="2892422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9</a:t>
            </a:fld>
            <a:endParaRPr lang="en-US"/>
          </a:p>
        </p:txBody>
      </p:sp>
    </p:spTree>
    <p:extLst>
      <p:ext uri="{BB962C8B-B14F-4D97-AF65-F5344CB8AC3E}">
        <p14:creationId xmlns:p14="http://schemas.microsoft.com/office/powerpoint/2010/main" val="21833311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10</a:t>
            </a:fld>
            <a:endParaRPr lang="en-US"/>
          </a:p>
        </p:txBody>
      </p:sp>
    </p:spTree>
    <p:extLst>
      <p:ext uri="{BB962C8B-B14F-4D97-AF65-F5344CB8AC3E}">
        <p14:creationId xmlns:p14="http://schemas.microsoft.com/office/powerpoint/2010/main" val="2192858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11</a:t>
            </a:fld>
            <a:endParaRPr lang="en-US"/>
          </a:p>
        </p:txBody>
      </p:sp>
    </p:spTree>
    <p:extLst>
      <p:ext uri="{BB962C8B-B14F-4D97-AF65-F5344CB8AC3E}">
        <p14:creationId xmlns:p14="http://schemas.microsoft.com/office/powerpoint/2010/main" val="2996660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12</a:t>
            </a:fld>
            <a:endParaRPr lang="en-US"/>
          </a:p>
        </p:txBody>
      </p:sp>
    </p:spTree>
    <p:extLst>
      <p:ext uri="{BB962C8B-B14F-4D97-AF65-F5344CB8AC3E}">
        <p14:creationId xmlns:p14="http://schemas.microsoft.com/office/powerpoint/2010/main" val="29699649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13</a:t>
            </a:fld>
            <a:endParaRPr lang="en-US"/>
          </a:p>
        </p:txBody>
      </p:sp>
    </p:spTree>
    <p:extLst>
      <p:ext uri="{BB962C8B-B14F-4D97-AF65-F5344CB8AC3E}">
        <p14:creationId xmlns:p14="http://schemas.microsoft.com/office/powerpoint/2010/main" val="17005766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14</a:t>
            </a:fld>
            <a:endParaRPr lang="en-US"/>
          </a:p>
        </p:txBody>
      </p:sp>
    </p:spTree>
    <p:extLst>
      <p:ext uri="{BB962C8B-B14F-4D97-AF65-F5344CB8AC3E}">
        <p14:creationId xmlns:p14="http://schemas.microsoft.com/office/powerpoint/2010/main" val="9037219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15</a:t>
            </a:fld>
            <a:endParaRPr lang="en-US"/>
          </a:p>
        </p:txBody>
      </p:sp>
    </p:spTree>
    <p:extLst>
      <p:ext uri="{BB962C8B-B14F-4D97-AF65-F5344CB8AC3E}">
        <p14:creationId xmlns:p14="http://schemas.microsoft.com/office/powerpoint/2010/main" val="35163618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16</a:t>
            </a:fld>
            <a:endParaRPr lang="en-US"/>
          </a:p>
        </p:txBody>
      </p:sp>
    </p:spTree>
    <p:extLst>
      <p:ext uri="{BB962C8B-B14F-4D97-AF65-F5344CB8AC3E}">
        <p14:creationId xmlns:p14="http://schemas.microsoft.com/office/powerpoint/2010/main" val="2628773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17</a:t>
            </a:fld>
            <a:endParaRPr lang="en-US"/>
          </a:p>
        </p:txBody>
      </p:sp>
    </p:spTree>
    <p:extLst>
      <p:ext uri="{BB962C8B-B14F-4D97-AF65-F5344CB8AC3E}">
        <p14:creationId xmlns:p14="http://schemas.microsoft.com/office/powerpoint/2010/main" val="30609912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18</a:t>
            </a:fld>
            <a:endParaRPr lang="en-US"/>
          </a:p>
        </p:txBody>
      </p:sp>
    </p:spTree>
    <p:extLst>
      <p:ext uri="{BB962C8B-B14F-4D97-AF65-F5344CB8AC3E}">
        <p14:creationId xmlns:p14="http://schemas.microsoft.com/office/powerpoint/2010/main" val="4945096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19</a:t>
            </a:fld>
            <a:endParaRPr lang="en-US"/>
          </a:p>
        </p:txBody>
      </p:sp>
    </p:spTree>
    <p:extLst>
      <p:ext uri="{BB962C8B-B14F-4D97-AF65-F5344CB8AC3E}">
        <p14:creationId xmlns:p14="http://schemas.microsoft.com/office/powerpoint/2010/main" val="2248889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20</a:t>
            </a:fld>
            <a:endParaRPr lang="en-US"/>
          </a:p>
        </p:txBody>
      </p:sp>
    </p:spTree>
    <p:extLst>
      <p:ext uri="{BB962C8B-B14F-4D97-AF65-F5344CB8AC3E}">
        <p14:creationId xmlns:p14="http://schemas.microsoft.com/office/powerpoint/2010/main" val="31029102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21</a:t>
            </a:fld>
            <a:endParaRPr lang="en-US"/>
          </a:p>
        </p:txBody>
      </p:sp>
    </p:spTree>
    <p:extLst>
      <p:ext uri="{BB962C8B-B14F-4D97-AF65-F5344CB8AC3E}">
        <p14:creationId xmlns:p14="http://schemas.microsoft.com/office/powerpoint/2010/main" val="2954463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22</a:t>
            </a:fld>
            <a:endParaRPr lang="en-US"/>
          </a:p>
        </p:txBody>
      </p:sp>
    </p:spTree>
    <p:extLst>
      <p:ext uri="{BB962C8B-B14F-4D97-AF65-F5344CB8AC3E}">
        <p14:creationId xmlns:p14="http://schemas.microsoft.com/office/powerpoint/2010/main" val="1128931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23</a:t>
            </a:fld>
            <a:endParaRPr lang="en-US"/>
          </a:p>
        </p:txBody>
      </p:sp>
    </p:spTree>
    <p:extLst>
      <p:ext uri="{BB962C8B-B14F-4D97-AF65-F5344CB8AC3E}">
        <p14:creationId xmlns:p14="http://schemas.microsoft.com/office/powerpoint/2010/main" val="18597654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24</a:t>
            </a:fld>
            <a:endParaRPr lang="en-US"/>
          </a:p>
        </p:txBody>
      </p:sp>
    </p:spTree>
    <p:extLst>
      <p:ext uri="{BB962C8B-B14F-4D97-AF65-F5344CB8AC3E}">
        <p14:creationId xmlns:p14="http://schemas.microsoft.com/office/powerpoint/2010/main" val="42549492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25</a:t>
            </a:fld>
            <a:endParaRPr lang="en-US"/>
          </a:p>
        </p:txBody>
      </p:sp>
    </p:spTree>
    <p:extLst>
      <p:ext uri="{BB962C8B-B14F-4D97-AF65-F5344CB8AC3E}">
        <p14:creationId xmlns:p14="http://schemas.microsoft.com/office/powerpoint/2010/main" val="2009183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26</a:t>
            </a:fld>
            <a:endParaRPr lang="en-US"/>
          </a:p>
        </p:txBody>
      </p:sp>
    </p:spTree>
    <p:extLst>
      <p:ext uri="{BB962C8B-B14F-4D97-AF65-F5344CB8AC3E}">
        <p14:creationId xmlns:p14="http://schemas.microsoft.com/office/powerpoint/2010/main" val="28648894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27</a:t>
            </a:fld>
            <a:endParaRPr lang="en-US"/>
          </a:p>
        </p:txBody>
      </p:sp>
    </p:spTree>
    <p:extLst>
      <p:ext uri="{BB962C8B-B14F-4D97-AF65-F5344CB8AC3E}">
        <p14:creationId xmlns:p14="http://schemas.microsoft.com/office/powerpoint/2010/main" val="258449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28</a:t>
            </a:fld>
            <a:endParaRPr lang="en-US"/>
          </a:p>
        </p:txBody>
      </p:sp>
    </p:spTree>
    <p:extLst>
      <p:ext uri="{BB962C8B-B14F-4D97-AF65-F5344CB8AC3E}">
        <p14:creationId xmlns:p14="http://schemas.microsoft.com/office/powerpoint/2010/main" val="233205454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29</a:t>
            </a:fld>
            <a:endParaRPr lang="en-US"/>
          </a:p>
        </p:txBody>
      </p:sp>
    </p:spTree>
    <p:extLst>
      <p:ext uri="{BB962C8B-B14F-4D97-AF65-F5344CB8AC3E}">
        <p14:creationId xmlns:p14="http://schemas.microsoft.com/office/powerpoint/2010/main" val="6301677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30</a:t>
            </a:fld>
            <a:endParaRPr lang="en-US"/>
          </a:p>
        </p:txBody>
      </p:sp>
    </p:spTree>
    <p:extLst>
      <p:ext uri="{BB962C8B-B14F-4D97-AF65-F5344CB8AC3E}">
        <p14:creationId xmlns:p14="http://schemas.microsoft.com/office/powerpoint/2010/main" val="23047497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31</a:t>
            </a:fld>
            <a:endParaRPr lang="en-US"/>
          </a:p>
        </p:txBody>
      </p:sp>
    </p:spTree>
    <p:extLst>
      <p:ext uri="{BB962C8B-B14F-4D97-AF65-F5344CB8AC3E}">
        <p14:creationId xmlns:p14="http://schemas.microsoft.com/office/powerpoint/2010/main" val="30530123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32</a:t>
            </a:fld>
            <a:endParaRPr lang="en-US"/>
          </a:p>
        </p:txBody>
      </p:sp>
    </p:spTree>
    <p:extLst>
      <p:ext uri="{BB962C8B-B14F-4D97-AF65-F5344CB8AC3E}">
        <p14:creationId xmlns:p14="http://schemas.microsoft.com/office/powerpoint/2010/main" val="314411791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33</a:t>
            </a:fld>
            <a:endParaRPr lang="en-US"/>
          </a:p>
        </p:txBody>
      </p:sp>
    </p:spTree>
    <p:extLst>
      <p:ext uri="{BB962C8B-B14F-4D97-AF65-F5344CB8AC3E}">
        <p14:creationId xmlns:p14="http://schemas.microsoft.com/office/powerpoint/2010/main" val="14915541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34</a:t>
            </a:fld>
            <a:endParaRPr lang="en-US"/>
          </a:p>
        </p:txBody>
      </p:sp>
    </p:spTree>
    <p:extLst>
      <p:ext uri="{BB962C8B-B14F-4D97-AF65-F5344CB8AC3E}">
        <p14:creationId xmlns:p14="http://schemas.microsoft.com/office/powerpoint/2010/main" val="1491709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35</a:t>
            </a:fld>
            <a:endParaRPr lang="en-US"/>
          </a:p>
        </p:txBody>
      </p:sp>
    </p:spTree>
    <p:extLst>
      <p:ext uri="{BB962C8B-B14F-4D97-AF65-F5344CB8AC3E}">
        <p14:creationId xmlns:p14="http://schemas.microsoft.com/office/powerpoint/2010/main" val="34825813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36</a:t>
            </a:fld>
            <a:endParaRPr lang="en-US"/>
          </a:p>
        </p:txBody>
      </p:sp>
    </p:spTree>
    <p:extLst>
      <p:ext uri="{BB962C8B-B14F-4D97-AF65-F5344CB8AC3E}">
        <p14:creationId xmlns:p14="http://schemas.microsoft.com/office/powerpoint/2010/main" val="356079448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37</a:t>
            </a:fld>
            <a:endParaRPr lang="en-US"/>
          </a:p>
        </p:txBody>
      </p:sp>
    </p:spTree>
    <p:extLst>
      <p:ext uri="{BB962C8B-B14F-4D97-AF65-F5344CB8AC3E}">
        <p14:creationId xmlns:p14="http://schemas.microsoft.com/office/powerpoint/2010/main" val="360012208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38</a:t>
            </a:fld>
            <a:endParaRPr lang="en-US"/>
          </a:p>
        </p:txBody>
      </p:sp>
    </p:spTree>
    <p:extLst>
      <p:ext uri="{BB962C8B-B14F-4D97-AF65-F5344CB8AC3E}">
        <p14:creationId xmlns:p14="http://schemas.microsoft.com/office/powerpoint/2010/main" val="38432022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39</a:t>
            </a:fld>
            <a:endParaRPr lang="en-US"/>
          </a:p>
        </p:txBody>
      </p:sp>
    </p:spTree>
    <p:extLst>
      <p:ext uri="{BB962C8B-B14F-4D97-AF65-F5344CB8AC3E}">
        <p14:creationId xmlns:p14="http://schemas.microsoft.com/office/powerpoint/2010/main" val="34587674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40</a:t>
            </a:fld>
            <a:endParaRPr lang="en-US"/>
          </a:p>
        </p:txBody>
      </p:sp>
    </p:spTree>
    <p:extLst>
      <p:ext uri="{BB962C8B-B14F-4D97-AF65-F5344CB8AC3E}">
        <p14:creationId xmlns:p14="http://schemas.microsoft.com/office/powerpoint/2010/main" val="258134754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41</a:t>
            </a:fld>
            <a:endParaRPr lang="en-US"/>
          </a:p>
        </p:txBody>
      </p:sp>
    </p:spTree>
    <p:extLst>
      <p:ext uri="{BB962C8B-B14F-4D97-AF65-F5344CB8AC3E}">
        <p14:creationId xmlns:p14="http://schemas.microsoft.com/office/powerpoint/2010/main" val="40053612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42</a:t>
            </a:fld>
            <a:endParaRPr lang="en-US"/>
          </a:p>
        </p:txBody>
      </p:sp>
    </p:spTree>
    <p:extLst>
      <p:ext uri="{BB962C8B-B14F-4D97-AF65-F5344CB8AC3E}">
        <p14:creationId xmlns:p14="http://schemas.microsoft.com/office/powerpoint/2010/main" val="13714224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43</a:t>
            </a:fld>
            <a:endParaRPr lang="en-US"/>
          </a:p>
        </p:txBody>
      </p:sp>
    </p:spTree>
    <p:extLst>
      <p:ext uri="{BB962C8B-B14F-4D97-AF65-F5344CB8AC3E}">
        <p14:creationId xmlns:p14="http://schemas.microsoft.com/office/powerpoint/2010/main" val="2329540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44</a:t>
            </a:fld>
            <a:endParaRPr lang="en-US"/>
          </a:p>
        </p:txBody>
      </p:sp>
    </p:spTree>
    <p:extLst>
      <p:ext uri="{BB962C8B-B14F-4D97-AF65-F5344CB8AC3E}">
        <p14:creationId xmlns:p14="http://schemas.microsoft.com/office/powerpoint/2010/main" val="25642068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45</a:t>
            </a:fld>
            <a:endParaRPr lang="en-US"/>
          </a:p>
        </p:txBody>
      </p:sp>
    </p:spTree>
    <p:extLst>
      <p:ext uri="{BB962C8B-B14F-4D97-AF65-F5344CB8AC3E}">
        <p14:creationId xmlns:p14="http://schemas.microsoft.com/office/powerpoint/2010/main" val="34356267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46</a:t>
            </a:fld>
            <a:endParaRPr lang="en-US"/>
          </a:p>
        </p:txBody>
      </p:sp>
    </p:spTree>
    <p:extLst>
      <p:ext uri="{BB962C8B-B14F-4D97-AF65-F5344CB8AC3E}">
        <p14:creationId xmlns:p14="http://schemas.microsoft.com/office/powerpoint/2010/main" val="355755639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47</a:t>
            </a:fld>
            <a:endParaRPr lang="en-US"/>
          </a:p>
        </p:txBody>
      </p:sp>
    </p:spTree>
    <p:extLst>
      <p:ext uri="{BB962C8B-B14F-4D97-AF65-F5344CB8AC3E}">
        <p14:creationId xmlns:p14="http://schemas.microsoft.com/office/powerpoint/2010/main" val="5132130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48</a:t>
            </a:fld>
            <a:endParaRPr lang="en-US"/>
          </a:p>
        </p:txBody>
      </p:sp>
    </p:spTree>
    <p:extLst>
      <p:ext uri="{BB962C8B-B14F-4D97-AF65-F5344CB8AC3E}">
        <p14:creationId xmlns:p14="http://schemas.microsoft.com/office/powerpoint/2010/main" val="42322740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49</a:t>
            </a:fld>
            <a:endParaRPr lang="en-US"/>
          </a:p>
        </p:txBody>
      </p:sp>
    </p:spTree>
    <p:extLst>
      <p:ext uri="{BB962C8B-B14F-4D97-AF65-F5344CB8AC3E}">
        <p14:creationId xmlns:p14="http://schemas.microsoft.com/office/powerpoint/2010/main" val="35157688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50</a:t>
            </a:fld>
            <a:endParaRPr lang="en-US"/>
          </a:p>
        </p:txBody>
      </p:sp>
    </p:spTree>
    <p:extLst>
      <p:ext uri="{BB962C8B-B14F-4D97-AF65-F5344CB8AC3E}">
        <p14:creationId xmlns:p14="http://schemas.microsoft.com/office/powerpoint/2010/main" val="20362673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51</a:t>
            </a:fld>
            <a:endParaRPr lang="en-US"/>
          </a:p>
        </p:txBody>
      </p:sp>
    </p:spTree>
    <p:extLst>
      <p:ext uri="{BB962C8B-B14F-4D97-AF65-F5344CB8AC3E}">
        <p14:creationId xmlns:p14="http://schemas.microsoft.com/office/powerpoint/2010/main" val="20408305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52</a:t>
            </a:fld>
            <a:endParaRPr lang="en-US"/>
          </a:p>
        </p:txBody>
      </p:sp>
    </p:spTree>
    <p:extLst>
      <p:ext uri="{BB962C8B-B14F-4D97-AF65-F5344CB8AC3E}">
        <p14:creationId xmlns:p14="http://schemas.microsoft.com/office/powerpoint/2010/main" val="71162253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53</a:t>
            </a:fld>
            <a:endParaRPr lang="en-US"/>
          </a:p>
        </p:txBody>
      </p:sp>
    </p:spTree>
    <p:extLst>
      <p:ext uri="{BB962C8B-B14F-4D97-AF65-F5344CB8AC3E}">
        <p14:creationId xmlns:p14="http://schemas.microsoft.com/office/powerpoint/2010/main" val="195551927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54</a:t>
            </a:fld>
            <a:endParaRPr lang="en-US"/>
          </a:p>
        </p:txBody>
      </p:sp>
    </p:spTree>
    <p:extLst>
      <p:ext uri="{BB962C8B-B14F-4D97-AF65-F5344CB8AC3E}">
        <p14:creationId xmlns:p14="http://schemas.microsoft.com/office/powerpoint/2010/main" val="415549209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55</a:t>
            </a:fld>
            <a:endParaRPr lang="en-US"/>
          </a:p>
        </p:txBody>
      </p:sp>
    </p:spTree>
    <p:extLst>
      <p:ext uri="{BB962C8B-B14F-4D97-AF65-F5344CB8AC3E}">
        <p14:creationId xmlns:p14="http://schemas.microsoft.com/office/powerpoint/2010/main" val="62855251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vi-VN" dirty="0"/>
          </a:p>
        </p:txBody>
      </p:sp>
      <p:sp>
        <p:nvSpPr>
          <p:cNvPr id="4" name="Slide Number Placeholder 3"/>
          <p:cNvSpPr>
            <a:spLocks noGrp="1"/>
          </p:cNvSpPr>
          <p:nvPr>
            <p:ph type="sldNum" sz="quarter" idx="5"/>
          </p:nvPr>
        </p:nvSpPr>
        <p:spPr/>
        <p:txBody>
          <a:bodyPr/>
          <a:lstStyle/>
          <a:p>
            <a:fld id="{DD46C0E5-5FD0-48D4-A8DC-243893429241}" type="slidenum">
              <a:rPr lang="en-US" smtClean="0"/>
              <a:t>56</a:t>
            </a:fld>
            <a:endParaRPr lang="en-US"/>
          </a:p>
        </p:txBody>
      </p:sp>
    </p:spTree>
    <p:extLst>
      <p:ext uri="{BB962C8B-B14F-4D97-AF65-F5344CB8AC3E}">
        <p14:creationId xmlns:p14="http://schemas.microsoft.com/office/powerpoint/2010/main" val="19655192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DD46C0E5-5FD0-48D4-A8DC-243893429241}" type="slidenum">
              <a:rPr lang="en-US" smtClean="0"/>
              <a:t>57</a:t>
            </a:fld>
            <a:endParaRPr lang="en-US"/>
          </a:p>
        </p:txBody>
      </p:sp>
    </p:spTree>
    <p:extLst>
      <p:ext uri="{BB962C8B-B14F-4D97-AF65-F5344CB8AC3E}">
        <p14:creationId xmlns:p14="http://schemas.microsoft.com/office/powerpoint/2010/main" val="196247531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712068"/>
            <a:ext cx="9144000" cy="1797894"/>
          </a:xfrm>
          <a:solidFill>
            <a:schemeClr val="accent2"/>
          </a:solidFill>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22741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0" name="TextBox 9"/>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pic>
        <p:nvPicPr>
          <p:cNvPr id="4" name="Picture 3">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0"/>
            <a:ext cx="1182835" cy="575433"/>
          </a:xfrm>
          <a:prstGeom prst="rect">
            <a:avLst/>
          </a:prstGeom>
          <a:noFill/>
          <a:ln w="9525">
            <a:noFill/>
            <a:miter lim="800000"/>
            <a:headEnd/>
            <a:tailEnd/>
          </a:ln>
        </p:spPr>
      </p:pic>
    </p:spTree>
    <p:extLst>
      <p:ext uri="{BB962C8B-B14F-4D97-AF65-F5344CB8AC3E}">
        <p14:creationId xmlns:p14="http://schemas.microsoft.com/office/powerpoint/2010/main" val="1209551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extBox 7"/>
          <p:cNvSpPr txBox="1"/>
          <p:nvPr userDrawn="1"/>
        </p:nvSpPr>
        <p:spPr>
          <a:xfrm>
            <a:off x="0" y="6461294"/>
            <a:ext cx="12192000" cy="403934"/>
          </a:xfrm>
          <a:prstGeom prst="rect">
            <a:avLst/>
          </a:prstGeom>
          <a:solidFill>
            <a:schemeClr val="accent2"/>
          </a:solidFill>
        </p:spPr>
        <p:txBody>
          <a:bodyPr wrap="square" rtlCol="0">
            <a:spAutoFit/>
          </a:bodyPr>
          <a:lstStyle/>
          <a:p>
            <a:endParaRPr lang="en-US"/>
          </a:p>
        </p:txBody>
      </p:sp>
      <p:sp>
        <p:nvSpPr>
          <p:cNvPr id="2" name="Title 1"/>
          <p:cNvSpPr>
            <a:spLocks noGrp="1"/>
          </p:cNvSpPr>
          <p:nvPr>
            <p:ph type="title"/>
          </p:nvPr>
        </p:nvSpPr>
        <p:spPr>
          <a:solidFill>
            <a:schemeClr val="bg1"/>
          </a:solidFill>
        </p:spPr>
        <p:txBody>
          <a:bodyPr/>
          <a:lstStyle/>
          <a:p>
            <a:r>
              <a:rPr lang="en-US"/>
              <a:t>Click to edit Master title style</a:t>
            </a:r>
          </a:p>
        </p:txBody>
      </p:sp>
      <p:sp>
        <p:nvSpPr>
          <p:cNvPr id="3" name="Content Placeholder 2"/>
          <p:cNvSpPr>
            <a:spLocks noGrp="1"/>
          </p:cNvSpPr>
          <p:nvPr>
            <p:ph idx="1"/>
          </p:nvPr>
        </p:nvSpPr>
        <p:spPr>
          <a:xfrm>
            <a:off x="864093" y="1917739"/>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a:xfrm>
            <a:off x="8686060" y="6480700"/>
            <a:ext cx="2743200" cy="365125"/>
          </a:xfrm>
        </p:spPr>
        <p:txBody>
          <a:bodyPr/>
          <a:lstStyle>
            <a:lvl1pPr>
              <a:defRPr>
                <a:solidFill>
                  <a:schemeClr val="tx1"/>
                </a:solidFill>
              </a:defRPr>
            </a:lvl1pPr>
          </a:lstStyle>
          <a:p>
            <a:fld id="{CC0149FD-98BB-4821-915B-09C9BFE4B727}" type="slidenum">
              <a:rPr lang="en-US" smtClean="0"/>
              <a:pPr/>
              <a:t>‹#›</a:t>
            </a:fld>
            <a:endParaRPr lang="en-US"/>
          </a:p>
        </p:txBody>
      </p:sp>
      <p:sp>
        <p:nvSpPr>
          <p:cNvPr id="13" name="TextBox 12"/>
          <p:cNvSpPr txBox="1"/>
          <p:nvPr userDrawn="1"/>
        </p:nvSpPr>
        <p:spPr>
          <a:xfrm>
            <a:off x="1" y="600803"/>
            <a:ext cx="207390" cy="973473"/>
          </a:xfrm>
          <a:prstGeom prst="rect">
            <a:avLst/>
          </a:prstGeom>
          <a:solidFill>
            <a:srgbClr val="F4AF80"/>
          </a:solidFill>
        </p:spPr>
        <p:txBody>
          <a:bodyPr wrap="square" rtlCol="0">
            <a:spAutoFit/>
          </a:bodyPr>
          <a:lstStyle/>
          <a:p>
            <a:endParaRPr lang="en-US"/>
          </a:p>
        </p:txBody>
      </p:sp>
      <p:sp>
        <p:nvSpPr>
          <p:cNvPr id="4" name="Date Placeholder 3"/>
          <p:cNvSpPr>
            <a:spLocks noGrp="1"/>
          </p:cNvSpPr>
          <p:nvPr>
            <p:ph type="dt" sz="half" idx="10"/>
          </p:nvPr>
        </p:nvSpPr>
        <p:spPr>
          <a:xfrm>
            <a:off x="838200" y="6480699"/>
            <a:ext cx="2743200" cy="365125"/>
          </a:xfrm>
        </p:spPr>
        <p:txBody>
          <a:bodyPr/>
          <a:lstStyle>
            <a:lvl1pPr>
              <a:defRPr>
                <a:solidFill>
                  <a:schemeClr val="tx1"/>
                </a:solidFill>
              </a:defRPr>
            </a:lvl1pPr>
          </a:lstStyle>
          <a:p>
            <a:fld id="{17256740-3DC7-40BE-968F-29F94186F3AD}" type="datetime1">
              <a:rPr lang="vi-VN" smtClean="0"/>
              <a:t>21/09/2023</a:t>
            </a:fld>
            <a:endParaRPr lang="en-US"/>
          </a:p>
        </p:txBody>
      </p:sp>
      <p:pic>
        <p:nvPicPr>
          <p:cNvPr id="5" name="Picture 4">
            <a:extLst>
              <a:ext uri="{FF2B5EF4-FFF2-40B4-BE49-F238E27FC236}">
                <a16:creationId xmlns:a16="http://schemas.microsoft.com/office/drawing/2014/main" id="{7B940385-AA87-4844-88A2-440B6F604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p:blipFill>
        <p:spPr bwMode="auto">
          <a:xfrm>
            <a:off x="0" y="5966"/>
            <a:ext cx="1182835" cy="575433"/>
          </a:xfrm>
          <a:prstGeom prst="rect">
            <a:avLst/>
          </a:prstGeom>
          <a:noFill/>
          <a:ln w="9525">
            <a:noFill/>
            <a:miter lim="800000"/>
            <a:headEnd/>
            <a:tailEnd/>
          </a:ln>
        </p:spPr>
      </p:pic>
    </p:spTree>
    <p:extLst>
      <p:ext uri="{BB962C8B-B14F-4D97-AF65-F5344CB8AC3E}">
        <p14:creationId xmlns:p14="http://schemas.microsoft.com/office/powerpoint/2010/main" val="2362227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0848059-8CC8-4876-B763-1BEA3FA0F124}"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99080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B3963C-A6AA-4DDF-B85B-BE123D65B285}"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410112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9F11605-F8CD-44C6-A79B-BEBA9358497C}" type="datetime1">
              <a:rPr lang="vi-VN" smtClean="0"/>
              <a:t>21/09/2023</a:t>
            </a:fld>
            <a:endParaRPr lang="en-US"/>
          </a:p>
        </p:txBody>
      </p:sp>
      <p:sp>
        <p:nvSpPr>
          <p:cNvPr id="8" name="Footer Placeholder 7"/>
          <p:cNvSpPr>
            <a:spLocks noGrp="1"/>
          </p:cNvSpPr>
          <p:nvPr>
            <p:ph type="ftr" sz="quarter" idx="11"/>
          </p:nvPr>
        </p:nvSpPr>
        <p:spPr/>
        <p:txBody>
          <a:bodyPr/>
          <a:lstStyle/>
          <a:p>
            <a:r>
              <a:rPr lang="en-US"/>
              <a:t>Course Introduction</a:t>
            </a:r>
          </a:p>
        </p:txBody>
      </p:sp>
      <p:sp>
        <p:nvSpPr>
          <p:cNvPr id="9" name="Slide Number Placeholder 8"/>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933054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73410B-B6B3-4AF4-A9DB-DC0340309754}" type="datetime1">
              <a:rPr lang="vi-VN" smtClean="0"/>
              <a:t>21/09/2023</a:t>
            </a:fld>
            <a:endParaRPr lang="en-US"/>
          </a:p>
        </p:txBody>
      </p:sp>
      <p:sp>
        <p:nvSpPr>
          <p:cNvPr id="4" name="Footer Placeholder 3"/>
          <p:cNvSpPr>
            <a:spLocks noGrp="1"/>
          </p:cNvSpPr>
          <p:nvPr>
            <p:ph type="ftr" sz="quarter" idx="11"/>
          </p:nvPr>
        </p:nvSpPr>
        <p:spPr/>
        <p:txBody>
          <a:bodyPr/>
          <a:lstStyle/>
          <a:p>
            <a:r>
              <a:rPr lang="en-US"/>
              <a:t>Course Introduction</a:t>
            </a:r>
          </a:p>
        </p:txBody>
      </p:sp>
      <p:sp>
        <p:nvSpPr>
          <p:cNvPr id="5" name="Slide Number Placeholder 4"/>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623130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606E5-9CA3-4971-89BF-F965F9043882}" type="datetime1">
              <a:rPr lang="vi-VN" smtClean="0"/>
              <a:t>21/09/2023</a:t>
            </a:fld>
            <a:endParaRPr lang="en-US"/>
          </a:p>
        </p:txBody>
      </p:sp>
      <p:sp>
        <p:nvSpPr>
          <p:cNvPr id="3" name="Footer Placeholder 2"/>
          <p:cNvSpPr>
            <a:spLocks noGrp="1"/>
          </p:cNvSpPr>
          <p:nvPr>
            <p:ph type="ftr" sz="quarter" idx="11"/>
          </p:nvPr>
        </p:nvSpPr>
        <p:spPr/>
        <p:txBody>
          <a:bodyPr/>
          <a:lstStyle/>
          <a:p>
            <a:r>
              <a:rPr lang="en-US"/>
              <a:t>Course Introduction</a:t>
            </a:r>
          </a:p>
        </p:txBody>
      </p:sp>
      <p:sp>
        <p:nvSpPr>
          <p:cNvPr id="4" name="Slide Number Placeholder 3"/>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320444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316FA-E3CF-4C73-A815-C13A824B339A}"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1511075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AC6D87B-52FF-4B7F-A538-F746ED572E26}" type="datetime1">
              <a:rPr lang="vi-VN" smtClean="0"/>
              <a:t>21/09/2023</a:t>
            </a:fld>
            <a:endParaRPr lang="en-US"/>
          </a:p>
        </p:txBody>
      </p:sp>
      <p:sp>
        <p:nvSpPr>
          <p:cNvPr id="6" name="Footer Placeholder 5"/>
          <p:cNvSpPr>
            <a:spLocks noGrp="1"/>
          </p:cNvSpPr>
          <p:nvPr>
            <p:ph type="ftr" sz="quarter" idx="11"/>
          </p:nvPr>
        </p:nvSpPr>
        <p:spPr/>
        <p:txBody>
          <a:bodyPr/>
          <a:lstStyle/>
          <a:p>
            <a:r>
              <a:rPr lang="en-US"/>
              <a:t>Course Introduction</a:t>
            </a:r>
          </a:p>
        </p:txBody>
      </p:sp>
      <p:sp>
        <p:nvSpPr>
          <p:cNvPr id="7" name="Slide Number Placeholder 6"/>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2411777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1C2434-2AF2-4BF2-BD0B-95CBD5EB0128}"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3220443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7576082-5D4E-4969-8016-69F376C871AD}" type="datetime1">
              <a:rPr lang="vi-VN" smtClean="0"/>
              <a:t>21/09/2023</a:t>
            </a:fld>
            <a:endParaRPr lang="en-US"/>
          </a:p>
        </p:txBody>
      </p:sp>
      <p:sp>
        <p:nvSpPr>
          <p:cNvPr id="5" name="Footer Placeholder 4"/>
          <p:cNvSpPr>
            <a:spLocks noGrp="1"/>
          </p:cNvSpPr>
          <p:nvPr>
            <p:ph type="ftr" sz="quarter" idx="11"/>
          </p:nvPr>
        </p:nvSpPr>
        <p:spPr/>
        <p:txBody>
          <a:bodyPr/>
          <a:lstStyle/>
          <a:p>
            <a:r>
              <a:rPr lang="en-US"/>
              <a:t>Course Introduction</a:t>
            </a:r>
          </a:p>
        </p:txBody>
      </p:sp>
      <p:sp>
        <p:nvSpPr>
          <p:cNvPr id="6" name="Slide Number Placeholder 5"/>
          <p:cNvSpPr>
            <a:spLocks noGrp="1"/>
          </p:cNvSpPr>
          <p:nvPr>
            <p:ph type="sldNum" sz="quarter" idx="12"/>
          </p:nvPr>
        </p:nvSpPr>
        <p:spPr/>
        <p:txBody>
          <a:bodyPr/>
          <a:lstStyle/>
          <a:p>
            <a:fld id="{AB691216-F62E-4FB8-B968-3BF60F6CBEA2}" type="slidenum">
              <a:rPr lang="en-US" smtClean="0"/>
              <a:t>‹#›</a:t>
            </a:fld>
            <a:endParaRPr lang="en-US"/>
          </a:p>
        </p:txBody>
      </p:sp>
    </p:spTree>
    <p:extLst>
      <p:ext uri="{BB962C8B-B14F-4D97-AF65-F5344CB8AC3E}">
        <p14:creationId xmlns:p14="http://schemas.microsoft.com/office/powerpoint/2010/main" val="2825595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8BA729-DBE2-49EE-91FE-3D8B2D9BF9AB}" type="datetime1">
              <a:rPr lang="vi-VN" smtClean="0"/>
              <a:t>21/09/2023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Course Introduction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691216-F62E-4FB8-B968-3BF60F6CBEA2}" type="slidenum">
              <a:rPr lang="en-US" smtClean="0"/>
              <a:t>‹#›</a:t>
            </a:fld>
            <a:endParaRPr lang="en-US"/>
          </a:p>
        </p:txBody>
      </p:sp>
    </p:spTree>
    <p:extLst>
      <p:ext uri="{BB962C8B-B14F-4D97-AF65-F5344CB8AC3E}">
        <p14:creationId xmlns:p14="http://schemas.microsoft.com/office/powerpoint/2010/main" val="13047846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wmf"/><Relationship Id="rId5" Type="http://schemas.openxmlformats.org/officeDocument/2006/relationships/oleObject" Target="../embeddings/oleObject4.bin"/><Relationship Id="rId4" Type="http://schemas.openxmlformats.org/officeDocument/2006/relationships/image" Target="../media/image3.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9837" y="2241457"/>
            <a:ext cx="11094098" cy="1789121"/>
          </a:xfr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p:spPr>
        <p:txBody>
          <a:bodyPr anchor="ctr">
            <a:normAutofit/>
          </a:bodyPr>
          <a:lstStyle/>
          <a:p>
            <a:r>
              <a:rPr lang="en-US" sz="3200" b="1" dirty="0">
                <a:solidFill>
                  <a:schemeClr val="bg2">
                    <a:lumMod val="50000"/>
                  </a:schemeClr>
                </a:solidFill>
                <a:latin typeface="Arial" panose="020B0604020202020204" pitchFamily="34" charset="0"/>
                <a:cs typeface="Arial" panose="020B0604020202020204" pitchFamily="34" charset="0"/>
              </a:rPr>
              <a:t>Chapter 08</a:t>
            </a:r>
            <a:br>
              <a:rPr lang="en-US" sz="4400" b="1" dirty="0">
                <a:solidFill>
                  <a:schemeClr val="accent2"/>
                </a:solidFill>
                <a:latin typeface="Arial" panose="020B0604020202020204" pitchFamily="34" charset="0"/>
                <a:cs typeface="Arial" panose="020B0604020202020204" pitchFamily="34" charset="0"/>
              </a:rPr>
            </a:br>
            <a:r>
              <a:rPr lang="en-US" sz="4400" b="1" dirty="0">
                <a:solidFill>
                  <a:schemeClr val="accent2"/>
                </a:solidFill>
                <a:latin typeface="Arial" panose="020B0604020202020204" pitchFamily="34" charset="0"/>
                <a:cs typeface="Arial" panose="020B0604020202020204" pitchFamily="34" charset="0"/>
              </a:rPr>
              <a:t>Knowledge Management Tools</a:t>
            </a:r>
          </a:p>
        </p:txBody>
      </p:sp>
    </p:spTree>
    <p:extLst>
      <p:ext uri="{BB962C8B-B14F-4D97-AF65-F5344CB8AC3E}">
        <p14:creationId xmlns:p14="http://schemas.microsoft.com/office/powerpoint/2010/main" val="1575391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a:t>
            </a:fld>
            <a:endParaRPr kumimoji="0" lang="en-US" dirty="0"/>
          </a:p>
        </p:txBody>
      </p:sp>
      <p:sp>
        <p:nvSpPr>
          <p:cNvPr id="4" name="Content Placeholder 3"/>
          <p:cNvSpPr>
            <a:spLocks noGrp="1"/>
          </p:cNvSpPr>
          <p:nvPr>
            <p:ph sz="quarter" idx="1"/>
          </p:nvPr>
        </p:nvSpPr>
        <p:spPr>
          <a:xfrm>
            <a:off x="0" y="1714726"/>
            <a:ext cx="12002308" cy="4322181"/>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Knowledge Capture and Creation Tools</a:t>
            </a:r>
          </a:p>
          <a:p>
            <a:pPr marL="342900" indent="-342900" algn="just">
              <a:lnSpc>
                <a:spcPct val="150000"/>
              </a:lnSpc>
              <a:spcBef>
                <a:spcPts val="600"/>
              </a:spcBef>
              <a:buClr>
                <a:srgbClr val="973735"/>
              </a:buClr>
              <a:buSzPct val="50000"/>
              <a:buFont typeface="Wingdings" pitchFamily="2" charset="2"/>
              <a:buChar char="u"/>
              <a:defRPr/>
            </a:pPr>
            <a:r>
              <a:rPr lang="en-US" dirty="0"/>
              <a:t>Visualization Tools and Knowledge Maps</a:t>
            </a:r>
          </a:p>
          <a:p>
            <a:pPr marL="342900" indent="-342900" algn="just">
              <a:lnSpc>
                <a:spcPct val="150000"/>
              </a:lnSpc>
              <a:spcBef>
                <a:spcPts val="600"/>
              </a:spcBef>
              <a:buClr>
                <a:srgbClr val="973735"/>
              </a:buClr>
              <a:buSzPct val="50000"/>
              <a:buFont typeface="Wingdings" pitchFamily="2" charset="2"/>
              <a:buChar char="u"/>
              <a:defRPr/>
            </a:pPr>
            <a:r>
              <a:rPr lang="en-US" dirty="0"/>
              <a:t>Knowledge Sharing and Dissemination Tools</a:t>
            </a:r>
          </a:p>
          <a:p>
            <a:pPr marL="342900" indent="-342900" algn="just">
              <a:lnSpc>
                <a:spcPct val="150000"/>
              </a:lnSpc>
              <a:spcBef>
                <a:spcPts val="600"/>
              </a:spcBef>
              <a:buClr>
                <a:srgbClr val="973735"/>
              </a:buClr>
              <a:buSzPct val="50000"/>
              <a:buFont typeface="Wingdings" pitchFamily="2" charset="2"/>
              <a:buChar char="u"/>
              <a:defRPr/>
            </a:pPr>
            <a:r>
              <a:rPr lang="en-US" dirty="0"/>
              <a:t>Knowledge Acquisition and Application Tools</a:t>
            </a:r>
          </a:p>
          <a:p>
            <a:pPr marL="342900" indent="-342900" algn="just">
              <a:lnSpc>
                <a:spcPct val="150000"/>
              </a:lnSpc>
              <a:spcBef>
                <a:spcPts val="600"/>
              </a:spcBef>
              <a:buClr>
                <a:srgbClr val="973735"/>
              </a:buClr>
              <a:buSzPct val="50000"/>
              <a:buFont typeface="Wingdings" pitchFamily="2" charset="2"/>
              <a:buChar char="u"/>
              <a:defRPr/>
            </a:pPr>
            <a:r>
              <a:rPr lang="en-US" dirty="0"/>
              <a:t>Strategic Implications of KM Tools</a:t>
            </a:r>
          </a:p>
          <a:p>
            <a:pPr marL="342900" indent="-342900" algn="just">
              <a:lnSpc>
                <a:spcPct val="150000"/>
              </a:lnSpc>
              <a:spcBef>
                <a:spcPts val="600"/>
              </a:spcBef>
              <a:buClr>
                <a:srgbClr val="973735"/>
              </a:buClr>
              <a:buSzPct val="50000"/>
              <a:buFont typeface="Wingdings" pitchFamily="2" charset="2"/>
              <a:buChar char="u"/>
              <a:defRPr/>
            </a:pPr>
            <a:r>
              <a:rPr lang="en-US" dirty="0"/>
              <a:t>Practical Implications of KM Tools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Objectives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The latest solutions on a single platform for:</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Information sharing and CRM</a:t>
            </a:r>
          </a:p>
          <a:p>
            <a:pPr marL="800100" lvl="1" indent="-342900" algn="just">
              <a:lnSpc>
                <a:spcPct val="100000"/>
              </a:lnSpc>
              <a:spcBef>
                <a:spcPts val="1800"/>
              </a:spcBef>
              <a:buClr>
                <a:srgbClr val="973735"/>
              </a:buClr>
              <a:buSzPct val="50000"/>
              <a:buFont typeface="Wingdings" pitchFamily="2" charset="2"/>
              <a:buChar char="u"/>
              <a:defRPr/>
            </a:pPr>
            <a:r>
              <a:rPr lang="en-US" sz="2600" dirty="0"/>
              <a:t>Project, task and event management</a:t>
            </a:r>
          </a:p>
          <a:p>
            <a:pPr marL="800100" lvl="1" indent="-342900" algn="just">
              <a:lnSpc>
                <a:spcPct val="100000"/>
              </a:lnSpc>
              <a:spcBef>
                <a:spcPts val="1800"/>
              </a:spcBef>
              <a:buClr>
                <a:srgbClr val="973735"/>
              </a:buClr>
              <a:buSzPct val="50000"/>
              <a:buFont typeface="Wingdings" pitchFamily="2" charset="2"/>
              <a:buChar char="u"/>
              <a:defRPr/>
            </a:pPr>
            <a:r>
              <a:rPr lang="en-US" sz="2600" dirty="0"/>
              <a:t>Online file server and document management</a:t>
            </a:r>
          </a:p>
          <a:p>
            <a:pPr marL="800100" lvl="1" indent="-342900" algn="just">
              <a:lnSpc>
                <a:spcPct val="100000"/>
              </a:lnSpc>
              <a:spcBef>
                <a:spcPts val="1800"/>
              </a:spcBef>
              <a:buClr>
                <a:srgbClr val="973735"/>
              </a:buClr>
              <a:buSzPct val="50000"/>
              <a:buFont typeface="Wingdings" pitchFamily="2" charset="2"/>
              <a:buChar char="u"/>
              <a:defRPr/>
            </a:pPr>
            <a:r>
              <a:rPr lang="en-US" sz="2600" dirty="0"/>
              <a:t>Data exchange and synchronization</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Incident tracking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Website content management</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KM Tools</a:t>
            </a:r>
          </a:p>
        </p:txBody>
      </p:sp>
    </p:spTree>
    <p:extLst>
      <p:ext uri="{BB962C8B-B14F-4D97-AF65-F5344CB8AC3E}">
        <p14:creationId xmlns:p14="http://schemas.microsoft.com/office/powerpoint/2010/main" val="1991387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a:t>
            </a:fld>
            <a:endParaRPr kumimoji="0" lang="en-US" dirty="0"/>
          </a:p>
        </p:txBody>
      </p:sp>
      <p:sp>
        <p:nvSpPr>
          <p:cNvPr id="4" name="Content Placeholder 3"/>
          <p:cNvSpPr>
            <a:spLocks noGrp="1"/>
          </p:cNvSpPr>
          <p:nvPr>
            <p:ph sz="quarter" idx="1"/>
          </p:nvPr>
        </p:nvSpPr>
        <p:spPr>
          <a:xfrm>
            <a:off x="0" y="1664593"/>
            <a:ext cx="11618843" cy="4816106"/>
          </a:xfrm>
        </p:spPr>
        <p:txBody>
          <a:bodyPr>
            <a:noAutofit/>
          </a:bodyPr>
          <a:lstStyle/>
          <a:p>
            <a:pPr marL="342900" indent="-342900" algn="just">
              <a:lnSpc>
                <a:spcPct val="110000"/>
              </a:lnSpc>
              <a:spcBef>
                <a:spcPts val="1200"/>
              </a:spcBef>
              <a:buClr>
                <a:srgbClr val="973735"/>
              </a:buClr>
              <a:buSzPct val="50000"/>
              <a:buFont typeface="Wingdings" pitchFamily="2" charset="2"/>
              <a:buChar char="u"/>
              <a:defRPr/>
            </a:pPr>
            <a:r>
              <a:rPr lang="en-US" sz="2600" dirty="0"/>
              <a:t>Ruggles (1997) classify KM technologies as tools that:</a:t>
            </a:r>
          </a:p>
          <a:p>
            <a:pPr marL="800100" lvl="1" indent="-342900" algn="just">
              <a:lnSpc>
                <a:spcPct val="110000"/>
              </a:lnSpc>
              <a:spcBef>
                <a:spcPts val="1200"/>
              </a:spcBef>
              <a:buClr>
                <a:srgbClr val="973735"/>
              </a:buClr>
              <a:buSzPct val="50000"/>
              <a:buFont typeface="Wingdings" pitchFamily="2" charset="2"/>
              <a:buChar char="u"/>
              <a:defRPr/>
            </a:pPr>
            <a:r>
              <a:rPr lang="en-US" dirty="0"/>
              <a:t>Enhance and enable knowledge creation, generation, codification and transfer</a:t>
            </a:r>
          </a:p>
          <a:p>
            <a:pPr marL="1257300" lvl="2" indent="-342900" algn="just">
              <a:lnSpc>
                <a:spcPct val="110000"/>
              </a:lnSpc>
              <a:spcBef>
                <a:spcPts val="1200"/>
              </a:spcBef>
              <a:buClr>
                <a:srgbClr val="973735"/>
              </a:buClr>
              <a:buSzPct val="50000"/>
              <a:buFont typeface="Wingdings" pitchFamily="2" charset="2"/>
              <a:buChar char="u"/>
              <a:defRPr/>
            </a:pPr>
            <a:r>
              <a:rPr lang="en-US" sz="2400" dirty="0"/>
              <a:t>Create or generate improved knowledge</a:t>
            </a:r>
          </a:p>
          <a:p>
            <a:pPr marL="1257300" lvl="2" indent="-342900" algn="just">
              <a:lnSpc>
                <a:spcPct val="110000"/>
              </a:lnSpc>
              <a:spcBef>
                <a:spcPts val="1200"/>
              </a:spcBef>
              <a:buClr>
                <a:srgbClr val="973735"/>
              </a:buClr>
              <a:buSzPct val="50000"/>
              <a:buFont typeface="Wingdings" pitchFamily="2" charset="2"/>
              <a:buChar char="u"/>
              <a:defRPr/>
            </a:pPr>
            <a:r>
              <a:rPr lang="en-US" sz="2400" dirty="0"/>
              <a:t>Codify to make available for others</a:t>
            </a:r>
          </a:p>
          <a:p>
            <a:pPr marL="1257300" lvl="2" indent="-342900" algn="just">
              <a:lnSpc>
                <a:spcPct val="110000"/>
              </a:lnSpc>
              <a:spcBef>
                <a:spcPts val="1200"/>
              </a:spcBef>
              <a:buClr>
                <a:srgbClr val="973735"/>
              </a:buClr>
              <a:buSzPct val="50000"/>
              <a:buFont typeface="Wingdings" pitchFamily="2" charset="2"/>
              <a:buChar char="u"/>
              <a:defRPr/>
            </a:pPr>
            <a:r>
              <a:rPr lang="en-US" sz="2400" dirty="0"/>
              <a:t>Transfer knowledge to decrease problems with time and space when communicating in an organization</a:t>
            </a:r>
          </a:p>
          <a:p>
            <a:pPr marL="1257300" lvl="2" indent="-342900" algn="just">
              <a:lnSpc>
                <a:spcPct val="110000"/>
              </a:lnSpc>
              <a:spcBef>
                <a:spcPts val="1200"/>
              </a:spcBef>
              <a:buClr>
                <a:srgbClr val="973735"/>
              </a:buClr>
              <a:buSzPct val="50000"/>
              <a:buFont typeface="Wingdings" pitchFamily="2" charset="2"/>
              <a:buChar char="u"/>
              <a:defRPr/>
            </a:pPr>
            <a:r>
              <a:rPr lang="en-US" sz="2400" dirty="0"/>
              <a:t>Efficiency of work</a:t>
            </a:r>
          </a:p>
          <a:p>
            <a:pPr marL="342900" indent="-342900" algn="just">
              <a:lnSpc>
                <a:spcPct val="110000"/>
              </a:lnSpc>
              <a:spcBef>
                <a:spcPts val="1200"/>
              </a:spcBef>
              <a:buClr>
                <a:srgbClr val="973735"/>
              </a:buClr>
              <a:buSzPct val="50000"/>
              <a:buFont typeface="Wingdings" pitchFamily="2" charset="2"/>
              <a:buChar char="u"/>
              <a:defRPr/>
            </a:pPr>
            <a:r>
              <a:rPr lang="en-US" sz="2600" dirty="0"/>
              <a:t>The choice of tools to be used should be align with the organization’s goals and strategy, and so 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Tree>
    <p:extLst>
      <p:ext uri="{BB962C8B-B14F-4D97-AF65-F5344CB8AC3E}">
        <p14:creationId xmlns:p14="http://schemas.microsoft.com/office/powerpoint/2010/main" val="11751424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a:t>
            </a:fld>
            <a:endParaRPr kumimoji="0" lang="en-US" dirty="0"/>
          </a:p>
        </p:txBody>
      </p:sp>
      <p:sp>
        <p:nvSpPr>
          <p:cNvPr id="4" name="Content Placeholder 3"/>
          <p:cNvSpPr>
            <a:spLocks noGrp="1"/>
          </p:cNvSpPr>
          <p:nvPr>
            <p:ph sz="quarter" idx="1"/>
          </p:nvPr>
        </p:nvSpPr>
        <p:spPr>
          <a:xfrm>
            <a:off x="0" y="1664593"/>
            <a:ext cx="10130118"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err="1"/>
              <a:t>Rollet’s</a:t>
            </a:r>
            <a:r>
              <a:rPr lang="en-US" dirty="0"/>
              <a:t> (2003) scheme of KM Tech:</a:t>
            </a:r>
          </a:p>
          <a:p>
            <a:pPr marL="800100" lvl="1" indent="-342900" algn="just">
              <a:lnSpc>
                <a:spcPct val="100000"/>
              </a:lnSpc>
              <a:spcBef>
                <a:spcPts val="1200"/>
              </a:spcBef>
              <a:buClr>
                <a:srgbClr val="973735"/>
              </a:buClr>
              <a:buSzPct val="50000"/>
              <a:buFont typeface="Wingdings" pitchFamily="2" charset="2"/>
              <a:buChar char="u"/>
              <a:defRPr/>
            </a:pPr>
            <a:r>
              <a:rPr lang="en-US" sz="2600" dirty="0"/>
              <a:t>Communication</a:t>
            </a:r>
          </a:p>
          <a:p>
            <a:pPr marL="800100" lvl="1" indent="-342900" algn="just">
              <a:lnSpc>
                <a:spcPct val="100000"/>
              </a:lnSpc>
              <a:spcBef>
                <a:spcPts val="1200"/>
              </a:spcBef>
              <a:buClr>
                <a:srgbClr val="973735"/>
              </a:buClr>
              <a:buSzPct val="50000"/>
              <a:buFont typeface="Wingdings" pitchFamily="2" charset="2"/>
              <a:buChar char="u"/>
              <a:defRPr/>
            </a:pPr>
            <a:r>
              <a:rPr lang="en-US" sz="2600" dirty="0"/>
              <a:t>Collaboration</a:t>
            </a:r>
          </a:p>
          <a:p>
            <a:pPr marL="800100" lvl="1" indent="-342900" algn="just">
              <a:lnSpc>
                <a:spcPct val="100000"/>
              </a:lnSpc>
              <a:spcBef>
                <a:spcPts val="1200"/>
              </a:spcBef>
              <a:buClr>
                <a:srgbClr val="973735"/>
              </a:buClr>
              <a:buSzPct val="50000"/>
              <a:buFont typeface="Wingdings" pitchFamily="2" charset="2"/>
              <a:buChar char="u"/>
              <a:defRPr/>
            </a:pPr>
            <a:r>
              <a:rPr lang="en-US" sz="2600" dirty="0"/>
              <a:t>Content creation, authoring</a:t>
            </a:r>
          </a:p>
          <a:p>
            <a:pPr marL="800100" lvl="1" indent="-342900" algn="just">
              <a:lnSpc>
                <a:spcPct val="100000"/>
              </a:lnSpc>
              <a:spcBef>
                <a:spcPts val="1200"/>
              </a:spcBef>
              <a:buClr>
                <a:srgbClr val="973735"/>
              </a:buClr>
              <a:buSzPct val="50000"/>
              <a:buFont typeface="Wingdings" pitchFamily="2" charset="2"/>
              <a:buChar char="u"/>
              <a:defRPr/>
            </a:pPr>
            <a:r>
              <a:rPr lang="en-US" sz="2600" dirty="0"/>
              <a:t>Content management</a:t>
            </a:r>
          </a:p>
          <a:p>
            <a:pPr marL="457200" lvl="1" indent="0" algn="just">
              <a:lnSpc>
                <a:spcPct val="150000"/>
              </a:lnSpc>
              <a:spcBef>
                <a:spcPts val="600"/>
              </a:spcBef>
              <a:buClr>
                <a:srgbClr val="973735"/>
              </a:buClr>
              <a:buSzPct val="50000"/>
              <a:buNone/>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
        <p:nvSpPr>
          <p:cNvPr id="2" name="Content Placeholder 3">
            <a:extLst>
              <a:ext uri="{FF2B5EF4-FFF2-40B4-BE49-F238E27FC236}">
                <a16:creationId xmlns:a16="http://schemas.microsoft.com/office/drawing/2014/main" id="{2160D708-6519-CE24-9E7F-B8B71DDBE1F8}"/>
              </a:ext>
            </a:extLst>
          </p:cNvPr>
          <p:cNvSpPr txBox="1">
            <a:spLocks/>
          </p:cNvSpPr>
          <p:nvPr/>
        </p:nvSpPr>
        <p:spPr>
          <a:xfrm>
            <a:off x="6663690" y="2433068"/>
            <a:ext cx="4975412" cy="331934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gn="just">
              <a:lnSpc>
                <a:spcPct val="110000"/>
              </a:lnSpc>
              <a:spcBef>
                <a:spcPts val="1200"/>
              </a:spcBef>
              <a:buClr>
                <a:srgbClr val="973735"/>
              </a:buClr>
              <a:buSzPct val="50000"/>
              <a:buFont typeface="Wingdings" pitchFamily="2" charset="2"/>
              <a:buChar char="u"/>
              <a:defRPr/>
            </a:pPr>
            <a:r>
              <a:rPr lang="en-US" sz="2600" dirty="0"/>
              <a:t>Adaption</a:t>
            </a:r>
          </a:p>
          <a:p>
            <a:pPr marL="800100" lvl="1" indent="-342900" algn="just">
              <a:lnSpc>
                <a:spcPct val="110000"/>
              </a:lnSpc>
              <a:spcBef>
                <a:spcPts val="1200"/>
              </a:spcBef>
              <a:buClr>
                <a:srgbClr val="973735"/>
              </a:buClr>
              <a:buSzPct val="50000"/>
              <a:buFont typeface="Wingdings" pitchFamily="2" charset="2"/>
              <a:buChar char="u"/>
              <a:defRPr/>
            </a:pPr>
            <a:r>
              <a:rPr lang="en-US" sz="2600" dirty="0"/>
              <a:t>E-learning</a:t>
            </a:r>
          </a:p>
          <a:p>
            <a:pPr marL="800100" lvl="1" indent="-342900" algn="just">
              <a:lnSpc>
                <a:spcPct val="110000"/>
              </a:lnSpc>
              <a:spcBef>
                <a:spcPts val="1200"/>
              </a:spcBef>
              <a:buClr>
                <a:srgbClr val="973735"/>
              </a:buClr>
              <a:buSzPct val="50000"/>
              <a:buFont typeface="Wingdings" pitchFamily="2" charset="2"/>
              <a:buChar char="u"/>
              <a:defRPr/>
            </a:pPr>
            <a:r>
              <a:rPr lang="en-US" sz="2600" dirty="0"/>
              <a:t>Personal tools</a:t>
            </a:r>
          </a:p>
          <a:p>
            <a:pPr marL="800100" lvl="1" indent="-342900" algn="just">
              <a:lnSpc>
                <a:spcPct val="110000"/>
              </a:lnSpc>
              <a:spcBef>
                <a:spcPts val="1200"/>
              </a:spcBef>
              <a:buClr>
                <a:srgbClr val="973735"/>
              </a:buClr>
              <a:buSzPct val="50000"/>
              <a:buFont typeface="Wingdings" pitchFamily="2" charset="2"/>
              <a:buChar char="u"/>
              <a:defRPr/>
            </a:pPr>
            <a:r>
              <a:rPr lang="en-US" sz="2600" dirty="0"/>
              <a:t>Artificial intelligence</a:t>
            </a:r>
          </a:p>
          <a:p>
            <a:pPr marL="800100" lvl="1" indent="-342900" algn="just">
              <a:lnSpc>
                <a:spcPct val="110000"/>
              </a:lnSpc>
              <a:spcBef>
                <a:spcPts val="1200"/>
              </a:spcBef>
              <a:buClr>
                <a:srgbClr val="973735"/>
              </a:buClr>
              <a:buSzPct val="50000"/>
              <a:buFont typeface="Wingdings" pitchFamily="2" charset="2"/>
              <a:buChar char="u"/>
              <a:defRPr/>
            </a:pPr>
            <a:r>
              <a:rPr lang="en-US" sz="2600" dirty="0"/>
              <a:t>Networking</a:t>
            </a:r>
          </a:p>
          <a:p>
            <a:pPr marL="457200" lvl="1" indent="0" algn="just">
              <a:lnSpc>
                <a:spcPct val="110000"/>
              </a:lnSpc>
              <a:spcBef>
                <a:spcPts val="1200"/>
              </a:spcBef>
              <a:buClr>
                <a:srgbClr val="973735"/>
              </a:buClr>
              <a:buSzPct val="50000"/>
              <a:buFont typeface="Arial" panose="020B0604020202020204" pitchFamily="34" charset="0"/>
              <a:buNone/>
              <a:defRPr/>
            </a:pPr>
            <a:endParaRPr lang="en-US" dirty="0"/>
          </a:p>
        </p:txBody>
      </p:sp>
    </p:spTree>
    <p:extLst>
      <p:ext uri="{BB962C8B-B14F-4D97-AF65-F5344CB8AC3E}">
        <p14:creationId xmlns:p14="http://schemas.microsoft.com/office/powerpoint/2010/main" val="3104244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6</a:t>
            </a:fld>
            <a:endParaRPr kumimoji="0" lang="en-US" dirty="0"/>
          </a:p>
        </p:txBody>
      </p:sp>
      <p:sp>
        <p:nvSpPr>
          <p:cNvPr id="4" name="Content Placeholder 3"/>
          <p:cNvSpPr>
            <a:spLocks noGrp="1"/>
          </p:cNvSpPr>
          <p:nvPr>
            <p:ph sz="quarter" idx="1"/>
          </p:nvPr>
        </p:nvSpPr>
        <p:spPr>
          <a:xfrm>
            <a:off x="1" y="1664593"/>
            <a:ext cx="5039138"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dirty="0"/>
              <a:t>Alan Frost’s KM Tools:</a:t>
            </a:r>
          </a:p>
          <a:p>
            <a:pPr marL="800100" lvl="1" indent="-342900" algn="just">
              <a:lnSpc>
                <a:spcPct val="100000"/>
              </a:lnSpc>
              <a:spcBef>
                <a:spcPts val="1200"/>
              </a:spcBef>
              <a:buClr>
                <a:srgbClr val="973735"/>
              </a:buClr>
              <a:buSzPct val="50000"/>
              <a:buFont typeface="Wingdings" pitchFamily="2" charset="2"/>
              <a:buChar char="u"/>
              <a:defRPr/>
            </a:pPr>
            <a:r>
              <a:rPr lang="en-US" sz="2600" dirty="0"/>
              <a:t>Groupware system and KM 2.0</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intranet and extranet</a:t>
            </a:r>
          </a:p>
          <a:p>
            <a:pPr marL="800100" lvl="1" indent="-342900" algn="just">
              <a:lnSpc>
                <a:spcPct val="100000"/>
              </a:lnSpc>
              <a:spcBef>
                <a:spcPts val="1200"/>
              </a:spcBef>
              <a:buClr>
                <a:srgbClr val="973735"/>
              </a:buClr>
              <a:buSzPct val="50000"/>
              <a:buFont typeface="Wingdings" pitchFamily="2" charset="2"/>
              <a:buChar char="u"/>
              <a:defRPr/>
            </a:pPr>
            <a:r>
              <a:rPr lang="en-US" sz="2600" dirty="0"/>
              <a:t>Data warehousing, data mining, and OLAP</a:t>
            </a:r>
          </a:p>
          <a:p>
            <a:pPr marL="800100" lvl="1" indent="-342900" algn="just">
              <a:lnSpc>
                <a:spcPct val="100000"/>
              </a:lnSpc>
              <a:spcBef>
                <a:spcPts val="1200"/>
              </a:spcBef>
              <a:buClr>
                <a:srgbClr val="973735"/>
              </a:buClr>
              <a:buSzPct val="50000"/>
              <a:buFont typeface="Wingdings" pitchFamily="2" charset="2"/>
              <a:buChar char="u"/>
              <a:defRPr/>
            </a:pPr>
            <a:r>
              <a:rPr lang="en-US" sz="2600" dirty="0"/>
              <a:t>Decision Support Systems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Introduction</a:t>
            </a:r>
          </a:p>
        </p:txBody>
      </p:sp>
      <p:sp>
        <p:nvSpPr>
          <p:cNvPr id="2" name="Content Placeholder 3">
            <a:extLst>
              <a:ext uri="{FF2B5EF4-FFF2-40B4-BE49-F238E27FC236}">
                <a16:creationId xmlns:a16="http://schemas.microsoft.com/office/drawing/2014/main" id="{F621165E-AD7D-587C-5FCE-8347F4DB76F1}"/>
              </a:ext>
            </a:extLst>
          </p:cNvPr>
          <p:cNvSpPr txBox="1">
            <a:spLocks/>
          </p:cNvSpPr>
          <p:nvPr/>
        </p:nvSpPr>
        <p:spPr>
          <a:xfrm>
            <a:off x="6096000" y="2493460"/>
            <a:ext cx="6158955" cy="35567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00100" lvl="1" indent="-342900">
              <a:lnSpc>
                <a:spcPct val="100000"/>
              </a:lnSpc>
              <a:spcBef>
                <a:spcPts val="1200"/>
              </a:spcBef>
              <a:buClr>
                <a:srgbClr val="973735"/>
              </a:buClr>
              <a:buSzPct val="50000"/>
              <a:buFont typeface="Wingdings" pitchFamily="2" charset="2"/>
              <a:buChar char="u"/>
              <a:defRPr/>
            </a:pPr>
            <a:r>
              <a:rPr lang="en-US" sz="2600" dirty="0"/>
              <a:t>Content management systems</a:t>
            </a:r>
          </a:p>
          <a:p>
            <a:pPr marL="800100" lvl="1" indent="-342900">
              <a:lnSpc>
                <a:spcPct val="100000"/>
              </a:lnSpc>
              <a:spcBef>
                <a:spcPts val="1200"/>
              </a:spcBef>
              <a:buClr>
                <a:srgbClr val="973735"/>
              </a:buClr>
              <a:buSzPct val="50000"/>
              <a:buFont typeface="Wingdings" pitchFamily="2" charset="2"/>
              <a:buChar char="u"/>
              <a:defRPr/>
            </a:pPr>
            <a:r>
              <a:rPr lang="en-US" sz="2600" dirty="0"/>
              <a:t>Documents management systems</a:t>
            </a:r>
          </a:p>
          <a:p>
            <a:pPr marL="800100" lvl="1" indent="-342900">
              <a:lnSpc>
                <a:spcPct val="100000"/>
              </a:lnSpc>
              <a:spcBef>
                <a:spcPts val="1200"/>
              </a:spcBef>
              <a:buClr>
                <a:srgbClr val="973735"/>
              </a:buClr>
              <a:buSzPct val="50000"/>
              <a:buFont typeface="Wingdings" pitchFamily="2" charset="2"/>
              <a:buChar char="u"/>
              <a:defRPr/>
            </a:pPr>
            <a:r>
              <a:rPr lang="en-US" sz="2600" dirty="0"/>
              <a:t>Artificial intelligence tools</a:t>
            </a:r>
          </a:p>
          <a:p>
            <a:pPr marL="800100" lvl="1" indent="-342900">
              <a:lnSpc>
                <a:spcPct val="100000"/>
              </a:lnSpc>
              <a:spcBef>
                <a:spcPts val="1200"/>
              </a:spcBef>
              <a:buClr>
                <a:srgbClr val="973735"/>
              </a:buClr>
              <a:buSzPct val="50000"/>
              <a:buFont typeface="Wingdings" pitchFamily="2" charset="2"/>
              <a:buChar char="u"/>
              <a:defRPr/>
            </a:pPr>
            <a:r>
              <a:rPr lang="en-US" sz="2600" dirty="0"/>
              <a:t>Simulation tools</a:t>
            </a:r>
          </a:p>
          <a:p>
            <a:pPr marL="800100" lvl="1" indent="-342900">
              <a:lnSpc>
                <a:spcPct val="100000"/>
              </a:lnSpc>
              <a:spcBef>
                <a:spcPts val="1200"/>
              </a:spcBef>
              <a:buClr>
                <a:srgbClr val="973735"/>
              </a:buClr>
              <a:buSzPct val="50000"/>
              <a:buFont typeface="Wingdings" pitchFamily="2" charset="2"/>
              <a:buChar char="u"/>
              <a:defRPr/>
            </a:pPr>
            <a:r>
              <a:rPr lang="en-US" sz="2600" dirty="0"/>
              <a:t>Semantic networks</a:t>
            </a:r>
          </a:p>
        </p:txBody>
      </p:sp>
    </p:spTree>
    <p:extLst>
      <p:ext uri="{BB962C8B-B14F-4D97-AF65-F5344CB8AC3E}">
        <p14:creationId xmlns:p14="http://schemas.microsoft.com/office/powerpoint/2010/main" val="2919754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7</a:t>
            </a:fld>
            <a:endParaRPr kumimoji="0" lang="en-US" dirty="0"/>
          </a:p>
        </p:txBody>
      </p:sp>
      <p:sp>
        <p:nvSpPr>
          <p:cNvPr id="4" name="Content Placeholder 3"/>
          <p:cNvSpPr>
            <a:spLocks noGrp="1"/>
          </p:cNvSpPr>
          <p:nvPr>
            <p:ph sz="quarter" idx="1"/>
          </p:nvPr>
        </p:nvSpPr>
        <p:spPr>
          <a:xfrm>
            <a:off x="0" y="1664593"/>
            <a:ext cx="11708296" cy="4816106"/>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dirty="0"/>
              <a:t>Knowledge sharing</a:t>
            </a:r>
          </a:p>
          <a:p>
            <a:pPr marL="342900" indent="-342900" algn="just">
              <a:lnSpc>
                <a:spcPct val="100000"/>
              </a:lnSpc>
              <a:spcBef>
                <a:spcPts val="1800"/>
              </a:spcBef>
              <a:buClr>
                <a:srgbClr val="973735"/>
              </a:buClr>
              <a:buSzPct val="50000"/>
              <a:buFont typeface="Wingdings" pitchFamily="2" charset="2"/>
              <a:buChar char="u"/>
              <a:defRPr/>
            </a:pPr>
            <a:r>
              <a:rPr lang="en-US" dirty="0"/>
              <a:t>Innovation management: recording and management of new ideas.</a:t>
            </a:r>
          </a:p>
          <a:p>
            <a:pPr marL="342900" indent="-342900" algn="just">
              <a:lnSpc>
                <a:spcPct val="100000"/>
              </a:lnSpc>
              <a:spcBef>
                <a:spcPts val="1800"/>
              </a:spcBef>
              <a:buClr>
                <a:srgbClr val="973735"/>
              </a:buClr>
              <a:buSzPct val="50000"/>
              <a:buFont typeface="Wingdings" pitchFamily="2" charset="2"/>
              <a:buChar char="u"/>
              <a:defRPr/>
            </a:pPr>
            <a:r>
              <a:rPr lang="en-US" dirty="0"/>
              <a:t>Comments</a:t>
            </a:r>
          </a:p>
          <a:p>
            <a:pPr marL="342900" indent="-342900" algn="just">
              <a:lnSpc>
                <a:spcPct val="100000"/>
              </a:lnSpc>
              <a:spcBef>
                <a:spcPts val="1800"/>
              </a:spcBef>
              <a:buClr>
                <a:srgbClr val="973735"/>
              </a:buClr>
              <a:buSzPct val="50000"/>
              <a:buFont typeface="Wingdings" pitchFamily="2" charset="2"/>
              <a:buChar char="u"/>
              <a:defRPr/>
            </a:pPr>
            <a:r>
              <a:rPr lang="en-US" dirty="0"/>
              <a:t>Ratings: point to good sources of knowledge</a:t>
            </a:r>
          </a:p>
          <a:p>
            <a:pPr marL="342900" indent="-342900" algn="just">
              <a:lnSpc>
                <a:spcPct val="100000"/>
              </a:lnSpc>
              <a:spcBef>
                <a:spcPts val="1800"/>
              </a:spcBef>
              <a:buClr>
                <a:srgbClr val="973735"/>
              </a:buClr>
              <a:buSzPct val="50000"/>
              <a:buFont typeface="Wingdings" pitchFamily="2" charset="2"/>
              <a:buChar char="u"/>
              <a:defRPr/>
            </a:pPr>
            <a:r>
              <a:rPr lang="en-US" dirty="0"/>
              <a:t>Participation rewards: Point systems, badges, and other symbolic</a:t>
            </a:r>
          </a:p>
          <a:p>
            <a:pPr marL="342900" indent="-342900" algn="just">
              <a:lnSpc>
                <a:spcPct val="100000"/>
              </a:lnSpc>
              <a:spcBef>
                <a:spcPts val="1800"/>
              </a:spcBef>
              <a:buClr>
                <a:srgbClr val="973735"/>
              </a:buClr>
              <a:buSzPct val="50000"/>
              <a:buFont typeface="Wingdings" pitchFamily="2" charset="2"/>
              <a:buChar char="u"/>
              <a:defRPr/>
            </a:pPr>
            <a:r>
              <a:rPr lang="en-US" dirty="0"/>
              <a:t>Customized collections: Allowing users to customize content collections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What KM tools should do?</a:t>
            </a:r>
          </a:p>
        </p:txBody>
      </p:sp>
    </p:spTree>
    <p:extLst>
      <p:ext uri="{BB962C8B-B14F-4D97-AF65-F5344CB8AC3E}">
        <p14:creationId xmlns:p14="http://schemas.microsoft.com/office/powerpoint/2010/main" val="9486147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8</a:t>
            </a:fld>
            <a:endParaRPr kumimoji="0" lang="en-US" dirty="0"/>
          </a:p>
        </p:txBody>
      </p:sp>
      <p:graphicFrame>
        <p:nvGraphicFramePr>
          <p:cNvPr id="2" name="Table 4">
            <a:extLst>
              <a:ext uri="{FF2B5EF4-FFF2-40B4-BE49-F238E27FC236}">
                <a16:creationId xmlns:a16="http://schemas.microsoft.com/office/drawing/2014/main" id="{43097A21-CED5-E697-3D71-03987882F6C2}"/>
              </a:ext>
            </a:extLst>
          </p:cNvPr>
          <p:cNvGraphicFramePr>
            <a:graphicFrameLocks noGrp="1"/>
          </p:cNvGraphicFramePr>
          <p:nvPr>
            <p:ph sz="quarter" idx="1"/>
            <p:extLst>
              <p:ext uri="{D42A27DB-BD31-4B8C-83A1-F6EECF244321}">
                <p14:modId xmlns:p14="http://schemas.microsoft.com/office/powerpoint/2010/main" val="1481099827"/>
              </p:ext>
            </p:extLst>
          </p:nvPr>
        </p:nvGraphicFramePr>
        <p:xfrm>
          <a:off x="477077" y="2318840"/>
          <a:ext cx="11420062" cy="4023360"/>
        </p:xfrm>
        <a:graphic>
          <a:graphicData uri="http://schemas.openxmlformats.org/drawingml/2006/table">
            <a:tbl>
              <a:tblPr firstRow="1" bandRow="1">
                <a:tableStyleId>{21E4AEA4-8DFA-4A89-87EB-49C32662AFE0}</a:tableStyleId>
              </a:tblPr>
              <a:tblGrid>
                <a:gridCol w="3094283">
                  <a:extLst>
                    <a:ext uri="{9D8B030D-6E8A-4147-A177-3AD203B41FA5}">
                      <a16:colId xmlns:a16="http://schemas.microsoft.com/office/drawing/2014/main" val="713583456"/>
                    </a:ext>
                  </a:extLst>
                </a:gridCol>
                <a:gridCol w="4522692">
                  <a:extLst>
                    <a:ext uri="{9D8B030D-6E8A-4147-A177-3AD203B41FA5}">
                      <a16:colId xmlns:a16="http://schemas.microsoft.com/office/drawing/2014/main" val="3191237473"/>
                    </a:ext>
                  </a:extLst>
                </a:gridCol>
                <a:gridCol w="3803087">
                  <a:extLst>
                    <a:ext uri="{9D8B030D-6E8A-4147-A177-3AD203B41FA5}">
                      <a16:colId xmlns:a16="http://schemas.microsoft.com/office/drawing/2014/main" val="1348881218"/>
                    </a:ext>
                  </a:extLst>
                </a:gridCol>
              </a:tblGrid>
              <a:tr h="370840">
                <a:tc>
                  <a:txBody>
                    <a:bodyPr/>
                    <a:lstStyle/>
                    <a:p>
                      <a:pPr algn="ctr"/>
                      <a:r>
                        <a:rPr lang="en-US" dirty="0"/>
                        <a:t>Knowledge creation and codification phase</a:t>
                      </a:r>
                    </a:p>
                  </a:txBody>
                  <a:tcPr/>
                </a:tc>
                <a:tc>
                  <a:txBody>
                    <a:bodyPr/>
                    <a:lstStyle/>
                    <a:p>
                      <a:pPr algn="ctr"/>
                      <a:r>
                        <a:rPr lang="en-US" dirty="0"/>
                        <a:t>Knowledge sharing and dissemination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Knowledge acquisition and application phase</a:t>
                      </a:r>
                    </a:p>
                  </a:txBody>
                  <a:tcPr/>
                </a:tc>
                <a:extLst>
                  <a:ext uri="{0D108BD9-81ED-4DB2-BD59-A6C34878D82A}">
                    <a16:rowId xmlns:a16="http://schemas.microsoft.com/office/drawing/2014/main" val="89598415"/>
                  </a:ext>
                </a:extLst>
              </a:tr>
              <a:tr h="370840">
                <a:tc>
                  <a:txBody>
                    <a:bodyPr/>
                    <a:lstStyle/>
                    <a:p>
                      <a:r>
                        <a:rPr lang="en-US" dirty="0"/>
                        <a:t>Content creation</a:t>
                      </a:r>
                    </a:p>
                    <a:p>
                      <a:r>
                        <a:rPr lang="en-US" dirty="0"/>
                        <a:t>• Authoring tools</a:t>
                      </a:r>
                    </a:p>
                    <a:p>
                      <a:r>
                        <a:rPr lang="en-US" dirty="0"/>
                        <a:t>• Templates</a:t>
                      </a:r>
                    </a:p>
                    <a:p>
                      <a:r>
                        <a:rPr lang="en-US" dirty="0"/>
                        <a:t>• Annotations</a:t>
                      </a:r>
                    </a:p>
                    <a:p>
                      <a:r>
                        <a:rPr lang="en-US" dirty="0"/>
                        <a:t>• Data mining</a:t>
                      </a:r>
                    </a:p>
                    <a:p>
                      <a:r>
                        <a:rPr lang="en-US" dirty="0"/>
                        <a:t>• Expertise profiling</a:t>
                      </a:r>
                    </a:p>
                    <a:p>
                      <a:r>
                        <a:rPr lang="en-US" dirty="0"/>
                        <a:t>• Mashups</a:t>
                      </a:r>
                    </a:p>
                    <a:p>
                      <a:r>
                        <a:rPr lang="en-US" dirty="0"/>
                        <a:t>• Visualization</a:t>
                      </a:r>
                    </a:p>
                    <a:p>
                      <a:r>
                        <a:rPr lang="en-US" dirty="0"/>
                        <a:t>• Knowledge maps</a:t>
                      </a:r>
                    </a:p>
                    <a:p>
                      <a:r>
                        <a:rPr lang="en-US" dirty="0"/>
                        <a:t>• Videos (e.g. exit interviews)</a:t>
                      </a:r>
                    </a:p>
                  </a:txBody>
                  <a:tcPr/>
                </a:tc>
                <a:tc>
                  <a:txBody>
                    <a:bodyPr/>
                    <a:lstStyle/>
                    <a:p>
                      <a:r>
                        <a:rPr lang="en-US" dirty="0"/>
                        <a:t>Communication and collaboration technologies</a:t>
                      </a:r>
                    </a:p>
                    <a:p>
                      <a:r>
                        <a:rPr lang="en-US" dirty="0"/>
                        <a:t>• Telephone/Internet telephony/Fax</a:t>
                      </a:r>
                    </a:p>
                    <a:p>
                      <a:r>
                        <a:rPr lang="en-US" dirty="0"/>
                        <a:t>• Videoconferencing/web conferencing (e.g. Skype)</a:t>
                      </a:r>
                    </a:p>
                    <a:p>
                      <a:r>
                        <a:rPr lang="en-US" dirty="0"/>
                        <a:t>• Chat rooms/instant messaging/Twitter</a:t>
                      </a:r>
                    </a:p>
                    <a:p>
                      <a:r>
                        <a:rPr lang="en-US" dirty="0"/>
                        <a:t>• Blogs</a:t>
                      </a:r>
                    </a:p>
                    <a:p>
                      <a:r>
                        <a:rPr lang="en-US" dirty="0"/>
                        <a:t>• Email/discussion forums/Wikis</a:t>
                      </a:r>
                    </a:p>
                    <a:p>
                      <a:r>
                        <a:rPr lang="en-US" dirty="0"/>
                        <a:t>• Groupware and collaborative work spaces</a:t>
                      </a:r>
                    </a:p>
                    <a:p>
                      <a:r>
                        <a:rPr lang="en-US" dirty="0"/>
                        <a:t>• Social media</a:t>
                      </a:r>
                    </a:p>
                    <a:p>
                      <a:r>
                        <a:rPr lang="en-US" dirty="0"/>
                        <a:t>• Web 2.0/KM 2.0</a:t>
                      </a:r>
                    </a:p>
                  </a:txBody>
                  <a:tcPr/>
                </a:tc>
                <a:tc>
                  <a:txBody>
                    <a:bodyPr/>
                    <a:lstStyle/>
                    <a:p>
                      <a:r>
                        <a:rPr lang="en-US" dirty="0"/>
                        <a:t>Knowledge acquisition</a:t>
                      </a:r>
                    </a:p>
                    <a:p>
                      <a:r>
                        <a:rPr lang="en-US" dirty="0"/>
                        <a:t>• E-learning</a:t>
                      </a:r>
                    </a:p>
                    <a:p>
                      <a:r>
                        <a:rPr lang="en-US" dirty="0"/>
                        <a:t>• Lessons learned databases</a:t>
                      </a:r>
                    </a:p>
                    <a:p>
                      <a:r>
                        <a:rPr lang="en-US" dirty="0"/>
                        <a:t>• Storytelling databases</a:t>
                      </a:r>
                    </a:p>
                    <a:p>
                      <a:r>
                        <a:rPr lang="en-US" dirty="0"/>
                        <a:t>• Best practices databases</a:t>
                      </a:r>
                    </a:p>
                    <a:p>
                      <a:r>
                        <a:rPr lang="en-US" dirty="0"/>
                        <a:t>• Search tools</a:t>
                      </a:r>
                    </a:p>
                  </a:txBody>
                  <a:tcPr/>
                </a:tc>
                <a:extLst>
                  <a:ext uri="{0D108BD9-81ED-4DB2-BD59-A6C34878D82A}">
                    <a16:rowId xmlns:a16="http://schemas.microsoft.com/office/drawing/2014/main" val="3605858830"/>
                  </a:ext>
                </a:extLst>
              </a:tr>
            </a:tbl>
          </a:graphicData>
        </a:graphic>
      </p:graphicFrame>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What KM tools should do?</a:t>
            </a:r>
          </a:p>
        </p:txBody>
      </p:sp>
      <p:graphicFrame>
        <p:nvGraphicFramePr>
          <p:cNvPr id="5" name="Object 4">
            <a:extLst>
              <a:ext uri="{FF2B5EF4-FFF2-40B4-BE49-F238E27FC236}">
                <a16:creationId xmlns:a16="http://schemas.microsoft.com/office/drawing/2014/main" id="{3685F820-3160-CAB1-EFCC-93D53A311022}"/>
              </a:ext>
            </a:extLst>
          </p:cNvPr>
          <p:cNvGraphicFramePr>
            <a:graphicFrameLocks noChangeAspect="1"/>
          </p:cNvGraphicFramePr>
          <p:nvPr>
            <p:extLst>
              <p:ext uri="{D42A27DB-BD31-4B8C-83A1-F6EECF244321}">
                <p14:modId xmlns:p14="http://schemas.microsoft.com/office/powerpoint/2010/main" val="3442871705"/>
              </p:ext>
            </p:extLst>
          </p:nvPr>
        </p:nvGraphicFramePr>
        <p:xfrm>
          <a:off x="3115523" y="1804296"/>
          <a:ext cx="5570537" cy="296863"/>
        </p:xfrm>
        <a:graphic>
          <a:graphicData uri="http://schemas.openxmlformats.org/presentationml/2006/ole">
            <mc:AlternateContent xmlns:mc="http://schemas.openxmlformats.org/markup-compatibility/2006">
              <mc:Choice xmlns:v="urn:schemas-microsoft-com:vml" Requires="v">
                <p:oleObj name="Bitmap Image" r:id="rId3" imgW="5570280" imgH="297360" progId="PBrush">
                  <p:embed/>
                </p:oleObj>
              </mc:Choice>
              <mc:Fallback>
                <p:oleObj name="Bitmap Image" r:id="rId3" imgW="5570280" imgH="297360" progId="PBrush">
                  <p:embed/>
                  <p:pic>
                    <p:nvPicPr>
                      <p:cNvPr id="0" name=""/>
                      <p:cNvPicPr/>
                      <p:nvPr/>
                    </p:nvPicPr>
                    <p:blipFill>
                      <a:blip r:embed="rId4"/>
                      <a:stretch>
                        <a:fillRect/>
                      </a:stretch>
                    </p:blipFill>
                    <p:spPr>
                      <a:xfrm>
                        <a:off x="3115523" y="1804296"/>
                        <a:ext cx="5570537" cy="296863"/>
                      </a:xfrm>
                      <a:prstGeom prst="rect">
                        <a:avLst/>
                      </a:prstGeom>
                    </p:spPr>
                  </p:pic>
                </p:oleObj>
              </mc:Fallback>
            </mc:AlternateContent>
          </a:graphicData>
        </a:graphic>
      </p:graphicFrame>
    </p:spTree>
    <p:extLst>
      <p:ext uri="{BB962C8B-B14F-4D97-AF65-F5344CB8AC3E}">
        <p14:creationId xmlns:p14="http://schemas.microsoft.com/office/powerpoint/2010/main" val="1673754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9</a:t>
            </a:fld>
            <a:endParaRPr kumimoji="0" lang="en-US" dirty="0"/>
          </a:p>
        </p:txBody>
      </p:sp>
      <p:graphicFrame>
        <p:nvGraphicFramePr>
          <p:cNvPr id="2" name="Table 4">
            <a:extLst>
              <a:ext uri="{FF2B5EF4-FFF2-40B4-BE49-F238E27FC236}">
                <a16:creationId xmlns:a16="http://schemas.microsoft.com/office/drawing/2014/main" id="{43097A21-CED5-E697-3D71-03987882F6C2}"/>
              </a:ext>
            </a:extLst>
          </p:cNvPr>
          <p:cNvGraphicFramePr>
            <a:graphicFrameLocks noGrp="1"/>
          </p:cNvGraphicFramePr>
          <p:nvPr>
            <p:ph sz="quarter" idx="1"/>
          </p:nvPr>
        </p:nvGraphicFramePr>
        <p:xfrm>
          <a:off x="437322" y="2318840"/>
          <a:ext cx="11509513" cy="3749040"/>
        </p:xfrm>
        <a:graphic>
          <a:graphicData uri="http://schemas.openxmlformats.org/drawingml/2006/table">
            <a:tbl>
              <a:tblPr firstRow="1" bandRow="1">
                <a:tableStyleId>{21E4AEA4-8DFA-4A89-87EB-49C32662AFE0}</a:tableStyleId>
              </a:tblPr>
              <a:tblGrid>
                <a:gridCol w="4462669">
                  <a:extLst>
                    <a:ext uri="{9D8B030D-6E8A-4147-A177-3AD203B41FA5}">
                      <a16:colId xmlns:a16="http://schemas.microsoft.com/office/drawing/2014/main" val="713583456"/>
                    </a:ext>
                  </a:extLst>
                </a:gridCol>
                <a:gridCol w="3213968">
                  <a:extLst>
                    <a:ext uri="{9D8B030D-6E8A-4147-A177-3AD203B41FA5}">
                      <a16:colId xmlns:a16="http://schemas.microsoft.com/office/drawing/2014/main" val="3191237473"/>
                    </a:ext>
                  </a:extLst>
                </a:gridCol>
                <a:gridCol w="3832876">
                  <a:extLst>
                    <a:ext uri="{9D8B030D-6E8A-4147-A177-3AD203B41FA5}">
                      <a16:colId xmlns:a16="http://schemas.microsoft.com/office/drawing/2014/main" val="1348881218"/>
                    </a:ext>
                  </a:extLst>
                </a:gridCol>
              </a:tblGrid>
              <a:tr h="370840">
                <a:tc>
                  <a:txBody>
                    <a:bodyPr/>
                    <a:lstStyle/>
                    <a:p>
                      <a:pPr algn="ctr"/>
                      <a:r>
                        <a:rPr lang="en-US" dirty="0"/>
                        <a:t>Knowledge creation </a:t>
                      </a:r>
                      <a:br>
                        <a:rPr lang="en-US" dirty="0"/>
                      </a:br>
                      <a:r>
                        <a:rPr lang="en-US" dirty="0"/>
                        <a:t>and codification phase</a:t>
                      </a:r>
                    </a:p>
                  </a:txBody>
                  <a:tcPr/>
                </a:tc>
                <a:tc>
                  <a:txBody>
                    <a:bodyPr/>
                    <a:lstStyle/>
                    <a:p>
                      <a:pPr algn="ctr"/>
                      <a:r>
                        <a:rPr lang="en-US" dirty="0"/>
                        <a:t>Knowledge sharing and dissemination phase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Knowledge acquisition and application phase</a:t>
                      </a:r>
                    </a:p>
                  </a:txBody>
                  <a:tcPr/>
                </a:tc>
                <a:extLst>
                  <a:ext uri="{0D108BD9-81ED-4DB2-BD59-A6C34878D82A}">
                    <a16:rowId xmlns:a16="http://schemas.microsoft.com/office/drawing/2014/main" val="89598415"/>
                  </a:ext>
                </a:extLst>
              </a:tr>
              <a:tr h="370840">
                <a:tc>
                  <a:txBody>
                    <a:bodyPr/>
                    <a:lstStyle/>
                    <a:p>
                      <a:r>
                        <a:rPr lang="en-US" dirty="0"/>
                        <a:t>Content management</a:t>
                      </a:r>
                    </a:p>
                    <a:p>
                      <a:r>
                        <a:rPr lang="en-US" dirty="0"/>
                        <a:t>• Taxonomies</a:t>
                      </a:r>
                    </a:p>
                    <a:p>
                      <a:r>
                        <a:rPr lang="en-US" dirty="0"/>
                        <a:t>• Folksonomies</a:t>
                      </a:r>
                    </a:p>
                    <a:p>
                      <a:r>
                        <a:rPr lang="en-US" dirty="0"/>
                        <a:t>• Metadata</a:t>
                      </a:r>
                    </a:p>
                    <a:p>
                      <a:r>
                        <a:rPr lang="en-US" dirty="0"/>
                        <a:t>• Manual tagging and classification</a:t>
                      </a:r>
                    </a:p>
                    <a:p>
                      <a:r>
                        <a:rPr lang="en-US" dirty="0"/>
                        <a:t>• Automated taxonomy systems</a:t>
                      </a:r>
                    </a:p>
                    <a:p>
                      <a:r>
                        <a:rPr lang="en-US" dirty="0"/>
                        <a:t>• Automated text analysis-summarization</a:t>
                      </a:r>
                    </a:p>
                    <a:p>
                      <a:r>
                        <a:rPr lang="en-US" dirty="0"/>
                        <a:t>• Archiving</a:t>
                      </a:r>
                    </a:p>
                    <a:p>
                      <a:r>
                        <a:rPr lang="fr-FR" dirty="0"/>
                        <a:t>• Content management </a:t>
                      </a:r>
                      <a:r>
                        <a:rPr lang="fr-FR" dirty="0" err="1"/>
                        <a:t>systems</a:t>
                      </a:r>
                      <a:endParaRPr lang="fr-FR" dirty="0"/>
                    </a:p>
                    <a:p>
                      <a:r>
                        <a:rPr lang="fr-FR" dirty="0"/>
                        <a:t>• Document management </a:t>
                      </a:r>
                      <a:r>
                        <a:rPr lang="fr-FR" dirty="0" err="1"/>
                        <a:t>systems</a:t>
                      </a:r>
                      <a:endParaRPr lang="fr-FR" dirty="0"/>
                    </a:p>
                    <a:p>
                      <a:endParaRPr lang="en-US" dirty="0"/>
                    </a:p>
                  </a:txBody>
                  <a:tcPr/>
                </a:tc>
                <a:tc>
                  <a:txBody>
                    <a:bodyPr/>
                    <a:lstStyle/>
                    <a:p>
                      <a:r>
                        <a:rPr lang="en-US" dirty="0"/>
                        <a:t>Networking technologies</a:t>
                      </a:r>
                    </a:p>
                    <a:p>
                      <a:r>
                        <a:rPr lang="en-US" dirty="0"/>
                        <a:t>• Intranets</a:t>
                      </a:r>
                    </a:p>
                    <a:p>
                      <a:r>
                        <a:rPr lang="en-US" dirty="0"/>
                        <a:t>• Extranets</a:t>
                      </a:r>
                    </a:p>
                    <a:p>
                      <a:r>
                        <a:rPr lang="en-US" dirty="0"/>
                        <a:t>• Web servers, browsers</a:t>
                      </a:r>
                    </a:p>
                    <a:p>
                      <a:r>
                        <a:rPr lang="en-US" dirty="0"/>
                        <a:t>• Knowledge repository</a:t>
                      </a:r>
                    </a:p>
                    <a:p>
                      <a:r>
                        <a:rPr lang="en-US" dirty="0"/>
                        <a:t>• Portal</a:t>
                      </a:r>
                    </a:p>
                  </a:txBody>
                  <a:tcPr/>
                </a:tc>
                <a:tc>
                  <a:txBody>
                    <a:bodyPr/>
                    <a:lstStyle/>
                    <a:p>
                      <a:r>
                        <a:rPr lang="en-US" dirty="0"/>
                        <a:t>Knowledge application</a:t>
                      </a:r>
                    </a:p>
                    <a:p>
                      <a:r>
                        <a:rPr lang="en-US" dirty="0"/>
                        <a:t>• Expert systems</a:t>
                      </a:r>
                    </a:p>
                    <a:p>
                      <a:r>
                        <a:rPr lang="en-US" dirty="0"/>
                        <a:t>• Decision support systems</a:t>
                      </a:r>
                    </a:p>
                    <a:p>
                      <a:r>
                        <a:rPr lang="en-US" dirty="0"/>
                        <a:t>• Customization/personalization</a:t>
                      </a:r>
                    </a:p>
                    <a:p>
                      <a:r>
                        <a:rPr lang="en-US" dirty="0"/>
                        <a:t>• Push/pull technologies</a:t>
                      </a:r>
                    </a:p>
                    <a:p>
                      <a:r>
                        <a:rPr lang="en-US" dirty="0"/>
                        <a:t>• Recommender systems</a:t>
                      </a:r>
                    </a:p>
                    <a:p>
                      <a:r>
                        <a:rPr lang="en-US" dirty="0"/>
                        <a:t>• Intelligent agents</a:t>
                      </a:r>
                    </a:p>
                  </a:txBody>
                  <a:tcPr/>
                </a:tc>
                <a:extLst>
                  <a:ext uri="{0D108BD9-81ED-4DB2-BD59-A6C34878D82A}">
                    <a16:rowId xmlns:a16="http://schemas.microsoft.com/office/drawing/2014/main" val="3605858830"/>
                  </a:ext>
                </a:extLst>
              </a:tr>
            </a:tbl>
          </a:graphicData>
        </a:graphic>
      </p:graphicFrame>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What KM tools should do?</a:t>
            </a:r>
          </a:p>
        </p:txBody>
      </p:sp>
      <p:graphicFrame>
        <p:nvGraphicFramePr>
          <p:cNvPr id="5" name="Object 4">
            <a:extLst>
              <a:ext uri="{FF2B5EF4-FFF2-40B4-BE49-F238E27FC236}">
                <a16:creationId xmlns:a16="http://schemas.microsoft.com/office/drawing/2014/main" id="{3685F820-3160-CAB1-EFCC-93D53A311022}"/>
              </a:ext>
            </a:extLst>
          </p:cNvPr>
          <p:cNvGraphicFramePr>
            <a:graphicFrameLocks noChangeAspect="1"/>
          </p:cNvGraphicFramePr>
          <p:nvPr/>
        </p:nvGraphicFramePr>
        <p:xfrm>
          <a:off x="3115523" y="1804296"/>
          <a:ext cx="5570537" cy="296863"/>
        </p:xfrm>
        <a:graphic>
          <a:graphicData uri="http://schemas.openxmlformats.org/presentationml/2006/ole">
            <mc:AlternateContent xmlns:mc="http://schemas.openxmlformats.org/markup-compatibility/2006">
              <mc:Choice xmlns:v="urn:schemas-microsoft-com:vml" Requires="v">
                <p:oleObj name="Bitmap Image" r:id="rId3" imgW="5570280" imgH="297360" progId="PBrush">
                  <p:embed/>
                </p:oleObj>
              </mc:Choice>
              <mc:Fallback>
                <p:oleObj name="Bitmap Image" r:id="rId3" imgW="5570280" imgH="297360" progId="PBrush">
                  <p:embed/>
                  <p:pic>
                    <p:nvPicPr>
                      <p:cNvPr id="5" name="Object 4">
                        <a:extLst>
                          <a:ext uri="{FF2B5EF4-FFF2-40B4-BE49-F238E27FC236}">
                            <a16:creationId xmlns:a16="http://schemas.microsoft.com/office/drawing/2014/main" id="{3685F820-3160-CAB1-EFCC-93D53A311022}"/>
                          </a:ext>
                        </a:extLst>
                      </p:cNvPr>
                      <p:cNvPicPr/>
                      <p:nvPr/>
                    </p:nvPicPr>
                    <p:blipFill>
                      <a:blip r:embed="rId4"/>
                      <a:stretch>
                        <a:fillRect/>
                      </a:stretch>
                    </p:blipFill>
                    <p:spPr>
                      <a:xfrm>
                        <a:off x="3115523" y="1804296"/>
                        <a:ext cx="5570537" cy="296863"/>
                      </a:xfrm>
                      <a:prstGeom prst="rect">
                        <a:avLst/>
                      </a:prstGeom>
                    </p:spPr>
                  </p:pic>
                </p:oleObj>
              </mc:Fallback>
            </mc:AlternateContent>
          </a:graphicData>
        </a:graphic>
      </p:graphicFrame>
    </p:spTree>
    <p:extLst>
      <p:ext uri="{BB962C8B-B14F-4D97-AF65-F5344CB8AC3E}">
        <p14:creationId xmlns:p14="http://schemas.microsoft.com/office/powerpoint/2010/main" val="24807773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10</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2800" b="1" dirty="0">
                <a:solidFill>
                  <a:srgbClr val="ED7D31"/>
                </a:solidFill>
              </a:rPr>
              <a:t>Content Creation Tools</a:t>
            </a:r>
          </a:p>
          <a:p>
            <a:pPr marL="342900" indent="-342900" algn="just">
              <a:lnSpc>
                <a:spcPct val="150000"/>
              </a:lnSpc>
              <a:spcBef>
                <a:spcPts val="600"/>
              </a:spcBef>
              <a:buClr>
                <a:srgbClr val="973735"/>
              </a:buClr>
              <a:buSzPct val="50000"/>
              <a:buFont typeface="Wingdings" pitchFamily="2" charset="2"/>
              <a:buChar char="u"/>
              <a:defRPr/>
            </a:pPr>
            <a:r>
              <a:rPr lang="en-US" dirty="0"/>
              <a:t>Content Management Tools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Knowledge Capture and Creation Tools</a:t>
            </a:r>
          </a:p>
        </p:txBody>
      </p:sp>
    </p:spTree>
    <p:extLst>
      <p:ext uri="{BB962C8B-B14F-4D97-AF65-F5344CB8AC3E}">
        <p14:creationId xmlns:p14="http://schemas.microsoft.com/office/powerpoint/2010/main" val="1500863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11</a:t>
            </a:fld>
            <a:endParaRPr kumimoji="0" lang="en-US" dirty="0"/>
          </a:p>
        </p:txBody>
      </p:sp>
      <p:sp>
        <p:nvSpPr>
          <p:cNvPr id="4" name="Content Placeholder 3"/>
          <p:cNvSpPr>
            <a:spLocks noGrp="1"/>
          </p:cNvSpPr>
          <p:nvPr>
            <p:ph sz="quarter" idx="1"/>
          </p:nvPr>
        </p:nvSpPr>
        <p:spPr>
          <a:xfrm>
            <a:off x="0" y="1664593"/>
            <a:ext cx="11678478" cy="4816106"/>
          </a:xfrm>
        </p:spPr>
        <p:txBody>
          <a:bodyPr>
            <a:normAutofit/>
          </a:bodyPr>
          <a:lstStyle/>
          <a:p>
            <a:pPr marL="800100" lvl="1" indent="-342900" algn="just">
              <a:lnSpc>
                <a:spcPct val="100000"/>
              </a:lnSpc>
              <a:spcBef>
                <a:spcPts val="1800"/>
              </a:spcBef>
              <a:buClr>
                <a:srgbClr val="973735"/>
              </a:buClr>
              <a:buSzPct val="50000"/>
              <a:buFont typeface="Wingdings" pitchFamily="2" charset="2"/>
              <a:buChar char="u"/>
              <a:defRPr/>
            </a:pPr>
            <a:r>
              <a:rPr lang="en-US" sz="2600" dirty="0"/>
              <a:t>Content management system will become commodity</a:t>
            </a:r>
          </a:p>
          <a:p>
            <a:pPr marL="800100" lvl="1" indent="-342900" algn="just">
              <a:lnSpc>
                <a:spcPct val="100000"/>
              </a:lnSpc>
              <a:spcBef>
                <a:spcPts val="1800"/>
              </a:spcBef>
              <a:buClr>
                <a:srgbClr val="973735"/>
              </a:buClr>
              <a:buSzPct val="50000"/>
              <a:buFont typeface="Wingdings" pitchFamily="2" charset="2"/>
              <a:buChar char="u"/>
              <a:defRPr/>
            </a:pPr>
            <a:r>
              <a:rPr lang="en-US" sz="2600" dirty="0"/>
              <a:t>CMS approached from technological and strategical view </a:t>
            </a:r>
          </a:p>
          <a:p>
            <a:pPr marL="800100" lvl="1" indent="-342900" algn="just">
              <a:lnSpc>
                <a:spcPct val="100000"/>
              </a:lnSpc>
              <a:spcBef>
                <a:spcPts val="1800"/>
              </a:spcBef>
              <a:buClr>
                <a:srgbClr val="973735"/>
              </a:buClr>
              <a:buSzPct val="50000"/>
              <a:buFont typeface="Wingdings" pitchFamily="2" charset="2"/>
              <a:buChar char="u"/>
              <a:defRPr/>
            </a:pPr>
            <a:r>
              <a:rPr lang="en-US" sz="2600" dirty="0"/>
              <a:t>Content, document, record will converge to benefit of organizations. Still, there are no merged platform to accommodate</a:t>
            </a:r>
          </a:p>
          <a:p>
            <a:pPr marL="800100" lvl="1" indent="-342900" algn="just">
              <a:lnSpc>
                <a:spcPct val="100000"/>
              </a:lnSpc>
              <a:spcBef>
                <a:spcPts val="1800"/>
              </a:spcBef>
              <a:buClr>
                <a:srgbClr val="973735"/>
              </a:buClr>
              <a:buSzPct val="50000"/>
              <a:buFont typeface="Wingdings" pitchFamily="2" charset="2"/>
              <a:buChar char="u"/>
              <a:defRPr/>
            </a:pPr>
            <a:r>
              <a:rPr lang="en-US" sz="2600" dirty="0"/>
              <a:t>Most commonly used is authoring (word processing to web design)</a:t>
            </a:r>
          </a:p>
          <a:p>
            <a:pPr marL="1257300" lvl="2" indent="-342900" algn="just">
              <a:lnSpc>
                <a:spcPct val="100000"/>
              </a:lnSpc>
              <a:spcBef>
                <a:spcPts val="1800"/>
              </a:spcBef>
              <a:buClr>
                <a:srgbClr val="973735"/>
              </a:buClr>
              <a:buSzPct val="50000"/>
              <a:buFont typeface="Wingdings" pitchFamily="2" charset="2"/>
              <a:buChar char="u"/>
              <a:defRPr/>
            </a:pPr>
            <a:r>
              <a:rPr lang="en-US" sz="2400" dirty="0"/>
              <a:t>Annotation (whether public and private) is attached comments to specific sections of a text document (by the same or different authors)</a:t>
            </a:r>
          </a:p>
          <a:p>
            <a:pPr marL="800100" lvl="1" indent="-342900" algn="just">
              <a:lnSpc>
                <a:spcPct val="150000"/>
              </a:lnSpc>
              <a:spcBef>
                <a:spcPts val="600"/>
              </a:spcBef>
              <a:buClr>
                <a:srgbClr val="973735"/>
              </a:buClr>
              <a:buSzPct val="50000"/>
              <a:buFont typeface="Wingdings" pitchFamily="2" charset="2"/>
              <a:buChar char="u"/>
              <a:defRPr/>
            </a:pPr>
            <a:endParaRPr lang="en-US" sz="26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Content Creation Tools</a:t>
            </a:r>
          </a:p>
        </p:txBody>
      </p:sp>
    </p:spTree>
    <p:extLst>
      <p:ext uri="{BB962C8B-B14F-4D97-AF65-F5344CB8AC3E}">
        <p14:creationId xmlns:p14="http://schemas.microsoft.com/office/powerpoint/2010/main" val="1399877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12</a:t>
            </a:fld>
            <a:endParaRPr kumimoji="0" lang="en-US" dirty="0"/>
          </a:p>
        </p:txBody>
      </p:sp>
      <p:sp>
        <p:nvSpPr>
          <p:cNvPr id="4" name="Content Placeholder 3"/>
          <p:cNvSpPr>
            <a:spLocks noGrp="1"/>
          </p:cNvSpPr>
          <p:nvPr>
            <p:ph sz="quarter" idx="1"/>
          </p:nvPr>
        </p:nvSpPr>
        <p:spPr>
          <a:xfrm>
            <a:off x="0" y="1374309"/>
            <a:ext cx="11904483" cy="5193407"/>
          </a:xfrm>
        </p:spPr>
        <p:txBody>
          <a:bodyPr>
            <a:normAutofit/>
          </a:bodyPr>
          <a:lstStyle/>
          <a:p>
            <a:pPr marL="800100" lvl="1" indent="-342900" algn="just">
              <a:lnSpc>
                <a:spcPct val="100000"/>
              </a:lnSpc>
              <a:spcBef>
                <a:spcPts val="1800"/>
              </a:spcBef>
              <a:buClr>
                <a:srgbClr val="973735"/>
              </a:buClr>
              <a:buSzPct val="50000"/>
              <a:buFont typeface="Wingdings" pitchFamily="2" charset="2"/>
              <a:buChar char="u"/>
              <a:defRPr/>
            </a:pPr>
            <a:r>
              <a:rPr lang="en-US" sz="2600" dirty="0"/>
              <a:t>Data mining and knowledge discovery extract information from database based on statistical analysis</a:t>
            </a:r>
          </a:p>
          <a:p>
            <a:pPr marL="1257300" lvl="2" indent="-342900" algn="just">
              <a:lnSpc>
                <a:spcPct val="100000"/>
              </a:lnSpc>
              <a:spcBef>
                <a:spcPts val="1800"/>
              </a:spcBef>
              <a:buClr>
                <a:srgbClr val="973735"/>
              </a:buClr>
              <a:buSzPct val="50000"/>
              <a:buFont typeface="Wingdings" pitchFamily="2" charset="2"/>
              <a:buChar char="u"/>
              <a:defRPr/>
            </a:pPr>
            <a:r>
              <a:rPr lang="en-US" sz="2400" dirty="0"/>
              <a:t>Detect pattern relationship between data/information</a:t>
            </a:r>
          </a:p>
          <a:p>
            <a:pPr marL="1257300" lvl="2" indent="-342900" algn="just">
              <a:lnSpc>
                <a:spcPct val="100000"/>
              </a:lnSpc>
              <a:spcBef>
                <a:spcPts val="1800"/>
              </a:spcBef>
              <a:buClr>
                <a:srgbClr val="973735"/>
              </a:buClr>
              <a:buSzPct val="50000"/>
              <a:buFont typeface="Wingdings" pitchFamily="2" charset="2"/>
              <a:buChar char="u"/>
              <a:defRPr/>
            </a:pPr>
            <a:r>
              <a:rPr lang="en-US" sz="2400" dirty="0"/>
              <a:t>Conclude the rule that an be use to predict the future result</a:t>
            </a:r>
          </a:p>
          <a:p>
            <a:pPr marL="1257300" lvl="2" indent="-342900" algn="just">
              <a:lnSpc>
                <a:spcPct val="100000"/>
              </a:lnSpc>
              <a:spcBef>
                <a:spcPts val="1800"/>
              </a:spcBef>
              <a:buClr>
                <a:srgbClr val="973735"/>
              </a:buClr>
              <a:buSzPct val="50000"/>
              <a:buFont typeface="Wingdings" pitchFamily="2" charset="2"/>
              <a:buChar char="u"/>
              <a:defRPr/>
            </a:pPr>
            <a:r>
              <a:rPr lang="en-US" sz="2400" dirty="0"/>
              <a:t>Need a large number of input, over period of time</a:t>
            </a:r>
          </a:p>
          <a:p>
            <a:pPr marL="1257300" lvl="2" indent="-342900" algn="just">
              <a:lnSpc>
                <a:spcPct val="100000"/>
              </a:lnSpc>
              <a:spcBef>
                <a:spcPts val="1800"/>
              </a:spcBef>
              <a:buClr>
                <a:srgbClr val="973735"/>
              </a:buClr>
              <a:buSzPct val="50000"/>
              <a:buFont typeface="Wingdings" pitchFamily="2" charset="2"/>
              <a:buChar char="u"/>
              <a:defRPr/>
            </a:pPr>
            <a:r>
              <a:rPr lang="en-US" sz="2400" dirty="0"/>
              <a:t>Variables may be correlated but the relationship may not have meaning or usefulness.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Why do we need reality check before concluding?</a:t>
            </a:r>
          </a:p>
          <a:p>
            <a:pPr marL="1257300" lvl="2" indent="-342900" algn="just">
              <a:lnSpc>
                <a:spcPct val="100000"/>
              </a:lnSpc>
              <a:spcBef>
                <a:spcPts val="1800"/>
              </a:spcBef>
              <a:buClr>
                <a:srgbClr val="973735"/>
              </a:buClr>
              <a:buSzPct val="50000"/>
              <a:buFont typeface="Wingdings" pitchFamily="2" charset="2"/>
              <a:buChar char="u"/>
              <a:defRPr/>
            </a:pPr>
            <a:r>
              <a:rPr lang="en-US" sz="2400" dirty="0"/>
              <a:t>Sample: market segmentation, customer profile, evaluation, risk analysis</a:t>
            </a:r>
          </a:p>
          <a:p>
            <a:pPr marL="1257300" lvl="2" indent="-342900" algn="just">
              <a:lnSpc>
                <a:spcPct val="100000"/>
              </a:lnSpc>
              <a:spcBef>
                <a:spcPts val="1200"/>
              </a:spcBef>
              <a:buClr>
                <a:srgbClr val="973735"/>
              </a:buClr>
              <a:buSzPct val="50000"/>
              <a:buFont typeface="Wingdings" pitchFamily="2" charset="2"/>
              <a:buChar char="u"/>
              <a:defRPr/>
            </a:pPr>
            <a:endParaRPr lang="en-US" sz="24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Content Creation Tools</a:t>
            </a:r>
            <a:endParaRPr lang="en-US" sz="4000" b="1" dirty="0"/>
          </a:p>
        </p:txBody>
      </p:sp>
    </p:spTree>
    <p:extLst>
      <p:ext uri="{BB962C8B-B14F-4D97-AF65-F5344CB8AC3E}">
        <p14:creationId xmlns:p14="http://schemas.microsoft.com/office/powerpoint/2010/main" val="1906360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13</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Content Creation Tools</a:t>
            </a:r>
            <a:endParaRPr lang="en-US" sz="4000" b="1" dirty="0"/>
          </a:p>
        </p:txBody>
      </p:sp>
      <p:graphicFrame>
        <p:nvGraphicFramePr>
          <p:cNvPr id="5" name="Object 4">
            <a:extLst>
              <a:ext uri="{FF2B5EF4-FFF2-40B4-BE49-F238E27FC236}">
                <a16:creationId xmlns:a16="http://schemas.microsoft.com/office/drawing/2014/main" id="{1C919852-8002-46BD-F677-564A381543EC}"/>
              </a:ext>
            </a:extLst>
          </p:cNvPr>
          <p:cNvGraphicFramePr>
            <a:graphicFrameLocks noChangeAspect="1"/>
          </p:cNvGraphicFramePr>
          <p:nvPr>
            <p:extLst>
              <p:ext uri="{D42A27DB-BD31-4B8C-83A1-F6EECF244321}">
                <p14:modId xmlns:p14="http://schemas.microsoft.com/office/powerpoint/2010/main" val="3848980859"/>
              </p:ext>
            </p:extLst>
          </p:nvPr>
        </p:nvGraphicFramePr>
        <p:xfrm>
          <a:off x="2709934" y="1546798"/>
          <a:ext cx="6314057" cy="4134383"/>
        </p:xfrm>
        <a:graphic>
          <a:graphicData uri="http://schemas.openxmlformats.org/presentationml/2006/ole">
            <mc:AlternateContent xmlns:mc="http://schemas.openxmlformats.org/markup-compatibility/2006">
              <mc:Choice xmlns:v="urn:schemas-microsoft-com:vml" Requires="v">
                <p:oleObj name="Bitmap Image" r:id="rId3" imgW="7307640" imgH="4785480" progId="PBrush">
                  <p:embed/>
                </p:oleObj>
              </mc:Choice>
              <mc:Fallback>
                <p:oleObj name="Bitmap Image" r:id="rId3" imgW="7307640" imgH="4785480" progId="PBrush">
                  <p:embed/>
                  <p:pic>
                    <p:nvPicPr>
                      <p:cNvPr id="0" name=""/>
                      <p:cNvPicPr/>
                      <p:nvPr/>
                    </p:nvPicPr>
                    <p:blipFill>
                      <a:blip r:embed="rId4"/>
                      <a:stretch>
                        <a:fillRect/>
                      </a:stretch>
                    </p:blipFill>
                    <p:spPr>
                      <a:xfrm>
                        <a:off x="2709934" y="1546798"/>
                        <a:ext cx="6314057" cy="413438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4EBADFBD-E886-15FD-D020-D353CE623795}"/>
              </a:ext>
            </a:extLst>
          </p:cNvPr>
          <p:cNvGraphicFramePr>
            <a:graphicFrameLocks noChangeAspect="1"/>
          </p:cNvGraphicFramePr>
          <p:nvPr>
            <p:extLst>
              <p:ext uri="{D42A27DB-BD31-4B8C-83A1-F6EECF244321}">
                <p14:modId xmlns:p14="http://schemas.microsoft.com/office/powerpoint/2010/main" val="2366436121"/>
              </p:ext>
            </p:extLst>
          </p:nvPr>
        </p:nvGraphicFramePr>
        <p:xfrm>
          <a:off x="4156788" y="5919868"/>
          <a:ext cx="3657600" cy="411163"/>
        </p:xfrm>
        <a:graphic>
          <a:graphicData uri="http://schemas.openxmlformats.org/presentationml/2006/ole">
            <mc:AlternateContent xmlns:mc="http://schemas.openxmlformats.org/markup-compatibility/2006">
              <mc:Choice xmlns:v="urn:schemas-microsoft-com:vml" Requires="v">
                <p:oleObj name="Bitmap Image" r:id="rId5" imgW="3657600" imgH="411480" progId="PBrush">
                  <p:embed/>
                </p:oleObj>
              </mc:Choice>
              <mc:Fallback>
                <p:oleObj name="Bitmap Image" r:id="rId5" imgW="3657600" imgH="411480" progId="PBrush">
                  <p:embed/>
                  <p:pic>
                    <p:nvPicPr>
                      <p:cNvPr id="0" name=""/>
                      <p:cNvPicPr/>
                      <p:nvPr/>
                    </p:nvPicPr>
                    <p:blipFill>
                      <a:blip r:embed="rId6"/>
                      <a:stretch>
                        <a:fillRect/>
                      </a:stretch>
                    </p:blipFill>
                    <p:spPr>
                      <a:xfrm>
                        <a:off x="4156788" y="5919868"/>
                        <a:ext cx="3657600" cy="411163"/>
                      </a:xfrm>
                      <a:prstGeom prst="rect">
                        <a:avLst/>
                      </a:prstGeom>
                    </p:spPr>
                  </p:pic>
                </p:oleObj>
              </mc:Fallback>
            </mc:AlternateContent>
          </a:graphicData>
        </a:graphic>
      </p:graphicFrame>
    </p:spTree>
    <p:extLst>
      <p:ext uri="{BB962C8B-B14F-4D97-AF65-F5344CB8AC3E}">
        <p14:creationId xmlns:p14="http://schemas.microsoft.com/office/powerpoint/2010/main" val="31431457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14</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00000"/>
              </a:lnSpc>
              <a:spcBef>
                <a:spcPts val="1200"/>
              </a:spcBef>
              <a:buClr>
                <a:srgbClr val="973735"/>
              </a:buClr>
              <a:buSzPct val="50000"/>
              <a:buFont typeface="Wingdings" pitchFamily="2" charset="2"/>
              <a:buChar char="u"/>
              <a:defRPr/>
            </a:pPr>
            <a:r>
              <a:rPr lang="en-US" sz="2800" b="1" dirty="0"/>
              <a:t>Blogs</a:t>
            </a:r>
          </a:p>
          <a:p>
            <a:pPr marL="1257300" lvl="2" indent="-342900" algn="just">
              <a:lnSpc>
                <a:spcPct val="100000"/>
              </a:lnSpc>
              <a:spcBef>
                <a:spcPts val="1800"/>
              </a:spcBef>
              <a:buClr>
                <a:srgbClr val="973735"/>
              </a:buClr>
              <a:buSzPct val="50000"/>
              <a:buFont typeface="Wingdings" pitchFamily="2" charset="2"/>
              <a:buChar char="u"/>
              <a:defRPr/>
            </a:pPr>
            <a:r>
              <a:rPr lang="en-US" sz="2600" dirty="0"/>
              <a:t>Web log</a:t>
            </a:r>
          </a:p>
          <a:p>
            <a:pPr marL="1257300" lvl="2" indent="-342900" algn="just">
              <a:lnSpc>
                <a:spcPct val="100000"/>
              </a:lnSpc>
              <a:spcBef>
                <a:spcPts val="1800"/>
              </a:spcBef>
              <a:buClr>
                <a:srgbClr val="973735"/>
              </a:buClr>
              <a:buSzPct val="50000"/>
              <a:buFont typeface="Wingdings" pitchFamily="2" charset="2"/>
              <a:buChar char="u"/>
              <a:defRPr/>
            </a:pPr>
            <a:r>
              <a:rPr lang="en-US" sz="2600" dirty="0"/>
              <a:t>Personal used evolving to broader and wider context</a:t>
            </a:r>
          </a:p>
          <a:p>
            <a:pPr marL="1257300" lvl="2" indent="-342900" algn="just">
              <a:lnSpc>
                <a:spcPct val="100000"/>
              </a:lnSpc>
              <a:spcBef>
                <a:spcPts val="1800"/>
              </a:spcBef>
              <a:buClr>
                <a:srgbClr val="973735"/>
              </a:buClr>
              <a:buSzPct val="50000"/>
              <a:buFont typeface="Wingdings" pitchFamily="2" charset="2"/>
              <a:buChar char="u"/>
              <a:defRPr/>
            </a:pPr>
            <a:r>
              <a:rPr lang="en-US" sz="2600" dirty="0"/>
              <a:t>Update frequently</a:t>
            </a:r>
          </a:p>
          <a:p>
            <a:pPr marL="1257300" lvl="2" indent="-342900" algn="just">
              <a:lnSpc>
                <a:spcPct val="100000"/>
              </a:lnSpc>
              <a:spcBef>
                <a:spcPts val="1800"/>
              </a:spcBef>
              <a:buClr>
                <a:srgbClr val="973735"/>
              </a:buClr>
              <a:buSzPct val="50000"/>
              <a:buFont typeface="Wingdings" pitchFamily="2" charset="2"/>
              <a:buChar char="u"/>
              <a:defRPr/>
            </a:pPr>
            <a:r>
              <a:rPr lang="en-US" sz="2600" dirty="0"/>
              <a:t>Search as many KM blogs as possible. What are your finding?</a:t>
            </a:r>
          </a:p>
          <a:p>
            <a:pPr marL="1257300" lvl="2" indent="-342900" algn="just">
              <a:lnSpc>
                <a:spcPct val="100000"/>
              </a:lnSpc>
              <a:spcBef>
                <a:spcPts val="1200"/>
              </a:spcBef>
              <a:buClr>
                <a:srgbClr val="973735"/>
              </a:buClr>
              <a:buSzPct val="50000"/>
              <a:buFont typeface="Wingdings" pitchFamily="2" charset="2"/>
              <a:buChar char="u"/>
              <a:defRPr/>
            </a:pPr>
            <a:endParaRPr lang="en-US" sz="24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Content Creation Tools</a:t>
            </a:r>
            <a:endParaRPr lang="en-US" sz="4000" b="1" dirty="0"/>
          </a:p>
        </p:txBody>
      </p:sp>
    </p:spTree>
    <p:extLst>
      <p:ext uri="{BB962C8B-B14F-4D97-AF65-F5344CB8AC3E}">
        <p14:creationId xmlns:p14="http://schemas.microsoft.com/office/powerpoint/2010/main" val="755614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15</a:t>
            </a:fld>
            <a:endParaRPr kumimoji="0" lang="en-US" dirty="0"/>
          </a:p>
        </p:txBody>
      </p:sp>
      <p:sp>
        <p:nvSpPr>
          <p:cNvPr id="4" name="Content Placeholder 3"/>
          <p:cNvSpPr>
            <a:spLocks noGrp="1"/>
          </p:cNvSpPr>
          <p:nvPr>
            <p:ph sz="quarter" idx="1"/>
          </p:nvPr>
        </p:nvSpPr>
        <p:spPr>
          <a:xfrm>
            <a:off x="0" y="1664593"/>
            <a:ext cx="11767930" cy="4255275"/>
          </a:xfrm>
        </p:spPr>
        <p:txBody>
          <a:bodyPr>
            <a:normAutofit/>
          </a:bodyPr>
          <a:lstStyle/>
          <a:p>
            <a:pPr lvl="1" indent="-342900" algn="just">
              <a:lnSpc>
                <a:spcPct val="100000"/>
              </a:lnSpc>
              <a:spcBef>
                <a:spcPts val="1200"/>
              </a:spcBef>
              <a:buClr>
                <a:srgbClr val="973735"/>
              </a:buClr>
              <a:buSzPct val="50000"/>
              <a:buFont typeface="Wingdings" pitchFamily="2" charset="2"/>
              <a:buChar char="u"/>
              <a:defRPr/>
            </a:pPr>
            <a:r>
              <a:rPr lang="en-US" sz="2800" b="1" dirty="0"/>
              <a:t>Blogs</a:t>
            </a:r>
          </a:p>
          <a:p>
            <a:pPr lvl="2" indent="-342900" algn="just">
              <a:lnSpc>
                <a:spcPct val="100000"/>
              </a:lnSpc>
              <a:spcBef>
                <a:spcPts val="1800"/>
              </a:spcBef>
              <a:buClr>
                <a:srgbClr val="973735"/>
              </a:buClr>
              <a:buSzPct val="50000"/>
              <a:buFont typeface="Wingdings" pitchFamily="2" charset="2"/>
              <a:buChar char="u"/>
              <a:defRPr/>
            </a:pPr>
            <a:r>
              <a:rPr lang="en-US" sz="2600" dirty="0"/>
              <a:t>No guarantee of authority, accuracy, lack of bias</a:t>
            </a:r>
          </a:p>
          <a:p>
            <a:pPr lvl="2" indent="-342900" algn="just">
              <a:lnSpc>
                <a:spcPct val="100000"/>
              </a:lnSpc>
              <a:spcBef>
                <a:spcPts val="1800"/>
              </a:spcBef>
              <a:buClr>
                <a:srgbClr val="973735"/>
              </a:buClr>
              <a:buSzPct val="50000"/>
              <a:buFont typeface="Wingdings" pitchFamily="2" charset="2"/>
              <a:buChar char="u"/>
              <a:defRPr/>
            </a:pPr>
            <a:r>
              <a:rPr lang="en-US" sz="2600" dirty="0"/>
              <a:t>What a blog can do?</a:t>
            </a:r>
          </a:p>
          <a:p>
            <a:pPr lvl="3" indent="-342900" algn="just">
              <a:lnSpc>
                <a:spcPct val="100000"/>
              </a:lnSpc>
              <a:spcBef>
                <a:spcPts val="1800"/>
              </a:spcBef>
              <a:buClr>
                <a:srgbClr val="973735"/>
              </a:buClr>
              <a:buSzPct val="50000"/>
              <a:buFont typeface="Wingdings" pitchFamily="2" charset="2"/>
              <a:buChar char="u"/>
              <a:defRPr/>
            </a:pPr>
            <a:r>
              <a:rPr lang="en-US" sz="2400" dirty="0"/>
              <a:t>Teach, entertain, inform, sharing, guidance, complain, critics, condemn, praise, sell, marketing, image builder, and many more</a:t>
            </a:r>
          </a:p>
          <a:p>
            <a:pPr lvl="2" indent="-342900" algn="just">
              <a:lnSpc>
                <a:spcPct val="100000"/>
              </a:lnSpc>
              <a:spcBef>
                <a:spcPts val="1800"/>
              </a:spcBef>
              <a:buClr>
                <a:srgbClr val="973735"/>
              </a:buClr>
              <a:buSzPct val="50000"/>
              <a:buFont typeface="Wingdings" pitchFamily="2" charset="2"/>
              <a:buChar char="u"/>
              <a:defRPr/>
            </a:pPr>
            <a:r>
              <a:rPr lang="en-US" sz="2600" dirty="0"/>
              <a:t>What are the benefit of the blogs for you?</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Content Creation Tools</a:t>
            </a:r>
            <a:endParaRPr lang="en-US" sz="4000" b="1" dirty="0"/>
          </a:p>
        </p:txBody>
      </p:sp>
    </p:spTree>
    <p:extLst>
      <p:ext uri="{BB962C8B-B14F-4D97-AF65-F5344CB8AC3E}">
        <p14:creationId xmlns:p14="http://schemas.microsoft.com/office/powerpoint/2010/main" val="1582073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16</a:t>
            </a:fld>
            <a:endParaRPr kumimoji="0" lang="en-US" dirty="0"/>
          </a:p>
        </p:txBody>
      </p:sp>
      <p:sp>
        <p:nvSpPr>
          <p:cNvPr id="4" name="Content Placeholder 3"/>
          <p:cNvSpPr>
            <a:spLocks noGrp="1"/>
          </p:cNvSpPr>
          <p:nvPr>
            <p:ph sz="quarter" idx="1"/>
          </p:nvPr>
        </p:nvSpPr>
        <p:spPr>
          <a:xfrm>
            <a:off x="0" y="1664593"/>
            <a:ext cx="11971176" cy="4816106"/>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sz="2800" dirty="0"/>
              <a:t>Content Creation Tools</a:t>
            </a:r>
          </a:p>
          <a:p>
            <a:pPr marL="342900" indent="-342900" algn="just">
              <a:lnSpc>
                <a:spcPct val="150000"/>
              </a:lnSpc>
              <a:spcBef>
                <a:spcPts val="600"/>
              </a:spcBef>
              <a:buClr>
                <a:srgbClr val="973735"/>
              </a:buClr>
              <a:buSzPct val="50000"/>
              <a:buFont typeface="Wingdings" pitchFamily="2" charset="2"/>
              <a:buChar char="u"/>
              <a:defRPr/>
            </a:pPr>
            <a:r>
              <a:rPr lang="en-US" b="1" dirty="0">
                <a:solidFill>
                  <a:srgbClr val="ED7D31"/>
                </a:solidFill>
              </a:rPr>
              <a:t>Content Management Tools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Knowledge Capture and Creation Tools</a:t>
            </a:r>
          </a:p>
        </p:txBody>
      </p:sp>
    </p:spTree>
    <p:extLst>
      <p:ext uri="{BB962C8B-B14F-4D97-AF65-F5344CB8AC3E}">
        <p14:creationId xmlns:p14="http://schemas.microsoft.com/office/powerpoint/2010/main" val="4215224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17</a:t>
            </a:fld>
            <a:endParaRPr kumimoji="0" lang="en-US" dirty="0"/>
          </a:p>
        </p:txBody>
      </p:sp>
      <p:sp>
        <p:nvSpPr>
          <p:cNvPr id="4" name="Content Placeholder 3"/>
          <p:cNvSpPr>
            <a:spLocks noGrp="1"/>
          </p:cNvSpPr>
          <p:nvPr>
            <p:ph sz="quarter" idx="1"/>
          </p:nvPr>
        </p:nvSpPr>
        <p:spPr>
          <a:xfrm>
            <a:off x="0" y="1664593"/>
            <a:ext cx="11698357" cy="4816106"/>
          </a:xfrm>
        </p:spPr>
        <p:txBody>
          <a:bodyPr>
            <a:normAutofit/>
          </a:bodyPr>
          <a:lstStyle/>
          <a:p>
            <a:pPr marL="800100" lvl="1" indent="-342900" algn="just">
              <a:lnSpc>
                <a:spcPct val="100000"/>
              </a:lnSpc>
              <a:spcBef>
                <a:spcPts val="1200"/>
              </a:spcBef>
              <a:buClr>
                <a:srgbClr val="973735"/>
              </a:buClr>
              <a:buSzPct val="50000"/>
              <a:buFont typeface="Wingdings" pitchFamily="2" charset="2"/>
              <a:buChar char="u"/>
              <a:defRPr/>
            </a:pPr>
            <a:r>
              <a:rPr lang="en-US" sz="2600" dirty="0"/>
              <a:t>Management of valuable content throughout useful lifespan of the content</a:t>
            </a:r>
          </a:p>
          <a:p>
            <a:pPr marL="1257300" lvl="2" indent="-342900" algn="just">
              <a:lnSpc>
                <a:spcPct val="100000"/>
              </a:lnSpc>
              <a:spcBef>
                <a:spcPts val="1200"/>
              </a:spcBef>
              <a:buClr>
                <a:srgbClr val="973735"/>
              </a:buClr>
              <a:buSzPct val="50000"/>
              <a:buFont typeface="Wingdings" pitchFamily="2" charset="2"/>
              <a:buChar char="u"/>
              <a:defRPr/>
            </a:pPr>
            <a:r>
              <a:rPr lang="en-US" sz="2400" dirty="0"/>
              <a:t>Creation, updates, merge, summarization, repackaging, archiving, revisiting, deleting</a:t>
            </a:r>
          </a:p>
          <a:p>
            <a:pPr marL="1257300" lvl="2" indent="-342900" algn="just">
              <a:lnSpc>
                <a:spcPct val="100000"/>
              </a:lnSpc>
              <a:spcBef>
                <a:spcPts val="1200"/>
              </a:spcBef>
              <a:buClr>
                <a:srgbClr val="973735"/>
              </a:buClr>
              <a:buSzPct val="50000"/>
              <a:buFont typeface="Wingdings" pitchFamily="2" charset="2"/>
              <a:buChar char="u"/>
              <a:defRPr/>
            </a:pPr>
            <a:r>
              <a:rPr lang="en-US" sz="2400" dirty="0"/>
              <a:t>Using metadata to better manage content (author, keywords, date created, purpose)</a:t>
            </a:r>
          </a:p>
          <a:p>
            <a:pPr marL="1257300" lvl="2" indent="-342900" algn="just">
              <a:lnSpc>
                <a:spcPct val="100000"/>
              </a:lnSpc>
              <a:spcBef>
                <a:spcPts val="1200"/>
              </a:spcBef>
              <a:buClr>
                <a:srgbClr val="973735"/>
              </a:buClr>
              <a:buSzPct val="50000"/>
              <a:buFont typeface="Wingdings" pitchFamily="2" charset="2"/>
              <a:buChar char="u"/>
              <a:defRPr/>
            </a:pPr>
            <a:r>
              <a:rPr lang="en-US" sz="2400" dirty="0"/>
              <a:t>Growing information need classification to benefit the user</a:t>
            </a:r>
          </a:p>
          <a:p>
            <a:pPr marL="1257300" lvl="2" indent="-342900" algn="just">
              <a:lnSpc>
                <a:spcPct val="100000"/>
              </a:lnSpc>
              <a:spcBef>
                <a:spcPts val="1200"/>
              </a:spcBef>
              <a:buClr>
                <a:srgbClr val="973735"/>
              </a:buClr>
              <a:buSzPct val="50000"/>
              <a:buFont typeface="Wingdings" pitchFamily="2" charset="2"/>
              <a:buChar char="u"/>
              <a:defRPr/>
            </a:pPr>
            <a:r>
              <a:rPr lang="en-US" sz="2400" dirty="0"/>
              <a:t>The future KM will blur the boundaries between individual, group, and organizations</a:t>
            </a:r>
          </a:p>
          <a:p>
            <a:pPr marL="1257300" lvl="2" indent="-342900" algn="just">
              <a:lnSpc>
                <a:spcPct val="100000"/>
              </a:lnSpc>
              <a:spcBef>
                <a:spcPts val="1200"/>
              </a:spcBef>
              <a:buClr>
                <a:srgbClr val="973735"/>
              </a:buClr>
              <a:buSzPct val="50000"/>
              <a:buFont typeface="Wingdings" pitchFamily="2" charset="2"/>
              <a:buChar char="u"/>
              <a:defRPr/>
            </a:pPr>
            <a:r>
              <a:rPr lang="en-US" sz="2400" dirty="0"/>
              <a:t>Personalized KM (email. Blog, message, twitter)</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Content Management Tools</a:t>
            </a:r>
          </a:p>
        </p:txBody>
      </p:sp>
    </p:spTree>
    <p:extLst>
      <p:ext uri="{BB962C8B-B14F-4D97-AF65-F5344CB8AC3E}">
        <p14:creationId xmlns:p14="http://schemas.microsoft.com/office/powerpoint/2010/main" val="3542100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18</a:t>
            </a:fld>
            <a:endParaRPr kumimoji="0" lang="en-US" dirty="0"/>
          </a:p>
        </p:txBody>
      </p:sp>
      <p:sp>
        <p:nvSpPr>
          <p:cNvPr id="4" name="Content Placeholder 3"/>
          <p:cNvSpPr>
            <a:spLocks noGrp="1"/>
          </p:cNvSpPr>
          <p:nvPr>
            <p:ph sz="quarter" idx="1"/>
          </p:nvPr>
        </p:nvSpPr>
        <p:spPr>
          <a:xfrm>
            <a:off x="0" y="1664593"/>
            <a:ext cx="11757991"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Visualize knowledge can assist in knowledge capture. Two commonly used ways of visualizing knowledge are knowledge maps and visualization tools. </a:t>
            </a:r>
          </a:p>
          <a:p>
            <a:pPr marL="342900" indent="-342900" algn="just">
              <a:lnSpc>
                <a:spcPct val="100000"/>
              </a:lnSpc>
              <a:spcBef>
                <a:spcPts val="1800"/>
              </a:spcBef>
              <a:buClr>
                <a:srgbClr val="973735"/>
              </a:buClr>
              <a:buSzPct val="50000"/>
              <a:buFont typeface="Wingdings" pitchFamily="2" charset="2"/>
              <a:buChar char="u"/>
              <a:defRPr/>
            </a:pPr>
            <a:r>
              <a:rPr lang="en-US" sz="2600" dirty="0"/>
              <a:t>A knowledge map is a common way of visualizing complex knowledge to be captured and codified. </a:t>
            </a:r>
          </a:p>
          <a:p>
            <a:pPr marL="342900" indent="-342900" algn="just">
              <a:lnSpc>
                <a:spcPct val="100000"/>
              </a:lnSpc>
              <a:spcBef>
                <a:spcPts val="1800"/>
              </a:spcBef>
              <a:buClr>
                <a:srgbClr val="973735"/>
              </a:buClr>
              <a:buSzPct val="50000"/>
              <a:buFont typeface="Wingdings" pitchFamily="2" charset="2"/>
              <a:buChar char="u"/>
              <a:defRPr/>
            </a:pPr>
            <a:r>
              <a:rPr lang="en-US" sz="2600" dirty="0"/>
              <a:t>Visualizing knowledge helps identify clusters which eventually can lead to knowledge categories. </a:t>
            </a:r>
          </a:p>
          <a:p>
            <a:pPr marL="342900" indent="-342900" algn="just">
              <a:lnSpc>
                <a:spcPct val="120000"/>
              </a:lnSpc>
              <a:spcBef>
                <a:spcPts val="1200"/>
              </a:spcBef>
              <a:buClr>
                <a:srgbClr val="973735"/>
              </a:buClr>
              <a:buSzPct val="50000"/>
              <a:buFont typeface="Wingdings" pitchFamily="2" charset="2"/>
              <a:buChar char="u"/>
              <a:defRPr/>
            </a:pPr>
            <a:endParaRPr lang="en-US" dirty="0"/>
          </a:p>
          <a:p>
            <a:pPr marL="342900"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Visualization Tools and Knowledge Maps</a:t>
            </a:r>
          </a:p>
        </p:txBody>
      </p:sp>
    </p:spTree>
    <p:extLst>
      <p:ext uri="{BB962C8B-B14F-4D97-AF65-F5344CB8AC3E}">
        <p14:creationId xmlns:p14="http://schemas.microsoft.com/office/powerpoint/2010/main" val="1271266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19</a:t>
            </a:fld>
            <a:endParaRPr kumimoji="0" lang="en-US" dirty="0"/>
          </a:p>
        </p:txBody>
      </p:sp>
      <p:sp>
        <p:nvSpPr>
          <p:cNvPr id="4" name="Content Placeholder 3"/>
          <p:cNvSpPr>
            <a:spLocks noGrp="1"/>
          </p:cNvSpPr>
          <p:nvPr>
            <p:ph sz="quarter" idx="1"/>
          </p:nvPr>
        </p:nvSpPr>
        <p:spPr>
          <a:xfrm>
            <a:off x="0" y="1664593"/>
            <a:ext cx="11797748"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Knowledge maps can help classify captured knowledge and they can be used throughout the KM process cycle to help share, disseminate, and make use of the knowledge. </a:t>
            </a:r>
          </a:p>
          <a:p>
            <a:pPr marL="342900" indent="-342900" algn="just">
              <a:lnSpc>
                <a:spcPct val="100000"/>
              </a:lnSpc>
              <a:spcBef>
                <a:spcPts val="1800"/>
              </a:spcBef>
              <a:buClr>
                <a:srgbClr val="973735"/>
              </a:buClr>
              <a:buSzPct val="50000"/>
              <a:buFont typeface="Wingdings" pitchFamily="2" charset="2"/>
              <a:buChar char="u"/>
              <a:defRPr/>
            </a:pPr>
            <a:r>
              <a:rPr lang="en-US" sz="2600" dirty="0"/>
              <a:t>Data visualization is way of detecting “patterns, trends, and correlations that might go undetected in text-based data [that] can be exposed and recognized [more easily] with data visualization software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Visualization Tools and Knowledge Maps</a:t>
            </a:r>
          </a:p>
        </p:txBody>
      </p:sp>
    </p:spTree>
    <p:extLst>
      <p:ext uri="{BB962C8B-B14F-4D97-AF65-F5344CB8AC3E}">
        <p14:creationId xmlns:p14="http://schemas.microsoft.com/office/powerpoint/2010/main" val="3313983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20</a:t>
            </a:fld>
            <a:endParaRPr kumimoji="0" lang="en-US" dirty="0"/>
          </a:p>
        </p:txBody>
      </p:sp>
      <p:sp>
        <p:nvSpPr>
          <p:cNvPr id="4" name="Content Placeholder 3"/>
          <p:cNvSpPr>
            <a:spLocks noGrp="1"/>
          </p:cNvSpPr>
          <p:nvPr>
            <p:ph sz="quarter" idx="1"/>
          </p:nvPr>
        </p:nvSpPr>
        <p:spPr>
          <a:xfrm>
            <a:off x="0" y="1664593"/>
            <a:ext cx="11728174"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Data is presented in some type of graphical or pictural form so that we can “see” the patterns. </a:t>
            </a:r>
          </a:p>
          <a:p>
            <a:pPr marL="342900" indent="-342900" algn="just">
              <a:lnSpc>
                <a:spcPct val="100000"/>
              </a:lnSpc>
              <a:spcBef>
                <a:spcPts val="1800"/>
              </a:spcBef>
              <a:buClr>
                <a:srgbClr val="973735"/>
              </a:buClr>
              <a:buSzPct val="50000"/>
              <a:buFont typeface="Wingdings" pitchFamily="2" charset="2"/>
              <a:buChar char="u"/>
              <a:defRPr/>
            </a:pPr>
            <a:r>
              <a:rPr lang="en-US" sz="2600" dirty="0"/>
              <a:t>Visualization can be thought of as visual data mining</a:t>
            </a:r>
          </a:p>
          <a:p>
            <a:pPr marL="342900" indent="-342900" algn="just">
              <a:lnSpc>
                <a:spcPct val="100000"/>
              </a:lnSpc>
              <a:spcBef>
                <a:spcPts val="1800"/>
              </a:spcBef>
              <a:buClr>
                <a:srgbClr val="973735"/>
              </a:buClr>
              <a:buSzPct val="50000"/>
              <a:buFont typeface="Wingdings" pitchFamily="2" charset="2"/>
              <a:buChar char="u"/>
              <a:defRPr/>
            </a:pPr>
            <a:r>
              <a:rPr lang="en-US" sz="2600" dirty="0"/>
              <a:t>Data visualization software coherently present a large amount of information in a small space. </a:t>
            </a:r>
          </a:p>
          <a:p>
            <a:pPr marL="342900" indent="-342900" algn="just">
              <a:lnSpc>
                <a:spcPct val="100000"/>
              </a:lnSpc>
              <a:spcBef>
                <a:spcPts val="1800"/>
              </a:spcBef>
              <a:buClr>
                <a:srgbClr val="973735"/>
              </a:buClr>
              <a:buSzPct val="50000"/>
              <a:buFont typeface="Wingdings" pitchFamily="2" charset="2"/>
              <a:buChar char="u"/>
              <a:defRPr/>
            </a:pPr>
            <a:r>
              <a:rPr lang="en-US" sz="2600" dirty="0"/>
              <a:t>They make use of the human computer-your eyes-to detect patterns and walk around the data points.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Visualization Tools and Knowledge Maps</a:t>
            </a:r>
          </a:p>
        </p:txBody>
      </p:sp>
    </p:spTree>
    <p:extLst>
      <p:ext uri="{BB962C8B-B14F-4D97-AF65-F5344CB8AC3E}">
        <p14:creationId xmlns:p14="http://schemas.microsoft.com/office/powerpoint/2010/main" val="3278077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21</a:t>
            </a:fld>
            <a:endParaRPr kumimoji="0" lang="en-US" dirty="0"/>
          </a:p>
        </p:txBody>
      </p:sp>
      <p:sp>
        <p:nvSpPr>
          <p:cNvPr id="4" name="Content Placeholder 3"/>
          <p:cNvSpPr>
            <a:spLocks noGrp="1"/>
          </p:cNvSpPr>
          <p:nvPr>
            <p:ph sz="quarter" idx="1"/>
          </p:nvPr>
        </p:nvSpPr>
        <p:spPr>
          <a:xfrm>
            <a:off x="0" y="1664593"/>
            <a:ext cx="11598965" cy="4255275"/>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sz="2600" b="1" dirty="0"/>
              <a:t>Videos for Exit Interviews</a:t>
            </a:r>
          </a:p>
          <a:p>
            <a:pPr marL="800100" lvl="1" indent="-342900" algn="just">
              <a:lnSpc>
                <a:spcPct val="100000"/>
              </a:lnSpc>
              <a:spcBef>
                <a:spcPts val="1800"/>
              </a:spcBef>
              <a:buClr>
                <a:srgbClr val="973735"/>
              </a:buClr>
              <a:buSzPct val="50000"/>
              <a:buFont typeface="Wingdings" pitchFamily="2" charset="2"/>
              <a:buChar char="u"/>
              <a:defRPr/>
            </a:pPr>
            <a:r>
              <a:rPr lang="en-US" sz="2600" dirty="0"/>
              <a:t>Powerful media to capture expertise in exit interviews.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While they are operationally useful, for knowledge capture, much more time is needed than a short interview at the end of someone’s career. </a:t>
            </a:r>
          </a:p>
          <a:p>
            <a:pPr marL="800100" lvl="1" indent="-342900" algn="just">
              <a:lnSpc>
                <a:spcPct val="100000"/>
              </a:lnSpc>
              <a:spcBef>
                <a:spcPts val="1800"/>
              </a:spcBef>
              <a:buClr>
                <a:srgbClr val="973735"/>
              </a:buClr>
              <a:buSzPct val="50000"/>
              <a:buFont typeface="Wingdings" pitchFamily="2" charset="2"/>
              <a:buChar char="u"/>
              <a:defRPr/>
            </a:pPr>
            <a:r>
              <a:rPr lang="en-US" sz="2600" dirty="0"/>
              <a:t>Bank’s video stories: a minority of organizations would use actual filming to achieve “documentary” quality.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Visualization Tools and Knowledge Maps</a:t>
            </a:r>
          </a:p>
        </p:txBody>
      </p:sp>
    </p:spTree>
    <p:extLst>
      <p:ext uri="{BB962C8B-B14F-4D97-AF65-F5344CB8AC3E}">
        <p14:creationId xmlns:p14="http://schemas.microsoft.com/office/powerpoint/2010/main" val="21037513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22</a:t>
            </a:fld>
            <a:endParaRPr kumimoji="0" lang="en-US" dirty="0"/>
          </a:p>
        </p:txBody>
      </p:sp>
      <p:sp>
        <p:nvSpPr>
          <p:cNvPr id="4" name="Content Placeholder 3"/>
          <p:cNvSpPr>
            <a:spLocks noGrp="1"/>
          </p:cNvSpPr>
          <p:nvPr>
            <p:ph sz="quarter" idx="1"/>
          </p:nvPr>
        </p:nvSpPr>
        <p:spPr>
          <a:xfrm>
            <a:off x="0" y="1664593"/>
            <a:ext cx="11608904"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b="1" dirty="0"/>
              <a:t>Mobile Tools</a:t>
            </a:r>
          </a:p>
          <a:p>
            <a:pPr marL="800100" lvl="1" indent="-342900" algn="just">
              <a:lnSpc>
                <a:spcPct val="100000"/>
              </a:lnSpc>
              <a:spcBef>
                <a:spcPts val="1800"/>
              </a:spcBef>
              <a:buClr>
                <a:srgbClr val="973735"/>
              </a:buClr>
              <a:buSzPct val="50000"/>
              <a:buFont typeface="Wingdings" pitchFamily="2" charset="2"/>
              <a:buChar char="u"/>
              <a:defRPr/>
            </a:pPr>
            <a:r>
              <a:rPr lang="en-US" sz="2600" dirty="0"/>
              <a:t>Smartphones and tablets are increasingly popular and they have a range of functionalities including voice recording, photo capture, and even video recording. </a:t>
            </a:r>
          </a:p>
          <a:p>
            <a:pPr marL="800100" lvl="1" indent="-342900" algn="just">
              <a:lnSpc>
                <a:spcPct val="100000"/>
              </a:lnSpc>
              <a:spcBef>
                <a:spcPts val="1800"/>
              </a:spcBef>
              <a:buClr>
                <a:srgbClr val="973735"/>
              </a:buClr>
              <a:buSzPct val="50000"/>
              <a:buFont typeface="Wingdings" pitchFamily="2" charset="2"/>
              <a:buChar char="u"/>
              <a:defRPr/>
            </a:pPr>
            <a:r>
              <a:rPr lang="en-US" sz="2600" dirty="0"/>
              <a:t>They offer the potential to assist in knowledge capture and codification.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Visualization Tools and Knowledge Maps</a:t>
            </a:r>
          </a:p>
        </p:txBody>
      </p:sp>
    </p:spTree>
    <p:extLst>
      <p:ext uri="{BB962C8B-B14F-4D97-AF65-F5344CB8AC3E}">
        <p14:creationId xmlns:p14="http://schemas.microsoft.com/office/powerpoint/2010/main" val="3456576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23</a:t>
            </a:fld>
            <a:endParaRPr kumimoji="0" lang="en-US" dirty="0"/>
          </a:p>
        </p:txBody>
      </p:sp>
      <p:sp>
        <p:nvSpPr>
          <p:cNvPr id="4" name="Content Placeholder 3"/>
          <p:cNvSpPr>
            <a:spLocks noGrp="1"/>
          </p:cNvSpPr>
          <p:nvPr>
            <p:ph sz="quarter" idx="1"/>
          </p:nvPr>
        </p:nvSpPr>
        <p:spPr>
          <a:xfrm>
            <a:off x="0" y="1664593"/>
            <a:ext cx="11708296" cy="4686511"/>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sz="2600" b="1" dirty="0"/>
              <a:t>Content Management Tools</a:t>
            </a:r>
          </a:p>
          <a:p>
            <a:pPr marL="800100" lvl="1" indent="-342900" algn="just">
              <a:lnSpc>
                <a:spcPct val="100000"/>
              </a:lnSpc>
              <a:spcBef>
                <a:spcPts val="1800"/>
              </a:spcBef>
              <a:buClr>
                <a:srgbClr val="973735"/>
              </a:buClr>
              <a:buSzPct val="50000"/>
              <a:buFont typeface="Wingdings" pitchFamily="2" charset="2"/>
              <a:buChar char="u"/>
              <a:defRPr/>
            </a:pPr>
            <a:r>
              <a:rPr lang="en-US" sz="2600" dirty="0"/>
              <a:t>Management of valuable content throughout the useful lifespan of the content. </a:t>
            </a:r>
          </a:p>
          <a:p>
            <a:pPr marL="800100" lvl="1" indent="-342900" algn="just">
              <a:lnSpc>
                <a:spcPct val="100000"/>
              </a:lnSpc>
              <a:spcBef>
                <a:spcPts val="1800"/>
              </a:spcBef>
              <a:buClr>
                <a:srgbClr val="973735"/>
              </a:buClr>
              <a:buSzPct val="50000"/>
              <a:buFont typeface="Wingdings" pitchFamily="2" charset="2"/>
              <a:buChar char="u"/>
              <a:defRPr/>
            </a:pPr>
            <a:r>
              <a:rPr lang="en-US" sz="2600" dirty="0"/>
              <a:t>Content lifespan will typically begin with content creation, handle multiple changes and updates, merging, summarization, and other repackaging, and will typically end with archiving.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Visualization Tools and Knowledge Maps</a:t>
            </a:r>
          </a:p>
        </p:txBody>
      </p:sp>
    </p:spTree>
    <p:extLst>
      <p:ext uri="{BB962C8B-B14F-4D97-AF65-F5344CB8AC3E}">
        <p14:creationId xmlns:p14="http://schemas.microsoft.com/office/powerpoint/2010/main" val="32987071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24</a:t>
            </a:fld>
            <a:endParaRPr kumimoji="0" lang="en-US" dirty="0"/>
          </a:p>
        </p:txBody>
      </p:sp>
      <p:sp>
        <p:nvSpPr>
          <p:cNvPr id="4" name="Content Placeholder 3"/>
          <p:cNvSpPr>
            <a:spLocks noGrp="1"/>
          </p:cNvSpPr>
          <p:nvPr>
            <p:ph sz="quarter" idx="1"/>
          </p:nvPr>
        </p:nvSpPr>
        <p:spPr>
          <a:xfrm>
            <a:off x="0" y="1664593"/>
            <a:ext cx="11708296" cy="4686511"/>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sz="2600" b="1" dirty="0"/>
              <a:t>Content Management Tools</a:t>
            </a:r>
          </a:p>
          <a:p>
            <a:pPr marL="800100" lvl="1" indent="-342900" algn="just">
              <a:lnSpc>
                <a:spcPct val="100000"/>
              </a:lnSpc>
              <a:spcBef>
                <a:spcPts val="1800"/>
              </a:spcBef>
              <a:buClr>
                <a:srgbClr val="973735"/>
              </a:buClr>
              <a:buSzPct val="50000"/>
              <a:buFont typeface="Wingdings" pitchFamily="2" charset="2"/>
              <a:buChar char="u"/>
              <a:defRPr/>
            </a:pPr>
            <a:r>
              <a:rPr lang="en-US" sz="2600" dirty="0"/>
              <a:t>Metadata is used to better manage content throughout its useful lifespan.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Metadata includes such information as source/author, keywords to describe content, date created, date changed, quality, best purposes, annotations by those who have made use of it, and an expiry or “best before” date where applicable. </a:t>
            </a:r>
          </a:p>
          <a:p>
            <a:pPr marL="1257300" lvl="2" indent="-342900" algn="just">
              <a:lnSpc>
                <a:spcPct val="100000"/>
              </a:lnSpc>
              <a:spcBef>
                <a:spcPts val="1800"/>
              </a:spcBef>
              <a:buClr>
                <a:srgbClr val="973735"/>
              </a:buClr>
              <a:buSzPct val="50000"/>
              <a:buFont typeface="Wingdings" pitchFamily="2" charset="2"/>
              <a:buChar char="u"/>
              <a:defRPr/>
            </a:pPr>
            <a:r>
              <a:rPr lang="en-US" sz="2400" dirty="0"/>
              <a:t>Additional attributes such the storage medium, location, and whether or not it exists in a number of alternative forms are also useful to include.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Visualization Tools and Knowledge Maps</a:t>
            </a:r>
          </a:p>
        </p:txBody>
      </p:sp>
    </p:spTree>
    <p:extLst>
      <p:ext uri="{BB962C8B-B14F-4D97-AF65-F5344CB8AC3E}">
        <p14:creationId xmlns:p14="http://schemas.microsoft.com/office/powerpoint/2010/main" val="3436320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25</a:t>
            </a:fld>
            <a:endParaRPr kumimoji="0" lang="en-US" dirty="0"/>
          </a:p>
        </p:txBody>
      </p:sp>
      <p:sp>
        <p:nvSpPr>
          <p:cNvPr id="4" name="Content Placeholder 3"/>
          <p:cNvSpPr>
            <a:spLocks noGrp="1"/>
          </p:cNvSpPr>
          <p:nvPr>
            <p:ph sz="quarter" idx="1"/>
          </p:nvPr>
        </p:nvSpPr>
        <p:spPr>
          <a:xfrm>
            <a:off x="0" y="1664593"/>
            <a:ext cx="11787809" cy="4255275"/>
          </a:xfrm>
        </p:spPr>
        <p:txBody>
          <a:bodyPr>
            <a:normAutofit/>
          </a:bodyPr>
          <a:lstStyle/>
          <a:p>
            <a:pPr marL="342900" indent="-342900" algn="just">
              <a:lnSpc>
                <a:spcPct val="120000"/>
              </a:lnSpc>
              <a:spcBef>
                <a:spcPts val="1200"/>
              </a:spcBef>
              <a:buClr>
                <a:srgbClr val="973735"/>
              </a:buClr>
              <a:buSzPct val="50000"/>
              <a:buFont typeface="Wingdings" pitchFamily="2" charset="2"/>
              <a:buChar char="u"/>
              <a:defRPr/>
            </a:pPr>
            <a:r>
              <a:rPr lang="en-US" sz="2600" b="1" dirty="0"/>
              <a:t>Folksonomies and Social Tagging/Bookmarking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Metadata is literally translated as “data about data” and refers to specific information about content contained in books, reports, articles, images, and other containers so that they can be organized and retrieved in an orderly fashion. </a:t>
            </a:r>
          </a:p>
          <a:p>
            <a:pPr marL="800100" lvl="1" indent="-342900" algn="just">
              <a:lnSpc>
                <a:spcPct val="100000"/>
              </a:lnSpc>
              <a:spcBef>
                <a:spcPts val="1800"/>
              </a:spcBef>
              <a:buClr>
                <a:srgbClr val="973735"/>
              </a:buClr>
              <a:buSzPct val="50000"/>
              <a:buFont typeface="Wingdings" pitchFamily="2" charset="2"/>
              <a:buChar char="u"/>
              <a:defRPr/>
            </a:pPr>
            <a:r>
              <a:rPr lang="en-US" sz="2600" dirty="0"/>
              <a:t>Metadata is also referred to as tags or keywords.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Visualization Tools and Knowledge Maps</a:t>
            </a:r>
          </a:p>
        </p:txBody>
      </p:sp>
    </p:spTree>
    <p:extLst>
      <p:ext uri="{BB962C8B-B14F-4D97-AF65-F5344CB8AC3E}">
        <p14:creationId xmlns:p14="http://schemas.microsoft.com/office/powerpoint/2010/main" val="29827454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26</a:t>
            </a:fld>
            <a:endParaRPr kumimoji="0" lang="en-US" dirty="0"/>
          </a:p>
        </p:txBody>
      </p:sp>
      <p:sp>
        <p:nvSpPr>
          <p:cNvPr id="4" name="Content Placeholder 3"/>
          <p:cNvSpPr>
            <a:spLocks noGrp="1"/>
          </p:cNvSpPr>
          <p:nvPr>
            <p:ph sz="quarter" idx="1"/>
          </p:nvPr>
        </p:nvSpPr>
        <p:spPr>
          <a:xfrm>
            <a:off x="0" y="1664593"/>
            <a:ext cx="11767930" cy="4816106"/>
          </a:xfrm>
        </p:spPr>
        <p:txBody>
          <a:bodyPr>
            <a:noAutofit/>
          </a:bodyPr>
          <a:lstStyle/>
          <a:p>
            <a:pPr marL="342900" indent="-342900" algn="just">
              <a:lnSpc>
                <a:spcPct val="120000"/>
              </a:lnSpc>
              <a:spcBef>
                <a:spcPts val="1200"/>
              </a:spcBef>
              <a:buClr>
                <a:srgbClr val="973735"/>
              </a:buClr>
              <a:buSzPct val="50000"/>
              <a:buFont typeface="Wingdings" pitchFamily="2" charset="2"/>
              <a:buChar char="u"/>
              <a:defRPr/>
            </a:pPr>
            <a:r>
              <a:rPr lang="en-US" sz="2600" b="1" dirty="0"/>
              <a:t>Folksonomies and Social Tagging/Bookmarking</a:t>
            </a:r>
          </a:p>
          <a:p>
            <a:pPr marL="800100" lvl="1" indent="-342900" algn="just">
              <a:lnSpc>
                <a:spcPct val="100000"/>
              </a:lnSpc>
              <a:spcBef>
                <a:spcPts val="1200"/>
              </a:spcBef>
              <a:buClr>
                <a:srgbClr val="973735"/>
              </a:buClr>
              <a:buSzPct val="50000"/>
              <a:buFont typeface="Wingdings" pitchFamily="2" charset="2"/>
              <a:buChar char="u"/>
              <a:defRPr/>
            </a:pPr>
            <a:r>
              <a:rPr lang="en-US" dirty="0"/>
              <a:t>Three types of metadata as follows:</a:t>
            </a:r>
          </a:p>
          <a:p>
            <a:pPr marL="1257300" lvl="2" indent="-342900" algn="just">
              <a:lnSpc>
                <a:spcPct val="110000"/>
              </a:lnSpc>
              <a:spcBef>
                <a:spcPts val="1200"/>
              </a:spcBef>
              <a:buClr>
                <a:srgbClr val="973735"/>
              </a:buClr>
              <a:buSzPct val="50000"/>
              <a:buFont typeface="Wingdings" pitchFamily="2" charset="2"/>
              <a:buChar char="u"/>
              <a:defRPr/>
            </a:pPr>
            <a:r>
              <a:rPr lang="en-US" sz="2400" dirty="0"/>
              <a:t>Administrative metadata: information needed to manage the information resource over its lifecycle. This is sometimes referred to as preservation metadata.</a:t>
            </a:r>
          </a:p>
          <a:p>
            <a:pPr marL="1257300" lvl="2" indent="-342900" algn="just">
              <a:lnSpc>
                <a:spcPct val="110000"/>
              </a:lnSpc>
              <a:spcBef>
                <a:spcPts val="1200"/>
              </a:spcBef>
              <a:buClr>
                <a:srgbClr val="973735"/>
              </a:buClr>
              <a:buSzPct val="50000"/>
              <a:buFont typeface="Wingdings" pitchFamily="2" charset="2"/>
              <a:buChar char="u"/>
              <a:defRPr/>
            </a:pPr>
            <a:r>
              <a:rPr lang="en-US" sz="2400" dirty="0"/>
              <a:t>Structural metadata: relates to the actual computer elements involved such as tables, columns, and indices.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Visualization Tools and Knowledge Maps</a:t>
            </a:r>
          </a:p>
        </p:txBody>
      </p:sp>
    </p:spTree>
    <p:extLst>
      <p:ext uri="{BB962C8B-B14F-4D97-AF65-F5344CB8AC3E}">
        <p14:creationId xmlns:p14="http://schemas.microsoft.com/office/powerpoint/2010/main" val="2834910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27</a:t>
            </a:fld>
            <a:endParaRPr kumimoji="0" lang="en-US" dirty="0"/>
          </a:p>
        </p:txBody>
      </p:sp>
      <p:sp>
        <p:nvSpPr>
          <p:cNvPr id="4" name="Content Placeholder 3"/>
          <p:cNvSpPr>
            <a:spLocks noGrp="1"/>
          </p:cNvSpPr>
          <p:nvPr>
            <p:ph sz="quarter" idx="1"/>
          </p:nvPr>
        </p:nvSpPr>
        <p:spPr>
          <a:xfrm>
            <a:off x="0" y="1664593"/>
            <a:ext cx="11767930" cy="4816106"/>
          </a:xfrm>
        </p:spPr>
        <p:txBody>
          <a:bodyPr>
            <a:noAutofit/>
          </a:bodyPr>
          <a:lstStyle/>
          <a:p>
            <a:pPr marL="342900" indent="-342900" algn="just">
              <a:lnSpc>
                <a:spcPct val="120000"/>
              </a:lnSpc>
              <a:spcBef>
                <a:spcPts val="1200"/>
              </a:spcBef>
              <a:buClr>
                <a:srgbClr val="973735"/>
              </a:buClr>
              <a:buSzPct val="50000"/>
              <a:buFont typeface="Wingdings" pitchFamily="2" charset="2"/>
              <a:buChar char="u"/>
              <a:defRPr/>
            </a:pPr>
            <a:r>
              <a:rPr lang="en-US" sz="2600" b="1" dirty="0"/>
              <a:t>Folksonomies and Social Tagging/Bookmarking</a:t>
            </a:r>
          </a:p>
          <a:p>
            <a:pPr marL="800100" lvl="1" indent="-342900" algn="just">
              <a:lnSpc>
                <a:spcPct val="100000"/>
              </a:lnSpc>
              <a:spcBef>
                <a:spcPts val="1200"/>
              </a:spcBef>
              <a:buClr>
                <a:srgbClr val="973735"/>
              </a:buClr>
              <a:buSzPct val="50000"/>
              <a:buFont typeface="Wingdings" pitchFamily="2" charset="2"/>
              <a:buChar char="u"/>
              <a:defRPr/>
            </a:pPr>
            <a:r>
              <a:rPr lang="en-US" dirty="0"/>
              <a:t>Three types of metadata as follows (</a:t>
            </a:r>
            <a:r>
              <a:rPr lang="en-US" dirty="0" err="1"/>
              <a:t>con’t</a:t>
            </a:r>
            <a:r>
              <a:rPr lang="en-US" dirty="0"/>
              <a:t>):</a:t>
            </a:r>
          </a:p>
          <a:p>
            <a:pPr marL="1257300" lvl="2" indent="-342900" algn="just">
              <a:lnSpc>
                <a:spcPct val="110000"/>
              </a:lnSpc>
              <a:spcBef>
                <a:spcPts val="1200"/>
              </a:spcBef>
              <a:buClr>
                <a:srgbClr val="973735"/>
              </a:buClr>
              <a:buSzPct val="50000"/>
              <a:buFont typeface="Wingdings" pitchFamily="2" charset="2"/>
              <a:buChar char="u"/>
              <a:defRPr/>
            </a:pPr>
            <a:r>
              <a:rPr lang="en-US" sz="2400" dirty="0"/>
              <a:t>Descriptive metadata: refers more to the content or subject matter of the information resource to help users find it. Descriptive metadata is of greatest concern in KM because we often need to expand this type of data about data greatly in order to increase the usability (and reusability) of a given unit of knowledge.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t>Visualization Tools and Knowledge Maps</a:t>
            </a:r>
          </a:p>
        </p:txBody>
      </p:sp>
    </p:spTree>
    <p:extLst>
      <p:ext uri="{BB962C8B-B14F-4D97-AF65-F5344CB8AC3E}">
        <p14:creationId xmlns:p14="http://schemas.microsoft.com/office/powerpoint/2010/main" val="826619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28</a:t>
            </a:fld>
            <a:endParaRPr kumimoji="0" lang="en-US" dirty="0"/>
          </a:p>
        </p:txBody>
      </p:sp>
      <p:sp>
        <p:nvSpPr>
          <p:cNvPr id="4" name="Content Placeholder 3"/>
          <p:cNvSpPr>
            <a:spLocks noGrp="1"/>
          </p:cNvSpPr>
          <p:nvPr>
            <p:ph sz="quarter" idx="1"/>
          </p:nvPr>
        </p:nvSpPr>
        <p:spPr>
          <a:xfrm>
            <a:off x="838200" y="2830286"/>
            <a:ext cx="10192657" cy="3133125"/>
          </a:xfrm>
        </p:spPr>
        <p:txBody>
          <a:bodyPr>
            <a:normAutofit/>
          </a:bodyPr>
          <a:lstStyle/>
          <a:p>
            <a:pPr marL="0" indent="0" algn="just">
              <a:lnSpc>
                <a:spcPct val="100000"/>
              </a:lnSpc>
              <a:spcBef>
                <a:spcPts val="1200"/>
              </a:spcBef>
              <a:buClr>
                <a:srgbClr val="973735"/>
              </a:buClr>
              <a:buSzPct val="50000"/>
              <a:buNone/>
              <a:defRPr/>
            </a:pPr>
            <a:r>
              <a:rPr lang="en-US" i="1" dirty="0"/>
              <a:t>“The good news about computers is that they do what you tell them to do. The bed news is that what they do what you teel them to do”</a:t>
            </a:r>
          </a:p>
          <a:p>
            <a:pPr marL="0" indent="0" algn="r">
              <a:lnSpc>
                <a:spcPct val="100000"/>
              </a:lnSpc>
              <a:spcBef>
                <a:spcPts val="1200"/>
              </a:spcBef>
              <a:buClr>
                <a:srgbClr val="973735"/>
              </a:buClr>
              <a:buSzPct val="50000"/>
              <a:buNone/>
              <a:defRPr/>
            </a:pPr>
            <a:r>
              <a:rPr lang="en-US" dirty="0"/>
              <a:t>-Ted Nelson-</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Sharing and Dissemination Tools</a:t>
            </a:r>
          </a:p>
        </p:txBody>
      </p:sp>
    </p:spTree>
    <p:extLst>
      <p:ext uri="{BB962C8B-B14F-4D97-AF65-F5344CB8AC3E}">
        <p14:creationId xmlns:p14="http://schemas.microsoft.com/office/powerpoint/2010/main" val="30750541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29</a:t>
            </a:fld>
            <a:endParaRPr kumimoji="0" lang="en-US" dirty="0"/>
          </a:p>
        </p:txBody>
      </p:sp>
      <p:sp>
        <p:nvSpPr>
          <p:cNvPr id="4" name="Content Placeholder 3"/>
          <p:cNvSpPr>
            <a:spLocks noGrp="1"/>
          </p:cNvSpPr>
          <p:nvPr>
            <p:ph sz="quarter" idx="1"/>
          </p:nvPr>
        </p:nvSpPr>
        <p:spPr>
          <a:xfrm>
            <a:off x="0" y="1664593"/>
            <a:ext cx="11971176" cy="4656694"/>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Collaboration tools</a:t>
            </a:r>
          </a:p>
          <a:p>
            <a:pPr marL="342900" indent="-342900" algn="just">
              <a:lnSpc>
                <a:spcPct val="100000"/>
              </a:lnSpc>
              <a:spcBef>
                <a:spcPts val="1200"/>
              </a:spcBef>
              <a:buClr>
                <a:srgbClr val="973735"/>
              </a:buClr>
              <a:buSzPct val="50000"/>
              <a:buFont typeface="Wingdings" pitchFamily="2" charset="2"/>
              <a:buChar char="u"/>
              <a:defRPr/>
            </a:pPr>
            <a:r>
              <a:rPr lang="en-US" dirty="0"/>
              <a:t>Wikis</a:t>
            </a:r>
          </a:p>
          <a:p>
            <a:pPr marL="342900" indent="-342900" algn="just">
              <a:lnSpc>
                <a:spcPct val="100000"/>
              </a:lnSpc>
              <a:spcBef>
                <a:spcPts val="1200"/>
              </a:spcBef>
              <a:buClr>
                <a:srgbClr val="973735"/>
              </a:buClr>
              <a:buSzPct val="50000"/>
              <a:buFont typeface="Wingdings" pitchFamily="2" charset="2"/>
              <a:buChar char="u"/>
              <a:defRPr/>
            </a:pPr>
            <a:r>
              <a:rPr lang="en-US" dirty="0"/>
              <a:t>Networking Technologies</a:t>
            </a:r>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dirty="0"/>
          </a:p>
          <a:p>
            <a:pPr marL="800100" lvl="1" indent="-342900" algn="just">
              <a:lnSpc>
                <a:spcPct val="100000"/>
              </a:lnSpc>
              <a:spcBef>
                <a:spcPts val="1200"/>
              </a:spcBef>
              <a:buClr>
                <a:srgbClr val="973735"/>
              </a:buClr>
              <a:buSzPct val="50000"/>
              <a:buFont typeface="Wingdings" pitchFamily="2" charset="2"/>
              <a:buChar char="u"/>
              <a:defRPr/>
            </a:pPr>
            <a:endParaRPr lang="en-US" sz="24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Sharing and Dissemination Tools</a:t>
            </a:r>
          </a:p>
        </p:txBody>
      </p:sp>
    </p:spTree>
    <p:extLst>
      <p:ext uri="{BB962C8B-B14F-4D97-AF65-F5344CB8AC3E}">
        <p14:creationId xmlns:p14="http://schemas.microsoft.com/office/powerpoint/2010/main" val="12527799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30</a:t>
            </a:fld>
            <a:endParaRPr kumimoji="0" lang="en-US" dirty="0"/>
          </a:p>
        </p:txBody>
      </p:sp>
      <p:sp>
        <p:nvSpPr>
          <p:cNvPr id="4" name="Content Placeholder 3"/>
          <p:cNvSpPr>
            <a:spLocks noGrp="1"/>
          </p:cNvSpPr>
          <p:nvPr>
            <p:ph sz="quarter" idx="1"/>
          </p:nvPr>
        </p:nvSpPr>
        <p:spPr>
          <a:xfrm>
            <a:off x="0" y="1664593"/>
            <a:ext cx="11589026" cy="4656694"/>
          </a:xfrm>
        </p:spPr>
        <p:txBody>
          <a:bodyPr>
            <a:normAutofit/>
          </a:bodyPr>
          <a:lstStyle/>
          <a:p>
            <a:pPr marL="800100" lvl="1" indent="-342900" algn="just">
              <a:lnSpc>
                <a:spcPct val="100000"/>
              </a:lnSpc>
              <a:spcBef>
                <a:spcPts val="1200"/>
              </a:spcBef>
              <a:buClr>
                <a:srgbClr val="973735"/>
              </a:buClr>
              <a:buSzPct val="50000"/>
              <a:buFont typeface="Wingdings" pitchFamily="2" charset="2"/>
              <a:buChar char="u"/>
              <a:defRPr/>
            </a:pPr>
            <a:r>
              <a:rPr lang="en-US" sz="2600" dirty="0"/>
              <a:t>Communication technology always integrated with collaboration tools</a:t>
            </a:r>
          </a:p>
          <a:p>
            <a:pPr marL="800100" lvl="1" indent="-342900" algn="just">
              <a:lnSpc>
                <a:spcPct val="100000"/>
              </a:lnSpc>
              <a:spcBef>
                <a:spcPts val="1200"/>
              </a:spcBef>
              <a:buClr>
                <a:srgbClr val="973735"/>
              </a:buClr>
              <a:buSzPct val="50000"/>
              <a:buFont typeface="Wingdings" pitchFamily="2" charset="2"/>
              <a:buChar char="u"/>
              <a:defRPr/>
            </a:pPr>
            <a:r>
              <a:rPr lang="en-US" sz="2600" dirty="0"/>
              <a:t>Groupware -&gt; software that help group of colleagues attached to a communication network (e-office, lotus notes, </a:t>
            </a:r>
            <a:r>
              <a:rPr lang="en-US" sz="2600" dirty="0" err="1"/>
              <a:t>egroupware</a:t>
            </a:r>
            <a:r>
              <a:rPr lang="en-US" sz="2600" dirty="0"/>
              <a:t>). It allow us to do</a:t>
            </a:r>
          </a:p>
          <a:p>
            <a:pPr marL="1257300" lvl="2" indent="-342900" algn="just">
              <a:lnSpc>
                <a:spcPct val="100000"/>
              </a:lnSpc>
              <a:spcBef>
                <a:spcPts val="1200"/>
              </a:spcBef>
              <a:buClr>
                <a:srgbClr val="973735"/>
              </a:buClr>
              <a:buSzPct val="50000"/>
              <a:buFont typeface="Wingdings" pitchFamily="2" charset="2"/>
              <a:buChar char="u"/>
              <a:defRPr/>
            </a:pPr>
            <a:r>
              <a:rPr lang="en-US" sz="2400" dirty="0"/>
              <a:t>Meeting scheduling</a:t>
            </a:r>
          </a:p>
          <a:p>
            <a:pPr marL="1257300" lvl="2" indent="-342900" algn="just">
              <a:lnSpc>
                <a:spcPct val="100000"/>
              </a:lnSpc>
              <a:spcBef>
                <a:spcPts val="1200"/>
              </a:spcBef>
              <a:buClr>
                <a:srgbClr val="973735"/>
              </a:buClr>
              <a:buSzPct val="50000"/>
              <a:buFont typeface="Wingdings" pitchFamily="2" charset="2"/>
              <a:buChar char="u"/>
              <a:defRPr/>
            </a:pPr>
            <a:r>
              <a:rPr lang="en-US" sz="2400" dirty="0"/>
              <a:t>Allocating resources</a:t>
            </a:r>
          </a:p>
          <a:p>
            <a:pPr marL="1257300" lvl="2" indent="-342900" algn="just">
              <a:lnSpc>
                <a:spcPct val="100000"/>
              </a:lnSpc>
              <a:spcBef>
                <a:spcPts val="1200"/>
              </a:spcBef>
              <a:buClr>
                <a:srgbClr val="973735"/>
              </a:buClr>
              <a:buSzPct val="50000"/>
              <a:buFont typeface="Wingdings" pitchFamily="2" charset="2"/>
              <a:buChar char="u"/>
              <a:defRPr/>
            </a:pPr>
            <a:r>
              <a:rPr lang="en-US" sz="2400" dirty="0"/>
              <a:t>Email and newsletter</a:t>
            </a:r>
          </a:p>
          <a:p>
            <a:pPr marL="1257300" lvl="2" indent="-342900" algn="just">
              <a:lnSpc>
                <a:spcPct val="100000"/>
              </a:lnSpc>
              <a:spcBef>
                <a:spcPts val="1200"/>
              </a:spcBef>
              <a:buClr>
                <a:srgbClr val="973735"/>
              </a:buClr>
              <a:buSzPct val="50000"/>
              <a:buFont typeface="Wingdings" pitchFamily="2" charset="2"/>
              <a:buChar char="u"/>
              <a:defRPr/>
            </a:pPr>
            <a:r>
              <a:rPr lang="en-US" sz="2400" dirty="0"/>
              <a:t>Password protection</a:t>
            </a:r>
          </a:p>
          <a:p>
            <a:pPr marL="1257300" lvl="2" indent="-342900" algn="just">
              <a:lnSpc>
                <a:spcPct val="100000"/>
              </a:lnSpc>
              <a:spcBef>
                <a:spcPts val="1200"/>
              </a:spcBef>
              <a:buClr>
                <a:srgbClr val="973735"/>
              </a:buClr>
              <a:buSzPct val="50000"/>
              <a:buFont typeface="Wingdings" pitchFamily="2" charset="2"/>
              <a:buChar char="u"/>
              <a:defRPr/>
            </a:pPr>
            <a:r>
              <a:rPr lang="en-US" sz="2400" dirty="0"/>
              <a:t>File distribution</a:t>
            </a:r>
          </a:p>
          <a:p>
            <a:pPr marL="1257300" lvl="2" indent="-342900" algn="just">
              <a:lnSpc>
                <a:spcPct val="100000"/>
              </a:lnSpc>
              <a:spcBef>
                <a:spcPts val="1200"/>
              </a:spcBef>
              <a:buClr>
                <a:srgbClr val="973735"/>
              </a:buClr>
              <a:buSzPct val="50000"/>
              <a:buFont typeface="Wingdings" pitchFamily="2" charset="2"/>
              <a:buChar char="u"/>
              <a:defRPr/>
            </a:pPr>
            <a:endParaRPr lang="en-US" sz="24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Collaboration tools</a:t>
            </a:r>
          </a:p>
        </p:txBody>
      </p:sp>
    </p:spTree>
    <p:extLst>
      <p:ext uri="{BB962C8B-B14F-4D97-AF65-F5344CB8AC3E}">
        <p14:creationId xmlns:p14="http://schemas.microsoft.com/office/powerpoint/2010/main" val="26414653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31</a:t>
            </a:fld>
            <a:endParaRPr kumimoji="0" lang="en-US" dirty="0"/>
          </a:p>
        </p:txBody>
      </p:sp>
      <p:sp>
        <p:nvSpPr>
          <p:cNvPr id="4" name="Content Placeholder 3"/>
          <p:cNvSpPr>
            <a:spLocks noGrp="1"/>
          </p:cNvSpPr>
          <p:nvPr>
            <p:ph sz="quarter" idx="1"/>
          </p:nvPr>
        </p:nvSpPr>
        <p:spPr>
          <a:xfrm>
            <a:off x="0" y="1664593"/>
            <a:ext cx="11708296" cy="4255275"/>
          </a:xfrm>
        </p:spPr>
        <p:txBody>
          <a:bodyPr>
            <a:normAutofit/>
          </a:bodyPr>
          <a:lstStyle/>
          <a:p>
            <a:pPr marL="800100" lvl="1" indent="-342900" algn="just">
              <a:lnSpc>
                <a:spcPct val="100000"/>
              </a:lnSpc>
              <a:spcBef>
                <a:spcPts val="1800"/>
              </a:spcBef>
              <a:buClr>
                <a:srgbClr val="973735"/>
              </a:buClr>
              <a:buSzPct val="50000"/>
              <a:buFont typeface="Wingdings" pitchFamily="2" charset="2"/>
              <a:buChar char="u"/>
              <a:defRPr/>
            </a:pPr>
            <a:r>
              <a:rPr lang="en-US" sz="2600" dirty="0"/>
              <a:t>Collaboration can be view as cooperate, coordinate, solve problem, compete, and negotiate</a:t>
            </a:r>
          </a:p>
          <a:p>
            <a:pPr marL="800100" lvl="1" indent="-342900" algn="just">
              <a:lnSpc>
                <a:spcPct val="100000"/>
              </a:lnSpc>
              <a:spcBef>
                <a:spcPts val="1800"/>
              </a:spcBef>
              <a:buClr>
                <a:srgbClr val="973735"/>
              </a:buClr>
              <a:buSzPct val="50000"/>
              <a:buFont typeface="Wingdings" pitchFamily="2" charset="2"/>
              <a:buChar char="u"/>
              <a:defRPr/>
            </a:pPr>
            <a:r>
              <a:rPr lang="en-US" sz="2600" dirty="0"/>
              <a:t>Commonly used technologies: Tele-Videoconferencing, IM, chat, VoIP, email-list, forum</a:t>
            </a:r>
          </a:p>
          <a:p>
            <a:pPr marL="800100" lvl="1" indent="-342900" algn="just">
              <a:lnSpc>
                <a:spcPct val="100000"/>
              </a:lnSpc>
              <a:spcBef>
                <a:spcPts val="1800"/>
              </a:spcBef>
              <a:buClr>
                <a:srgbClr val="973735"/>
              </a:buClr>
              <a:buSzPct val="50000"/>
              <a:buFont typeface="Wingdings" pitchFamily="2" charset="2"/>
              <a:buChar char="u"/>
              <a:defRPr/>
            </a:pPr>
            <a:r>
              <a:rPr lang="en-US" sz="2600" dirty="0"/>
              <a:t>Collaboration -&gt; groupware productivity, technology design to facilitate the work of groups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Collaboration tools</a:t>
            </a:r>
            <a:endParaRPr lang="en-US" sz="4000" b="1" dirty="0"/>
          </a:p>
        </p:txBody>
      </p:sp>
    </p:spTree>
    <p:extLst>
      <p:ext uri="{BB962C8B-B14F-4D97-AF65-F5344CB8AC3E}">
        <p14:creationId xmlns:p14="http://schemas.microsoft.com/office/powerpoint/2010/main" val="10131306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32</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800100" lvl="1" indent="-342900" algn="just">
              <a:lnSpc>
                <a:spcPct val="150000"/>
              </a:lnSpc>
              <a:spcBef>
                <a:spcPts val="600"/>
              </a:spcBef>
              <a:buClr>
                <a:srgbClr val="973735"/>
              </a:buClr>
              <a:buSzPct val="50000"/>
              <a:buFont typeface="Wingdings" pitchFamily="2" charset="2"/>
              <a:buChar char="u"/>
              <a:defRPr/>
            </a:pPr>
            <a:r>
              <a:rPr lang="en-US" sz="2600" dirty="0"/>
              <a:t>Groupware category</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Collaboration tools</a:t>
            </a:r>
            <a:endParaRPr lang="en-US" sz="4000" b="1" dirty="0"/>
          </a:p>
        </p:txBody>
      </p:sp>
      <p:graphicFrame>
        <p:nvGraphicFramePr>
          <p:cNvPr id="5" name="Table 6">
            <a:extLst>
              <a:ext uri="{FF2B5EF4-FFF2-40B4-BE49-F238E27FC236}">
                <a16:creationId xmlns:a16="http://schemas.microsoft.com/office/drawing/2014/main" id="{B8D837A0-79AE-95E8-2100-A9A0FFC23932}"/>
              </a:ext>
            </a:extLst>
          </p:cNvPr>
          <p:cNvGraphicFramePr>
            <a:graphicFrameLocks noGrp="1"/>
          </p:cNvGraphicFramePr>
          <p:nvPr>
            <p:extLst>
              <p:ext uri="{D42A27DB-BD31-4B8C-83A1-F6EECF244321}">
                <p14:modId xmlns:p14="http://schemas.microsoft.com/office/powerpoint/2010/main" val="2735820495"/>
              </p:ext>
            </p:extLst>
          </p:nvPr>
        </p:nvGraphicFramePr>
        <p:xfrm>
          <a:off x="1267791" y="3429000"/>
          <a:ext cx="9656418" cy="1651000"/>
        </p:xfrm>
        <a:graphic>
          <a:graphicData uri="http://schemas.openxmlformats.org/drawingml/2006/table">
            <a:tbl>
              <a:tblPr firstRow="1" bandRow="1">
                <a:tableStyleId>{21E4AEA4-8DFA-4A89-87EB-49C32662AFE0}</a:tableStyleId>
              </a:tblPr>
              <a:tblGrid>
                <a:gridCol w="3017631">
                  <a:extLst>
                    <a:ext uri="{9D8B030D-6E8A-4147-A177-3AD203B41FA5}">
                      <a16:colId xmlns:a16="http://schemas.microsoft.com/office/drawing/2014/main" val="3197722200"/>
                    </a:ext>
                  </a:extLst>
                </a:gridCol>
                <a:gridCol w="2941430">
                  <a:extLst>
                    <a:ext uri="{9D8B030D-6E8A-4147-A177-3AD203B41FA5}">
                      <a16:colId xmlns:a16="http://schemas.microsoft.com/office/drawing/2014/main" val="3556542034"/>
                    </a:ext>
                  </a:extLst>
                </a:gridCol>
                <a:gridCol w="3697357">
                  <a:extLst>
                    <a:ext uri="{9D8B030D-6E8A-4147-A177-3AD203B41FA5}">
                      <a16:colId xmlns:a16="http://schemas.microsoft.com/office/drawing/2014/main" val="100929139"/>
                    </a:ext>
                  </a:extLst>
                </a:gridCol>
              </a:tblGrid>
              <a:tr h="370840">
                <a:tc>
                  <a:txBody>
                    <a:bodyPr/>
                    <a:lstStyle/>
                    <a:p>
                      <a:endParaRPr lang="en-US"/>
                    </a:p>
                  </a:txBody>
                  <a:tcPr/>
                </a:tc>
                <a:tc>
                  <a:txBody>
                    <a:bodyPr/>
                    <a:lstStyle/>
                    <a:p>
                      <a:r>
                        <a:rPr lang="en-US" dirty="0"/>
                        <a:t>Same time, synchronous</a:t>
                      </a:r>
                    </a:p>
                  </a:txBody>
                  <a:tcPr/>
                </a:tc>
                <a:tc>
                  <a:txBody>
                    <a:bodyPr/>
                    <a:lstStyle/>
                    <a:p>
                      <a:r>
                        <a:rPr lang="en-US" dirty="0"/>
                        <a:t>Different time, asynchronous</a:t>
                      </a:r>
                    </a:p>
                  </a:txBody>
                  <a:tcPr/>
                </a:tc>
                <a:extLst>
                  <a:ext uri="{0D108BD9-81ED-4DB2-BD59-A6C34878D82A}">
                    <a16:rowId xmlns:a16="http://schemas.microsoft.com/office/drawing/2014/main" val="2505323226"/>
                  </a:ext>
                </a:extLst>
              </a:tr>
              <a:tr h="370840">
                <a:tc>
                  <a:txBody>
                    <a:bodyPr/>
                    <a:lstStyle/>
                    <a:p>
                      <a:r>
                        <a:rPr lang="en-US" dirty="0"/>
                        <a:t>Same place, </a:t>
                      </a:r>
                      <a:r>
                        <a:rPr lang="en-US" dirty="0" err="1"/>
                        <a:t>colocated</a:t>
                      </a:r>
                      <a:endParaRPr lang="en-US" dirty="0"/>
                    </a:p>
                  </a:txBody>
                  <a:tcPr/>
                </a:tc>
                <a:tc>
                  <a:txBody>
                    <a:bodyPr/>
                    <a:lstStyle/>
                    <a:p>
                      <a:r>
                        <a:rPr lang="en-US" dirty="0"/>
                        <a:t>Voting</a:t>
                      </a:r>
                    </a:p>
                    <a:p>
                      <a:r>
                        <a:rPr lang="en-US" dirty="0"/>
                        <a:t>Presentation support</a:t>
                      </a:r>
                    </a:p>
                  </a:txBody>
                  <a:tcPr/>
                </a:tc>
                <a:tc>
                  <a:txBody>
                    <a:bodyPr/>
                    <a:lstStyle/>
                    <a:p>
                      <a:r>
                        <a:rPr lang="en-US" dirty="0"/>
                        <a:t>Shared computers</a:t>
                      </a:r>
                    </a:p>
                  </a:txBody>
                  <a:tcPr/>
                </a:tc>
                <a:extLst>
                  <a:ext uri="{0D108BD9-81ED-4DB2-BD59-A6C34878D82A}">
                    <a16:rowId xmlns:a16="http://schemas.microsoft.com/office/drawing/2014/main" val="1055536323"/>
                  </a:ext>
                </a:extLst>
              </a:tr>
              <a:tr h="370840">
                <a:tc>
                  <a:txBody>
                    <a:bodyPr/>
                    <a:lstStyle/>
                    <a:p>
                      <a:r>
                        <a:rPr lang="en-US" dirty="0"/>
                        <a:t>Different place, distant</a:t>
                      </a:r>
                    </a:p>
                  </a:txBody>
                  <a:tcPr/>
                </a:tc>
                <a:tc>
                  <a:txBody>
                    <a:bodyPr/>
                    <a:lstStyle/>
                    <a:p>
                      <a:r>
                        <a:rPr lang="en-US" dirty="0"/>
                        <a:t>Videophones</a:t>
                      </a:r>
                    </a:p>
                    <a:p>
                      <a:r>
                        <a:rPr lang="en-US" dirty="0"/>
                        <a:t>Chat</a:t>
                      </a:r>
                    </a:p>
                  </a:txBody>
                  <a:tcPr/>
                </a:tc>
                <a:tc>
                  <a:txBody>
                    <a:bodyPr/>
                    <a:lstStyle/>
                    <a:p>
                      <a:r>
                        <a:rPr lang="en-US" dirty="0"/>
                        <a:t>Email</a:t>
                      </a:r>
                    </a:p>
                    <a:p>
                      <a:r>
                        <a:rPr lang="en-US" dirty="0"/>
                        <a:t>Workflow</a:t>
                      </a:r>
                    </a:p>
                  </a:txBody>
                  <a:tcPr/>
                </a:tc>
                <a:extLst>
                  <a:ext uri="{0D108BD9-81ED-4DB2-BD59-A6C34878D82A}">
                    <a16:rowId xmlns:a16="http://schemas.microsoft.com/office/drawing/2014/main" val="759818175"/>
                  </a:ext>
                </a:extLst>
              </a:tr>
            </a:tbl>
          </a:graphicData>
        </a:graphic>
      </p:graphicFrame>
      <p:graphicFrame>
        <p:nvGraphicFramePr>
          <p:cNvPr id="7" name="Object 6">
            <a:extLst>
              <a:ext uri="{FF2B5EF4-FFF2-40B4-BE49-F238E27FC236}">
                <a16:creationId xmlns:a16="http://schemas.microsoft.com/office/drawing/2014/main" id="{01BA87AC-5D34-E4AB-2D00-730E201AE665}"/>
              </a:ext>
            </a:extLst>
          </p:cNvPr>
          <p:cNvGraphicFramePr>
            <a:graphicFrameLocks noChangeAspect="1"/>
          </p:cNvGraphicFramePr>
          <p:nvPr>
            <p:extLst>
              <p:ext uri="{D42A27DB-BD31-4B8C-83A1-F6EECF244321}">
                <p14:modId xmlns:p14="http://schemas.microsoft.com/office/powerpoint/2010/main" val="3908505016"/>
              </p:ext>
            </p:extLst>
          </p:nvPr>
        </p:nvGraphicFramePr>
        <p:xfrm>
          <a:off x="2891551" y="2948200"/>
          <a:ext cx="5576588" cy="316168"/>
        </p:xfrm>
        <a:graphic>
          <a:graphicData uri="http://schemas.openxmlformats.org/presentationml/2006/ole">
            <mc:AlternateContent xmlns:mc="http://schemas.openxmlformats.org/markup-compatibility/2006">
              <mc:Choice xmlns:v="urn:schemas-microsoft-com:vml" Requires="v">
                <p:oleObj name="Bitmap Image" r:id="rId3" imgW="6187320" imgH="350640" progId="PBrush">
                  <p:embed/>
                </p:oleObj>
              </mc:Choice>
              <mc:Fallback>
                <p:oleObj name="Bitmap Image" r:id="rId3" imgW="6187320" imgH="350640" progId="PBrush">
                  <p:embed/>
                  <p:pic>
                    <p:nvPicPr>
                      <p:cNvPr id="0" name=""/>
                      <p:cNvPicPr/>
                      <p:nvPr/>
                    </p:nvPicPr>
                    <p:blipFill>
                      <a:blip r:embed="rId4"/>
                      <a:stretch>
                        <a:fillRect/>
                      </a:stretch>
                    </p:blipFill>
                    <p:spPr>
                      <a:xfrm>
                        <a:off x="2891551" y="2948200"/>
                        <a:ext cx="5576588" cy="316168"/>
                      </a:xfrm>
                      <a:prstGeom prst="rect">
                        <a:avLst/>
                      </a:prstGeom>
                    </p:spPr>
                  </p:pic>
                </p:oleObj>
              </mc:Fallback>
            </mc:AlternateContent>
          </a:graphicData>
        </a:graphic>
      </p:graphicFrame>
    </p:spTree>
    <p:extLst>
      <p:ext uri="{BB962C8B-B14F-4D97-AF65-F5344CB8AC3E}">
        <p14:creationId xmlns:p14="http://schemas.microsoft.com/office/powerpoint/2010/main" val="34969182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33</a:t>
            </a:fld>
            <a:endParaRPr kumimoji="0" lang="en-US" dirty="0"/>
          </a:p>
        </p:txBody>
      </p:sp>
      <p:sp>
        <p:nvSpPr>
          <p:cNvPr id="4" name="Content Placeholder 3"/>
          <p:cNvSpPr>
            <a:spLocks noGrp="1"/>
          </p:cNvSpPr>
          <p:nvPr>
            <p:ph sz="quarter" idx="1"/>
          </p:nvPr>
        </p:nvSpPr>
        <p:spPr>
          <a:xfrm>
            <a:off x="0" y="1664593"/>
            <a:ext cx="11777870" cy="4255275"/>
          </a:xfrm>
        </p:spPr>
        <p:txBody>
          <a:bodyPr>
            <a:normAutofit/>
          </a:bodyPr>
          <a:lstStyle/>
          <a:p>
            <a:pPr marL="800100" lvl="1" indent="-342900" algn="just">
              <a:lnSpc>
                <a:spcPct val="100000"/>
              </a:lnSpc>
              <a:spcBef>
                <a:spcPts val="1800"/>
              </a:spcBef>
              <a:buClr>
                <a:srgbClr val="973735"/>
              </a:buClr>
              <a:buSzPct val="50000"/>
              <a:buFont typeface="Wingdings" pitchFamily="2" charset="2"/>
              <a:buChar char="u"/>
              <a:defRPr/>
            </a:pPr>
            <a:r>
              <a:rPr lang="en-US" sz="2600" dirty="0"/>
              <a:t>The most common groupware is email</a:t>
            </a:r>
          </a:p>
          <a:p>
            <a:pPr marL="1257300" lvl="2" indent="-342900" algn="just">
              <a:lnSpc>
                <a:spcPct val="100000"/>
              </a:lnSpc>
              <a:spcBef>
                <a:spcPts val="1800"/>
              </a:spcBef>
              <a:buClr>
                <a:srgbClr val="973735"/>
              </a:buClr>
              <a:buSzPct val="50000"/>
              <a:buFont typeface="Wingdings" pitchFamily="2" charset="2"/>
              <a:buChar char="u"/>
              <a:defRPr/>
            </a:pPr>
            <a:r>
              <a:rPr lang="en-US" sz="2400" dirty="0"/>
              <a:t>Newsgroup deliver message to user only when they requested it (on-demand service)</a:t>
            </a:r>
          </a:p>
          <a:p>
            <a:pPr marL="1257300" lvl="2" indent="-342900" algn="just">
              <a:lnSpc>
                <a:spcPct val="100000"/>
              </a:lnSpc>
              <a:spcBef>
                <a:spcPts val="1800"/>
              </a:spcBef>
              <a:buClr>
                <a:srgbClr val="973735"/>
              </a:buClr>
              <a:buSzPct val="50000"/>
              <a:buFont typeface="Wingdings" pitchFamily="2" charset="2"/>
              <a:buChar char="u"/>
              <a:defRPr/>
            </a:pPr>
            <a:r>
              <a:rPr lang="en-US" sz="2400" dirty="0"/>
              <a:t>Mailing list deliver message to user when they become available (interrupt-driven service)</a:t>
            </a:r>
          </a:p>
          <a:p>
            <a:pPr marL="1257300" lvl="2" indent="-342900" algn="just">
              <a:lnSpc>
                <a:spcPct val="100000"/>
              </a:lnSpc>
              <a:spcBef>
                <a:spcPts val="1800"/>
              </a:spcBef>
              <a:buClr>
                <a:srgbClr val="973735"/>
              </a:buClr>
              <a:buSzPct val="50000"/>
              <a:buFont typeface="Wingdings" pitchFamily="2" charset="2"/>
              <a:buChar char="u"/>
              <a:defRPr/>
            </a:pPr>
            <a:r>
              <a:rPr lang="en-US" sz="2400" dirty="0"/>
              <a:t>Workflow system deliver message through the rule of document distribution (system) in organizations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Collaboration tools</a:t>
            </a:r>
            <a:endParaRPr lang="en-US" sz="4000" b="1" dirty="0"/>
          </a:p>
        </p:txBody>
      </p:sp>
    </p:spTree>
    <p:extLst>
      <p:ext uri="{BB962C8B-B14F-4D97-AF65-F5344CB8AC3E}">
        <p14:creationId xmlns:p14="http://schemas.microsoft.com/office/powerpoint/2010/main" val="13120421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34</a:t>
            </a:fld>
            <a:endParaRPr kumimoji="0" lang="en-US" dirty="0"/>
          </a:p>
        </p:txBody>
      </p:sp>
      <p:sp>
        <p:nvSpPr>
          <p:cNvPr id="4" name="Content Placeholder 3"/>
          <p:cNvSpPr>
            <a:spLocks noGrp="1"/>
          </p:cNvSpPr>
          <p:nvPr>
            <p:ph sz="quarter" idx="1"/>
          </p:nvPr>
        </p:nvSpPr>
        <p:spPr>
          <a:xfrm>
            <a:off x="0" y="1664593"/>
            <a:ext cx="11817626" cy="4255275"/>
          </a:xfrm>
        </p:spPr>
        <p:txBody>
          <a:bodyPr>
            <a:normAutofit/>
          </a:bodyPr>
          <a:lstStyle/>
          <a:p>
            <a:pPr marL="800100" lvl="1" indent="-342900" algn="just">
              <a:lnSpc>
                <a:spcPct val="100000"/>
              </a:lnSpc>
              <a:spcBef>
                <a:spcPts val="1800"/>
              </a:spcBef>
              <a:buClr>
                <a:srgbClr val="973735"/>
              </a:buClr>
              <a:buSzPct val="50000"/>
              <a:buFont typeface="Wingdings" pitchFamily="2" charset="2"/>
              <a:buChar char="u"/>
              <a:defRPr/>
            </a:pPr>
            <a:r>
              <a:rPr lang="en-US" sz="2600" dirty="0"/>
              <a:t>Group calendar allow scheduling, project management, and coordination</a:t>
            </a:r>
          </a:p>
          <a:p>
            <a:pPr marL="800100" lvl="1" indent="-342900" algn="just">
              <a:lnSpc>
                <a:spcPct val="100000"/>
              </a:lnSpc>
              <a:spcBef>
                <a:spcPts val="1800"/>
              </a:spcBef>
              <a:buClr>
                <a:srgbClr val="973735"/>
              </a:buClr>
              <a:buSzPct val="50000"/>
              <a:buFont typeface="Wingdings" pitchFamily="2" charset="2"/>
              <a:buChar char="u"/>
              <a:defRPr/>
            </a:pPr>
            <a:r>
              <a:rPr lang="en-US" sz="2600" dirty="0"/>
              <a:t>Collaborative writing system (cloud technology)</a:t>
            </a:r>
          </a:p>
          <a:p>
            <a:pPr marL="1257300" lvl="2" indent="-342900" algn="just">
              <a:lnSpc>
                <a:spcPct val="100000"/>
              </a:lnSpc>
              <a:spcBef>
                <a:spcPts val="1800"/>
              </a:spcBef>
              <a:buClr>
                <a:srgbClr val="973735"/>
              </a:buClr>
              <a:buSzPct val="50000"/>
              <a:buFont typeface="Wingdings" pitchFamily="2" charset="2"/>
              <a:buChar char="u"/>
              <a:defRPr/>
            </a:pPr>
            <a:r>
              <a:rPr lang="en-US" sz="2400" dirty="0"/>
              <a:t>Asynchronous allowing user to add or comment on the previous work</a:t>
            </a:r>
          </a:p>
          <a:p>
            <a:pPr marL="1257300" lvl="2" indent="-342900" algn="just">
              <a:lnSpc>
                <a:spcPct val="100000"/>
              </a:lnSpc>
              <a:spcBef>
                <a:spcPts val="1800"/>
              </a:spcBef>
              <a:buClr>
                <a:srgbClr val="973735"/>
              </a:buClr>
              <a:buSzPct val="50000"/>
              <a:buFont typeface="Wingdings" pitchFamily="2" charset="2"/>
              <a:buChar char="u"/>
              <a:defRPr/>
            </a:pPr>
            <a:r>
              <a:rPr lang="en-US" sz="2400" dirty="0"/>
              <a:t>Synchronous allow user to comment as the author make the content</a:t>
            </a:r>
          </a:p>
          <a:p>
            <a:pPr marL="800100" lvl="1" indent="-342900" algn="just">
              <a:lnSpc>
                <a:spcPct val="100000"/>
              </a:lnSpc>
              <a:spcBef>
                <a:spcPts val="1800"/>
              </a:spcBef>
              <a:buClr>
                <a:srgbClr val="973735"/>
              </a:buClr>
              <a:buSzPct val="50000"/>
              <a:buFont typeface="Wingdings" pitchFamily="2" charset="2"/>
              <a:buChar char="u"/>
              <a:defRPr/>
            </a:pPr>
            <a:r>
              <a:rPr lang="en-US" sz="2600" dirty="0"/>
              <a:t>Shared-workspace</a:t>
            </a:r>
          </a:p>
          <a:p>
            <a:pPr marL="800100" lvl="1" indent="-342900" algn="just">
              <a:lnSpc>
                <a:spcPct val="100000"/>
              </a:lnSpc>
              <a:spcBef>
                <a:spcPts val="1800"/>
              </a:spcBef>
              <a:buClr>
                <a:srgbClr val="973735"/>
              </a:buClr>
              <a:buSzPct val="50000"/>
              <a:buFont typeface="Wingdings" pitchFamily="2" charset="2"/>
              <a:buChar char="u"/>
              <a:defRPr/>
            </a:pPr>
            <a:r>
              <a:rPr lang="en-US" sz="2600" dirty="0"/>
              <a:t>Video conferencing. When we should use it compare to conventional audio conference?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Collaboration tools</a:t>
            </a:r>
            <a:endParaRPr lang="en-US" sz="4000" b="1" dirty="0"/>
          </a:p>
        </p:txBody>
      </p:sp>
    </p:spTree>
    <p:extLst>
      <p:ext uri="{BB962C8B-B14F-4D97-AF65-F5344CB8AC3E}">
        <p14:creationId xmlns:p14="http://schemas.microsoft.com/office/powerpoint/2010/main" val="22111138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35</a:t>
            </a:fld>
            <a:endParaRPr kumimoji="0" lang="en-US" dirty="0"/>
          </a:p>
        </p:txBody>
      </p:sp>
      <p:sp>
        <p:nvSpPr>
          <p:cNvPr id="4" name="Content Placeholder 3"/>
          <p:cNvSpPr>
            <a:spLocks noGrp="1"/>
          </p:cNvSpPr>
          <p:nvPr>
            <p:ph sz="quarter" idx="1"/>
          </p:nvPr>
        </p:nvSpPr>
        <p:spPr>
          <a:xfrm>
            <a:off x="0" y="1664593"/>
            <a:ext cx="11559209" cy="4255275"/>
          </a:xfrm>
        </p:spPr>
        <p:txBody>
          <a:bodyPr>
            <a:normAutofit/>
          </a:bodyPr>
          <a:lstStyle/>
          <a:p>
            <a:pPr marL="800100" lvl="1" indent="-342900" algn="just">
              <a:lnSpc>
                <a:spcPct val="100000"/>
              </a:lnSpc>
              <a:spcBef>
                <a:spcPts val="1200"/>
              </a:spcBef>
              <a:buClr>
                <a:srgbClr val="973735"/>
              </a:buClr>
              <a:buSzPct val="50000"/>
              <a:buFont typeface="Wingdings" pitchFamily="2" charset="2"/>
              <a:buChar char="u"/>
              <a:defRPr/>
            </a:pPr>
            <a:endParaRPr lang="en-US" sz="2600" dirty="0"/>
          </a:p>
          <a:p>
            <a:pPr marL="800100" lvl="1" indent="-342900" algn="just">
              <a:lnSpc>
                <a:spcPct val="100000"/>
              </a:lnSpc>
              <a:spcBef>
                <a:spcPts val="1800"/>
              </a:spcBef>
              <a:buClr>
                <a:srgbClr val="973735"/>
              </a:buClr>
              <a:buSzPct val="50000"/>
              <a:buFont typeface="Wingdings" pitchFamily="2" charset="2"/>
              <a:buChar char="u"/>
              <a:defRPr/>
            </a:pPr>
            <a:r>
              <a:rPr lang="en-US" sz="2600" dirty="0"/>
              <a:t>Chat system permit people to write message real time. In chat group, one’s message can be see and reply by member of the group</a:t>
            </a:r>
          </a:p>
          <a:p>
            <a:pPr marL="800100" lvl="1" indent="-342900" algn="just">
              <a:lnSpc>
                <a:spcPct val="100000"/>
              </a:lnSpc>
              <a:spcBef>
                <a:spcPts val="1800"/>
              </a:spcBef>
              <a:buClr>
                <a:srgbClr val="973735"/>
              </a:buClr>
              <a:buSzPct val="50000"/>
              <a:buFont typeface="Wingdings" pitchFamily="2" charset="2"/>
              <a:buChar char="u"/>
              <a:defRPr/>
            </a:pPr>
            <a:r>
              <a:rPr lang="en-US" sz="2600" dirty="0"/>
              <a:t>Moderator can be needed for leading and regulating the discussion</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Collaboration tools</a:t>
            </a:r>
            <a:endParaRPr lang="en-US" sz="4000" b="1" dirty="0"/>
          </a:p>
        </p:txBody>
      </p:sp>
    </p:spTree>
    <p:extLst>
      <p:ext uri="{BB962C8B-B14F-4D97-AF65-F5344CB8AC3E}">
        <p14:creationId xmlns:p14="http://schemas.microsoft.com/office/powerpoint/2010/main" val="4980832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36</a:t>
            </a:fld>
            <a:endParaRPr kumimoji="0" lang="en-US" dirty="0"/>
          </a:p>
        </p:txBody>
      </p:sp>
      <p:sp>
        <p:nvSpPr>
          <p:cNvPr id="4" name="Content Placeholder 3"/>
          <p:cNvSpPr>
            <a:spLocks noGrp="1"/>
          </p:cNvSpPr>
          <p:nvPr>
            <p:ph sz="quarter" idx="1"/>
          </p:nvPr>
        </p:nvSpPr>
        <p:spPr>
          <a:xfrm>
            <a:off x="0" y="1664593"/>
            <a:ext cx="11971176" cy="4656694"/>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Collaboration tools</a:t>
            </a:r>
          </a:p>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Wikis</a:t>
            </a:r>
          </a:p>
          <a:p>
            <a:pPr marL="342900" indent="-342900" algn="just">
              <a:lnSpc>
                <a:spcPct val="100000"/>
              </a:lnSpc>
              <a:spcBef>
                <a:spcPts val="1200"/>
              </a:spcBef>
              <a:buClr>
                <a:srgbClr val="973735"/>
              </a:buClr>
              <a:buSzPct val="50000"/>
              <a:buFont typeface="Wingdings" pitchFamily="2" charset="2"/>
              <a:buChar char="u"/>
              <a:defRPr/>
            </a:pPr>
            <a:r>
              <a:rPr lang="en-US" dirty="0"/>
              <a:t>Networking Technologies</a:t>
            </a:r>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dirty="0"/>
          </a:p>
          <a:p>
            <a:pPr marL="800100" lvl="1" indent="-342900" algn="just">
              <a:lnSpc>
                <a:spcPct val="100000"/>
              </a:lnSpc>
              <a:spcBef>
                <a:spcPts val="1200"/>
              </a:spcBef>
              <a:buClr>
                <a:srgbClr val="973735"/>
              </a:buClr>
              <a:buSzPct val="50000"/>
              <a:buFont typeface="Wingdings" pitchFamily="2" charset="2"/>
              <a:buChar char="u"/>
              <a:defRPr/>
            </a:pPr>
            <a:endParaRPr lang="en-US" sz="24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Sharing and Dissemination Tools</a:t>
            </a:r>
          </a:p>
        </p:txBody>
      </p:sp>
    </p:spTree>
    <p:extLst>
      <p:ext uri="{BB962C8B-B14F-4D97-AF65-F5344CB8AC3E}">
        <p14:creationId xmlns:p14="http://schemas.microsoft.com/office/powerpoint/2010/main" val="41279189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37</a:t>
            </a:fld>
            <a:endParaRPr kumimoji="0" lang="en-US" dirty="0"/>
          </a:p>
        </p:txBody>
      </p:sp>
      <p:sp>
        <p:nvSpPr>
          <p:cNvPr id="4" name="Content Placeholder 3"/>
          <p:cNvSpPr>
            <a:spLocks noGrp="1"/>
          </p:cNvSpPr>
          <p:nvPr>
            <p:ph sz="quarter" idx="1"/>
          </p:nvPr>
        </p:nvSpPr>
        <p:spPr>
          <a:xfrm>
            <a:off x="0" y="1664593"/>
            <a:ext cx="11797748" cy="4816106"/>
          </a:xfrm>
        </p:spPr>
        <p:txBody>
          <a:bodyPr>
            <a:normAutofit/>
          </a:bodyPr>
          <a:lstStyle/>
          <a:p>
            <a:pPr marL="800100" lvl="1" indent="-342900" algn="just">
              <a:lnSpc>
                <a:spcPct val="100000"/>
              </a:lnSpc>
              <a:spcBef>
                <a:spcPts val="1800"/>
              </a:spcBef>
              <a:buClr>
                <a:srgbClr val="973735"/>
              </a:buClr>
              <a:buSzPct val="50000"/>
              <a:buFont typeface="Wingdings" pitchFamily="2" charset="2"/>
              <a:buChar char="u"/>
              <a:defRPr/>
            </a:pPr>
            <a:r>
              <a:rPr lang="en-US" sz="2600" dirty="0"/>
              <a:t>Web-based software which support open editing, and allow multi-user content creation and editing through website</a:t>
            </a:r>
          </a:p>
          <a:p>
            <a:pPr marL="800100" lvl="1" indent="-342900" algn="just">
              <a:lnSpc>
                <a:spcPct val="100000"/>
              </a:lnSpc>
              <a:spcBef>
                <a:spcPts val="1800"/>
              </a:spcBef>
              <a:buClr>
                <a:srgbClr val="973735"/>
              </a:buClr>
              <a:buSzPct val="50000"/>
              <a:buFont typeface="Wingdings" pitchFamily="2" charset="2"/>
              <a:buChar char="u"/>
              <a:defRPr/>
            </a:pPr>
            <a:r>
              <a:rPr lang="en-US" sz="2600" dirty="0"/>
              <a:t>Grow and change as the will of the participants</a:t>
            </a:r>
          </a:p>
          <a:p>
            <a:pPr marL="800100" lvl="1" indent="-342900" algn="just">
              <a:lnSpc>
                <a:spcPct val="100000"/>
              </a:lnSpc>
              <a:spcBef>
                <a:spcPts val="1800"/>
              </a:spcBef>
              <a:buClr>
                <a:srgbClr val="973735"/>
              </a:buClr>
              <a:buSzPct val="50000"/>
              <a:buFont typeface="Wingdings" pitchFamily="2" charset="2"/>
              <a:buChar char="u"/>
              <a:defRPr/>
            </a:pPr>
            <a:r>
              <a:rPr lang="en-US" sz="2600" dirty="0"/>
              <a:t>Composed of web pages where people input information and then create hyperlinks to another page or new pages for more details about a particular topic</a:t>
            </a:r>
          </a:p>
          <a:p>
            <a:pPr marL="800100" lvl="1" indent="-342900" algn="just">
              <a:lnSpc>
                <a:spcPct val="100000"/>
              </a:lnSpc>
              <a:spcBef>
                <a:spcPts val="1800"/>
              </a:spcBef>
              <a:buClr>
                <a:srgbClr val="973735"/>
              </a:buClr>
              <a:buSzPct val="50000"/>
              <a:buFont typeface="Wingdings" pitchFamily="2" charset="2"/>
              <a:buChar char="u"/>
              <a:defRPr/>
            </a:pPr>
            <a:r>
              <a:rPr lang="en-US" sz="2600" dirty="0"/>
              <a:t>Anyone can add, delete. Or correct information. A search field allow you to enter a key work for the information you need</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Wikis</a:t>
            </a:r>
          </a:p>
        </p:txBody>
      </p:sp>
    </p:spTree>
    <p:extLst>
      <p:ext uri="{BB962C8B-B14F-4D97-AF65-F5344CB8AC3E}">
        <p14:creationId xmlns:p14="http://schemas.microsoft.com/office/powerpoint/2010/main" val="16109937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38</a:t>
            </a:fld>
            <a:endParaRPr kumimoji="0" lang="en-US" dirty="0"/>
          </a:p>
        </p:txBody>
      </p:sp>
      <p:sp>
        <p:nvSpPr>
          <p:cNvPr id="4" name="Content Placeholder 3"/>
          <p:cNvSpPr>
            <a:spLocks noGrp="1"/>
          </p:cNvSpPr>
          <p:nvPr>
            <p:ph sz="quarter" idx="1"/>
          </p:nvPr>
        </p:nvSpPr>
        <p:spPr>
          <a:xfrm>
            <a:off x="0" y="1396240"/>
            <a:ext cx="11608904" cy="5253040"/>
          </a:xfrm>
        </p:spPr>
        <p:txBody>
          <a:bodyPr>
            <a:noAutofit/>
          </a:bodyPr>
          <a:lstStyle/>
          <a:p>
            <a:pPr marL="800100" lvl="1" indent="-342900" algn="just">
              <a:lnSpc>
                <a:spcPct val="100000"/>
              </a:lnSpc>
              <a:spcBef>
                <a:spcPts val="1200"/>
              </a:spcBef>
              <a:buClr>
                <a:srgbClr val="973735"/>
              </a:buClr>
              <a:buSzPct val="50000"/>
              <a:buFont typeface="Wingdings" pitchFamily="2" charset="2"/>
              <a:buChar char="u"/>
              <a:defRPr/>
            </a:pPr>
            <a:r>
              <a:rPr lang="en-US" sz="2600" dirty="0"/>
              <a:t>There are public and corporate wikis. What are the differences?</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benefit of wikis?</a:t>
            </a:r>
          </a:p>
          <a:p>
            <a:pPr marL="1257300" lvl="2" indent="-342900" algn="just">
              <a:lnSpc>
                <a:spcPct val="100000"/>
              </a:lnSpc>
              <a:spcBef>
                <a:spcPts val="1200"/>
              </a:spcBef>
              <a:buClr>
                <a:srgbClr val="973735"/>
              </a:buClr>
              <a:buSzPct val="50000"/>
              <a:buFont typeface="Wingdings" pitchFamily="2" charset="2"/>
              <a:buChar char="u"/>
              <a:defRPr/>
            </a:pPr>
            <a:r>
              <a:rPr lang="en-US" sz="2400" dirty="0"/>
              <a:t>Real time</a:t>
            </a:r>
          </a:p>
          <a:p>
            <a:pPr marL="1257300" lvl="2" indent="-342900" algn="just">
              <a:lnSpc>
                <a:spcPct val="100000"/>
              </a:lnSpc>
              <a:spcBef>
                <a:spcPts val="1200"/>
              </a:spcBef>
              <a:buClr>
                <a:srgbClr val="973735"/>
              </a:buClr>
              <a:buSzPct val="50000"/>
              <a:buFont typeface="Wingdings" pitchFamily="2" charset="2"/>
              <a:buChar char="u"/>
              <a:defRPr/>
            </a:pPr>
            <a:r>
              <a:rPr lang="en-US" sz="2400" dirty="0"/>
              <a:t>Faster</a:t>
            </a:r>
          </a:p>
          <a:p>
            <a:pPr marL="1257300" lvl="2" indent="-342900" algn="just">
              <a:lnSpc>
                <a:spcPct val="100000"/>
              </a:lnSpc>
              <a:spcBef>
                <a:spcPts val="1200"/>
              </a:spcBef>
              <a:buClr>
                <a:srgbClr val="973735"/>
              </a:buClr>
              <a:buSzPct val="50000"/>
              <a:buFont typeface="Wingdings" pitchFamily="2" charset="2"/>
              <a:buChar char="u"/>
              <a:defRPr/>
            </a:pPr>
            <a:r>
              <a:rPr lang="en-US" sz="2400" dirty="0"/>
              <a:t>No need to keep a copy</a:t>
            </a:r>
          </a:p>
          <a:p>
            <a:pPr marL="1257300" lvl="2" indent="-342900" algn="just">
              <a:lnSpc>
                <a:spcPct val="100000"/>
              </a:lnSpc>
              <a:spcBef>
                <a:spcPts val="1200"/>
              </a:spcBef>
              <a:buClr>
                <a:srgbClr val="973735"/>
              </a:buClr>
              <a:buSzPct val="50000"/>
              <a:buFont typeface="Wingdings" pitchFamily="2" charset="2"/>
              <a:buChar char="u"/>
              <a:defRPr/>
            </a:pPr>
            <a:r>
              <a:rPr lang="en-US" sz="2400" dirty="0"/>
              <a:t>Everyone’s involve in the process have easy access</a:t>
            </a:r>
          </a:p>
          <a:p>
            <a:pPr marL="1257300" lvl="2" indent="-342900" algn="just">
              <a:lnSpc>
                <a:spcPct val="100000"/>
              </a:lnSpc>
              <a:spcBef>
                <a:spcPts val="1200"/>
              </a:spcBef>
              <a:buClr>
                <a:srgbClr val="973735"/>
              </a:buClr>
              <a:buSzPct val="50000"/>
              <a:buFont typeface="Wingdings" pitchFamily="2" charset="2"/>
              <a:buChar char="u"/>
              <a:defRPr/>
            </a:pPr>
            <a:r>
              <a:rPr lang="en-US" sz="2400" dirty="0"/>
              <a:t>Secure, if using commercial wiki and conduct in the intranet environment</a:t>
            </a:r>
          </a:p>
          <a:p>
            <a:pPr marL="800100" lvl="1" indent="-342900" algn="just">
              <a:lnSpc>
                <a:spcPct val="100000"/>
              </a:lnSpc>
              <a:spcBef>
                <a:spcPts val="1200"/>
              </a:spcBef>
              <a:buClr>
                <a:srgbClr val="973735"/>
              </a:buClr>
              <a:buSzPct val="50000"/>
              <a:buFont typeface="Wingdings" pitchFamily="2" charset="2"/>
              <a:buChar char="u"/>
              <a:defRPr/>
            </a:pPr>
            <a:r>
              <a:rPr lang="en-US" sz="2600" dirty="0"/>
              <a:t>How many wikis you can find on the web?</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Wikis</a:t>
            </a:r>
            <a:endParaRPr lang="en-US" sz="4000" b="1" dirty="0"/>
          </a:p>
        </p:txBody>
      </p:sp>
    </p:spTree>
    <p:extLst>
      <p:ext uri="{BB962C8B-B14F-4D97-AF65-F5344CB8AC3E}">
        <p14:creationId xmlns:p14="http://schemas.microsoft.com/office/powerpoint/2010/main" val="23740997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39</a:t>
            </a:fld>
            <a:endParaRPr kumimoji="0" lang="en-US" dirty="0"/>
          </a:p>
        </p:txBody>
      </p:sp>
      <p:sp>
        <p:nvSpPr>
          <p:cNvPr id="4" name="Content Placeholder 3"/>
          <p:cNvSpPr>
            <a:spLocks noGrp="1"/>
          </p:cNvSpPr>
          <p:nvPr>
            <p:ph sz="quarter" idx="1"/>
          </p:nvPr>
        </p:nvSpPr>
        <p:spPr>
          <a:xfrm>
            <a:off x="0" y="1664593"/>
            <a:ext cx="11971176" cy="4656694"/>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dirty="0"/>
              <a:t>Collaboration tools</a:t>
            </a:r>
          </a:p>
          <a:p>
            <a:pPr marL="342900" indent="-342900" algn="just">
              <a:lnSpc>
                <a:spcPct val="100000"/>
              </a:lnSpc>
              <a:spcBef>
                <a:spcPts val="1200"/>
              </a:spcBef>
              <a:buClr>
                <a:srgbClr val="973735"/>
              </a:buClr>
              <a:buSzPct val="50000"/>
              <a:buFont typeface="Wingdings" pitchFamily="2" charset="2"/>
              <a:buChar char="u"/>
              <a:defRPr/>
            </a:pPr>
            <a:r>
              <a:rPr lang="en-US" dirty="0"/>
              <a:t>Wikis</a:t>
            </a:r>
          </a:p>
          <a:p>
            <a:pPr marL="342900" indent="-342900" algn="just">
              <a:lnSpc>
                <a:spcPct val="100000"/>
              </a:lnSpc>
              <a:spcBef>
                <a:spcPts val="1200"/>
              </a:spcBef>
              <a:buClr>
                <a:srgbClr val="973735"/>
              </a:buClr>
              <a:buSzPct val="50000"/>
              <a:buFont typeface="Wingdings" pitchFamily="2" charset="2"/>
              <a:buChar char="u"/>
              <a:defRPr/>
            </a:pPr>
            <a:r>
              <a:rPr lang="en-US" b="1" dirty="0">
                <a:solidFill>
                  <a:srgbClr val="ED7D31"/>
                </a:solidFill>
              </a:rPr>
              <a:t>Networking Technologies</a:t>
            </a:r>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b="1" dirty="0"/>
          </a:p>
          <a:p>
            <a:pPr marL="342900" indent="-342900" algn="just">
              <a:lnSpc>
                <a:spcPct val="100000"/>
              </a:lnSpc>
              <a:spcBef>
                <a:spcPts val="1200"/>
              </a:spcBef>
              <a:buClr>
                <a:srgbClr val="973735"/>
              </a:buClr>
              <a:buSzPct val="50000"/>
              <a:buFont typeface="Wingdings" pitchFamily="2" charset="2"/>
              <a:buChar char="u"/>
              <a:defRPr/>
            </a:pPr>
            <a:endParaRPr lang="en-US" dirty="0"/>
          </a:p>
          <a:p>
            <a:pPr marL="800100" lvl="1" indent="-342900" algn="just">
              <a:lnSpc>
                <a:spcPct val="100000"/>
              </a:lnSpc>
              <a:spcBef>
                <a:spcPts val="1200"/>
              </a:spcBef>
              <a:buClr>
                <a:srgbClr val="973735"/>
              </a:buClr>
              <a:buSzPct val="50000"/>
              <a:buFont typeface="Wingdings" pitchFamily="2" charset="2"/>
              <a:buChar char="u"/>
              <a:defRPr/>
            </a:pPr>
            <a:endParaRPr lang="en-US" sz="2400"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Sharing and Dissemination Tools</a:t>
            </a:r>
          </a:p>
        </p:txBody>
      </p:sp>
    </p:spTree>
    <p:extLst>
      <p:ext uri="{BB962C8B-B14F-4D97-AF65-F5344CB8AC3E}">
        <p14:creationId xmlns:p14="http://schemas.microsoft.com/office/powerpoint/2010/main" val="32871156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40</a:t>
            </a:fld>
            <a:endParaRPr kumimoji="0" lang="en-US" dirty="0"/>
          </a:p>
        </p:txBody>
      </p:sp>
      <p:sp>
        <p:nvSpPr>
          <p:cNvPr id="4" name="Content Placeholder 3"/>
          <p:cNvSpPr>
            <a:spLocks noGrp="1"/>
          </p:cNvSpPr>
          <p:nvPr>
            <p:ph sz="quarter" idx="1"/>
          </p:nvPr>
        </p:nvSpPr>
        <p:spPr>
          <a:xfrm>
            <a:off x="0" y="1664593"/>
            <a:ext cx="11787809" cy="4255275"/>
          </a:xfrm>
        </p:spPr>
        <p:txBody>
          <a:bodyPr>
            <a:normAutofit/>
          </a:bodyPr>
          <a:lstStyle/>
          <a:p>
            <a:pPr marL="800100" lvl="1" indent="-342900" algn="just">
              <a:lnSpc>
                <a:spcPct val="100000"/>
              </a:lnSpc>
              <a:spcBef>
                <a:spcPts val="1800"/>
              </a:spcBef>
              <a:buClr>
                <a:srgbClr val="973735"/>
              </a:buClr>
              <a:buSzPct val="50000"/>
              <a:buFont typeface="Wingdings" pitchFamily="2" charset="2"/>
              <a:buChar char="u"/>
              <a:defRPr/>
            </a:pPr>
            <a:r>
              <a:rPr lang="en-US" sz="2600" dirty="0"/>
              <a:t>Consist of intranets, extranets, knowledge repositories, knowledge portals, and web-based shared workspaces.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Knowledge repositories: an on-line computer-based storehouse of expertise, knowledge, experiences, and documentation about a particular domain of expertise (Liebowitz and Beckman)</a:t>
            </a:r>
          </a:p>
          <a:p>
            <a:pPr marL="800100" lvl="1" indent="-342900" algn="just">
              <a:lnSpc>
                <a:spcPct val="100000"/>
              </a:lnSpc>
              <a:spcBef>
                <a:spcPts val="1800"/>
              </a:spcBef>
              <a:buClr>
                <a:srgbClr val="973735"/>
              </a:buClr>
              <a:buSzPct val="50000"/>
              <a:buFont typeface="Wingdings" pitchFamily="2" charset="2"/>
              <a:buChar char="u"/>
              <a:defRPr/>
            </a:pPr>
            <a:r>
              <a:rPr lang="en-US" sz="2600" dirty="0"/>
              <a:t>In creating a knowledge repository, knowledge is collected, summarized, and integrated across sources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Networking Technologies</a:t>
            </a:r>
          </a:p>
        </p:txBody>
      </p:sp>
    </p:spTree>
    <p:extLst>
      <p:ext uri="{BB962C8B-B14F-4D97-AF65-F5344CB8AC3E}">
        <p14:creationId xmlns:p14="http://schemas.microsoft.com/office/powerpoint/2010/main" val="18117478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41</a:t>
            </a:fld>
            <a:endParaRPr kumimoji="0" lang="en-US" dirty="0"/>
          </a:p>
        </p:txBody>
      </p:sp>
      <p:sp>
        <p:nvSpPr>
          <p:cNvPr id="4" name="Content Placeholder 3"/>
          <p:cNvSpPr>
            <a:spLocks noGrp="1"/>
          </p:cNvSpPr>
          <p:nvPr>
            <p:ph sz="quarter" idx="1"/>
          </p:nvPr>
        </p:nvSpPr>
        <p:spPr>
          <a:xfrm>
            <a:off x="0" y="1664593"/>
            <a:ext cx="11857383"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The repository can either be filled with knowledge by </a:t>
            </a:r>
          </a:p>
          <a:p>
            <a:pPr marL="800100" lvl="1" indent="-342900" algn="just">
              <a:lnSpc>
                <a:spcPct val="100000"/>
              </a:lnSpc>
              <a:spcBef>
                <a:spcPts val="1800"/>
              </a:spcBef>
              <a:buClr>
                <a:srgbClr val="973735"/>
              </a:buClr>
              <a:buSzPct val="50000"/>
              <a:buFont typeface="Wingdings" pitchFamily="2" charset="2"/>
              <a:buChar char="u"/>
              <a:defRPr/>
            </a:pPr>
            <a:r>
              <a:rPr lang="en-US" dirty="0"/>
              <a:t>Passive collection: where workers themselves recognize what knowledge has sufficient value to be stored in the repository</a:t>
            </a:r>
          </a:p>
          <a:p>
            <a:pPr marL="800100" lvl="1" indent="-342900" algn="just">
              <a:lnSpc>
                <a:spcPct val="100000"/>
              </a:lnSpc>
              <a:spcBef>
                <a:spcPts val="1800"/>
              </a:spcBef>
              <a:buClr>
                <a:srgbClr val="973735"/>
              </a:buClr>
              <a:buSzPct val="50000"/>
              <a:buFont typeface="Wingdings" pitchFamily="2" charset="2"/>
              <a:buChar char="u"/>
              <a:defRPr/>
            </a:pPr>
            <a:r>
              <a:rPr lang="en-US" dirty="0"/>
              <a:t>Active collection: where some people in the organization are scanning communications processes to detect knowledge</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Networking Technologies</a:t>
            </a:r>
            <a:endParaRPr lang="en-US" sz="4000" b="1" dirty="0"/>
          </a:p>
        </p:txBody>
      </p:sp>
    </p:spTree>
    <p:extLst>
      <p:ext uri="{BB962C8B-B14F-4D97-AF65-F5344CB8AC3E}">
        <p14:creationId xmlns:p14="http://schemas.microsoft.com/office/powerpoint/2010/main" val="2411750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42</a:t>
            </a:fld>
            <a:endParaRPr kumimoji="0" lang="en-US" dirty="0"/>
          </a:p>
        </p:txBody>
      </p:sp>
      <p:sp>
        <p:nvSpPr>
          <p:cNvPr id="4" name="Content Placeholder 3"/>
          <p:cNvSpPr>
            <a:spLocks noGrp="1"/>
          </p:cNvSpPr>
          <p:nvPr>
            <p:ph sz="quarter" idx="1"/>
          </p:nvPr>
        </p:nvSpPr>
        <p:spPr>
          <a:xfrm>
            <a:off x="0" y="1664593"/>
            <a:ext cx="11718235" cy="4255275"/>
          </a:xfrm>
        </p:spPr>
        <p:txBody>
          <a:bodyPr>
            <a:normAutofit/>
          </a:bodyPr>
          <a:lstStyle/>
          <a:p>
            <a:pPr marL="342900" indent="-342900" algn="just">
              <a:lnSpc>
                <a:spcPct val="100000"/>
              </a:lnSpc>
              <a:spcBef>
                <a:spcPts val="1800"/>
              </a:spcBef>
              <a:buClr>
                <a:srgbClr val="973735"/>
              </a:buClr>
              <a:buSzPct val="50000"/>
              <a:buFont typeface="Wingdings" pitchFamily="2" charset="2"/>
              <a:buChar char="u"/>
              <a:defRPr/>
            </a:pPr>
            <a:r>
              <a:rPr lang="en-US" sz="2600" dirty="0"/>
              <a:t>Three types of knowledge repositories:</a:t>
            </a:r>
          </a:p>
          <a:p>
            <a:pPr marL="800100" lvl="1" indent="-342900" algn="just">
              <a:lnSpc>
                <a:spcPct val="100000"/>
              </a:lnSpc>
              <a:spcBef>
                <a:spcPts val="1800"/>
              </a:spcBef>
              <a:buClr>
                <a:srgbClr val="973735"/>
              </a:buClr>
              <a:buSzPct val="50000"/>
              <a:buFont typeface="Wingdings" pitchFamily="2" charset="2"/>
              <a:buChar char="u"/>
              <a:defRPr/>
            </a:pPr>
            <a:r>
              <a:rPr lang="en-US" dirty="0"/>
              <a:t>External knowledge repositories (such as competitive intelligence, knowledge about outside parties)</a:t>
            </a:r>
          </a:p>
          <a:p>
            <a:pPr marL="800100" lvl="1" indent="-342900" algn="just">
              <a:lnSpc>
                <a:spcPct val="100000"/>
              </a:lnSpc>
              <a:spcBef>
                <a:spcPts val="1800"/>
              </a:spcBef>
              <a:buClr>
                <a:srgbClr val="973735"/>
              </a:buClr>
              <a:buSzPct val="50000"/>
              <a:buFont typeface="Wingdings" pitchFamily="2" charset="2"/>
              <a:buChar char="u"/>
              <a:defRPr/>
            </a:pPr>
            <a:r>
              <a:rPr lang="en-US" dirty="0"/>
              <a:t>Internal knowledge repositories (such as research reports and product-oriented market material)</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Networking Technologies</a:t>
            </a:r>
            <a:endParaRPr lang="en-US" sz="4000" b="1" dirty="0"/>
          </a:p>
        </p:txBody>
      </p:sp>
    </p:spTree>
    <p:extLst>
      <p:ext uri="{BB962C8B-B14F-4D97-AF65-F5344CB8AC3E}">
        <p14:creationId xmlns:p14="http://schemas.microsoft.com/office/powerpoint/2010/main" val="30482917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43</a:t>
            </a:fld>
            <a:endParaRPr kumimoji="0" lang="en-US" dirty="0"/>
          </a:p>
        </p:txBody>
      </p:sp>
      <p:sp>
        <p:nvSpPr>
          <p:cNvPr id="4" name="Content Placeholder 3"/>
          <p:cNvSpPr>
            <a:spLocks noGrp="1"/>
          </p:cNvSpPr>
          <p:nvPr>
            <p:ph sz="quarter" idx="1"/>
          </p:nvPr>
        </p:nvSpPr>
        <p:spPr>
          <a:xfrm>
            <a:off x="0" y="1664593"/>
            <a:ext cx="11971176" cy="4816106"/>
          </a:xfrm>
        </p:spPr>
        <p:txBody>
          <a:bodyPr>
            <a:normAutofit fontScale="92500" lnSpcReduction="10000"/>
          </a:bodyPr>
          <a:lstStyle/>
          <a:p>
            <a:pPr marL="342900" indent="-342900" algn="just">
              <a:lnSpc>
                <a:spcPct val="120000"/>
              </a:lnSpc>
              <a:spcBef>
                <a:spcPts val="1200"/>
              </a:spcBef>
              <a:buClr>
                <a:srgbClr val="973735"/>
              </a:buClr>
              <a:buSzPct val="50000"/>
              <a:buFont typeface="Wingdings" pitchFamily="2" charset="2"/>
              <a:buChar char="u"/>
              <a:defRPr/>
            </a:pPr>
            <a:r>
              <a:rPr lang="en-US" sz="3000" b="1" dirty="0"/>
              <a:t>Elements of repositories:</a:t>
            </a:r>
          </a:p>
          <a:p>
            <a:pPr marL="800100" lvl="1" indent="-342900" algn="just">
              <a:lnSpc>
                <a:spcPct val="120000"/>
              </a:lnSpc>
              <a:spcBef>
                <a:spcPts val="1200"/>
              </a:spcBef>
              <a:buClr>
                <a:srgbClr val="973735"/>
              </a:buClr>
              <a:buSzPct val="50000"/>
              <a:buFont typeface="Wingdings" pitchFamily="2" charset="2"/>
              <a:buChar char="u"/>
              <a:defRPr/>
            </a:pPr>
            <a:r>
              <a:rPr lang="en-US" sz="2800" dirty="0"/>
              <a:t>Declarative knowledge (concepts, categories, definitions, assumptions-knowledge of what)</a:t>
            </a:r>
          </a:p>
          <a:p>
            <a:pPr marL="800100" lvl="1" indent="-342900" algn="just">
              <a:lnSpc>
                <a:spcPct val="120000"/>
              </a:lnSpc>
              <a:spcBef>
                <a:spcPts val="1200"/>
              </a:spcBef>
              <a:buClr>
                <a:srgbClr val="973735"/>
              </a:buClr>
              <a:buSzPct val="50000"/>
              <a:buFont typeface="Wingdings" pitchFamily="2" charset="2"/>
              <a:buChar char="u"/>
              <a:defRPr/>
            </a:pPr>
            <a:r>
              <a:rPr lang="en-US" sz="2800" dirty="0"/>
              <a:t>Procedural knowledge (processes, events, activities, actions, manuals-knowledge of how or know-how)</a:t>
            </a:r>
          </a:p>
          <a:p>
            <a:pPr marL="800100" lvl="1" indent="-342900" algn="just">
              <a:lnSpc>
                <a:spcPct val="120000"/>
              </a:lnSpc>
              <a:spcBef>
                <a:spcPts val="1200"/>
              </a:spcBef>
              <a:buClr>
                <a:srgbClr val="973735"/>
              </a:buClr>
              <a:buSzPct val="50000"/>
              <a:buFont typeface="Wingdings" pitchFamily="2" charset="2"/>
              <a:buChar char="u"/>
              <a:defRPr/>
            </a:pPr>
            <a:r>
              <a:rPr lang="en-US" sz="2800" dirty="0"/>
              <a:t>Causal knowledge (rationale for decisions, for rejected decisions-knowledge of why)</a:t>
            </a:r>
          </a:p>
          <a:p>
            <a:pPr marL="800100" lvl="1" indent="-342900" algn="just">
              <a:lnSpc>
                <a:spcPct val="120000"/>
              </a:lnSpc>
              <a:spcBef>
                <a:spcPts val="1200"/>
              </a:spcBef>
              <a:buClr>
                <a:srgbClr val="973735"/>
              </a:buClr>
              <a:buSzPct val="50000"/>
              <a:buFont typeface="Wingdings" pitchFamily="2" charset="2"/>
              <a:buChar char="u"/>
              <a:defRPr/>
            </a:pPr>
            <a:r>
              <a:rPr lang="en-US" sz="2800" dirty="0"/>
              <a:t>Context (circumstances of decisions, informal knowledge, what is and what is not done, accepted etc.-knowledge of care-why)</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Networking Technologies</a:t>
            </a:r>
            <a:endParaRPr lang="en-US" sz="4000" b="1" dirty="0"/>
          </a:p>
        </p:txBody>
      </p:sp>
    </p:spTree>
    <p:extLst>
      <p:ext uri="{BB962C8B-B14F-4D97-AF65-F5344CB8AC3E}">
        <p14:creationId xmlns:p14="http://schemas.microsoft.com/office/powerpoint/2010/main" val="25815948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44</a:t>
            </a:fld>
            <a:endParaRPr kumimoji="0" lang="en-US" dirty="0"/>
          </a:p>
        </p:txBody>
      </p:sp>
      <p:sp>
        <p:nvSpPr>
          <p:cNvPr id="4" name="Content Placeholder 3"/>
          <p:cNvSpPr>
            <a:spLocks noGrp="1"/>
          </p:cNvSpPr>
          <p:nvPr>
            <p:ph sz="quarter" idx="1"/>
          </p:nvPr>
        </p:nvSpPr>
        <p:spPr>
          <a:xfrm>
            <a:off x="0" y="1664593"/>
            <a:ext cx="1170829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Knowledge portals</a:t>
            </a:r>
          </a:p>
          <a:p>
            <a:pPr marL="800100" lvl="1" indent="-342900" algn="just">
              <a:lnSpc>
                <a:spcPct val="100000"/>
              </a:lnSpc>
              <a:spcBef>
                <a:spcPts val="1800"/>
              </a:spcBef>
              <a:buClr>
                <a:srgbClr val="973735"/>
              </a:buClr>
              <a:buSzPct val="50000"/>
              <a:buFont typeface="Wingdings" pitchFamily="2" charset="2"/>
              <a:buChar char="u"/>
              <a:defRPr/>
            </a:pPr>
            <a:r>
              <a:rPr lang="en-US" sz="2600" dirty="0"/>
              <a:t>Provide access to diverse enterprise content, communities, expertise, and to internal and external services and information (Collins, Firestone). </a:t>
            </a:r>
          </a:p>
          <a:p>
            <a:pPr marL="800100" lvl="1" indent="-342900" algn="just">
              <a:lnSpc>
                <a:spcPct val="100000"/>
              </a:lnSpc>
              <a:spcBef>
                <a:spcPts val="1800"/>
              </a:spcBef>
              <a:buClr>
                <a:srgbClr val="973735"/>
              </a:buClr>
              <a:buSzPct val="50000"/>
              <a:buFont typeface="Wingdings" pitchFamily="2" charset="2"/>
              <a:buChar char="u"/>
              <a:defRPr/>
            </a:pPr>
            <a:r>
              <a:rPr lang="en-US" sz="2600" dirty="0"/>
              <a:t>Means of storing and disseminating organizational knowledge such as business processes, policies, procedures, documents, and other codified knowledge. </a:t>
            </a:r>
          </a:p>
          <a:p>
            <a:pPr marL="800100" lvl="1" indent="-342900" algn="just">
              <a:lnSpc>
                <a:spcPct val="100000"/>
              </a:lnSpc>
              <a:spcBef>
                <a:spcPts val="1800"/>
              </a:spcBef>
              <a:buClr>
                <a:srgbClr val="973735"/>
              </a:buClr>
              <a:buSzPct val="50000"/>
              <a:buFont typeface="Wingdings" pitchFamily="2" charset="2"/>
              <a:buChar char="u"/>
              <a:defRPr/>
            </a:pPr>
            <a:r>
              <a:rPr lang="en-US" sz="2600" dirty="0"/>
              <a:t>Searching capabilities through content as well as through the taxonomy (categorized content).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Networking Technologies</a:t>
            </a:r>
            <a:endParaRPr lang="en-US" sz="4000" b="1" dirty="0"/>
          </a:p>
        </p:txBody>
      </p:sp>
    </p:spTree>
    <p:extLst>
      <p:ext uri="{BB962C8B-B14F-4D97-AF65-F5344CB8AC3E}">
        <p14:creationId xmlns:p14="http://schemas.microsoft.com/office/powerpoint/2010/main" val="10598345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45</a:t>
            </a:fld>
            <a:endParaRPr kumimoji="0" lang="en-US" dirty="0"/>
          </a:p>
        </p:txBody>
      </p:sp>
      <p:sp>
        <p:nvSpPr>
          <p:cNvPr id="4" name="Content Placeholder 3"/>
          <p:cNvSpPr>
            <a:spLocks noGrp="1"/>
          </p:cNvSpPr>
          <p:nvPr>
            <p:ph sz="quarter" idx="1"/>
          </p:nvPr>
        </p:nvSpPr>
        <p:spPr>
          <a:xfrm>
            <a:off x="0" y="1664593"/>
            <a:ext cx="11897139" cy="4974746"/>
          </a:xfrm>
        </p:spPr>
        <p:txBody>
          <a:bodyPr>
            <a:normAutofit fontScale="92500" lnSpcReduction="20000"/>
          </a:bodyPr>
          <a:lstStyle/>
          <a:p>
            <a:pPr marL="342900" indent="-342900" algn="just">
              <a:lnSpc>
                <a:spcPct val="150000"/>
              </a:lnSpc>
              <a:spcBef>
                <a:spcPts val="600"/>
              </a:spcBef>
              <a:buClr>
                <a:srgbClr val="973735"/>
              </a:buClr>
              <a:buSzPct val="50000"/>
              <a:buFont typeface="Wingdings" pitchFamily="2" charset="2"/>
              <a:buChar char="u"/>
              <a:defRPr/>
            </a:pPr>
            <a:r>
              <a:rPr lang="en-US" sz="3000" b="1" dirty="0"/>
              <a:t>Knowledge portals</a:t>
            </a:r>
          </a:p>
          <a:p>
            <a:pPr marL="800100" lvl="1" indent="-342900" algn="just">
              <a:lnSpc>
                <a:spcPct val="110000"/>
              </a:lnSpc>
              <a:spcBef>
                <a:spcPts val="1200"/>
              </a:spcBef>
              <a:buClr>
                <a:srgbClr val="973735"/>
              </a:buClr>
              <a:buSzPct val="50000"/>
              <a:buFont typeface="Wingdings" pitchFamily="2" charset="2"/>
              <a:buChar char="u"/>
              <a:defRPr/>
            </a:pPr>
            <a:r>
              <a:rPr lang="en-US" sz="2800" dirty="0"/>
              <a:t>Link people, processes, and valuable knowledge content and provide the organizational glue or common thread that serves to support knowledge workers.</a:t>
            </a:r>
          </a:p>
          <a:p>
            <a:pPr marL="800100" lvl="1" indent="-342900" algn="just">
              <a:lnSpc>
                <a:spcPct val="110000"/>
              </a:lnSpc>
              <a:spcBef>
                <a:spcPts val="1200"/>
              </a:spcBef>
              <a:buClr>
                <a:srgbClr val="973735"/>
              </a:buClr>
              <a:buSzPct val="50000"/>
              <a:buFont typeface="Wingdings" pitchFamily="2" charset="2"/>
              <a:buChar char="u"/>
              <a:defRPr/>
            </a:pPr>
            <a:r>
              <a:rPr lang="en-US" sz="2800" dirty="0"/>
              <a:t>The first were essentially a means of broadcasting information to all organizational members. </a:t>
            </a:r>
          </a:p>
          <a:p>
            <a:pPr marL="800100" lvl="1" indent="-342900" algn="just">
              <a:lnSpc>
                <a:spcPct val="110000"/>
              </a:lnSpc>
              <a:spcBef>
                <a:spcPts val="1200"/>
              </a:spcBef>
              <a:buClr>
                <a:srgbClr val="973735"/>
              </a:buClr>
              <a:buSzPct val="50000"/>
              <a:buFont typeface="Wingdings" pitchFamily="2" charset="2"/>
              <a:buChar char="u"/>
              <a:defRPr/>
            </a:pPr>
            <a:r>
              <a:rPr lang="en-US" sz="2800" dirty="0"/>
              <a:t>Today, they have evolved into sophisticated shared workspaces where knowledge workers can not only contribute and share content but also acquire and apply valuable organizational knowledge. </a:t>
            </a:r>
          </a:p>
          <a:p>
            <a:pPr marL="800100" lvl="1" indent="-342900" algn="just">
              <a:lnSpc>
                <a:spcPct val="110000"/>
              </a:lnSpc>
              <a:spcBef>
                <a:spcPts val="1200"/>
              </a:spcBef>
              <a:buClr>
                <a:srgbClr val="973735"/>
              </a:buClr>
              <a:buSzPct val="50000"/>
              <a:buFont typeface="Wingdings" pitchFamily="2" charset="2"/>
              <a:buChar char="u"/>
              <a:defRPr/>
            </a:pPr>
            <a:r>
              <a:rPr lang="en-US" sz="2800" dirty="0"/>
              <a:t>Support knowledge creation, sharing, and use by allowing a high level of bidirectional interaction with users.</a:t>
            </a:r>
          </a:p>
          <a:p>
            <a:pPr marL="800100" lvl="1" indent="-342900" algn="just">
              <a:lnSpc>
                <a:spcPct val="100000"/>
              </a:lnSpc>
              <a:spcBef>
                <a:spcPts val="12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a:bodyPr>
          <a:lstStyle/>
          <a:p>
            <a:r>
              <a:rPr lang="en-US" sz="4000" b="1" dirty="0">
                <a:solidFill>
                  <a:srgbClr val="ED7D31"/>
                </a:solidFill>
              </a:rPr>
              <a:t>Networking Technologies</a:t>
            </a:r>
            <a:endParaRPr lang="en-US" sz="4000" b="1" dirty="0"/>
          </a:p>
        </p:txBody>
      </p:sp>
    </p:spTree>
    <p:extLst>
      <p:ext uri="{BB962C8B-B14F-4D97-AF65-F5344CB8AC3E}">
        <p14:creationId xmlns:p14="http://schemas.microsoft.com/office/powerpoint/2010/main" val="12050897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46</a:t>
            </a:fld>
            <a:endParaRPr kumimoji="0" lang="en-US" dirty="0"/>
          </a:p>
        </p:txBody>
      </p:sp>
      <p:sp>
        <p:nvSpPr>
          <p:cNvPr id="4" name="Content Placeholder 3"/>
          <p:cNvSpPr>
            <a:spLocks noGrp="1"/>
          </p:cNvSpPr>
          <p:nvPr>
            <p:ph sz="quarter" idx="1"/>
          </p:nvPr>
        </p:nvSpPr>
        <p:spPr>
          <a:xfrm>
            <a:off x="0" y="1664593"/>
            <a:ext cx="11971176" cy="4895233"/>
          </a:xfrm>
        </p:spPr>
        <p:txBody>
          <a:bodyPr>
            <a:normAutofit/>
          </a:bodyPr>
          <a:lstStyle/>
          <a:p>
            <a:pPr marL="342900" indent="-342900" algn="just">
              <a:lnSpc>
                <a:spcPct val="110000"/>
              </a:lnSpc>
              <a:spcBef>
                <a:spcPts val="1200"/>
              </a:spcBef>
              <a:buClr>
                <a:srgbClr val="973735"/>
              </a:buClr>
              <a:buSzPct val="50000"/>
              <a:buFont typeface="Wingdings" pitchFamily="2" charset="2"/>
              <a:buChar char="u"/>
              <a:defRPr/>
            </a:pPr>
            <a:r>
              <a:rPr lang="en-US" b="1" dirty="0"/>
              <a:t>E-learning systems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Provide support for learning, comprehension, and better understanding of the new knowledge to be acquired</a:t>
            </a:r>
          </a:p>
          <a:p>
            <a:pPr marL="342900" indent="-342900" algn="just">
              <a:lnSpc>
                <a:spcPct val="100000"/>
              </a:lnSpc>
              <a:spcBef>
                <a:spcPts val="1800"/>
              </a:spcBef>
              <a:buClr>
                <a:srgbClr val="973735"/>
              </a:buClr>
              <a:buSzPct val="50000"/>
              <a:buFont typeface="Wingdings" pitchFamily="2" charset="2"/>
              <a:buChar char="u"/>
              <a:defRPr/>
            </a:pPr>
            <a:r>
              <a:rPr lang="en-US" sz="2600" dirty="0"/>
              <a:t>Electronic performance support systems (EPSS), expert systems, and decision support systems (DSS) help knowledge workers to apply the knowledge on the job</a:t>
            </a:r>
          </a:p>
          <a:p>
            <a:pPr marL="342900" indent="-342900" algn="just">
              <a:lnSpc>
                <a:spcPct val="100000"/>
              </a:lnSpc>
              <a:spcBef>
                <a:spcPts val="1800"/>
              </a:spcBef>
              <a:buClr>
                <a:srgbClr val="973735"/>
              </a:buClr>
              <a:buSzPct val="50000"/>
              <a:buFont typeface="Wingdings" pitchFamily="2" charset="2"/>
              <a:buChar char="u"/>
              <a:defRPr/>
            </a:pPr>
            <a:r>
              <a:rPr lang="en-US" sz="2600" dirty="0"/>
              <a:t>Adaptive technologies can be used to personalize knowledge content push or pull</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Acquisition and Application Tools</a:t>
            </a:r>
          </a:p>
        </p:txBody>
      </p:sp>
    </p:spTree>
    <p:extLst>
      <p:ext uri="{BB962C8B-B14F-4D97-AF65-F5344CB8AC3E}">
        <p14:creationId xmlns:p14="http://schemas.microsoft.com/office/powerpoint/2010/main" val="2447013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47</a:t>
            </a:fld>
            <a:endParaRPr kumimoji="0" lang="en-US" dirty="0"/>
          </a:p>
        </p:txBody>
      </p:sp>
      <p:sp>
        <p:nvSpPr>
          <p:cNvPr id="4" name="Content Placeholder 3"/>
          <p:cNvSpPr>
            <a:spLocks noGrp="1"/>
          </p:cNvSpPr>
          <p:nvPr>
            <p:ph sz="quarter" idx="1"/>
          </p:nvPr>
        </p:nvSpPr>
        <p:spPr>
          <a:xfrm>
            <a:off x="0" y="1664593"/>
            <a:ext cx="11797748" cy="4726268"/>
          </a:xfrm>
        </p:spPr>
        <p:txBody>
          <a:bodyPr>
            <a:normAutofit/>
          </a:bodyPr>
          <a:lstStyle/>
          <a:p>
            <a:pPr marL="342900" indent="-342900" algn="just">
              <a:lnSpc>
                <a:spcPct val="110000"/>
              </a:lnSpc>
              <a:spcBef>
                <a:spcPts val="1200"/>
              </a:spcBef>
              <a:buClr>
                <a:srgbClr val="973735"/>
              </a:buClr>
              <a:buSzPct val="50000"/>
              <a:buFont typeface="Wingdings" pitchFamily="2" charset="2"/>
              <a:buChar char="u"/>
              <a:defRPr/>
            </a:pPr>
            <a:r>
              <a:rPr lang="en-US" b="1" dirty="0"/>
              <a:t>Recommender systems</a:t>
            </a:r>
          </a:p>
          <a:p>
            <a:pPr marL="800100" lvl="1" indent="-342900" algn="just">
              <a:lnSpc>
                <a:spcPct val="100000"/>
              </a:lnSpc>
              <a:spcBef>
                <a:spcPts val="1800"/>
              </a:spcBef>
              <a:buClr>
                <a:srgbClr val="973735"/>
              </a:buClr>
              <a:buSzPct val="50000"/>
              <a:buFont typeface="Wingdings" pitchFamily="2" charset="2"/>
              <a:buChar char="u"/>
              <a:defRPr/>
            </a:pPr>
            <a:r>
              <a:rPr lang="en-US" sz="2600" dirty="0"/>
              <a:t>Detect similarities or affinities between different types of users </a:t>
            </a:r>
          </a:p>
          <a:p>
            <a:pPr marL="800100" lvl="1" indent="-342900" algn="just">
              <a:lnSpc>
                <a:spcPct val="100000"/>
              </a:lnSpc>
              <a:spcBef>
                <a:spcPts val="1800"/>
              </a:spcBef>
              <a:buClr>
                <a:srgbClr val="973735"/>
              </a:buClr>
              <a:buSzPct val="50000"/>
              <a:buFont typeface="Wingdings" pitchFamily="2" charset="2"/>
              <a:buChar char="u"/>
              <a:defRPr/>
            </a:pPr>
            <a:r>
              <a:rPr lang="en-US" sz="2600" dirty="0"/>
              <a:t>Make recommendations of additional content that others like them have found to be useful to acquire and apply</a:t>
            </a:r>
          </a:p>
          <a:p>
            <a:pPr marL="342900" indent="-342900" algn="just">
              <a:lnSpc>
                <a:spcPct val="100000"/>
              </a:lnSpc>
              <a:spcBef>
                <a:spcPts val="1800"/>
              </a:spcBef>
              <a:buClr>
                <a:srgbClr val="973735"/>
              </a:buClr>
              <a:buSzPct val="50000"/>
              <a:buFont typeface="Wingdings" pitchFamily="2" charset="2"/>
              <a:buChar char="u"/>
              <a:defRPr/>
            </a:pPr>
            <a:r>
              <a:rPr lang="en-US" sz="2600" dirty="0"/>
              <a:t>Knowledge maps and other visualization tools can help to be better acquire and apply valuable knowledge</a:t>
            </a:r>
          </a:p>
          <a:p>
            <a:pPr marL="342900" indent="-342900" algn="just">
              <a:lnSpc>
                <a:spcPct val="100000"/>
              </a:lnSpc>
              <a:spcBef>
                <a:spcPts val="1800"/>
              </a:spcBef>
              <a:buClr>
                <a:srgbClr val="973735"/>
              </a:buClr>
              <a:buSzPct val="50000"/>
              <a:buFont typeface="Wingdings" pitchFamily="2" charset="2"/>
              <a:buChar char="u"/>
              <a:defRPr/>
            </a:pPr>
            <a:r>
              <a:rPr lang="en-US" sz="2600" dirty="0"/>
              <a:t>Artificial intelligence can at least partially automate processes such as text summarization, content classification, and content selection</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Acquisition and Application Tools</a:t>
            </a:r>
          </a:p>
        </p:txBody>
      </p:sp>
    </p:spTree>
    <p:extLst>
      <p:ext uri="{BB962C8B-B14F-4D97-AF65-F5344CB8AC3E}">
        <p14:creationId xmlns:p14="http://schemas.microsoft.com/office/powerpoint/2010/main" val="20972434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48</a:t>
            </a:fld>
            <a:endParaRPr kumimoji="0" lang="en-US" dirty="0"/>
          </a:p>
        </p:txBody>
      </p:sp>
      <p:sp>
        <p:nvSpPr>
          <p:cNvPr id="4" name="Content Placeholder 3"/>
          <p:cNvSpPr>
            <a:spLocks noGrp="1"/>
          </p:cNvSpPr>
          <p:nvPr>
            <p:ph sz="quarter" idx="1"/>
          </p:nvPr>
        </p:nvSpPr>
        <p:spPr>
          <a:xfrm>
            <a:off x="0" y="1664593"/>
            <a:ext cx="11787809" cy="4666633"/>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E-learning applications</a:t>
            </a:r>
          </a:p>
          <a:p>
            <a:pPr marL="800100" lvl="1" indent="-342900" algn="just">
              <a:lnSpc>
                <a:spcPct val="100000"/>
              </a:lnSpc>
              <a:spcBef>
                <a:spcPts val="1200"/>
              </a:spcBef>
              <a:buClr>
                <a:srgbClr val="973735"/>
              </a:buClr>
              <a:buSzPct val="50000"/>
              <a:buFont typeface="Wingdings" pitchFamily="2" charset="2"/>
              <a:buChar char="u"/>
              <a:defRPr/>
            </a:pPr>
            <a:r>
              <a:rPr lang="en-US" sz="2600" dirty="0"/>
              <a:t>Computer-based learning (CBT) and web-based training (WBT) applications</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common feature is online learning environment. Courses delivered via web or intranet</a:t>
            </a:r>
          </a:p>
          <a:p>
            <a:pPr marL="800100" lvl="1" indent="-342900" algn="just">
              <a:lnSpc>
                <a:spcPct val="100000"/>
              </a:lnSpc>
              <a:spcBef>
                <a:spcPts val="1200"/>
              </a:spcBef>
              <a:buClr>
                <a:srgbClr val="973735"/>
              </a:buClr>
              <a:buSzPct val="50000"/>
              <a:buFont typeface="Wingdings" pitchFamily="2" charset="2"/>
              <a:buChar char="u"/>
              <a:defRPr/>
            </a:pPr>
            <a:r>
              <a:rPr lang="en-US" sz="2600" dirty="0"/>
              <a:t>Increase the knowledge dissemination because</a:t>
            </a:r>
          </a:p>
          <a:p>
            <a:pPr marL="1257300" lvl="2" indent="-342900" algn="just">
              <a:lnSpc>
                <a:spcPct val="100000"/>
              </a:lnSpc>
              <a:spcBef>
                <a:spcPts val="1200"/>
              </a:spcBef>
              <a:buClr>
                <a:srgbClr val="973735"/>
              </a:buClr>
              <a:buSzPct val="50000"/>
              <a:buFont typeface="Wingdings" pitchFamily="2" charset="2"/>
              <a:buChar char="u"/>
              <a:defRPr/>
            </a:pPr>
            <a:r>
              <a:rPr lang="en-US" sz="2400" dirty="0"/>
              <a:t>Knowledge that has been captured and coded or packaged made available to all organizational members, regardless of any time or distance constraints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Acquisition and Application Tools</a:t>
            </a:r>
          </a:p>
        </p:txBody>
      </p:sp>
    </p:spTree>
    <p:extLst>
      <p:ext uri="{BB962C8B-B14F-4D97-AF65-F5344CB8AC3E}">
        <p14:creationId xmlns:p14="http://schemas.microsoft.com/office/powerpoint/2010/main" val="12236614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49</a:t>
            </a:fld>
            <a:endParaRPr kumimoji="0" lang="en-US" dirty="0"/>
          </a:p>
        </p:txBody>
      </p:sp>
      <p:sp>
        <p:nvSpPr>
          <p:cNvPr id="4" name="Content Placeholder 3"/>
          <p:cNvSpPr>
            <a:spLocks noGrp="1"/>
          </p:cNvSpPr>
          <p:nvPr>
            <p:ph sz="quarter" idx="1"/>
          </p:nvPr>
        </p:nvSpPr>
        <p:spPr>
          <a:xfrm>
            <a:off x="0" y="1664593"/>
            <a:ext cx="11971176" cy="4255275"/>
          </a:xfrm>
        </p:spPr>
        <p:txBody>
          <a:bodyPr>
            <a:normAutofit/>
          </a:bodyPr>
          <a:lstStyle/>
          <a:p>
            <a:pPr marL="342900" indent="-342900" algn="just">
              <a:lnSpc>
                <a:spcPct val="150000"/>
              </a:lnSpc>
              <a:spcBef>
                <a:spcPts val="600"/>
              </a:spcBef>
              <a:buClr>
                <a:srgbClr val="973735"/>
              </a:buClr>
              <a:buSzPct val="50000"/>
              <a:buFont typeface="Wingdings" pitchFamily="2" charset="2"/>
              <a:buChar char="u"/>
              <a:defRPr/>
            </a:pPr>
            <a:r>
              <a:rPr lang="en-US" b="1" dirty="0"/>
              <a:t>Decision Support System</a:t>
            </a:r>
          </a:p>
          <a:p>
            <a:pPr marL="800100" lvl="1" indent="-342900" algn="just">
              <a:lnSpc>
                <a:spcPct val="100000"/>
              </a:lnSpc>
              <a:spcBef>
                <a:spcPts val="1800"/>
              </a:spcBef>
              <a:buClr>
                <a:srgbClr val="973735"/>
              </a:buClr>
              <a:buSzPct val="50000"/>
              <a:buFont typeface="Wingdings" pitchFamily="2" charset="2"/>
              <a:buChar char="u"/>
              <a:defRPr/>
            </a:pPr>
            <a:r>
              <a:rPr lang="en-US" sz="2600" dirty="0"/>
              <a:t>Help groups in decision making by facilitating meetings, encourage equal participation by providing anonymity or enforcing turn-taking</a:t>
            </a:r>
          </a:p>
          <a:p>
            <a:pPr marL="800100" lvl="1" indent="-342900" algn="just">
              <a:lnSpc>
                <a:spcPct val="100000"/>
              </a:lnSpc>
              <a:spcBef>
                <a:spcPts val="1800"/>
              </a:spcBef>
              <a:buClr>
                <a:srgbClr val="973735"/>
              </a:buClr>
              <a:buSzPct val="50000"/>
              <a:buFont typeface="Wingdings" pitchFamily="2" charset="2"/>
              <a:buChar char="u"/>
              <a:defRPr/>
            </a:pPr>
            <a:r>
              <a:rPr lang="en-US" sz="2600" dirty="0"/>
              <a:t>Provide tools for brainstorming, critiquing ideas, voting, putting weights and probabilities on events and alternatives</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Acquisition and Application Tools</a:t>
            </a:r>
          </a:p>
        </p:txBody>
      </p:sp>
    </p:spTree>
    <p:extLst>
      <p:ext uri="{BB962C8B-B14F-4D97-AF65-F5344CB8AC3E}">
        <p14:creationId xmlns:p14="http://schemas.microsoft.com/office/powerpoint/2010/main" val="24806893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50</a:t>
            </a:fld>
            <a:endParaRPr kumimoji="0" lang="en-US" dirty="0"/>
          </a:p>
        </p:txBody>
      </p:sp>
      <p:sp>
        <p:nvSpPr>
          <p:cNvPr id="4" name="Content Placeholder 3"/>
          <p:cNvSpPr>
            <a:spLocks noGrp="1"/>
          </p:cNvSpPr>
          <p:nvPr>
            <p:ph sz="quarter" idx="1"/>
          </p:nvPr>
        </p:nvSpPr>
        <p:spPr>
          <a:xfrm>
            <a:off x="0" y="1664593"/>
            <a:ext cx="11748052"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Intelligent Filtering Tools</a:t>
            </a:r>
          </a:p>
          <a:p>
            <a:pPr marL="800100" lvl="1" indent="-342900" algn="just">
              <a:lnSpc>
                <a:spcPct val="100000"/>
              </a:lnSpc>
              <a:spcBef>
                <a:spcPts val="1800"/>
              </a:spcBef>
              <a:buClr>
                <a:srgbClr val="973735"/>
              </a:buClr>
              <a:buSzPct val="50000"/>
              <a:buFont typeface="Wingdings" pitchFamily="2" charset="2"/>
              <a:buChar char="u"/>
              <a:defRPr/>
            </a:pPr>
            <a:r>
              <a:rPr lang="en-US" sz="2600" dirty="0"/>
              <a:t>Software programs that assist their user and act on his or her behalf</a:t>
            </a:r>
          </a:p>
          <a:p>
            <a:pPr marL="800100" lvl="1" indent="-342900" algn="just">
              <a:lnSpc>
                <a:spcPct val="100000"/>
              </a:lnSpc>
              <a:spcBef>
                <a:spcPts val="1800"/>
              </a:spcBef>
              <a:buClr>
                <a:srgbClr val="973735"/>
              </a:buClr>
              <a:buSzPct val="50000"/>
              <a:buFont typeface="Wingdings" pitchFamily="2" charset="2"/>
              <a:buChar char="u"/>
              <a:defRPr/>
            </a:pPr>
            <a:r>
              <a:rPr lang="en-US" sz="2600" dirty="0"/>
              <a:t>A computer program that acts autonomously and on its own initiative, has intelligence and can learn, improving its performance in </a:t>
            </a:r>
            <a:r>
              <a:rPr lang="en-US" sz="2600" dirty="0" err="1"/>
              <a:t>execting</a:t>
            </a:r>
            <a:r>
              <a:rPr lang="en-US" sz="2600" dirty="0"/>
              <a:t> its tasks (Woolridge, Jennings)</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Acquisition and Application Tools</a:t>
            </a:r>
          </a:p>
        </p:txBody>
      </p:sp>
    </p:spTree>
    <p:extLst>
      <p:ext uri="{BB962C8B-B14F-4D97-AF65-F5344CB8AC3E}">
        <p14:creationId xmlns:p14="http://schemas.microsoft.com/office/powerpoint/2010/main" val="32107863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51</a:t>
            </a:fld>
            <a:endParaRPr kumimoji="0" lang="en-US" dirty="0"/>
          </a:p>
        </p:txBody>
      </p:sp>
      <p:sp>
        <p:nvSpPr>
          <p:cNvPr id="4" name="Content Placeholder 3"/>
          <p:cNvSpPr>
            <a:spLocks noGrp="1"/>
          </p:cNvSpPr>
          <p:nvPr>
            <p:ph sz="quarter" idx="1"/>
          </p:nvPr>
        </p:nvSpPr>
        <p:spPr>
          <a:xfrm>
            <a:off x="0" y="1664593"/>
            <a:ext cx="11757991" cy="4964807"/>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Intelligent Filtering Tools</a:t>
            </a:r>
          </a:p>
          <a:p>
            <a:pPr marL="800100" lvl="1" indent="-342900" algn="just">
              <a:lnSpc>
                <a:spcPct val="100000"/>
              </a:lnSpc>
              <a:spcBef>
                <a:spcPts val="1200"/>
              </a:spcBef>
              <a:buClr>
                <a:srgbClr val="973735"/>
              </a:buClr>
              <a:buSzPct val="50000"/>
              <a:buFont typeface="Wingdings" pitchFamily="2" charset="2"/>
              <a:buChar char="u"/>
              <a:defRPr/>
            </a:pPr>
            <a:r>
              <a:rPr lang="en-US" sz="2600" dirty="0"/>
              <a:t>Has features:</a:t>
            </a:r>
          </a:p>
          <a:p>
            <a:pPr marL="1257300" lvl="2" indent="-342900" algn="just">
              <a:lnSpc>
                <a:spcPct val="100000"/>
              </a:lnSpc>
              <a:spcBef>
                <a:spcPts val="1200"/>
              </a:spcBef>
              <a:buClr>
                <a:srgbClr val="973735"/>
              </a:buClr>
              <a:buSzPct val="50000"/>
              <a:buFont typeface="Wingdings" pitchFamily="2" charset="2"/>
              <a:buChar char="u"/>
              <a:defRPr/>
            </a:pPr>
            <a:r>
              <a:rPr lang="en-US" sz="2400" dirty="0"/>
              <a:t>Autonomy: the ability to do most of their tasks without any direct assistance from an outside source</a:t>
            </a:r>
          </a:p>
          <a:p>
            <a:pPr marL="1257300" lvl="2" indent="-342900" algn="just">
              <a:lnSpc>
                <a:spcPct val="100000"/>
              </a:lnSpc>
              <a:spcBef>
                <a:spcPts val="1200"/>
              </a:spcBef>
              <a:buClr>
                <a:srgbClr val="973735"/>
              </a:buClr>
              <a:buSzPct val="50000"/>
              <a:buFont typeface="Wingdings" pitchFamily="2" charset="2"/>
              <a:buChar char="u"/>
              <a:defRPr/>
            </a:pPr>
            <a:r>
              <a:rPr lang="en-US" sz="2400" dirty="0"/>
              <a:t>Social ability: the ability to interact with, when they deem appropriate, other software agents and humans</a:t>
            </a:r>
          </a:p>
          <a:p>
            <a:pPr marL="1257300" lvl="2" indent="-342900" algn="just">
              <a:lnSpc>
                <a:spcPct val="100000"/>
              </a:lnSpc>
              <a:spcBef>
                <a:spcPts val="1200"/>
              </a:spcBef>
              <a:buClr>
                <a:srgbClr val="973735"/>
              </a:buClr>
              <a:buSzPct val="50000"/>
              <a:buFont typeface="Wingdings" pitchFamily="2" charset="2"/>
              <a:buChar char="u"/>
              <a:defRPr/>
            </a:pPr>
            <a:r>
              <a:rPr lang="en-US" sz="2400" dirty="0"/>
              <a:t>Responsiveness: the ability to respond in a timely fashion to perceived changes in the environment</a:t>
            </a:r>
          </a:p>
          <a:p>
            <a:pPr marL="1257300" lvl="2" indent="-342900" algn="just">
              <a:lnSpc>
                <a:spcPct val="100000"/>
              </a:lnSpc>
              <a:spcBef>
                <a:spcPts val="1200"/>
              </a:spcBef>
              <a:buClr>
                <a:srgbClr val="973735"/>
              </a:buClr>
              <a:buSzPct val="50000"/>
              <a:buFont typeface="Wingdings" pitchFamily="2" charset="2"/>
              <a:buChar char="u"/>
              <a:defRPr/>
            </a:pPr>
            <a:r>
              <a:rPr lang="en-US" sz="2400" dirty="0"/>
              <a:t>Personalization: the ability to adapt to its users’ needs</a:t>
            </a:r>
          </a:p>
          <a:p>
            <a:pPr marL="457200" lvl="1" indent="0" algn="just">
              <a:lnSpc>
                <a:spcPct val="150000"/>
              </a:lnSpc>
              <a:spcBef>
                <a:spcPts val="600"/>
              </a:spcBef>
              <a:buClr>
                <a:srgbClr val="973735"/>
              </a:buClr>
              <a:buSzPct val="50000"/>
              <a:buNone/>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Acquisition and Application Tools</a:t>
            </a:r>
          </a:p>
        </p:txBody>
      </p:sp>
    </p:spTree>
    <p:extLst>
      <p:ext uri="{BB962C8B-B14F-4D97-AF65-F5344CB8AC3E}">
        <p14:creationId xmlns:p14="http://schemas.microsoft.com/office/powerpoint/2010/main" val="11329724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52</a:t>
            </a:fld>
            <a:endParaRPr kumimoji="0" lang="en-US" dirty="0"/>
          </a:p>
        </p:txBody>
      </p:sp>
      <p:sp>
        <p:nvSpPr>
          <p:cNvPr id="4" name="Content Placeholder 3"/>
          <p:cNvSpPr>
            <a:spLocks noGrp="1"/>
          </p:cNvSpPr>
          <p:nvPr>
            <p:ph sz="quarter" idx="1"/>
          </p:nvPr>
        </p:nvSpPr>
        <p:spPr>
          <a:xfrm>
            <a:off x="0" y="1664593"/>
            <a:ext cx="11678478"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Intelligent Filtering Tools</a:t>
            </a:r>
          </a:p>
          <a:p>
            <a:pPr marL="800100" lvl="1" indent="-342900" algn="just">
              <a:lnSpc>
                <a:spcPct val="100000"/>
              </a:lnSpc>
              <a:spcBef>
                <a:spcPts val="1200"/>
              </a:spcBef>
              <a:buClr>
                <a:srgbClr val="973735"/>
              </a:buClr>
              <a:buSzPct val="50000"/>
              <a:buFont typeface="Wingdings" pitchFamily="2" charset="2"/>
              <a:buChar char="u"/>
              <a:defRPr/>
            </a:pPr>
            <a:r>
              <a:rPr lang="en-US" sz="2600" dirty="0"/>
              <a:t>Has features:</a:t>
            </a:r>
          </a:p>
          <a:p>
            <a:pPr marL="1257300" lvl="2" indent="-342900" algn="just">
              <a:lnSpc>
                <a:spcPct val="100000"/>
              </a:lnSpc>
              <a:spcBef>
                <a:spcPts val="1200"/>
              </a:spcBef>
              <a:buClr>
                <a:srgbClr val="973735"/>
              </a:buClr>
              <a:buSzPct val="50000"/>
              <a:buFont typeface="Wingdings" pitchFamily="2" charset="2"/>
              <a:buChar char="u"/>
              <a:defRPr/>
            </a:pPr>
            <a:r>
              <a:rPr lang="en-US" sz="2400" dirty="0"/>
              <a:t>Initiative: the ability of an agent to take initiatives by itself, autonomously and spontaneously, often on a periodical basis</a:t>
            </a:r>
          </a:p>
          <a:p>
            <a:pPr marL="1257300" lvl="2" indent="-342900" algn="just">
              <a:lnSpc>
                <a:spcPct val="100000"/>
              </a:lnSpc>
              <a:spcBef>
                <a:spcPts val="1200"/>
              </a:spcBef>
              <a:buClr>
                <a:srgbClr val="973735"/>
              </a:buClr>
              <a:buSzPct val="50000"/>
              <a:buFont typeface="Wingdings" pitchFamily="2" charset="2"/>
              <a:buChar char="u"/>
              <a:defRPr/>
            </a:pPr>
            <a:r>
              <a:rPr lang="en-US" sz="2400" dirty="0"/>
              <a:t>Adaptivity: the capacity to change and improve according to the experiences accumulated</a:t>
            </a:r>
          </a:p>
          <a:p>
            <a:pPr marL="1257300" lvl="2" indent="-342900" algn="just">
              <a:lnSpc>
                <a:spcPct val="100000"/>
              </a:lnSpc>
              <a:spcBef>
                <a:spcPts val="1200"/>
              </a:spcBef>
              <a:buClr>
                <a:srgbClr val="973735"/>
              </a:buClr>
              <a:buSzPct val="50000"/>
              <a:buFont typeface="Wingdings" pitchFamily="2" charset="2"/>
              <a:buChar char="u"/>
              <a:defRPr/>
            </a:pPr>
            <a:r>
              <a:rPr lang="en-US" sz="2400" dirty="0"/>
              <a:t>Cooperation: the interactivity between agent and user</a:t>
            </a:r>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Acquisition and Application Tools</a:t>
            </a:r>
          </a:p>
        </p:txBody>
      </p:sp>
    </p:spTree>
    <p:extLst>
      <p:ext uri="{BB962C8B-B14F-4D97-AF65-F5344CB8AC3E}">
        <p14:creationId xmlns:p14="http://schemas.microsoft.com/office/powerpoint/2010/main" val="20891999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53</a:t>
            </a:fld>
            <a:endParaRPr kumimoji="0" lang="en-US" dirty="0"/>
          </a:p>
        </p:txBody>
      </p:sp>
      <p:sp>
        <p:nvSpPr>
          <p:cNvPr id="4" name="Content Placeholder 3"/>
          <p:cNvSpPr>
            <a:spLocks noGrp="1"/>
          </p:cNvSpPr>
          <p:nvPr>
            <p:ph sz="quarter" idx="1"/>
          </p:nvPr>
        </p:nvSpPr>
        <p:spPr>
          <a:xfrm>
            <a:off x="0" y="1664593"/>
            <a:ext cx="11668539" cy="4726268"/>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Intelligent Filtering Tools</a:t>
            </a:r>
          </a:p>
          <a:p>
            <a:pPr marL="800100" lvl="1" indent="-342900" algn="just">
              <a:lnSpc>
                <a:spcPct val="100000"/>
              </a:lnSpc>
              <a:spcBef>
                <a:spcPts val="1200"/>
              </a:spcBef>
              <a:buClr>
                <a:srgbClr val="973735"/>
              </a:buClr>
              <a:buSzPct val="50000"/>
              <a:buFont typeface="Wingdings" pitchFamily="2" charset="2"/>
              <a:buChar char="u"/>
              <a:defRPr/>
            </a:pPr>
            <a:r>
              <a:rPr lang="en-US" sz="2600" dirty="0"/>
              <a:t>The category:</a:t>
            </a:r>
          </a:p>
          <a:p>
            <a:pPr marL="1257300" lvl="2" indent="-342900" algn="just">
              <a:lnSpc>
                <a:spcPct val="100000"/>
              </a:lnSpc>
              <a:spcBef>
                <a:spcPts val="1200"/>
              </a:spcBef>
              <a:buClr>
                <a:srgbClr val="973735"/>
              </a:buClr>
              <a:buSzPct val="50000"/>
              <a:buFont typeface="Wingdings" pitchFamily="2" charset="2"/>
              <a:buChar char="u"/>
              <a:defRPr/>
            </a:pPr>
            <a:r>
              <a:rPr lang="en-US" sz="2400" dirty="0"/>
              <a:t>Watcher agents: look for specific information</a:t>
            </a:r>
          </a:p>
          <a:p>
            <a:pPr marL="1257300" lvl="2" indent="-342900" algn="just">
              <a:lnSpc>
                <a:spcPct val="100000"/>
              </a:lnSpc>
              <a:spcBef>
                <a:spcPts val="1200"/>
              </a:spcBef>
              <a:buClr>
                <a:srgbClr val="973735"/>
              </a:buClr>
              <a:buSzPct val="50000"/>
              <a:buFont typeface="Wingdings" pitchFamily="2" charset="2"/>
              <a:buChar char="u"/>
              <a:defRPr/>
            </a:pPr>
            <a:r>
              <a:rPr lang="en-US" sz="2400" dirty="0"/>
              <a:t>Learning agents: tailor to an individual’s preferences by learning from the user’s past behavior</a:t>
            </a:r>
          </a:p>
          <a:p>
            <a:pPr marL="1257300" lvl="2" indent="-342900" algn="just">
              <a:lnSpc>
                <a:spcPct val="100000"/>
              </a:lnSpc>
              <a:spcBef>
                <a:spcPts val="1200"/>
              </a:spcBef>
              <a:buClr>
                <a:srgbClr val="973735"/>
              </a:buClr>
              <a:buSzPct val="50000"/>
              <a:buFont typeface="Wingdings" pitchFamily="2" charset="2"/>
              <a:buChar char="u"/>
              <a:defRPr/>
            </a:pPr>
            <a:r>
              <a:rPr lang="en-US" sz="2400" dirty="0"/>
              <a:t>Shopping agents: compare “the best price for an item”</a:t>
            </a:r>
          </a:p>
          <a:p>
            <a:pPr marL="1257300" lvl="2" indent="-342900" algn="just">
              <a:lnSpc>
                <a:spcPct val="100000"/>
              </a:lnSpc>
              <a:spcBef>
                <a:spcPts val="1200"/>
              </a:spcBef>
              <a:buClr>
                <a:srgbClr val="973735"/>
              </a:buClr>
              <a:buSzPct val="50000"/>
              <a:buFont typeface="Wingdings" pitchFamily="2" charset="2"/>
              <a:buChar char="u"/>
              <a:defRPr/>
            </a:pPr>
            <a:r>
              <a:rPr lang="en-US" sz="2400" dirty="0"/>
              <a:t>Information retrieval agents: help the user to “search for information in an intelligent fashion”</a:t>
            </a:r>
          </a:p>
          <a:p>
            <a:pPr marL="1257300" lvl="2" indent="-342900" algn="just">
              <a:lnSpc>
                <a:spcPct val="100000"/>
              </a:lnSpc>
              <a:spcBef>
                <a:spcPts val="1200"/>
              </a:spcBef>
              <a:buClr>
                <a:srgbClr val="973735"/>
              </a:buClr>
              <a:buSzPct val="50000"/>
              <a:buFont typeface="Wingdings" pitchFamily="2" charset="2"/>
              <a:buChar char="u"/>
              <a:defRPr/>
            </a:pPr>
            <a:r>
              <a:rPr lang="en-US" sz="2400" dirty="0"/>
              <a:t>Helper agents: perform tasks autonomously without human interaction</a:t>
            </a:r>
          </a:p>
          <a:p>
            <a:pPr marL="1257300" lvl="2" indent="-342900" algn="just">
              <a:lnSpc>
                <a:spcPct val="100000"/>
              </a:lnSpc>
              <a:spcBef>
                <a:spcPts val="1200"/>
              </a:spcBef>
              <a:buClr>
                <a:srgbClr val="973735"/>
              </a:buClr>
              <a:buSzPct val="50000"/>
              <a:buFont typeface="Wingdings" pitchFamily="2" charset="2"/>
              <a:buChar char="u"/>
              <a:defRPr/>
            </a:pPr>
            <a:endParaRPr lang="en-US" sz="2400" dirty="0"/>
          </a:p>
          <a:p>
            <a:pPr marL="800100" lvl="1" indent="-342900" algn="just">
              <a:lnSpc>
                <a:spcPct val="150000"/>
              </a:lnSpc>
              <a:spcBef>
                <a:spcPts val="600"/>
              </a:spcBef>
              <a:buClr>
                <a:srgbClr val="973735"/>
              </a:buClr>
              <a:buSzPct val="50000"/>
              <a:buFont typeface="Wingdings" pitchFamily="2" charset="2"/>
              <a:buChar char="u"/>
              <a:defRPr/>
            </a:pPr>
            <a:endParaRPr lang="en-US" dirty="0"/>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Acquisition and Application Tools</a:t>
            </a:r>
          </a:p>
        </p:txBody>
      </p:sp>
    </p:spTree>
    <p:extLst>
      <p:ext uri="{BB962C8B-B14F-4D97-AF65-F5344CB8AC3E}">
        <p14:creationId xmlns:p14="http://schemas.microsoft.com/office/powerpoint/2010/main" val="29907194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54</a:t>
            </a:fld>
            <a:endParaRPr kumimoji="0" lang="en-US" dirty="0"/>
          </a:p>
        </p:txBody>
      </p:sp>
      <p:sp>
        <p:nvSpPr>
          <p:cNvPr id="4" name="Content Placeholder 3"/>
          <p:cNvSpPr>
            <a:spLocks noGrp="1"/>
          </p:cNvSpPr>
          <p:nvPr>
            <p:ph sz="quarter" idx="1"/>
          </p:nvPr>
        </p:nvSpPr>
        <p:spPr>
          <a:xfrm>
            <a:off x="0" y="1664593"/>
            <a:ext cx="11698357" cy="4255275"/>
          </a:xfrm>
        </p:spPr>
        <p:txBody>
          <a:bodyPr>
            <a:normAutofit/>
          </a:bodyPr>
          <a:lstStyle/>
          <a:p>
            <a:pPr marL="342900" indent="-342900" algn="just">
              <a:lnSpc>
                <a:spcPct val="100000"/>
              </a:lnSpc>
              <a:spcBef>
                <a:spcPts val="1200"/>
              </a:spcBef>
              <a:buClr>
                <a:srgbClr val="973735"/>
              </a:buClr>
              <a:buSzPct val="50000"/>
              <a:buFont typeface="Wingdings" pitchFamily="2" charset="2"/>
              <a:buChar char="u"/>
              <a:defRPr/>
            </a:pPr>
            <a:r>
              <a:rPr lang="en-US" b="1" dirty="0"/>
              <a:t>Intelligent Filtering Tools</a:t>
            </a:r>
          </a:p>
          <a:p>
            <a:pPr marL="800100" lvl="1" indent="-342900" algn="just">
              <a:lnSpc>
                <a:spcPct val="100000"/>
              </a:lnSpc>
              <a:spcBef>
                <a:spcPts val="1200"/>
              </a:spcBef>
              <a:buClr>
                <a:srgbClr val="973735"/>
              </a:buClr>
              <a:buSzPct val="50000"/>
              <a:buFont typeface="Wingdings" pitchFamily="2" charset="2"/>
              <a:buChar char="u"/>
              <a:defRPr/>
            </a:pPr>
            <a:r>
              <a:rPr lang="en-US" sz="2600" dirty="0"/>
              <a:t>Information overload problem </a:t>
            </a:r>
          </a:p>
          <a:p>
            <a:pPr marL="1257300" lvl="2" indent="-342900" algn="just">
              <a:lnSpc>
                <a:spcPct val="100000"/>
              </a:lnSpc>
              <a:spcBef>
                <a:spcPts val="1200"/>
              </a:spcBef>
              <a:buClr>
                <a:srgbClr val="973735"/>
              </a:buClr>
              <a:buSzPct val="50000"/>
              <a:buFont typeface="Wingdings" pitchFamily="2" charset="2"/>
              <a:buChar char="u"/>
              <a:defRPr/>
            </a:pPr>
            <a:r>
              <a:rPr lang="en-US" sz="2400" dirty="0"/>
              <a:t>Information filtering: go through an enormous amount of information to find the small portion that is relevant.</a:t>
            </a:r>
          </a:p>
          <a:p>
            <a:pPr marL="1257300" lvl="2" indent="-342900" algn="just">
              <a:lnSpc>
                <a:spcPct val="100000"/>
              </a:lnSpc>
              <a:spcBef>
                <a:spcPts val="1200"/>
              </a:spcBef>
              <a:buClr>
                <a:srgbClr val="973735"/>
              </a:buClr>
              <a:buSzPct val="50000"/>
              <a:buFont typeface="Wingdings" pitchFamily="2" charset="2"/>
              <a:buChar char="u"/>
              <a:defRPr/>
            </a:pPr>
            <a:r>
              <a:rPr lang="en-US" sz="2400" dirty="0"/>
              <a:t>Information gathering: There is not enough information available to us and we have to search long and hard to find what we need.</a:t>
            </a:r>
          </a:p>
          <a:p>
            <a:pPr marL="800100" lvl="1" indent="-342900" algn="just">
              <a:lnSpc>
                <a:spcPct val="100000"/>
              </a:lnSpc>
              <a:spcBef>
                <a:spcPts val="1200"/>
              </a:spcBef>
              <a:buClr>
                <a:srgbClr val="973735"/>
              </a:buClr>
              <a:buSzPct val="50000"/>
              <a:buFont typeface="Wingdings" pitchFamily="2" charset="2"/>
              <a:buChar char="u"/>
              <a:defRPr/>
            </a:pPr>
            <a:r>
              <a:rPr lang="en-US" sz="2600" dirty="0"/>
              <a:t>We are through in information but starved for knowledge (Rutherford Rogers)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Acquisition and Application Tools</a:t>
            </a:r>
          </a:p>
        </p:txBody>
      </p:sp>
    </p:spTree>
    <p:extLst>
      <p:ext uri="{BB962C8B-B14F-4D97-AF65-F5344CB8AC3E}">
        <p14:creationId xmlns:p14="http://schemas.microsoft.com/office/powerpoint/2010/main" val="9092098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55</a:t>
            </a:fld>
            <a:endParaRPr kumimoji="0" lang="en-US" dirty="0"/>
          </a:p>
        </p:txBody>
      </p:sp>
      <p:sp>
        <p:nvSpPr>
          <p:cNvPr id="4" name="Content Placeholder 3"/>
          <p:cNvSpPr>
            <a:spLocks noGrp="1"/>
          </p:cNvSpPr>
          <p:nvPr>
            <p:ph sz="quarter" idx="1"/>
          </p:nvPr>
        </p:nvSpPr>
        <p:spPr>
          <a:xfrm>
            <a:off x="0" y="1664593"/>
            <a:ext cx="11807687" cy="4255275"/>
          </a:xfrm>
        </p:spPr>
        <p:txBody>
          <a:bodyPr>
            <a:normAutofit lnSpcReduction="10000"/>
          </a:bodyPr>
          <a:lstStyle/>
          <a:p>
            <a:pPr marL="342900" indent="-342900" algn="just">
              <a:lnSpc>
                <a:spcPct val="110000"/>
              </a:lnSpc>
              <a:spcBef>
                <a:spcPts val="1200"/>
              </a:spcBef>
              <a:buClr>
                <a:srgbClr val="973735"/>
              </a:buClr>
              <a:buSzPct val="50000"/>
              <a:buFont typeface="Wingdings" pitchFamily="2" charset="2"/>
              <a:buChar char="u"/>
              <a:defRPr/>
            </a:pPr>
            <a:r>
              <a:rPr lang="en-US" b="1" dirty="0"/>
              <a:t>Adaptive Intelligent System</a:t>
            </a:r>
          </a:p>
          <a:p>
            <a:pPr marL="800100" lvl="1" indent="-342900" algn="just">
              <a:lnSpc>
                <a:spcPct val="110000"/>
              </a:lnSpc>
              <a:spcBef>
                <a:spcPts val="1200"/>
              </a:spcBef>
              <a:buClr>
                <a:srgbClr val="973735"/>
              </a:buClr>
              <a:buSzPct val="50000"/>
              <a:buFont typeface="Wingdings" pitchFamily="2" charset="2"/>
              <a:buChar char="u"/>
              <a:defRPr/>
            </a:pPr>
            <a:r>
              <a:rPr lang="en-US" sz="2600" dirty="0"/>
              <a:t>Used to better target content to a specific knowledge worker, or to a specific group of knowledge workers who share common work needs. </a:t>
            </a:r>
          </a:p>
          <a:p>
            <a:pPr marL="1257300" lvl="2" indent="-342900" algn="just">
              <a:lnSpc>
                <a:spcPct val="110000"/>
              </a:lnSpc>
              <a:spcBef>
                <a:spcPts val="1200"/>
              </a:spcBef>
              <a:buClr>
                <a:srgbClr val="973735"/>
              </a:buClr>
              <a:buSzPct val="50000"/>
              <a:buFont typeface="Wingdings" pitchFamily="2" charset="2"/>
              <a:buChar char="u"/>
              <a:defRPr/>
            </a:pPr>
            <a:r>
              <a:rPr lang="en-US" sz="2400" dirty="0"/>
              <a:t>Customization: manually changing their knowledge environment, for example, selecting user preferences to change the desktop interface, specifying certain requirements in content to be provided to them (language, format), or subscribing to certain news or listserv services.</a:t>
            </a:r>
          </a:p>
          <a:p>
            <a:pPr marL="1257300" lvl="2" indent="-342900" algn="just">
              <a:lnSpc>
                <a:spcPct val="110000"/>
              </a:lnSpc>
              <a:spcBef>
                <a:spcPts val="1200"/>
              </a:spcBef>
              <a:buClr>
                <a:srgbClr val="973735"/>
              </a:buClr>
              <a:buSzPct val="50000"/>
              <a:buFont typeface="Wingdings" pitchFamily="2" charset="2"/>
              <a:buChar char="u"/>
              <a:defRPr/>
            </a:pPr>
            <a:r>
              <a:rPr lang="en-US" sz="2400" dirty="0"/>
              <a:t>Personalization: refers to automatically changing content and interfaces based on observed and analyzed behaviors of the intended end user.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7" y="674951"/>
            <a:ext cx="10515600" cy="709226"/>
          </a:xfrm>
        </p:spPr>
        <p:txBody>
          <a:bodyPr>
            <a:normAutofit fontScale="90000"/>
          </a:bodyPr>
          <a:lstStyle/>
          <a:p>
            <a:r>
              <a:rPr lang="en-US" sz="4000" b="1" dirty="0"/>
              <a:t>Knowledge Acquisition and Application Tools</a:t>
            </a:r>
          </a:p>
        </p:txBody>
      </p:sp>
    </p:spTree>
    <p:extLst>
      <p:ext uri="{BB962C8B-B14F-4D97-AF65-F5344CB8AC3E}">
        <p14:creationId xmlns:p14="http://schemas.microsoft.com/office/powerpoint/2010/main" val="5929301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56</a:t>
            </a:fld>
            <a:endParaRPr kumimoji="0" lang="en-US" dirty="0"/>
          </a:p>
        </p:txBody>
      </p:sp>
      <p:sp>
        <p:nvSpPr>
          <p:cNvPr id="4" name="Content Placeholder 3"/>
          <p:cNvSpPr>
            <a:spLocks noGrp="1"/>
          </p:cNvSpPr>
          <p:nvPr>
            <p:ph sz="quarter" idx="1"/>
          </p:nvPr>
        </p:nvSpPr>
        <p:spPr>
          <a:xfrm>
            <a:off x="1590261" y="2509419"/>
            <a:ext cx="9253331" cy="4255275"/>
          </a:xfrm>
        </p:spPr>
        <p:txBody>
          <a:bodyPr>
            <a:normAutofit/>
          </a:bodyPr>
          <a:lstStyle/>
          <a:p>
            <a:pPr marL="0" indent="0" algn="ctr">
              <a:lnSpc>
                <a:spcPct val="150000"/>
              </a:lnSpc>
              <a:spcBef>
                <a:spcPts val="600"/>
              </a:spcBef>
              <a:buClr>
                <a:srgbClr val="973735"/>
              </a:buClr>
              <a:buSzPct val="50000"/>
              <a:buNone/>
              <a:defRPr/>
            </a:pPr>
            <a:r>
              <a:rPr lang="en-US" dirty="0"/>
              <a:t>Understand the role of communication tech technologies and the benefit of using it as tools to support KM</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9" name="Title 1">
            <a:extLst>
              <a:ext uri="{FF2B5EF4-FFF2-40B4-BE49-F238E27FC236}">
                <a16:creationId xmlns:a16="http://schemas.microsoft.com/office/drawing/2014/main" id="{67ADD68C-0B45-4CD4-98F2-7B8DB8AA6D9E}"/>
              </a:ext>
            </a:extLst>
          </p:cNvPr>
          <p:cNvSpPr>
            <a:spLocks noGrp="1"/>
          </p:cNvSpPr>
          <p:nvPr>
            <p:ph type="title"/>
          </p:nvPr>
        </p:nvSpPr>
        <p:spPr>
          <a:xfrm>
            <a:off x="287516" y="819335"/>
            <a:ext cx="11587651" cy="709226"/>
          </a:xfrm>
        </p:spPr>
        <p:txBody>
          <a:bodyPr>
            <a:normAutofit/>
          </a:bodyPr>
          <a:lstStyle/>
          <a:p>
            <a:r>
              <a:rPr lang="en-US" sz="4000" b="1" dirty="0"/>
              <a:t>Summary</a:t>
            </a:r>
          </a:p>
        </p:txBody>
      </p:sp>
    </p:spTree>
    <p:extLst>
      <p:ext uri="{BB962C8B-B14F-4D97-AF65-F5344CB8AC3E}">
        <p14:creationId xmlns:p14="http://schemas.microsoft.com/office/powerpoint/2010/main" val="27368390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CA15C064-DD44-4CAC-873E-2D1F54821676}" type="slidenum">
              <a:rPr kumimoji="0" lang="en-US" smtClean="0"/>
              <a:pPr/>
              <a:t>57</a:t>
            </a:fld>
            <a:endParaRPr kumimoji="0" lang="en-US" dirty="0"/>
          </a:p>
        </p:txBody>
      </p:sp>
      <p:sp>
        <p:nvSpPr>
          <p:cNvPr id="4" name="Content Placeholder 3"/>
          <p:cNvSpPr>
            <a:spLocks noGrp="1"/>
          </p:cNvSpPr>
          <p:nvPr>
            <p:ph sz="quarter" idx="1"/>
          </p:nvPr>
        </p:nvSpPr>
        <p:spPr>
          <a:xfrm>
            <a:off x="0" y="1714726"/>
            <a:ext cx="12002308" cy="4765973"/>
          </a:xfrm>
        </p:spPr>
        <p:txBody>
          <a:bodyPr>
            <a:normAutofit/>
          </a:bodyPr>
          <a:lstStyle/>
          <a:p>
            <a:pPr marL="514350" indent="-514350" algn="just">
              <a:lnSpc>
                <a:spcPct val="100000"/>
              </a:lnSpc>
              <a:spcBef>
                <a:spcPts val="1200"/>
              </a:spcBef>
              <a:buClr>
                <a:srgbClr val="973735"/>
              </a:buClr>
              <a:buSzPct val="100000"/>
              <a:buFont typeface="+mj-lt"/>
              <a:buAutoNum type="arabicPeriod"/>
              <a:defRPr/>
            </a:pPr>
            <a:r>
              <a:rPr lang="en-US" sz="2000" dirty="0"/>
              <a:t>What are the major categories and what sorts of patterns would data mining technologies detect?</a:t>
            </a:r>
          </a:p>
          <a:p>
            <a:pPr marL="514350" indent="-514350" algn="just">
              <a:lnSpc>
                <a:spcPct val="100000"/>
              </a:lnSpc>
              <a:spcBef>
                <a:spcPts val="1200"/>
              </a:spcBef>
              <a:buClr>
                <a:srgbClr val="973735"/>
              </a:buClr>
              <a:buSzPct val="100000"/>
              <a:buFont typeface="+mj-lt"/>
              <a:buAutoNum type="arabicPeriod"/>
              <a:defRPr/>
            </a:pPr>
            <a:r>
              <a:rPr lang="en-US" sz="2000" dirty="0"/>
              <a:t>Describe an application of blog technology within an organization. </a:t>
            </a:r>
          </a:p>
          <a:p>
            <a:pPr marL="514350" indent="-514350" algn="just">
              <a:lnSpc>
                <a:spcPct val="100000"/>
              </a:lnSpc>
              <a:spcBef>
                <a:spcPts val="1200"/>
              </a:spcBef>
              <a:buClr>
                <a:srgbClr val="973735"/>
              </a:buClr>
              <a:buSzPct val="100000"/>
              <a:buFont typeface="+mj-lt"/>
              <a:buAutoNum type="arabicPeriod"/>
              <a:defRPr/>
            </a:pPr>
            <a:r>
              <a:rPr lang="en-US" sz="2000" dirty="0"/>
              <a:t>How would you categorize the different forms of groupware or collaboration technologies? </a:t>
            </a:r>
          </a:p>
          <a:p>
            <a:pPr marL="514350" indent="-514350" algn="just">
              <a:lnSpc>
                <a:spcPct val="100000"/>
              </a:lnSpc>
              <a:spcBef>
                <a:spcPts val="1200"/>
              </a:spcBef>
              <a:buClr>
                <a:srgbClr val="973735"/>
              </a:buClr>
              <a:buSzPct val="100000"/>
              <a:buFont typeface="+mj-lt"/>
              <a:buAutoNum type="arabicPeriod"/>
              <a:defRPr/>
            </a:pPr>
            <a:r>
              <a:rPr lang="en-US" sz="2000" dirty="0"/>
              <a:t>What role can a Wiki play in promoting group collaboration? What advantages does a Wiki offer when compared to a discussion forum?</a:t>
            </a:r>
          </a:p>
          <a:p>
            <a:pPr marL="514350" indent="-514350" algn="just">
              <a:lnSpc>
                <a:spcPct val="100000"/>
              </a:lnSpc>
              <a:spcBef>
                <a:spcPts val="1200"/>
              </a:spcBef>
              <a:buClr>
                <a:srgbClr val="973735"/>
              </a:buClr>
              <a:buSzPct val="100000"/>
              <a:buFont typeface="+mj-lt"/>
              <a:buAutoNum type="arabicPeriod"/>
              <a:defRPr/>
            </a:pPr>
            <a:r>
              <a:rPr lang="en-US" sz="2000" dirty="0"/>
              <a:t>Describe how you would attempt to accommodate different user skill levels and expectations in the same organization. </a:t>
            </a:r>
          </a:p>
          <a:p>
            <a:pPr marL="514350" indent="-514350" algn="just">
              <a:lnSpc>
                <a:spcPct val="100000"/>
              </a:lnSpc>
              <a:spcBef>
                <a:spcPts val="1200"/>
              </a:spcBef>
              <a:buClr>
                <a:srgbClr val="973735"/>
              </a:buClr>
              <a:buSzPct val="100000"/>
              <a:buFont typeface="+mj-lt"/>
              <a:buAutoNum type="arabicPeriod"/>
              <a:defRPr/>
            </a:pPr>
            <a:r>
              <a:rPr lang="en-US" sz="2000" dirty="0"/>
              <a:t>Select one new emerging technology and list its potential uses for knowledge management. </a:t>
            </a:r>
          </a:p>
          <a:p>
            <a:pPr marL="514350" indent="-514350" algn="just">
              <a:lnSpc>
                <a:spcPct val="100000"/>
              </a:lnSpc>
              <a:spcBef>
                <a:spcPts val="1200"/>
              </a:spcBef>
              <a:buClr>
                <a:srgbClr val="973735"/>
              </a:buClr>
              <a:buSzPct val="100000"/>
              <a:buFont typeface="+mj-lt"/>
              <a:buAutoNum type="arabicPeriod"/>
              <a:defRPr/>
            </a:pPr>
            <a:r>
              <a:rPr lang="en-US" sz="2000" dirty="0"/>
              <a:t>Select any KM technology and describe how it may be applied at the individual, group, and organizational level. </a:t>
            </a:r>
          </a:p>
        </p:txBody>
      </p:sp>
      <p:sp>
        <p:nvSpPr>
          <p:cNvPr id="6" name="Date Placeholder 5"/>
          <p:cNvSpPr>
            <a:spLocks noGrp="1"/>
          </p:cNvSpPr>
          <p:nvPr>
            <p:ph type="dt" sz="half" idx="10"/>
          </p:nvPr>
        </p:nvSpPr>
        <p:spPr/>
        <p:txBody>
          <a:bodyPr/>
          <a:lstStyle/>
          <a:p>
            <a:fld id="{3343E35A-32B4-4028-AAD8-94CFE64C1CBA}" type="datetime1">
              <a:rPr lang="vi-VN" smtClean="0"/>
              <a:t>21/09/2023</a:t>
            </a:fld>
            <a:endParaRPr lang="en-US"/>
          </a:p>
        </p:txBody>
      </p:sp>
      <p:sp>
        <p:nvSpPr>
          <p:cNvPr id="8" name="Title 1">
            <a:extLst>
              <a:ext uri="{FF2B5EF4-FFF2-40B4-BE49-F238E27FC236}">
                <a16:creationId xmlns:a16="http://schemas.microsoft.com/office/drawing/2014/main" id="{F425307F-F5C2-45A6-A2FA-3E1724542933}"/>
              </a:ext>
            </a:extLst>
          </p:cNvPr>
          <p:cNvSpPr>
            <a:spLocks noGrp="1"/>
          </p:cNvSpPr>
          <p:nvPr>
            <p:ph type="title"/>
          </p:nvPr>
        </p:nvSpPr>
        <p:spPr>
          <a:xfrm>
            <a:off x="287517" y="674951"/>
            <a:ext cx="10515600" cy="709226"/>
          </a:xfrm>
        </p:spPr>
        <p:txBody>
          <a:bodyPr>
            <a:normAutofit/>
          </a:bodyPr>
          <a:lstStyle/>
          <a:p>
            <a:r>
              <a:rPr lang="en-US" sz="4000" b="1" dirty="0"/>
              <a:t>Discussion / Homework / Team Activities</a:t>
            </a:r>
          </a:p>
        </p:txBody>
      </p:sp>
      <p:graphicFrame>
        <p:nvGraphicFramePr>
          <p:cNvPr id="2" name="Object 1">
            <a:extLst>
              <a:ext uri="{FF2B5EF4-FFF2-40B4-BE49-F238E27FC236}">
                <a16:creationId xmlns:a16="http://schemas.microsoft.com/office/drawing/2014/main" id="{13A3D6F6-FBCE-1C3B-8ADF-220E7601B3B9}"/>
              </a:ext>
            </a:extLst>
          </p:cNvPr>
          <p:cNvGraphicFramePr>
            <a:graphicFrameLocks noChangeAspect="1"/>
          </p:cNvGraphicFramePr>
          <p:nvPr>
            <p:extLst>
              <p:ext uri="{D42A27DB-BD31-4B8C-83A1-F6EECF244321}">
                <p14:modId xmlns:p14="http://schemas.microsoft.com/office/powerpoint/2010/main" val="3618922709"/>
              </p:ext>
            </p:extLst>
          </p:nvPr>
        </p:nvGraphicFramePr>
        <p:xfrm>
          <a:off x="8686061" y="5518062"/>
          <a:ext cx="3316248" cy="884237"/>
        </p:xfrm>
        <a:graphic>
          <a:graphicData uri="http://schemas.openxmlformats.org/presentationml/2006/ole">
            <mc:AlternateContent xmlns:mc="http://schemas.openxmlformats.org/markup-compatibility/2006">
              <mc:Choice xmlns:v="urn:schemas-microsoft-com:vml" Requires="v">
                <p:oleObj name="Bitmap Image" r:id="rId3" imgW="1767960" imgH="883800" progId="PBrush">
                  <p:embed/>
                </p:oleObj>
              </mc:Choice>
              <mc:Fallback>
                <p:oleObj name="Bitmap Image" r:id="rId3" imgW="1767960" imgH="883800" progId="PBrush">
                  <p:embed/>
                  <p:pic>
                    <p:nvPicPr>
                      <p:cNvPr id="0" name=""/>
                      <p:cNvPicPr/>
                      <p:nvPr/>
                    </p:nvPicPr>
                    <p:blipFill>
                      <a:blip r:embed="rId4"/>
                      <a:stretch>
                        <a:fillRect/>
                      </a:stretch>
                    </p:blipFill>
                    <p:spPr>
                      <a:xfrm>
                        <a:off x="8686061" y="5518062"/>
                        <a:ext cx="3316248" cy="884237"/>
                      </a:xfrm>
                      <a:prstGeom prst="rect">
                        <a:avLst/>
                      </a:prstGeom>
                    </p:spPr>
                  </p:pic>
                </p:oleObj>
              </mc:Fallback>
            </mc:AlternateContent>
          </a:graphicData>
        </a:graphic>
      </p:graphicFrame>
    </p:spTree>
    <p:extLst>
      <p:ext uri="{BB962C8B-B14F-4D97-AF65-F5344CB8AC3E}">
        <p14:creationId xmlns:p14="http://schemas.microsoft.com/office/powerpoint/2010/main" val="13276024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3139</TotalTime>
  <Words>3269</Words>
  <Application>Microsoft Office PowerPoint</Application>
  <PresentationFormat>Widescreen</PresentationFormat>
  <Paragraphs>542</Paragraphs>
  <Slides>57</Slides>
  <Notes>57</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62" baseType="lpstr">
      <vt:lpstr>Arial</vt:lpstr>
      <vt:lpstr>Calibri</vt:lpstr>
      <vt:lpstr>Wingdings</vt:lpstr>
      <vt:lpstr>Office Theme</vt:lpstr>
      <vt:lpstr>Bitmap Image</vt:lpstr>
      <vt:lpstr>Chapter 08 Knowledge Management Tools</vt:lpstr>
      <vt:lpstr>Objectives</vt:lpstr>
      <vt:lpstr>KM Tools</vt:lpstr>
      <vt:lpstr>Introduction</vt:lpstr>
      <vt:lpstr>Introduction</vt:lpstr>
      <vt:lpstr>Introduction</vt:lpstr>
      <vt:lpstr>What KM tools should do?</vt:lpstr>
      <vt:lpstr>What KM tools should do?</vt:lpstr>
      <vt:lpstr>What KM tools should do?</vt:lpstr>
      <vt:lpstr>Knowledge Capture and Creation Tools</vt:lpstr>
      <vt:lpstr>Content Creation Tools</vt:lpstr>
      <vt:lpstr>Content Creation Tools</vt:lpstr>
      <vt:lpstr>Content Creation Tools</vt:lpstr>
      <vt:lpstr>Content Creation Tools</vt:lpstr>
      <vt:lpstr>Content Creation Tools</vt:lpstr>
      <vt:lpstr>Knowledge Capture and Creation Tools</vt:lpstr>
      <vt:lpstr>Content Management Tools</vt:lpstr>
      <vt:lpstr>Visualization Tools and Knowledge Maps</vt:lpstr>
      <vt:lpstr>Visualization Tools and Knowledge Maps</vt:lpstr>
      <vt:lpstr>Visualization Tools and Knowledge Maps</vt:lpstr>
      <vt:lpstr>Visualization Tools and Knowledge Maps</vt:lpstr>
      <vt:lpstr>Visualization Tools and Knowledge Maps</vt:lpstr>
      <vt:lpstr>Visualization Tools and Knowledge Maps</vt:lpstr>
      <vt:lpstr>Visualization Tools and Knowledge Maps</vt:lpstr>
      <vt:lpstr>Visualization Tools and Knowledge Maps</vt:lpstr>
      <vt:lpstr>Visualization Tools and Knowledge Maps</vt:lpstr>
      <vt:lpstr>Visualization Tools and Knowledge Maps</vt:lpstr>
      <vt:lpstr>Knowledge Sharing and Dissemination Tools</vt:lpstr>
      <vt:lpstr>Knowledge Sharing and Dissemination Tools</vt:lpstr>
      <vt:lpstr>Collaboration tools</vt:lpstr>
      <vt:lpstr>Collaboration tools</vt:lpstr>
      <vt:lpstr>Collaboration tools</vt:lpstr>
      <vt:lpstr>Collaboration tools</vt:lpstr>
      <vt:lpstr>Collaboration tools</vt:lpstr>
      <vt:lpstr>Collaboration tools</vt:lpstr>
      <vt:lpstr>Knowledge Sharing and Dissemination Tools</vt:lpstr>
      <vt:lpstr>Wikis</vt:lpstr>
      <vt:lpstr>Wikis</vt:lpstr>
      <vt:lpstr>Knowledge Sharing and Dissemination Tools</vt:lpstr>
      <vt:lpstr>Networking Technologies</vt:lpstr>
      <vt:lpstr>Networking Technologies</vt:lpstr>
      <vt:lpstr>Networking Technologies</vt:lpstr>
      <vt:lpstr>Networking Technologies</vt:lpstr>
      <vt:lpstr>Networking Technologies</vt:lpstr>
      <vt:lpstr>Networking Technologies</vt:lpstr>
      <vt:lpstr>Knowledge Acquisition and Application Tools</vt:lpstr>
      <vt:lpstr>Knowledge Acquisition and Application Tools</vt:lpstr>
      <vt:lpstr>Knowledge Acquisition and Application Tools</vt:lpstr>
      <vt:lpstr>Knowledge Acquisition and Application Tools</vt:lpstr>
      <vt:lpstr>Knowledge Acquisition and Application Tools</vt:lpstr>
      <vt:lpstr>Knowledge Acquisition and Application Tools</vt:lpstr>
      <vt:lpstr>Knowledge Acquisition and Application Tools</vt:lpstr>
      <vt:lpstr>Knowledge Acquisition and Application Tools</vt:lpstr>
      <vt:lpstr>Knowledge Acquisition and Application Tools</vt:lpstr>
      <vt:lpstr>Knowledge Acquisition and Application Tools</vt:lpstr>
      <vt:lpstr>Summary</vt:lpstr>
      <vt:lpstr>Discussion / Homework / Team Activities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Chu Dinh Phu 2 (FE Ban NCPT)</cp:lastModifiedBy>
  <cp:revision>133</cp:revision>
  <dcterms:created xsi:type="dcterms:W3CDTF">2021-01-25T08:25:31Z</dcterms:created>
  <dcterms:modified xsi:type="dcterms:W3CDTF">2023-09-20T21:09:36Z</dcterms:modified>
</cp:coreProperties>
</file>