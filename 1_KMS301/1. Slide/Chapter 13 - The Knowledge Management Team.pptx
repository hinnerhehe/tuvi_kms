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56" r:id="rId2"/>
    <p:sldId id="278" r:id="rId3"/>
    <p:sldId id="279" r:id="rId4"/>
    <p:sldId id="404" r:id="rId5"/>
    <p:sldId id="405" r:id="rId6"/>
    <p:sldId id="435" r:id="rId7"/>
    <p:sldId id="436" r:id="rId8"/>
    <p:sldId id="415" r:id="rId9"/>
    <p:sldId id="416" r:id="rId10"/>
    <p:sldId id="417" r:id="rId11"/>
    <p:sldId id="313" r:id="rId12"/>
    <p:sldId id="418" r:id="rId13"/>
    <p:sldId id="419" r:id="rId14"/>
    <p:sldId id="420" r:id="rId15"/>
    <p:sldId id="439" r:id="rId16"/>
    <p:sldId id="421" r:id="rId17"/>
    <p:sldId id="422" r:id="rId18"/>
    <p:sldId id="426" r:id="rId19"/>
    <p:sldId id="440" r:id="rId20"/>
    <p:sldId id="441" r:id="rId21"/>
    <p:sldId id="442" r:id="rId22"/>
    <p:sldId id="429" r:id="rId23"/>
    <p:sldId id="430" r:id="rId24"/>
    <p:sldId id="443" r:id="rId25"/>
    <p:sldId id="448" r:id="rId26"/>
    <p:sldId id="431" r:id="rId27"/>
    <p:sldId id="322" r:id="rId28"/>
    <p:sldId id="447" r:id="rId29"/>
    <p:sldId id="323" r:id="rId30"/>
    <p:sldId id="445" r:id="rId31"/>
    <p:sldId id="446" r:id="rId32"/>
    <p:sldId id="453" r:id="rId33"/>
    <p:sldId id="458" r:id="rId34"/>
    <p:sldId id="454" r:id="rId35"/>
    <p:sldId id="433" r:id="rId36"/>
    <p:sldId id="434" r:id="rId37"/>
    <p:sldId id="326" r:id="rId38"/>
    <p:sldId id="452" r:id="rId39"/>
    <p:sldId id="40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0557" autoAdjust="0"/>
    <p:restoredTop sz="95020" autoAdjust="0"/>
  </p:normalViewPr>
  <p:slideViewPr>
    <p:cSldViewPr snapToGrid="0">
      <p:cViewPr varScale="1">
        <p:scale>
          <a:sx n="88" d="100"/>
          <a:sy n="88" d="100"/>
        </p:scale>
        <p:origin x="701" y="72"/>
      </p:cViewPr>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3686201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3429872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483110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87799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3648655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16261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1097665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429473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828867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2735996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455908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443739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1164592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3673959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904955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2629949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3318605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3194024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192606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454163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2862090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1295637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368072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2666184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4280199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6265376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3591062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34405844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28662569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4235499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19624753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00322"/>
            <a:ext cx="10515600" cy="4351338"/>
          </a:xfrm>
        </p:spPr>
        <p:txBody>
          <a:bodyPr/>
          <a:lstStyle/>
          <a:p>
            <a:pPr lvl="0"/>
            <a:r>
              <a:rPr lang="en-US" dirty="0"/>
              <a:t>Click to edit Master text styles</a:t>
            </a:r>
          </a:p>
          <a:p>
            <a:pPr lvl="1"/>
            <a:r>
              <a:rPr lang="en-US" dirty="0"/>
              <a:t>Second level</a:t>
            </a:r>
          </a:p>
          <a:p>
            <a:pPr lvl="2"/>
            <a:r>
              <a:rPr lang="en-US"/>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5966"/>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13</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The Knowledge Management Team</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Major Categories of KM Roles</a:t>
            </a:r>
          </a:p>
          <a:p>
            <a:pPr marL="342900" indent="-342900" algn="just">
              <a:lnSpc>
                <a:spcPct val="150000"/>
              </a:lnSpc>
              <a:spcBef>
                <a:spcPts val="600"/>
              </a:spcBef>
              <a:buClr>
                <a:srgbClr val="973735"/>
              </a:buClr>
              <a:buSzPct val="50000"/>
              <a:buFont typeface="Wingdings" pitchFamily="2" charset="2"/>
              <a:buChar char="u"/>
              <a:defRPr/>
            </a:pPr>
            <a:r>
              <a:rPr lang="en-US" dirty="0"/>
              <a:t>KM Roles and Responsibilities within Organizations</a:t>
            </a:r>
          </a:p>
          <a:p>
            <a:pPr marL="342900" indent="-342900" algn="just">
              <a:lnSpc>
                <a:spcPct val="150000"/>
              </a:lnSpc>
              <a:spcBef>
                <a:spcPts val="600"/>
              </a:spcBef>
              <a:buClr>
                <a:srgbClr val="973735"/>
              </a:buClr>
              <a:buSzPct val="50000"/>
              <a:buFont typeface="Wingdings" pitchFamily="2" charset="2"/>
              <a:buChar char="u"/>
              <a:defRPr/>
            </a:pPr>
            <a:r>
              <a:rPr lang="en-US" dirty="0"/>
              <a:t>The KM Profession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592875"/>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Organization needs to define</a:t>
            </a:r>
          </a:p>
          <a:p>
            <a:pPr marL="800100" lvl="1" indent="-342900" algn="just">
              <a:lnSpc>
                <a:spcPct val="100000"/>
              </a:lnSpc>
              <a:spcBef>
                <a:spcPts val="1200"/>
              </a:spcBef>
              <a:buClr>
                <a:srgbClr val="973735"/>
              </a:buClr>
              <a:buSzPct val="50000"/>
              <a:buFont typeface="Wingdings" pitchFamily="2" charset="2"/>
              <a:buChar char="u"/>
              <a:defRPr/>
            </a:pPr>
            <a:r>
              <a:rPr lang="en-US" sz="2600" dirty="0"/>
              <a:t>Different types of KM professionals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types of skills, attributes, and background they should possess</a:t>
            </a:r>
          </a:p>
          <a:p>
            <a:pPr marL="342900" indent="-342900" algn="just">
              <a:lnSpc>
                <a:spcPct val="100000"/>
              </a:lnSpc>
              <a:spcBef>
                <a:spcPts val="1200"/>
              </a:spcBef>
              <a:buClr>
                <a:srgbClr val="973735"/>
              </a:buClr>
              <a:buSzPct val="50000"/>
              <a:buFont typeface="Wingdings" pitchFamily="2" charset="2"/>
              <a:buChar char="u"/>
              <a:defRPr/>
            </a:pPr>
            <a:r>
              <a:rPr lang="en-US" dirty="0"/>
              <a:t>They need to have and/or develop a list of cognitive, affective, psychomotor skills, and required competency levels for each skill</a:t>
            </a:r>
          </a:p>
        </p:txBody>
      </p:sp>
      <p:sp>
        <p:nvSpPr>
          <p:cNvPr id="6" name="Date Placeholder 5"/>
          <p:cNvSpPr>
            <a:spLocks noGrp="1"/>
          </p:cNvSpPr>
          <p:nvPr>
            <p:ph type="dt" sz="half" idx="10"/>
          </p:nvPr>
        </p:nvSpPr>
        <p:spPr>
          <a:xfrm>
            <a:off x="838200" y="6516558"/>
            <a:ext cx="2743200" cy="365125"/>
          </a:xfrm>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These key skills for KM personnel:</a:t>
            </a:r>
          </a:p>
          <a:p>
            <a:pPr marL="800100" lvl="1" indent="-342900" algn="just">
              <a:lnSpc>
                <a:spcPct val="100000"/>
              </a:lnSpc>
              <a:spcBef>
                <a:spcPts val="1200"/>
              </a:spcBef>
              <a:buClr>
                <a:srgbClr val="973735"/>
              </a:buClr>
              <a:buSzPct val="50000"/>
              <a:buFont typeface="Wingdings" pitchFamily="2" charset="2"/>
              <a:buChar char="u"/>
              <a:defRPr/>
            </a:pPr>
            <a:r>
              <a:rPr lang="en-US" sz="2600" dirty="0"/>
              <a:t>An understanding of the KM concept – the philosophy and theory</a:t>
            </a:r>
          </a:p>
          <a:p>
            <a:pPr marL="800100" lvl="1" indent="-342900" algn="just">
              <a:lnSpc>
                <a:spcPct val="100000"/>
              </a:lnSpc>
              <a:spcBef>
                <a:spcPts val="1200"/>
              </a:spcBef>
              <a:buClr>
                <a:srgbClr val="973735"/>
              </a:buClr>
              <a:buSzPct val="50000"/>
              <a:buFont typeface="Wingdings" pitchFamily="2" charset="2"/>
              <a:buChar char="u"/>
              <a:defRPr/>
            </a:pPr>
            <a:r>
              <a:rPr lang="en-US" sz="2600" dirty="0"/>
              <a:t>Awareness of the experience of other organization in developing KM solutions and approaches</a:t>
            </a:r>
          </a:p>
          <a:p>
            <a:pPr marL="800100" lvl="1" indent="-342900" algn="just">
              <a:lnSpc>
                <a:spcPct val="100000"/>
              </a:lnSpc>
              <a:spcBef>
                <a:spcPts val="1200"/>
              </a:spcBef>
              <a:buClr>
                <a:srgbClr val="973735"/>
              </a:buClr>
              <a:buSzPct val="50000"/>
              <a:buFont typeface="Wingdings" pitchFamily="2" charset="2"/>
              <a:buChar char="u"/>
              <a:defRPr/>
            </a:pPr>
            <a:r>
              <a:rPr lang="en-US" sz="2600" dirty="0"/>
              <a:t>Understanding of, and the ability to identify, the business value of KM activities to the organization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Appreciation of the range of activities, initiatives, and labels employed to create an environment in which knowledge is effectively created, shared, and used to increase competitive advantage and customer satisfaction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2873366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KM person should possess these skills: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Time management (using time &amp; energy to acquiring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Knowledge (mastering how to find information quickly &amp; precisely)</a:t>
            </a:r>
          </a:p>
          <a:p>
            <a:pPr marL="800100" lvl="1" indent="-342900" algn="just">
              <a:lnSpc>
                <a:spcPct val="100000"/>
              </a:lnSpc>
              <a:spcBef>
                <a:spcPts val="1200"/>
              </a:spcBef>
              <a:buClr>
                <a:srgbClr val="973735"/>
              </a:buClr>
              <a:buSzPct val="50000"/>
              <a:buFont typeface="Wingdings" pitchFamily="2" charset="2"/>
              <a:buChar char="u"/>
              <a:defRPr/>
            </a:pPr>
            <a:r>
              <a:rPr lang="en-US" sz="2600" dirty="0"/>
              <a:t>Various learning techniques to absorb key knowledge and learning quickly</a:t>
            </a:r>
          </a:p>
          <a:p>
            <a:pPr marL="800100" lvl="1" indent="-342900" algn="just">
              <a:lnSpc>
                <a:spcPct val="100000"/>
              </a:lnSpc>
              <a:spcBef>
                <a:spcPts val="1200"/>
              </a:spcBef>
              <a:buClr>
                <a:srgbClr val="973735"/>
              </a:buClr>
              <a:buSzPct val="50000"/>
              <a:buFont typeface="Wingdings" pitchFamily="2" charset="2"/>
              <a:buChar char="u"/>
              <a:defRPr/>
            </a:pPr>
            <a:r>
              <a:rPr lang="en-US" sz="2600" dirty="0"/>
              <a:t>Effective skill of advocacy and inquiry to present knowledge to, and gather knowledge from, others</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Informal networking skills (build influence to gain access to people with knowledge)</a:t>
            </a:r>
          </a:p>
          <a:p>
            <a:pPr marL="800100" lvl="1" indent="-342900" algn="just">
              <a:lnSpc>
                <a:spcPct val="12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776931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KM person should possess these skills: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Resource investigation skills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Effective IT skill (recording and disseminating information)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Cooperative problem solving</a:t>
            </a:r>
          </a:p>
          <a:p>
            <a:pPr marL="800100" lvl="1" indent="-342900" algn="just">
              <a:lnSpc>
                <a:spcPct val="100000"/>
              </a:lnSpc>
              <a:spcBef>
                <a:spcPts val="1200"/>
              </a:spcBef>
              <a:buClr>
                <a:srgbClr val="973735"/>
              </a:buClr>
              <a:buSzPct val="50000"/>
              <a:buFont typeface="Wingdings" pitchFamily="2" charset="2"/>
              <a:buChar char="u"/>
              <a:defRPr/>
            </a:pPr>
            <a:r>
              <a:rPr lang="en-US" sz="2600" dirty="0"/>
              <a:t>Open dialogue skills, interpersonal</a:t>
            </a:r>
          </a:p>
          <a:p>
            <a:pPr marL="800100" lvl="1" indent="-342900" algn="just">
              <a:lnSpc>
                <a:spcPct val="100000"/>
              </a:lnSpc>
              <a:spcBef>
                <a:spcPts val="1200"/>
              </a:spcBef>
              <a:buClr>
                <a:srgbClr val="973735"/>
              </a:buClr>
              <a:buSzPct val="50000"/>
              <a:buFont typeface="Wingdings" pitchFamily="2" charset="2"/>
              <a:buChar char="u"/>
              <a:defRPr/>
            </a:pPr>
            <a:r>
              <a:rPr lang="en-US" sz="2600" dirty="0"/>
              <a:t>Flexible and willing to try new things and take educated risks</a:t>
            </a:r>
          </a:p>
          <a:p>
            <a:pPr marL="800100" lvl="1" indent="-342900" algn="just">
              <a:lnSpc>
                <a:spcPct val="100000"/>
              </a:lnSpc>
              <a:spcBef>
                <a:spcPts val="1200"/>
              </a:spcBef>
              <a:buClr>
                <a:srgbClr val="973735"/>
              </a:buClr>
              <a:buSzPct val="50000"/>
              <a:buFont typeface="Wingdings" pitchFamily="2" charset="2"/>
              <a:buChar char="u"/>
              <a:defRPr/>
            </a:pPr>
            <a:r>
              <a:rPr lang="en-US" sz="2600" dirty="0"/>
              <a:t>Learning from mistakes, risks taking, opportunities, and successes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2811460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KM team’s skill requirements can be built up from the set of critical skills or core competencies, such as</a:t>
            </a:r>
          </a:p>
          <a:p>
            <a:pPr marL="800100" lvl="1" indent="-342900" algn="just">
              <a:lnSpc>
                <a:spcPct val="100000"/>
              </a:lnSpc>
              <a:spcBef>
                <a:spcPts val="1200"/>
              </a:spcBef>
              <a:buClr>
                <a:srgbClr val="973735"/>
              </a:buClr>
              <a:buSzPct val="50000"/>
              <a:buFont typeface="Wingdings" pitchFamily="2" charset="2"/>
              <a:buChar char="u"/>
              <a:defRPr/>
            </a:pPr>
            <a:r>
              <a:rPr lang="en-US" sz="2600" dirty="0"/>
              <a:t>Ability to team</a:t>
            </a:r>
          </a:p>
          <a:p>
            <a:pPr marL="800100" lvl="1" indent="-342900" algn="just">
              <a:lnSpc>
                <a:spcPct val="100000"/>
              </a:lnSpc>
              <a:spcBef>
                <a:spcPts val="1200"/>
              </a:spcBef>
              <a:buClr>
                <a:srgbClr val="973735"/>
              </a:buClr>
              <a:buSzPct val="50000"/>
              <a:buFont typeface="Wingdings" pitchFamily="2" charset="2"/>
              <a:buChar char="u"/>
              <a:defRPr/>
            </a:pPr>
            <a:r>
              <a:rPr lang="en-US" sz="2600" dirty="0"/>
              <a:t>Autonomous</a:t>
            </a:r>
          </a:p>
          <a:p>
            <a:pPr marL="800100" lvl="1" indent="-342900" algn="just">
              <a:lnSpc>
                <a:spcPct val="100000"/>
              </a:lnSpc>
              <a:spcBef>
                <a:spcPts val="1200"/>
              </a:spcBef>
              <a:buClr>
                <a:srgbClr val="973735"/>
              </a:buClr>
              <a:buSzPct val="50000"/>
              <a:buFont typeface="Wingdings" pitchFamily="2" charset="2"/>
              <a:buChar char="u"/>
              <a:defRPr/>
            </a:pPr>
            <a:r>
              <a:rPr lang="en-US" sz="2600" dirty="0"/>
              <a:t>Wait to be told</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Collaborative team player</a:t>
            </a:r>
          </a:p>
          <a:p>
            <a:pPr marL="800100" lvl="1" indent="-342900" algn="just">
              <a:lnSpc>
                <a:spcPct val="150000"/>
              </a:lnSpc>
              <a:spcBef>
                <a:spcPts val="6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353157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KM team’s skill requirements can be built up from the set of critical skills or core competencies, such as</a:t>
            </a:r>
          </a:p>
          <a:p>
            <a:pPr marL="800100" lvl="1" indent="-342900" algn="just">
              <a:lnSpc>
                <a:spcPct val="100000"/>
              </a:lnSpc>
              <a:spcBef>
                <a:spcPts val="1200"/>
              </a:spcBef>
              <a:buClr>
                <a:srgbClr val="973735"/>
              </a:buClr>
              <a:buSzPct val="50000"/>
              <a:buFont typeface="Wingdings" pitchFamily="2" charset="2"/>
              <a:buChar char="u"/>
              <a:defRPr/>
            </a:pPr>
            <a:r>
              <a:rPr lang="en-US" sz="2600" dirty="0"/>
              <a:t>Sees the big picture</a:t>
            </a:r>
          </a:p>
          <a:p>
            <a:pPr marL="800100" lvl="1" indent="-342900" algn="just">
              <a:lnSpc>
                <a:spcPct val="100000"/>
              </a:lnSpc>
              <a:spcBef>
                <a:spcPts val="1200"/>
              </a:spcBef>
              <a:buClr>
                <a:srgbClr val="973735"/>
              </a:buClr>
              <a:buSzPct val="50000"/>
              <a:buFont typeface="Wingdings" pitchFamily="2" charset="2"/>
              <a:buChar char="u"/>
              <a:defRPr/>
            </a:pPr>
            <a:r>
              <a:rPr lang="en-US" sz="2600" dirty="0"/>
              <a:t>Makes connections</a:t>
            </a:r>
          </a:p>
          <a:p>
            <a:pPr marL="800100" lvl="1" indent="-342900" algn="just">
              <a:lnSpc>
                <a:spcPct val="100000"/>
              </a:lnSpc>
              <a:spcBef>
                <a:spcPts val="1200"/>
              </a:spcBef>
              <a:buClr>
                <a:srgbClr val="973735"/>
              </a:buClr>
              <a:buSzPct val="50000"/>
              <a:buFont typeface="Wingdings" pitchFamily="2" charset="2"/>
              <a:buChar char="u"/>
              <a:defRPr/>
            </a:pPr>
            <a:r>
              <a:rPr lang="en-US" sz="2600" dirty="0"/>
              <a:t>Learns from mistakes</a:t>
            </a:r>
          </a:p>
          <a:p>
            <a:pPr marL="800100" lvl="1" indent="-342900" algn="just">
              <a:lnSpc>
                <a:spcPct val="100000"/>
              </a:lnSpc>
              <a:spcBef>
                <a:spcPts val="1200"/>
              </a:spcBef>
              <a:buClr>
                <a:srgbClr val="973735"/>
              </a:buClr>
              <a:buSzPct val="50000"/>
              <a:buFont typeface="Wingdings" pitchFamily="2" charset="2"/>
              <a:buChar char="u"/>
              <a:defRPr/>
            </a:pPr>
            <a:r>
              <a:rPr lang="en-US" sz="2600" dirty="0"/>
              <a:t>Ability to think and do, with a focus on outcome</a:t>
            </a:r>
          </a:p>
          <a:p>
            <a:pPr marL="800100" lvl="1" indent="-342900" algn="just">
              <a:lnSpc>
                <a:spcPct val="100000"/>
              </a:lnSpc>
              <a:spcBef>
                <a:spcPts val="1200"/>
              </a:spcBef>
              <a:buClr>
                <a:srgbClr val="973735"/>
              </a:buClr>
              <a:buSzPct val="50000"/>
              <a:buFont typeface="Wingdings" pitchFamily="2" charset="2"/>
              <a:buChar char="u"/>
              <a:defRPr/>
            </a:pPr>
            <a:r>
              <a:rPr lang="en-US" sz="2600" dirty="0"/>
              <a:t>Appreciation of information management techniques</a:t>
            </a:r>
          </a:p>
          <a:p>
            <a:pPr marL="800100" lvl="1" indent="-342900" algn="just">
              <a:lnSpc>
                <a:spcPct val="150000"/>
              </a:lnSpc>
              <a:spcBef>
                <a:spcPts val="6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92935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fontScale="92500" lnSpcReduction="20000"/>
          </a:bodyPr>
          <a:lstStyle/>
          <a:p>
            <a:pPr marL="342900" indent="-342900" algn="just">
              <a:lnSpc>
                <a:spcPct val="110000"/>
              </a:lnSpc>
              <a:spcBef>
                <a:spcPts val="1200"/>
              </a:spcBef>
              <a:buClr>
                <a:srgbClr val="973735"/>
              </a:buClr>
              <a:buSzPct val="50000"/>
              <a:buFont typeface="Wingdings" pitchFamily="2" charset="2"/>
              <a:buChar char="u"/>
              <a:defRPr/>
            </a:pPr>
            <a:r>
              <a:rPr lang="en-US" dirty="0"/>
              <a:t>The KM dream team would possess the skills of</a:t>
            </a:r>
          </a:p>
          <a:p>
            <a:pPr marL="800100" lvl="1" indent="-342900" algn="just">
              <a:lnSpc>
                <a:spcPct val="110000"/>
              </a:lnSpc>
              <a:spcBef>
                <a:spcPts val="1200"/>
              </a:spcBef>
              <a:buClr>
                <a:srgbClr val="973735"/>
              </a:buClr>
              <a:buSzPct val="50000"/>
              <a:buFont typeface="Wingdings" pitchFamily="2" charset="2"/>
              <a:buChar char="u"/>
              <a:defRPr/>
            </a:pPr>
            <a:r>
              <a:rPr lang="en-US" sz="2800" dirty="0"/>
              <a:t>Communication</a:t>
            </a:r>
          </a:p>
          <a:p>
            <a:pPr marL="800100" lvl="1" indent="-342900" algn="just">
              <a:lnSpc>
                <a:spcPct val="110000"/>
              </a:lnSpc>
              <a:spcBef>
                <a:spcPts val="1200"/>
              </a:spcBef>
              <a:buClr>
                <a:srgbClr val="973735"/>
              </a:buClr>
              <a:buSzPct val="50000"/>
              <a:buFont typeface="Wingdings" pitchFamily="2" charset="2"/>
              <a:buChar char="u"/>
              <a:defRPr/>
            </a:pPr>
            <a:r>
              <a:rPr lang="en-US" sz="2800" dirty="0"/>
              <a:t>Leadership</a:t>
            </a:r>
          </a:p>
          <a:p>
            <a:pPr marL="800100" lvl="1" indent="-342900">
              <a:lnSpc>
                <a:spcPct val="110000"/>
              </a:lnSpc>
              <a:spcBef>
                <a:spcPts val="1200"/>
              </a:spcBef>
              <a:buClr>
                <a:srgbClr val="973735"/>
              </a:buClr>
              <a:buSzPct val="50000"/>
              <a:buFont typeface="Wingdings" pitchFamily="2" charset="2"/>
              <a:buChar char="u"/>
              <a:defRPr/>
            </a:pPr>
            <a:r>
              <a:rPr lang="en-US" sz="2800" dirty="0"/>
              <a:t>Expertise in KM methodology/processes/tools</a:t>
            </a:r>
          </a:p>
          <a:p>
            <a:pPr marL="800100" lvl="1" indent="-342900" algn="just">
              <a:lnSpc>
                <a:spcPct val="110000"/>
              </a:lnSpc>
              <a:spcBef>
                <a:spcPts val="1200"/>
              </a:spcBef>
              <a:buClr>
                <a:srgbClr val="973735"/>
              </a:buClr>
              <a:buSzPct val="50000"/>
              <a:buFont typeface="Wingdings" pitchFamily="2" charset="2"/>
              <a:buChar char="u"/>
              <a:defRPr/>
            </a:pPr>
            <a:r>
              <a:rPr lang="en-US" sz="2800" dirty="0"/>
              <a:t>Negotiation and strategic planning</a:t>
            </a:r>
          </a:p>
          <a:p>
            <a:pPr marL="800100" lvl="1" indent="-342900" algn="just">
              <a:lnSpc>
                <a:spcPct val="110000"/>
              </a:lnSpc>
              <a:spcBef>
                <a:spcPts val="1200"/>
              </a:spcBef>
              <a:buClr>
                <a:srgbClr val="973735"/>
              </a:buClr>
              <a:buSzPct val="50000"/>
              <a:buFont typeface="Wingdings" pitchFamily="2" charset="2"/>
              <a:buChar char="u"/>
              <a:defRPr/>
            </a:pPr>
            <a:r>
              <a:rPr lang="en-US" sz="2800" dirty="0"/>
              <a:t>Know the organization</a:t>
            </a:r>
          </a:p>
          <a:p>
            <a:pPr marL="800100" lvl="1" indent="-342900" algn="just">
              <a:lnSpc>
                <a:spcPct val="110000"/>
              </a:lnSpc>
              <a:spcBef>
                <a:spcPts val="1200"/>
              </a:spcBef>
              <a:buClr>
                <a:srgbClr val="973735"/>
              </a:buClr>
              <a:buSzPct val="50000"/>
              <a:buFont typeface="Wingdings" pitchFamily="2" charset="2"/>
              <a:buChar char="u"/>
              <a:defRPr/>
            </a:pPr>
            <a:r>
              <a:rPr lang="en-US" sz="2800" dirty="0"/>
              <a:t>Remain connected to the top</a:t>
            </a:r>
          </a:p>
          <a:p>
            <a:pPr marL="800100" lvl="1" indent="-342900" algn="just">
              <a:lnSpc>
                <a:spcPct val="110000"/>
              </a:lnSpc>
              <a:spcBef>
                <a:spcPts val="1200"/>
              </a:spcBef>
              <a:buClr>
                <a:srgbClr val="973735"/>
              </a:buClr>
              <a:buSzPct val="50000"/>
              <a:buFont typeface="Wingdings" pitchFamily="2" charset="2"/>
              <a:buChar char="u"/>
              <a:defRPr/>
            </a:pPr>
            <a:r>
              <a:rPr lang="en-US" sz="2800" dirty="0"/>
              <a:t>Adopt a systems view</a:t>
            </a:r>
          </a:p>
          <a:p>
            <a:pPr marL="800100" lvl="1" indent="-342900" algn="just">
              <a:lnSpc>
                <a:spcPct val="110000"/>
              </a:lnSpc>
              <a:spcBef>
                <a:spcPts val="1200"/>
              </a:spcBef>
              <a:buClr>
                <a:srgbClr val="973735"/>
              </a:buClr>
              <a:buSzPct val="50000"/>
              <a:buFont typeface="Wingdings" pitchFamily="2" charset="2"/>
              <a:buChar char="u"/>
              <a:defRPr/>
            </a:pPr>
            <a:r>
              <a:rPr lang="en-US" sz="2800" dirty="0"/>
              <a:t>Intuitive risk taker</a:t>
            </a:r>
          </a:p>
          <a:p>
            <a:pPr marL="800100" lvl="1" indent="-342900" algn="just">
              <a:lnSpc>
                <a:spcPct val="150000"/>
              </a:lnSpc>
              <a:spcBef>
                <a:spcPts val="6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663803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dirty="0"/>
              <a:t>KM skills by </a:t>
            </a:r>
            <a:r>
              <a:rPr lang="en-US" dirty="0" err="1"/>
              <a:t>Goade</a:t>
            </a:r>
            <a:r>
              <a:rPr lang="en-US" dirty="0"/>
              <a:t> (2002):</a:t>
            </a:r>
          </a:p>
          <a:p>
            <a:pPr marL="800100" lvl="1" indent="-342900" algn="just">
              <a:lnSpc>
                <a:spcPct val="110000"/>
              </a:lnSpc>
              <a:spcBef>
                <a:spcPts val="1200"/>
              </a:spcBef>
              <a:buClr>
                <a:srgbClr val="973735"/>
              </a:buClr>
              <a:buSzPct val="50000"/>
              <a:buFont typeface="Wingdings" pitchFamily="2" charset="2"/>
              <a:buChar char="u"/>
              <a:defRPr/>
            </a:pPr>
            <a:r>
              <a:rPr lang="en-US" sz="2600" dirty="0"/>
              <a:t>Retrieving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Evaluating/assessing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Organizing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Analyzing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Presenting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Securing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Collaborating around information</a:t>
            </a:r>
          </a:p>
          <a:p>
            <a:pPr marL="800100" lvl="1" indent="-342900" algn="just">
              <a:lnSpc>
                <a:spcPct val="120000"/>
              </a:lnSpc>
              <a:spcBef>
                <a:spcPts val="12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914799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00000"/>
              </a:lnSpc>
              <a:spcBef>
                <a:spcPts val="1200"/>
              </a:spcBef>
              <a:buClr>
                <a:srgbClr val="973735"/>
              </a:buClr>
              <a:buSzPct val="50000"/>
              <a:buNone/>
              <a:defRPr/>
            </a:pPr>
            <a:r>
              <a:rPr lang="en-US" b="1" dirty="0"/>
              <a:t>KM roles are quite diverse. They may include such categories as:</a:t>
            </a:r>
          </a:p>
          <a:p>
            <a:pPr marL="342900" indent="-342900" algn="just">
              <a:lnSpc>
                <a:spcPct val="100000"/>
              </a:lnSpc>
              <a:spcBef>
                <a:spcPts val="1200"/>
              </a:spcBef>
              <a:buClr>
                <a:srgbClr val="973735"/>
              </a:buClr>
              <a:buSzPct val="50000"/>
              <a:buFont typeface="Wingdings" pitchFamily="2" charset="2"/>
              <a:buChar char="u"/>
              <a:defRPr/>
            </a:pPr>
            <a:r>
              <a:rPr lang="en-US" sz="2600" dirty="0"/>
              <a:t>Strategic roles - chief human capital officer, human capital retention manager</a:t>
            </a:r>
          </a:p>
          <a:p>
            <a:pPr marL="342900" indent="-342900" algn="just">
              <a:lnSpc>
                <a:spcPct val="100000"/>
              </a:lnSpc>
              <a:spcBef>
                <a:spcPts val="1200"/>
              </a:spcBef>
              <a:buClr>
                <a:srgbClr val="973735"/>
              </a:buClr>
              <a:buSzPct val="50000"/>
              <a:buFont typeface="Wingdings" pitchFamily="2" charset="2"/>
              <a:buChar char="u"/>
              <a:defRPr/>
            </a:pPr>
            <a:r>
              <a:rPr lang="en-US" sz="2600" dirty="0"/>
              <a:t>Senior and middle management roles - Chief Knowledge Officer, Knowledge Manager</a:t>
            </a:r>
          </a:p>
          <a:p>
            <a:pPr marL="342900" indent="-342900" algn="just">
              <a:lnSpc>
                <a:spcPct val="100000"/>
              </a:lnSpc>
              <a:spcBef>
                <a:spcPts val="1200"/>
              </a:spcBef>
              <a:buClr>
                <a:srgbClr val="973735"/>
              </a:buClr>
              <a:buSzPct val="50000"/>
              <a:buFont typeface="Wingdings" pitchFamily="2" charset="2"/>
              <a:buChar char="u"/>
              <a:defRPr/>
            </a:pPr>
            <a:r>
              <a:rPr lang="en-US" sz="2600" dirty="0"/>
              <a:t>Knowledge leaders, also referred to as KM champions, who are responsible for promoting KM within the organization</a:t>
            </a:r>
          </a:p>
          <a:p>
            <a:pPr marL="342900" indent="-342900" algn="just">
              <a:lnSpc>
                <a:spcPct val="100000"/>
              </a:lnSpc>
              <a:spcBef>
                <a:spcPts val="1200"/>
              </a:spcBef>
              <a:buClr>
                <a:srgbClr val="973735"/>
              </a:buClr>
              <a:buSzPct val="50000"/>
              <a:buFont typeface="Wingdings" pitchFamily="2" charset="2"/>
              <a:buChar char="u"/>
              <a:defRPr/>
            </a:pPr>
            <a:r>
              <a:rPr lang="en-US" sz="2600" dirty="0"/>
              <a:t>Knowledge managers, responsible for the acquisition and management of internal and external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948614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fontScale="92500" lnSpcReduction="20000"/>
          </a:bodyPr>
          <a:lstStyle/>
          <a:p>
            <a:pPr marL="0" indent="0" algn="just">
              <a:lnSpc>
                <a:spcPct val="110000"/>
              </a:lnSpc>
              <a:spcBef>
                <a:spcPts val="1200"/>
              </a:spcBef>
              <a:buClr>
                <a:srgbClr val="973735"/>
              </a:buClr>
              <a:buSzPct val="50000"/>
              <a:buNone/>
              <a:defRPr/>
            </a:pPr>
            <a:r>
              <a:rPr lang="en-US" sz="3000" b="1" dirty="0"/>
              <a:t>The categories as:</a:t>
            </a:r>
            <a:endParaRPr lang="en-US" sz="3000" dirty="0"/>
          </a:p>
          <a:p>
            <a:pPr marL="342900" indent="-342900" algn="just">
              <a:lnSpc>
                <a:spcPct val="110000"/>
              </a:lnSpc>
              <a:spcBef>
                <a:spcPts val="1200"/>
              </a:spcBef>
              <a:buClr>
                <a:srgbClr val="973735"/>
              </a:buClr>
              <a:buSzPct val="50000"/>
              <a:buFont typeface="Wingdings" pitchFamily="2" charset="2"/>
              <a:buChar char="u"/>
              <a:defRPr/>
            </a:pPr>
            <a:r>
              <a:rPr lang="en-US" dirty="0"/>
              <a:t>Knowledge navigators, responsible for knowledge where knowledge can be located, also called knowledge brokers</a:t>
            </a:r>
          </a:p>
          <a:p>
            <a:pPr marL="342900" indent="-342900" algn="just">
              <a:lnSpc>
                <a:spcPct val="110000"/>
              </a:lnSpc>
              <a:spcBef>
                <a:spcPts val="1200"/>
              </a:spcBef>
              <a:buClr>
                <a:srgbClr val="973735"/>
              </a:buClr>
              <a:buSzPct val="50000"/>
              <a:buFont typeface="Wingdings" pitchFamily="2" charset="2"/>
              <a:buChar char="u"/>
              <a:defRPr/>
            </a:pPr>
            <a:r>
              <a:rPr lang="en-US" dirty="0"/>
              <a:t>Knowledge synthesizers (knowledge stewards), facilitating the recording of significant knowledge to organizational memory</a:t>
            </a:r>
          </a:p>
          <a:p>
            <a:pPr marL="342900" indent="-342900" algn="just">
              <a:lnSpc>
                <a:spcPct val="110000"/>
              </a:lnSpc>
              <a:spcBef>
                <a:spcPts val="1200"/>
              </a:spcBef>
              <a:buClr>
                <a:srgbClr val="973735"/>
              </a:buClr>
              <a:buSzPct val="50000"/>
              <a:buFont typeface="Wingdings" pitchFamily="2" charset="2"/>
              <a:buChar char="u"/>
              <a:defRPr/>
            </a:pPr>
            <a:r>
              <a:rPr lang="en-US" dirty="0"/>
              <a:t>Content editors/managers, codifying and structuring content roles involving capturing and documenting knowledge researchers, writers, editors</a:t>
            </a:r>
          </a:p>
          <a:p>
            <a:pPr marL="342900" indent="-342900" algn="just">
              <a:lnSpc>
                <a:spcPct val="110000"/>
              </a:lnSpc>
              <a:spcBef>
                <a:spcPts val="1200"/>
              </a:spcBef>
              <a:buClr>
                <a:srgbClr val="973735"/>
              </a:buClr>
              <a:buSzPct val="50000"/>
              <a:buFont typeface="Wingdings" pitchFamily="2" charset="2"/>
              <a:buChar char="u"/>
              <a:defRPr/>
            </a:pPr>
            <a:r>
              <a:rPr lang="en-US" dirty="0"/>
              <a:t>Web developers, electronic publishers, intranet managers, content managers</a:t>
            </a:r>
          </a:p>
          <a:p>
            <a:pPr marL="342900" indent="-342900" algn="just">
              <a:lnSpc>
                <a:spcPct val="110000"/>
              </a:lnSpc>
              <a:spcBef>
                <a:spcPts val="1200"/>
              </a:spcBef>
              <a:buClr>
                <a:srgbClr val="973735"/>
              </a:buClr>
              <a:buSzPct val="50000"/>
              <a:buFont typeface="Wingdings" pitchFamily="2" charset="2"/>
              <a:buChar char="u"/>
              <a:defRPr/>
            </a:pPr>
            <a:r>
              <a:rPr lang="en-US" dirty="0"/>
              <a:t>Learning-oriented roles (trainers, facilitators, mentors, and coaches, developing information and knowledge skills)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1878035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914007"/>
          </a:xfrm>
        </p:spPr>
        <p:txBody>
          <a:bodyPr>
            <a:normAutofit/>
          </a:bodyPr>
          <a:lstStyle/>
          <a:p>
            <a:pPr marL="0" indent="0" algn="just">
              <a:lnSpc>
                <a:spcPct val="110000"/>
              </a:lnSpc>
              <a:spcBef>
                <a:spcPts val="1200"/>
              </a:spcBef>
              <a:buClr>
                <a:srgbClr val="973735"/>
              </a:buClr>
              <a:buSzPct val="50000"/>
              <a:buNone/>
              <a:defRPr/>
            </a:pPr>
            <a:r>
              <a:rPr lang="en-US" b="1" dirty="0"/>
              <a:t>The categories as:</a:t>
            </a:r>
            <a:endParaRPr lang="en-US" dirty="0"/>
          </a:p>
          <a:p>
            <a:pPr marL="342900" indent="-342900" algn="just">
              <a:lnSpc>
                <a:spcPct val="110000"/>
              </a:lnSpc>
              <a:spcBef>
                <a:spcPts val="1200"/>
              </a:spcBef>
              <a:buClr>
                <a:srgbClr val="973735"/>
              </a:buClr>
              <a:buSzPct val="50000"/>
              <a:buFont typeface="Wingdings" pitchFamily="2" charset="2"/>
              <a:buChar char="u"/>
              <a:defRPr/>
            </a:pPr>
            <a:r>
              <a:rPr lang="en-US" sz="2600" dirty="0"/>
              <a:t>Human resources roles (developing program and processes that encourage knowledge-oriented cultures and behaviors)</a:t>
            </a:r>
          </a:p>
          <a:p>
            <a:pPr marL="342900" indent="-342900" algn="just">
              <a:lnSpc>
                <a:spcPct val="110000"/>
              </a:lnSpc>
              <a:spcBef>
                <a:spcPts val="1200"/>
              </a:spcBef>
              <a:buClr>
                <a:srgbClr val="973735"/>
              </a:buClr>
              <a:buSzPct val="50000"/>
              <a:buFont typeface="Wingdings" pitchFamily="2" charset="2"/>
              <a:buChar char="u"/>
              <a:defRPr/>
            </a:pPr>
            <a:r>
              <a:rPr lang="en-US" sz="2600" dirty="0"/>
              <a:t>Knowledge publishers, internal publishing functions thru intranet. Known as Webmasters, knowledge architects and knowledge editors</a:t>
            </a:r>
          </a:p>
          <a:p>
            <a:pPr marL="342900" indent="-342900" algn="just">
              <a:lnSpc>
                <a:spcPct val="110000"/>
              </a:lnSpc>
              <a:spcBef>
                <a:spcPts val="1200"/>
              </a:spcBef>
              <a:buClr>
                <a:srgbClr val="973735"/>
              </a:buClr>
              <a:buSzPct val="50000"/>
              <a:buFont typeface="Wingdings" pitchFamily="2" charset="2"/>
              <a:buChar char="u"/>
              <a:defRPr/>
            </a:pPr>
            <a:r>
              <a:rPr lang="en-US" sz="2600" dirty="0"/>
              <a:t>Coaches and mentor, assisting individuals throughout the business unit or practice to develop and learn KM activities and disciplines</a:t>
            </a:r>
          </a:p>
          <a:p>
            <a:pPr marL="342900" indent="-342900" algn="just">
              <a:lnSpc>
                <a:spcPct val="110000"/>
              </a:lnSpc>
              <a:spcBef>
                <a:spcPts val="1200"/>
              </a:spcBef>
              <a:buClr>
                <a:srgbClr val="973735"/>
              </a:buClr>
              <a:buSzPct val="50000"/>
              <a:buFont typeface="Wingdings" pitchFamily="2" charset="2"/>
              <a:buChar char="u"/>
              <a:defRPr/>
            </a:pPr>
            <a:r>
              <a:rPr lang="en-US" sz="2600" dirty="0"/>
              <a:t>Help desk activities, including the delivery or KM and information related to training, also called KSO (Knowledge Support Office)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950466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KM professionals require a multidisciplinary skill consists of such competencies as</a:t>
            </a:r>
          </a:p>
          <a:p>
            <a:pPr marL="800100" lvl="1" indent="-342900" algn="just">
              <a:lnSpc>
                <a:spcPct val="100000"/>
              </a:lnSpc>
              <a:spcBef>
                <a:spcPts val="1200"/>
              </a:spcBef>
              <a:buClr>
                <a:srgbClr val="973735"/>
              </a:buClr>
              <a:buSzPct val="50000"/>
              <a:buFont typeface="Wingdings" pitchFamily="2" charset="2"/>
              <a:buChar char="u"/>
              <a:defRPr/>
            </a:pPr>
            <a:r>
              <a:rPr lang="en-US" sz="2600" dirty="0"/>
              <a:t>Finding appraising and using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Reformulating questions</a:t>
            </a:r>
          </a:p>
          <a:p>
            <a:pPr marL="800100" lvl="1" indent="-342900" algn="just">
              <a:lnSpc>
                <a:spcPct val="100000"/>
              </a:lnSpc>
              <a:spcBef>
                <a:spcPts val="1200"/>
              </a:spcBef>
              <a:buClr>
                <a:srgbClr val="973735"/>
              </a:buClr>
              <a:buSzPct val="50000"/>
              <a:buFont typeface="Wingdings" pitchFamily="2" charset="2"/>
              <a:buChar char="u"/>
              <a:defRPr/>
            </a:pPr>
            <a:r>
              <a:rPr lang="en-US" sz="2600" dirty="0"/>
              <a:t>Navigating through content</a:t>
            </a:r>
          </a:p>
          <a:p>
            <a:pPr marL="800100" lvl="1" indent="-342900" algn="just">
              <a:lnSpc>
                <a:spcPct val="100000"/>
              </a:lnSpc>
              <a:spcBef>
                <a:spcPts val="1200"/>
              </a:spcBef>
              <a:buClr>
                <a:srgbClr val="973735"/>
              </a:buClr>
              <a:buSzPct val="50000"/>
              <a:buFont typeface="Wingdings" pitchFamily="2" charset="2"/>
              <a:buChar char="u"/>
              <a:defRPr/>
            </a:pPr>
            <a:r>
              <a:rPr lang="en-US" sz="2600" dirty="0"/>
              <a:t>Evaluating the relevance of content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3657230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KM professionals require a multidisciplinary skill consists of such competencies as</a:t>
            </a:r>
          </a:p>
          <a:p>
            <a:pPr marL="800100" lvl="1" indent="-342900" algn="just">
              <a:lnSpc>
                <a:spcPct val="100000"/>
              </a:lnSpc>
              <a:spcBef>
                <a:spcPts val="1200"/>
              </a:spcBef>
              <a:buClr>
                <a:srgbClr val="973735"/>
              </a:buClr>
              <a:buSzPct val="50000"/>
              <a:buFont typeface="Wingdings" pitchFamily="2" charset="2"/>
              <a:buChar char="u"/>
              <a:defRPr/>
            </a:pPr>
            <a:r>
              <a:rPr lang="en-US" sz="2600" dirty="0"/>
              <a:t>Filtering out what is not needed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Synthesizing from diverse sources in order to apply the knowledge (e.g., to make a decision)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Contribute to the recording of such valuable experiences to organizational memory systems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1712563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CKO / CLO heads the KM team</a:t>
            </a:r>
          </a:p>
          <a:p>
            <a:pPr marL="342900" indent="-342900" algn="just">
              <a:lnSpc>
                <a:spcPct val="100000"/>
              </a:lnSpc>
              <a:spcBef>
                <a:spcPts val="1200"/>
              </a:spcBef>
              <a:buClr>
                <a:srgbClr val="973735"/>
              </a:buClr>
              <a:buSzPct val="50000"/>
              <a:buFont typeface="Wingdings" pitchFamily="2" charset="2"/>
              <a:buChar char="u"/>
              <a:defRPr/>
            </a:pPr>
            <a:r>
              <a:rPr lang="en-US" dirty="0"/>
              <a:t>Their responsibility are</a:t>
            </a:r>
          </a:p>
          <a:p>
            <a:pPr marL="800100" lvl="1" indent="-342900" algn="just">
              <a:lnSpc>
                <a:spcPct val="100000"/>
              </a:lnSpc>
              <a:spcBef>
                <a:spcPts val="1200"/>
              </a:spcBef>
              <a:buClr>
                <a:srgbClr val="973735"/>
              </a:buClr>
              <a:buSzPct val="50000"/>
              <a:buFont typeface="Wingdings" pitchFamily="2" charset="2"/>
              <a:buChar char="u"/>
              <a:defRPr/>
            </a:pPr>
            <a:r>
              <a:rPr lang="en-US" sz="2600" dirty="0"/>
              <a:t>Formulating knowledge management strategy</a:t>
            </a:r>
          </a:p>
          <a:p>
            <a:pPr marL="800100" lvl="1" indent="-342900" algn="just">
              <a:lnSpc>
                <a:spcPct val="100000"/>
              </a:lnSpc>
              <a:spcBef>
                <a:spcPts val="1200"/>
              </a:spcBef>
              <a:buClr>
                <a:srgbClr val="973735"/>
              </a:buClr>
              <a:buSzPct val="50000"/>
              <a:buFont typeface="Wingdings" pitchFamily="2" charset="2"/>
              <a:buChar char="u"/>
              <a:defRPr/>
            </a:pPr>
            <a:r>
              <a:rPr lang="en-US" sz="2600" dirty="0"/>
              <a:t>Handling knowledge management operations</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Influencing change in the organization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Managing knowledge management staff</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Senior management roles</a:t>
            </a:r>
          </a:p>
        </p:txBody>
      </p:sp>
    </p:spTree>
    <p:extLst>
      <p:ext uri="{BB962C8B-B14F-4D97-AF65-F5344CB8AC3E}">
        <p14:creationId xmlns:p14="http://schemas.microsoft.com/office/powerpoint/2010/main" val="2426017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What KM executive most do</a:t>
            </a:r>
          </a:p>
          <a:p>
            <a:pPr marL="800100" lvl="1" indent="-342900" algn="just">
              <a:lnSpc>
                <a:spcPct val="100000"/>
              </a:lnSpc>
              <a:spcBef>
                <a:spcPts val="1200"/>
              </a:spcBef>
              <a:buClr>
                <a:srgbClr val="973735"/>
              </a:buClr>
              <a:buSzPct val="50000"/>
              <a:buFont typeface="Wingdings" pitchFamily="2" charset="2"/>
              <a:buChar char="u"/>
              <a:defRPr/>
            </a:pPr>
            <a:r>
              <a:rPr lang="en-US" sz="2600" dirty="0"/>
              <a:t>Decide how information evaluated, created, processed, inventories, retrieved and archived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Identify critical knowledge needed within a company and any knowledge gaps that need to be addressed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Build good relationship</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3203242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Chief Knowledge Officer</a:t>
            </a:r>
          </a:p>
          <a:p>
            <a:pPr marL="800100" lvl="1" indent="-342900" algn="just">
              <a:lnSpc>
                <a:spcPct val="100000"/>
              </a:lnSpc>
              <a:spcBef>
                <a:spcPts val="2400"/>
              </a:spcBef>
              <a:buClr>
                <a:srgbClr val="973735"/>
              </a:buClr>
              <a:buSzPct val="50000"/>
              <a:buFont typeface="Wingdings" pitchFamily="2" charset="2"/>
              <a:buChar char="u"/>
              <a:defRPr/>
            </a:pPr>
            <a:r>
              <a:rPr lang="en-US" sz="2600" dirty="0"/>
              <a:t>Senior executive who is responsible for ensuring that an organization maximizes the value it achieves through on of its most important assets-knowledge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3602309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Chief Knowledge Officer</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Contribute for</a:t>
            </a:r>
          </a:p>
          <a:p>
            <a:pPr marL="1257300" lvl="2" indent="-342900" algn="just">
              <a:lnSpc>
                <a:spcPct val="100000"/>
              </a:lnSpc>
              <a:spcBef>
                <a:spcPts val="1800"/>
              </a:spcBef>
              <a:buClr>
                <a:srgbClr val="973735"/>
              </a:buClr>
              <a:buSzPct val="50000"/>
              <a:buFont typeface="Wingdings" pitchFamily="2" charset="2"/>
              <a:buChar char="u"/>
              <a:defRPr/>
            </a:pPr>
            <a:r>
              <a:rPr lang="en-US" sz="2400" dirty="0"/>
              <a:t>Maximize Returns on KM investment (people, processes, and intellectual capital)</a:t>
            </a:r>
          </a:p>
          <a:p>
            <a:pPr marL="1257300" lvl="2" indent="-342900" algn="just">
              <a:lnSpc>
                <a:spcPct val="100000"/>
              </a:lnSpc>
              <a:spcBef>
                <a:spcPts val="1800"/>
              </a:spcBef>
              <a:buClr>
                <a:srgbClr val="973735"/>
              </a:buClr>
              <a:buSzPct val="50000"/>
              <a:buFont typeface="Wingdings" pitchFamily="2" charset="2"/>
              <a:buChar char="u"/>
              <a:defRPr/>
            </a:pPr>
            <a:r>
              <a:rPr lang="en-US" sz="2400" dirty="0"/>
              <a:t>Exploit intangible assets (know-how, patents, customer relationships)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Repeat successes and share best practices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Improve innovation and the commercialization of ideas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Avoid knowledge loss and leakage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1564563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Chief Knowledge Officer</a:t>
            </a:r>
          </a:p>
          <a:p>
            <a:pPr marL="800100" lvl="1" indent="-342900" algn="just">
              <a:lnSpc>
                <a:spcPct val="100000"/>
              </a:lnSpc>
              <a:spcBef>
                <a:spcPts val="2400"/>
              </a:spcBef>
              <a:buClr>
                <a:srgbClr val="973735"/>
              </a:buClr>
              <a:buSzPct val="50000"/>
              <a:buFont typeface="Wingdings" pitchFamily="2" charset="2"/>
              <a:buChar char="u"/>
              <a:defRPr/>
            </a:pPr>
            <a:r>
              <a:rPr lang="en-US" sz="2600" dirty="0"/>
              <a:t>Because of the power associated with expertise, employees may be reluctant to share their knowledge and skill. CKO must function as</a:t>
            </a:r>
          </a:p>
          <a:p>
            <a:pPr marL="1257300" lvl="2" indent="-342900" algn="just">
              <a:lnSpc>
                <a:spcPct val="100000"/>
              </a:lnSpc>
              <a:spcBef>
                <a:spcPts val="2400"/>
              </a:spcBef>
              <a:buClr>
                <a:srgbClr val="973735"/>
              </a:buClr>
              <a:buSzPct val="50000"/>
              <a:buFont typeface="Wingdings" pitchFamily="2" charset="2"/>
              <a:buChar char="u"/>
              <a:defRPr/>
            </a:pPr>
            <a:r>
              <a:rPr lang="en-US" sz="2400" dirty="0"/>
              <a:t>Promotor of culture that encouraged knowledge sharing </a:t>
            </a:r>
          </a:p>
          <a:p>
            <a:pPr marL="1257300" lvl="2" indent="-342900" algn="just">
              <a:lnSpc>
                <a:spcPct val="100000"/>
              </a:lnSpc>
              <a:spcBef>
                <a:spcPts val="2400"/>
              </a:spcBef>
              <a:buClr>
                <a:srgbClr val="973735"/>
              </a:buClr>
              <a:buSzPct val="50000"/>
              <a:buFont typeface="Wingdings" pitchFamily="2" charset="2"/>
              <a:buChar char="u"/>
              <a:defRPr/>
            </a:pPr>
            <a:r>
              <a:rPr lang="en-US" sz="2400" dirty="0"/>
              <a:t>Agent of change</a:t>
            </a:r>
          </a:p>
          <a:p>
            <a:pPr marL="1257300" lvl="2" indent="-342900" algn="just">
              <a:lnSpc>
                <a:spcPct val="100000"/>
              </a:lnSpc>
              <a:spcBef>
                <a:spcPts val="2400"/>
              </a:spcBef>
              <a:buClr>
                <a:srgbClr val="973735"/>
              </a:buClr>
              <a:buSzPct val="50000"/>
              <a:buFont typeface="Wingdings" pitchFamily="2" charset="2"/>
              <a:buChar char="u"/>
              <a:defRPr/>
            </a:pPr>
            <a:r>
              <a:rPr lang="en-US" sz="2400" dirty="0"/>
              <a:t>Create environment that make easier to build communication network</a:t>
            </a:r>
          </a:p>
          <a:p>
            <a:pPr marL="1257300" lvl="2" indent="-342900" algn="just">
              <a:lnSpc>
                <a:spcPct val="110000"/>
              </a:lnSpc>
              <a:spcBef>
                <a:spcPts val="1200"/>
              </a:spcBef>
              <a:buClr>
                <a:srgbClr val="973735"/>
              </a:buClr>
              <a:buSzPct val="50000"/>
              <a:buFont typeface="Wingdings" pitchFamily="2" charset="2"/>
              <a:buChar char="u"/>
              <a:defRPr/>
            </a:pPr>
            <a:endParaRPr lang="en-US" sz="22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200196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Chief Knowledge Officer</a:t>
            </a:r>
          </a:p>
          <a:p>
            <a:pPr marL="800100" lvl="1" indent="-342900" algn="just">
              <a:lnSpc>
                <a:spcPct val="100000"/>
              </a:lnSpc>
              <a:spcBef>
                <a:spcPts val="1800"/>
              </a:spcBef>
              <a:buClr>
                <a:srgbClr val="973735"/>
              </a:buClr>
              <a:buSzPct val="50000"/>
              <a:buFont typeface="Wingdings" pitchFamily="2" charset="2"/>
              <a:buChar char="u"/>
              <a:defRPr/>
            </a:pPr>
            <a:r>
              <a:rPr lang="en-US" sz="2600" dirty="0"/>
              <a:t>Create environment to ease the building of the communication network</a:t>
            </a:r>
          </a:p>
          <a:p>
            <a:pPr marL="800100" lvl="1" indent="-342900" algn="just">
              <a:lnSpc>
                <a:spcPct val="100000"/>
              </a:lnSpc>
              <a:spcBef>
                <a:spcPts val="1800"/>
              </a:spcBef>
              <a:buClr>
                <a:srgbClr val="973735"/>
              </a:buClr>
              <a:buSzPct val="50000"/>
              <a:buFont typeface="Wingdings" pitchFamily="2" charset="2"/>
              <a:buChar char="u"/>
              <a:defRPr/>
            </a:pPr>
            <a:r>
              <a:rPr lang="en-US" sz="2600" dirty="0"/>
              <a:t>Works with formal and informal communication network</a:t>
            </a:r>
          </a:p>
          <a:p>
            <a:pPr marL="800100" lvl="1" indent="-342900" algn="just">
              <a:lnSpc>
                <a:spcPct val="100000"/>
              </a:lnSpc>
              <a:spcBef>
                <a:spcPts val="1800"/>
              </a:spcBef>
              <a:buClr>
                <a:srgbClr val="973735"/>
              </a:buClr>
              <a:buSzPct val="50000"/>
              <a:buFont typeface="Wingdings" pitchFamily="2" charset="2"/>
              <a:buChar char="u"/>
              <a:defRPr/>
            </a:pPr>
            <a:r>
              <a:rPr lang="en-US" sz="2600" dirty="0"/>
              <a:t>Support communities of practice.</a:t>
            </a:r>
          </a:p>
          <a:p>
            <a:pPr marL="800100" lvl="1" indent="-342900" algn="just">
              <a:lnSpc>
                <a:spcPct val="100000"/>
              </a:lnSpc>
              <a:spcBef>
                <a:spcPts val="1800"/>
              </a:spcBef>
              <a:buClr>
                <a:srgbClr val="973735"/>
              </a:buClr>
              <a:buSzPct val="50000"/>
              <a:buFont typeface="Wingdings" pitchFamily="2" charset="2"/>
              <a:buChar char="u"/>
              <a:defRPr/>
            </a:pPr>
            <a:r>
              <a:rPr lang="en-US" sz="2600" dirty="0"/>
              <a:t>Design ways for worker to present and receive knowledge</a:t>
            </a:r>
          </a:p>
          <a:p>
            <a:pPr marL="800100" lvl="1" indent="-342900" algn="just">
              <a:lnSpc>
                <a:spcPct val="100000"/>
              </a:lnSpc>
              <a:spcBef>
                <a:spcPts val="1800"/>
              </a:spcBef>
              <a:buClr>
                <a:srgbClr val="973735"/>
              </a:buClr>
              <a:buSzPct val="50000"/>
              <a:buFont typeface="Wingdings" pitchFamily="2" charset="2"/>
              <a:buChar char="u"/>
              <a:defRPr/>
            </a:pPr>
            <a:r>
              <a:rPr lang="en-US" sz="2600" dirty="0"/>
              <a:t>Responsible for developing and maintaining information infrastructure</a:t>
            </a:r>
          </a:p>
          <a:p>
            <a:pPr marL="800100" lvl="1" indent="-342900" algn="just">
              <a:lnSpc>
                <a:spcPct val="120000"/>
              </a:lnSpc>
              <a:spcBef>
                <a:spcPts val="1200"/>
              </a:spcBef>
              <a:buClr>
                <a:srgbClr val="973735"/>
              </a:buClr>
              <a:buSzPct val="50000"/>
              <a:buFont typeface="Wingdings" pitchFamily="2" charset="2"/>
              <a:buChar char="u"/>
              <a:defRPr/>
            </a:pPr>
            <a:endParaRPr lang="en-US" sz="2600" dirty="0"/>
          </a:p>
          <a:p>
            <a:pPr marL="1257300" lvl="2" indent="-342900" algn="just">
              <a:lnSpc>
                <a:spcPct val="110000"/>
              </a:lnSpc>
              <a:spcBef>
                <a:spcPts val="1200"/>
              </a:spcBef>
              <a:buClr>
                <a:srgbClr val="973735"/>
              </a:buClr>
              <a:buSzPct val="50000"/>
              <a:buFont typeface="Wingdings" pitchFamily="2" charset="2"/>
              <a:buChar char="u"/>
              <a:defRPr/>
            </a:pPr>
            <a:endParaRPr lang="en-US" sz="22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4003642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The responsibilities of KM executive is to convert the KM strategy into specific KM initiatives that help achieve organizational business goals</a:t>
            </a:r>
          </a:p>
          <a:p>
            <a:pPr marL="342900" indent="-342900" algn="just">
              <a:lnSpc>
                <a:spcPct val="100000"/>
              </a:lnSpc>
              <a:spcBef>
                <a:spcPts val="1800"/>
              </a:spcBef>
              <a:buClr>
                <a:srgbClr val="973735"/>
              </a:buClr>
              <a:buSzPct val="50000"/>
              <a:buFont typeface="Wingdings" pitchFamily="2" charset="2"/>
              <a:buChar char="u"/>
              <a:defRPr/>
            </a:pPr>
            <a:r>
              <a:rPr lang="en-US" dirty="0"/>
              <a:t>Four categories of KM initiative</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Promoting the importance of knowledge sharing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Creating a technical infrastructure to facilitate sharing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Promoting a cultural climate that rewards knowledge sharing behaviors</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Measuring the value of knowledge and KM practices to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394846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971176" cy="496480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Chief Learning Officer</a:t>
            </a:r>
          </a:p>
          <a:p>
            <a:pPr marL="800100" lvl="1" indent="-342900" algn="just">
              <a:lnSpc>
                <a:spcPct val="100000"/>
              </a:lnSpc>
              <a:spcBef>
                <a:spcPts val="1800"/>
              </a:spcBef>
              <a:buClr>
                <a:srgbClr val="973735"/>
              </a:buClr>
              <a:buSzPct val="50000"/>
              <a:buFont typeface="Wingdings" pitchFamily="2" charset="2"/>
              <a:buChar char="u"/>
              <a:defRPr/>
            </a:pPr>
            <a:r>
              <a:rPr lang="en-US" sz="2600" dirty="0"/>
              <a:t>Created to leverage knowledge into tangible business benefit</a:t>
            </a:r>
          </a:p>
          <a:p>
            <a:pPr marL="800100" lvl="1" indent="-342900" algn="just">
              <a:lnSpc>
                <a:spcPct val="100000"/>
              </a:lnSpc>
              <a:spcBef>
                <a:spcPts val="1800"/>
              </a:spcBef>
              <a:buClr>
                <a:srgbClr val="973735"/>
              </a:buClr>
              <a:buSzPct val="50000"/>
              <a:buFont typeface="Wingdings" pitchFamily="2" charset="2"/>
              <a:buChar char="u"/>
              <a:defRPr/>
            </a:pPr>
            <a:r>
              <a:rPr lang="en-US" sz="2600" dirty="0"/>
              <a:t>Design to leverage learning thru organization culture</a:t>
            </a:r>
          </a:p>
          <a:p>
            <a:pPr marL="800100" lvl="1" indent="-342900" algn="just">
              <a:lnSpc>
                <a:spcPct val="100000"/>
              </a:lnSpc>
              <a:spcBef>
                <a:spcPts val="1800"/>
              </a:spcBef>
              <a:buClr>
                <a:srgbClr val="973735"/>
              </a:buClr>
              <a:buSzPct val="50000"/>
              <a:buFont typeface="Wingdings" pitchFamily="2" charset="2"/>
              <a:buChar char="u"/>
              <a:defRPr/>
            </a:pPr>
            <a:r>
              <a:rPr lang="en-US" sz="2600" dirty="0"/>
              <a:t>Define what type of knowledge to emphasize and technology to use</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Committed to strategic integration of organizational and individual learning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Change mindset from training to continuous learning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Using wide variety of delivery method</a:t>
            </a:r>
          </a:p>
          <a:p>
            <a:pPr marL="800100" lvl="1" indent="-342900" algn="just">
              <a:lnSpc>
                <a:spcPct val="150000"/>
              </a:lnSpc>
              <a:spcBef>
                <a:spcPts val="6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3372651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519340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Chief Learning Officer (</a:t>
            </a:r>
            <a:r>
              <a:rPr lang="en-US" dirty="0" err="1"/>
              <a:t>con’t</a:t>
            </a:r>
            <a:r>
              <a:rPr lang="en-US" dirty="0"/>
              <a:t>)</a:t>
            </a:r>
          </a:p>
          <a:p>
            <a:pPr marL="800100" lvl="1" indent="-342900" algn="just">
              <a:lnSpc>
                <a:spcPct val="100000"/>
              </a:lnSpc>
              <a:spcBef>
                <a:spcPts val="1800"/>
              </a:spcBef>
              <a:buClr>
                <a:srgbClr val="973735"/>
              </a:buClr>
              <a:buSzPct val="50000"/>
              <a:buFont typeface="Wingdings" pitchFamily="2" charset="2"/>
              <a:buChar char="u"/>
              <a:defRPr/>
            </a:pPr>
            <a:r>
              <a:rPr lang="en-US" sz="2600" dirty="0"/>
              <a:t>Focus on organizational learning and the transformation to learning organization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Strong backgrounds in learning strategies and a strong orientation toward setting and reaching business goals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CLOs are committed to the strategic integration of organizational and individual learning at all levels and across all functional silos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2956700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971176" cy="519340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Chief Learning Officer (</a:t>
            </a:r>
            <a:r>
              <a:rPr lang="en-US" dirty="0" err="1"/>
              <a:t>con’t</a:t>
            </a:r>
            <a:r>
              <a:rPr lang="en-US" dirty="0"/>
              <a:t>)</a:t>
            </a:r>
          </a:p>
          <a:p>
            <a:pPr marL="800100" lvl="1" indent="-342900" algn="just">
              <a:lnSpc>
                <a:spcPct val="100000"/>
              </a:lnSpc>
              <a:spcBef>
                <a:spcPts val="1800"/>
              </a:spcBef>
              <a:buClr>
                <a:srgbClr val="973735"/>
              </a:buClr>
              <a:buSzPct val="50000"/>
              <a:buFont typeface="Wingdings" pitchFamily="2" charset="2"/>
              <a:buChar char="u"/>
              <a:defRPr/>
            </a:pPr>
            <a:r>
              <a:rPr lang="en-US" sz="2600" dirty="0"/>
              <a:t>Work with the “know-how” of knowledge</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Integrate thinking and acting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Create an environment that fosters knowledge sharing informally</a:t>
            </a:r>
          </a:p>
          <a:p>
            <a:pPr marL="800100" lvl="1" indent="-342900" algn="just">
              <a:lnSpc>
                <a:spcPct val="100000"/>
              </a:lnSpc>
              <a:spcBef>
                <a:spcPts val="12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2061413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887200" cy="5289660"/>
          </a:xfrm>
        </p:spPr>
        <p:txBody>
          <a:bodyPr>
            <a:normAutofit fontScale="92500" lnSpcReduction="10000"/>
          </a:bodyPr>
          <a:lstStyle/>
          <a:p>
            <a:pPr marL="342900" indent="-342900" algn="just">
              <a:lnSpc>
                <a:spcPct val="110000"/>
              </a:lnSpc>
              <a:spcBef>
                <a:spcPts val="1200"/>
              </a:spcBef>
              <a:buClr>
                <a:srgbClr val="973735"/>
              </a:buClr>
              <a:buSzPct val="50000"/>
              <a:buFont typeface="Wingdings" pitchFamily="2" charset="2"/>
              <a:buChar char="u"/>
              <a:defRPr/>
            </a:pPr>
            <a:r>
              <a:rPr lang="en-US" sz="3000" dirty="0"/>
              <a:t>Chief Learning Officer Initiatives</a:t>
            </a:r>
          </a:p>
          <a:p>
            <a:pPr marL="800100" lvl="1" indent="-342900" algn="just">
              <a:lnSpc>
                <a:spcPct val="110000"/>
              </a:lnSpc>
              <a:spcBef>
                <a:spcPts val="1200"/>
              </a:spcBef>
              <a:buClr>
                <a:srgbClr val="973735"/>
              </a:buClr>
              <a:buSzPct val="50000"/>
              <a:buFont typeface="Wingdings" pitchFamily="2" charset="2"/>
              <a:buChar char="u"/>
              <a:defRPr/>
            </a:pPr>
            <a:r>
              <a:rPr lang="en-US" sz="2800" dirty="0"/>
              <a:t>Cultural transformation</a:t>
            </a:r>
          </a:p>
          <a:p>
            <a:pPr marL="1257300" lvl="2" indent="-342900" algn="just">
              <a:lnSpc>
                <a:spcPct val="110000"/>
              </a:lnSpc>
              <a:spcBef>
                <a:spcPts val="1200"/>
              </a:spcBef>
              <a:buClr>
                <a:srgbClr val="973735"/>
              </a:buClr>
              <a:buSzPct val="50000"/>
              <a:buFont typeface="Wingdings" pitchFamily="2" charset="2"/>
              <a:buChar char="u"/>
              <a:defRPr/>
            </a:pPr>
            <a:r>
              <a:rPr lang="en-US" sz="2600" dirty="0"/>
              <a:t>Assisting the developments and communication of a new vision and strategy for the organization</a:t>
            </a:r>
          </a:p>
          <a:p>
            <a:pPr marL="1257300" lvl="2" indent="-342900" algn="just">
              <a:lnSpc>
                <a:spcPct val="110000"/>
              </a:lnSpc>
              <a:spcBef>
                <a:spcPts val="1200"/>
              </a:spcBef>
              <a:buClr>
                <a:srgbClr val="973735"/>
              </a:buClr>
              <a:buSzPct val="50000"/>
              <a:buFont typeface="Wingdings" pitchFamily="2" charset="2"/>
              <a:buChar char="u"/>
              <a:defRPr/>
            </a:pPr>
            <a:r>
              <a:rPr lang="en-US" sz="2600" dirty="0"/>
              <a:t>Tending to the cultural transformation to support the new corporate direction</a:t>
            </a:r>
          </a:p>
          <a:p>
            <a:pPr marL="800100" lvl="1" indent="-342900" algn="just">
              <a:lnSpc>
                <a:spcPct val="110000"/>
              </a:lnSpc>
              <a:spcBef>
                <a:spcPts val="1200"/>
              </a:spcBef>
              <a:buClr>
                <a:srgbClr val="973735"/>
              </a:buClr>
              <a:buSzPct val="50000"/>
              <a:buFont typeface="Wingdings" pitchFamily="2" charset="2"/>
              <a:buChar char="u"/>
              <a:defRPr/>
            </a:pPr>
            <a:r>
              <a:rPr lang="en-US" sz="2800" dirty="0"/>
              <a:t>Culture maintenance</a:t>
            </a:r>
          </a:p>
          <a:p>
            <a:pPr marL="1257300" lvl="2" indent="-342900" algn="just">
              <a:lnSpc>
                <a:spcPct val="110000"/>
              </a:lnSpc>
              <a:spcBef>
                <a:spcPts val="1200"/>
              </a:spcBef>
              <a:buClr>
                <a:srgbClr val="973735"/>
              </a:buClr>
              <a:buSzPct val="50000"/>
              <a:buFont typeface="Wingdings" pitchFamily="2" charset="2"/>
              <a:buChar char="u"/>
              <a:defRPr/>
            </a:pPr>
            <a:r>
              <a:rPr lang="en-US" sz="2600" dirty="0"/>
              <a:t>Support marketplace strategy and address deficiency in skills </a:t>
            </a:r>
          </a:p>
          <a:p>
            <a:pPr marL="800100" lvl="1" indent="-342900" algn="just">
              <a:lnSpc>
                <a:spcPct val="110000"/>
              </a:lnSpc>
              <a:spcBef>
                <a:spcPts val="1200"/>
              </a:spcBef>
              <a:buClr>
                <a:srgbClr val="973735"/>
              </a:buClr>
              <a:buSzPct val="50000"/>
              <a:buFont typeface="Wingdings" pitchFamily="2" charset="2"/>
              <a:buChar char="u"/>
              <a:defRPr/>
            </a:pPr>
            <a:r>
              <a:rPr lang="en-US" sz="2800" dirty="0"/>
              <a:t>Contemporary initiatives</a:t>
            </a:r>
          </a:p>
          <a:p>
            <a:pPr marL="1257300" lvl="2" indent="-342900" algn="just">
              <a:lnSpc>
                <a:spcPct val="110000"/>
              </a:lnSpc>
              <a:spcBef>
                <a:spcPts val="1200"/>
              </a:spcBef>
              <a:buClr>
                <a:srgbClr val="973735"/>
              </a:buClr>
              <a:buSzPct val="50000"/>
              <a:buFont typeface="Wingdings" pitchFamily="2" charset="2"/>
              <a:buChar char="u"/>
              <a:defRPr/>
            </a:pPr>
            <a:r>
              <a:rPr lang="en-US" sz="2600" dirty="0"/>
              <a:t>In-depth knowledge of the industry and familiar with all function in the organization</a:t>
            </a:r>
          </a:p>
          <a:p>
            <a:pPr marL="1257300" lvl="2"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Categories of KM Roles</a:t>
            </a:r>
          </a:p>
        </p:txBody>
      </p:sp>
    </p:spTree>
    <p:extLst>
      <p:ext uri="{BB962C8B-B14F-4D97-AF65-F5344CB8AC3E}">
        <p14:creationId xmlns:p14="http://schemas.microsoft.com/office/powerpoint/2010/main" val="2590562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99020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main types of KM roles observed in a wide range of private and public sector organizations can be summarized as follows:</a:t>
            </a:r>
          </a:p>
          <a:p>
            <a:pPr marL="457200" lvl="1" indent="0" algn="just">
              <a:lnSpc>
                <a:spcPct val="100000"/>
              </a:lnSpc>
              <a:spcBef>
                <a:spcPts val="1200"/>
              </a:spcBef>
              <a:buClr>
                <a:srgbClr val="973735"/>
              </a:buClr>
              <a:buSzPct val="50000"/>
              <a:buNone/>
              <a:defRPr/>
            </a:pPr>
            <a:r>
              <a:rPr lang="en-US" sz="2600" dirty="0"/>
              <a:t>1. Designing information systems </a:t>
            </a:r>
          </a:p>
          <a:p>
            <a:pPr marL="457200" lvl="1" indent="0" algn="just">
              <a:lnSpc>
                <a:spcPct val="100000"/>
              </a:lnSpc>
              <a:spcBef>
                <a:spcPts val="1200"/>
              </a:spcBef>
              <a:buClr>
                <a:srgbClr val="973735"/>
              </a:buClr>
              <a:buSzPct val="50000"/>
              <a:buNone/>
              <a:defRPr/>
            </a:pPr>
            <a:r>
              <a:rPr lang="en-US" sz="2600" dirty="0"/>
              <a:t>2. Managing information systems </a:t>
            </a:r>
          </a:p>
          <a:p>
            <a:pPr marL="457200" lvl="1" indent="0" algn="just">
              <a:lnSpc>
                <a:spcPct val="100000"/>
              </a:lnSpc>
              <a:spcBef>
                <a:spcPts val="1200"/>
              </a:spcBef>
              <a:buClr>
                <a:srgbClr val="973735"/>
              </a:buClr>
              <a:buSzPct val="50000"/>
              <a:buNone/>
              <a:defRPr/>
            </a:pPr>
            <a:r>
              <a:rPr lang="en-US" sz="2600" dirty="0"/>
              <a:t>3. Information resources management</a:t>
            </a:r>
          </a:p>
          <a:p>
            <a:pPr marL="457200" lvl="1" indent="0" algn="just">
              <a:lnSpc>
                <a:spcPct val="100000"/>
              </a:lnSpc>
              <a:spcBef>
                <a:spcPts val="1200"/>
              </a:spcBef>
              <a:buClr>
                <a:srgbClr val="973735"/>
              </a:buClr>
              <a:buSzPct val="50000"/>
              <a:buNone/>
              <a:defRPr/>
            </a:pPr>
            <a:r>
              <a:rPr lang="en-US" sz="2600" dirty="0"/>
              <a:t>4. Training </a:t>
            </a:r>
          </a:p>
          <a:p>
            <a:pPr marL="457200" lvl="1" indent="0" algn="just">
              <a:lnSpc>
                <a:spcPct val="100000"/>
              </a:lnSpc>
              <a:spcBef>
                <a:spcPts val="1200"/>
              </a:spcBef>
              <a:buClr>
                <a:srgbClr val="973735"/>
              </a:buClr>
              <a:buSzPct val="50000"/>
              <a:buNone/>
              <a:defRPr/>
            </a:pPr>
            <a:r>
              <a:rPr lang="en-US" sz="2600" dirty="0"/>
              <a:t>5. Information agencies</a:t>
            </a:r>
          </a:p>
          <a:p>
            <a:pPr marL="457200" lvl="1" indent="0" algn="just">
              <a:lnSpc>
                <a:spcPct val="100000"/>
              </a:lnSpc>
              <a:spcBef>
                <a:spcPts val="1200"/>
              </a:spcBef>
              <a:buClr>
                <a:srgbClr val="973735"/>
              </a:buClr>
              <a:buSzPct val="50000"/>
              <a:buNone/>
              <a:defRPr/>
            </a:pPr>
            <a:r>
              <a:rPr lang="en-US" sz="2600" dirty="0"/>
              <a:t>6. Competitive intelligence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683660" cy="709226"/>
          </a:xfrm>
        </p:spPr>
        <p:txBody>
          <a:bodyPr>
            <a:normAutofit fontScale="90000"/>
          </a:bodyPr>
          <a:lstStyle/>
          <a:p>
            <a:r>
              <a:rPr lang="en-US" sz="4000" b="1" dirty="0"/>
              <a:t>KM Roles and Responsibilities within Organizations</a:t>
            </a:r>
          </a:p>
        </p:txBody>
      </p:sp>
    </p:spTree>
    <p:extLst>
      <p:ext uri="{BB962C8B-B14F-4D97-AF65-F5344CB8AC3E}">
        <p14:creationId xmlns:p14="http://schemas.microsoft.com/office/powerpoint/2010/main" val="2011923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971176" cy="499020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main types of KM roles observed in a wide range of private and public sector organizations can be summarized as follows:</a:t>
            </a:r>
          </a:p>
          <a:p>
            <a:pPr marL="457200" lvl="1" indent="0" algn="just">
              <a:lnSpc>
                <a:spcPct val="100000"/>
              </a:lnSpc>
              <a:spcBef>
                <a:spcPts val="1200"/>
              </a:spcBef>
              <a:buClr>
                <a:srgbClr val="973735"/>
              </a:buClr>
              <a:buSzPct val="50000"/>
              <a:buNone/>
              <a:defRPr/>
            </a:pPr>
            <a:r>
              <a:rPr lang="en-US" sz="2600" dirty="0"/>
              <a:t>7. Customer relations for information systems/technology </a:t>
            </a:r>
          </a:p>
          <a:p>
            <a:pPr marL="457200" lvl="1" indent="0" algn="just">
              <a:lnSpc>
                <a:spcPct val="100000"/>
              </a:lnSpc>
              <a:spcBef>
                <a:spcPts val="1200"/>
              </a:spcBef>
              <a:buClr>
                <a:srgbClr val="973735"/>
              </a:buClr>
              <a:buSzPct val="50000"/>
              <a:buNone/>
              <a:defRPr/>
            </a:pPr>
            <a:r>
              <a:rPr lang="en-US" sz="2600" dirty="0"/>
              <a:t>8. Designing and producing information services and products publications </a:t>
            </a:r>
          </a:p>
          <a:p>
            <a:pPr marL="457200" lvl="1" indent="0" algn="just">
              <a:lnSpc>
                <a:spcPct val="100000"/>
              </a:lnSpc>
              <a:spcBef>
                <a:spcPts val="1200"/>
              </a:spcBef>
              <a:buClr>
                <a:srgbClr val="973735"/>
              </a:buClr>
              <a:buSzPct val="50000"/>
              <a:buNone/>
              <a:defRPr/>
            </a:pPr>
            <a:r>
              <a:rPr lang="en-US" sz="2600" dirty="0"/>
              <a:t>9. Knowledge journalist </a:t>
            </a:r>
          </a:p>
          <a:p>
            <a:pPr marL="457200" lvl="1" indent="0" algn="just">
              <a:lnSpc>
                <a:spcPct val="100000"/>
              </a:lnSpc>
              <a:spcBef>
                <a:spcPts val="1200"/>
              </a:spcBef>
              <a:buClr>
                <a:srgbClr val="973735"/>
              </a:buClr>
              <a:buSzPct val="50000"/>
              <a:buNone/>
              <a:defRPr/>
            </a:pPr>
            <a:r>
              <a:rPr lang="en-US" sz="2600" dirty="0"/>
              <a:t>10. Organizational information &amp; KM policy analysts </a:t>
            </a:r>
          </a:p>
          <a:p>
            <a:pPr marL="457200" lvl="1" indent="0" algn="just">
              <a:lnSpc>
                <a:spcPct val="100000"/>
              </a:lnSpc>
              <a:spcBef>
                <a:spcPts val="1200"/>
              </a:spcBef>
              <a:buClr>
                <a:srgbClr val="973735"/>
              </a:buClr>
              <a:buSzPct val="50000"/>
              <a:buNone/>
              <a:defRPr/>
            </a:pPr>
            <a:r>
              <a:rPr lang="en-US" sz="2600" dirty="0"/>
              <a:t>11. Government KM policy analysts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683660" cy="709226"/>
          </a:xfrm>
        </p:spPr>
        <p:txBody>
          <a:bodyPr>
            <a:normAutofit fontScale="90000"/>
          </a:bodyPr>
          <a:lstStyle/>
          <a:p>
            <a:r>
              <a:rPr lang="en-US" sz="4000" b="1" dirty="0"/>
              <a:t>KM Roles and Responsibilities within Organizations</a:t>
            </a:r>
          </a:p>
        </p:txBody>
      </p:sp>
    </p:spTree>
    <p:extLst>
      <p:ext uri="{BB962C8B-B14F-4D97-AF65-F5344CB8AC3E}">
        <p14:creationId xmlns:p14="http://schemas.microsoft.com/office/powerpoint/2010/main" val="1921110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92670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There are a number of certification initiatives underway that will help solidify KM’s position as a bona fide field of professional practice: </a:t>
            </a:r>
          </a:p>
          <a:p>
            <a:pPr marL="800100" lvl="1" indent="-342900" algn="just">
              <a:lnSpc>
                <a:spcPct val="100000"/>
              </a:lnSpc>
              <a:spcBef>
                <a:spcPts val="1200"/>
              </a:spcBef>
              <a:buClr>
                <a:srgbClr val="973735"/>
              </a:buClr>
              <a:buSzPct val="50000"/>
              <a:buFont typeface="Wingdings" pitchFamily="2" charset="2"/>
              <a:buChar char="u"/>
              <a:defRPr/>
            </a:pPr>
            <a:r>
              <a:rPr lang="en-US" sz="2600" dirty="0" err="1"/>
              <a:t>KMPro</a:t>
            </a:r>
            <a:r>
              <a:rPr lang="en-US" sz="2600" dirty="0"/>
              <a:t>, the Knowledge Management Professional Society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Knowledge Management Benchmarking association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Information and Knowledge Management Society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International Association of Knowledge Management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3399781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2"/>
            <a:ext cx="11971176" cy="5181231"/>
          </a:xfrm>
        </p:spPr>
        <p:txBody>
          <a:bodyPr>
            <a:normAutofit fontScale="40000" lnSpcReduction="20000"/>
          </a:bodyPr>
          <a:lstStyle/>
          <a:p>
            <a:pPr marL="0" indent="0" algn="just">
              <a:lnSpc>
                <a:spcPct val="120000"/>
              </a:lnSpc>
              <a:spcBef>
                <a:spcPts val="1800"/>
              </a:spcBef>
              <a:buClr>
                <a:srgbClr val="973735"/>
              </a:buClr>
              <a:buSzPct val="50000"/>
              <a:buNone/>
              <a:defRPr/>
            </a:pPr>
            <a:r>
              <a:rPr lang="en-US" sz="6000" b="1" dirty="0"/>
              <a:t>A sample job: </a:t>
            </a:r>
            <a:r>
              <a:rPr lang="en-US" sz="6000" dirty="0"/>
              <a:t>C&amp;C International Computers and Consultants, Inc. (C&amp;C) is seeking a Knowledge Management Specialist to:</a:t>
            </a:r>
          </a:p>
          <a:p>
            <a:pPr marL="342900" indent="-342900" algn="just">
              <a:lnSpc>
                <a:spcPct val="120000"/>
              </a:lnSpc>
              <a:spcBef>
                <a:spcPts val="1800"/>
              </a:spcBef>
              <a:buClr>
                <a:srgbClr val="973735"/>
              </a:buClr>
              <a:buSzPct val="50000"/>
              <a:buFont typeface="Wingdings" pitchFamily="2" charset="2"/>
              <a:buChar char="u"/>
              <a:defRPr/>
            </a:pPr>
            <a:r>
              <a:rPr lang="en-US" sz="5000" dirty="0"/>
              <a:t>Help support NASA’s Knowledge Management processes, requirements, and business needs. </a:t>
            </a:r>
          </a:p>
          <a:p>
            <a:pPr marL="342900" indent="-342900" algn="just">
              <a:lnSpc>
                <a:spcPct val="120000"/>
              </a:lnSpc>
              <a:spcBef>
                <a:spcPts val="1800"/>
              </a:spcBef>
              <a:buClr>
                <a:srgbClr val="973735"/>
              </a:buClr>
              <a:buSzPct val="50000"/>
              <a:buFont typeface="Wingdings" pitchFamily="2" charset="2"/>
              <a:buChar char="u"/>
              <a:defRPr/>
            </a:pPr>
            <a:r>
              <a:rPr lang="en-US" sz="5000" dirty="0"/>
              <a:t>Develop processes and technical solutions for the identification, categorization, review/approval, maintenance and management, Retirement of knowledge, information, and data.</a:t>
            </a:r>
          </a:p>
          <a:p>
            <a:pPr marL="342900" indent="-342900" algn="just">
              <a:lnSpc>
                <a:spcPct val="120000"/>
              </a:lnSpc>
              <a:spcBef>
                <a:spcPts val="1800"/>
              </a:spcBef>
              <a:buClr>
                <a:srgbClr val="973735"/>
              </a:buClr>
              <a:buSzPct val="50000"/>
              <a:buFont typeface="Wingdings" pitchFamily="2" charset="2"/>
              <a:buChar char="u"/>
              <a:defRPr/>
            </a:pPr>
            <a:r>
              <a:rPr lang="en-US" sz="5000" dirty="0"/>
              <a:t>Provide support on knowledge retention and transition planning to ensure improved communications. </a:t>
            </a:r>
          </a:p>
          <a:p>
            <a:pPr marL="342900" indent="-342900" algn="just">
              <a:lnSpc>
                <a:spcPct val="120000"/>
              </a:lnSpc>
              <a:spcBef>
                <a:spcPts val="1800"/>
              </a:spcBef>
              <a:buClr>
                <a:srgbClr val="973735"/>
              </a:buClr>
              <a:buSzPct val="50000"/>
              <a:buFont typeface="Wingdings" pitchFamily="2" charset="2"/>
              <a:buChar char="u"/>
              <a:defRPr/>
            </a:pPr>
            <a:r>
              <a:rPr lang="en-US" sz="5000" dirty="0"/>
              <a:t>Develop a component of the customer’s KM training plan/program; and provides data, information, and knowledge (includes processes, roles, responsibilities, tools, systems, etc.) produced, consumed, utilized, distributed (internally and externally), and processed in daily operations of the IT support services program.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1877506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Where Does KM Belong in the Organization? </a:t>
            </a:r>
          </a:p>
          <a:p>
            <a:pPr marL="800100" lvl="1" indent="-342900" algn="just">
              <a:lnSpc>
                <a:spcPct val="100000"/>
              </a:lnSpc>
              <a:spcBef>
                <a:spcPts val="2400"/>
              </a:spcBef>
              <a:buClr>
                <a:srgbClr val="973735"/>
              </a:buClr>
              <a:buSzPct val="50000"/>
              <a:buFont typeface="Wingdings" pitchFamily="2" charset="2"/>
              <a:buChar char="u"/>
              <a:defRPr/>
            </a:pPr>
            <a:r>
              <a:rPr lang="en-US" dirty="0"/>
              <a:t>KM teams can be found in disparate business units including information technology, information management, human resources management, training, and strategy units.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18727371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Where Does KM Belong in the Organization? </a:t>
            </a:r>
          </a:p>
          <a:p>
            <a:pPr marL="0" indent="0" algn="just">
              <a:lnSpc>
                <a:spcPct val="100000"/>
              </a:lnSpc>
              <a:spcBef>
                <a:spcPts val="1200"/>
              </a:spcBef>
              <a:buClr>
                <a:srgbClr val="973735"/>
              </a:buClr>
              <a:buSzPct val="50000"/>
              <a:buNone/>
              <a:defRPr/>
            </a:pPr>
            <a:r>
              <a:rPr lang="en-US" sz="2400" b="1" dirty="0"/>
              <a:t>These are the recurring characteristics:</a:t>
            </a:r>
          </a:p>
          <a:p>
            <a:pPr marL="800100" lvl="1" indent="-342900" algn="just">
              <a:lnSpc>
                <a:spcPct val="100000"/>
              </a:lnSpc>
              <a:spcBef>
                <a:spcPts val="1200"/>
              </a:spcBef>
              <a:buClr>
                <a:srgbClr val="973735"/>
              </a:buClr>
              <a:buSzPct val="50000"/>
              <a:buFont typeface="Wingdings" pitchFamily="2" charset="2"/>
              <a:buChar char="u"/>
              <a:defRPr/>
            </a:pPr>
            <a:r>
              <a:rPr lang="en-US" dirty="0"/>
              <a:t>There is more emphasis on informal human networking than formal reporting structures</a:t>
            </a:r>
          </a:p>
          <a:p>
            <a:pPr marL="800100" lvl="1" indent="-342900" algn="just">
              <a:lnSpc>
                <a:spcPct val="100000"/>
              </a:lnSpc>
              <a:spcBef>
                <a:spcPts val="1200"/>
              </a:spcBef>
              <a:buClr>
                <a:srgbClr val="973735"/>
              </a:buClr>
              <a:buSzPct val="50000"/>
              <a:buFont typeface="Wingdings" pitchFamily="2" charset="2"/>
              <a:buChar char="u"/>
              <a:defRPr/>
            </a:pPr>
            <a:r>
              <a:rPr lang="en-US" dirty="0"/>
              <a:t>Leadership is distributed—thus a KM specialist in one business unit may lead on one aspect of KM, while responsibility for another aspect of KM resides elsewhere</a:t>
            </a:r>
          </a:p>
          <a:p>
            <a:pPr marL="800100" lvl="1" indent="-342900" algn="just">
              <a:lnSpc>
                <a:spcPct val="100000"/>
              </a:lnSpc>
              <a:spcBef>
                <a:spcPts val="1200"/>
              </a:spcBef>
              <a:buClr>
                <a:srgbClr val="973735"/>
              </a:buClr>
              <a:buSzPct val="50000"/>
              <a:buFont typeface="Wingdings" pitchFamily="2" charset="2"/>
              <a:buChar char="u"/>
              <a:defRPr/>
            </a:pPr>
            <a:r>
              <a:rPr lang="en-US" dirty="0"/>
              <a:t>A clear vision and set of plans/priorities provides a unifying factor across the network </a:t>
            </a:r>
          </a:p>
          <a:p>
            <a:pPr marL="800100" lvl="1" indent="-342900" algn="just">
              <a:lnSpc>
                <a:spcPct val="100000"/>
              </a:lnSpc>
              <a:spcBef>
                <a:spcPts val="1200"/>
              </a:spcBef>
              <a:buClr>
                <a:srgbClr val="973735"/>
              </a:buClr>
              <a:buSzPct val="50000"/>
              <a:buFont typeface="Wingdings" pitchFamily="2" charset="2"/>
              <a:buChar char="u"/>
              <a:defRPr/>
            </a:pPr>
            <a:r>
              <a:rPr lang="en-US" dirty="0"/>
              <a:t>Individual contributors are independent, yet interdependent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1049350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Where Does KM Belong in the Organization? </a:t>
            </a:r>
          </a:p>
          <a:p>
            <a:pPr marL="0" indent="0" algn="just">
              <a:lnSpc>
                <a:spcPct val="100000"/>
              </a:lnSpc>
              <a:spcBef>
                <a:spcPts val="1200"/>
              </a:spcBef>
              <a:buClr>
                <a:srgbClr val="973735"/>
              </a:buClr>
              <a:buSzPct val="50000"/>
              <a:buNone/>
              <a:defRPr/>
            </a:pPr>
            <a:r>
              <a:rPr lang="en-US" sz="2400" b="1" dirty="0"/>
              <a:t>These are the recurring characteristics (</a:t>
            </a:r>
            <a:r>
              <a:rPr lang="en-US" sz="2400" b="1" dirty="0" err="1"/>
              <a:t>con’t</a:t>
            </a:r>
            <a:r>
              <a:rPr lang="en-US" sz="2400" b="1" dirty="0"/>
              <a:t>):</a:t>
            </a:r>
          </a:p>
          <a:p>
            <a:pPr marL="800100" lvl="1" indent="-342900" algn="just">
              <a:lnSpc>
                <a:spcPct val="100000"/>
              </a:lnSpc>
              <a:spcBef>
                <a:spcPts val="2400"/>
              </a:spcBef>
              <a:buClr>
                <a:srgbClr val="973735"/>
              </a:buClr>
              <a:buSzPct val="50000"/>
              <a:buFont typeface="Wingdings" pitchFamily="2" charset="2"/>
              <a:buChar char="u"/>
              <a:defRPr/>
            </a:pPr>
            <a:r>
              <a:rPr lang="en-US" dirty="0"/>
              <a:t>“Boundary busting” (i.e., overcoming organizational “silos”) is achieved through conscious attention to bridging mechanisms</a:t>
            </a:r>
          </a:p>
          <a:p>
            <a:pPr marL="800100" lvl="1" indent="-342900" algn="just">
              <a:lnSpc>
                <a:spcPct val="100000"/>
              </a:lnSpc>
              <a:spcBef>
                <a:spcPts val="2400"/>
              </a:spcBef>
              <a:buClr>
                <a:srgbClr val="973735"/>
              </a:buClr>
              <a:buSzPct val="50000"/>
              <a:buFont typeface="Wingdings" pitchFamily="2" charset="2"/>
              <a:buChar char="u"/>
              <a:defRPr/>
            </a:pPr>
            <a:r>
              <a:rPr lang="en-US" dirty="0"/>
              <a:t>Communities of practice provide an effective way of knowledge networking across an organization</a:t>
            </a:r>
          </a:p>
          <a:p>
            <a:pPr marL="800100" lvl="1" indent="-342900" algn="just">
              <a:lnSpc>
                <a:spcPct val="100000"/>
              </a:lnSpc>
              <a:spcBef>
                <a:spcPts val="2400"/>
              </a:spcBef>
              <a:buClr>
                <a:srgbClr val="973735"/>
              </a:buClr>
              <a:buSzPct val="50000"/>
              <a:buFont typeface="Wingdings" pitchFamily="2" charset="2"/>
              <a:buChar char="u"/>
              <a:defRPr/>
            </a:pPr>
            <a:r>
              <a:rPr lang="en-US" dirty="0"/>
              <a:t>Virtual teams are often the organizational unit where the core work takes place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797751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74089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Where Does KM Belong in the Organization? </a:t>
            </a:r>
          </a:p>
          <a:p>
            <a:pPr marL="800100" lvl="1" indent="-342900" algn="just">
              <a:lnSpc>
                <a:spcPct val="100000"/>
              </a:lnSpc>
              <a:spcBef>
                <a:spcPts val="2400"/>
              </a:spcBef>
              <a:buClr>
                <a:srgbClr val="973735"/>
              </a:buClr>
              <a:buSzPct val="50000"/>
              <a:buFont typeface="Wingdings" pitchFamily="2" charset="2"/>
              <a:buChar char="u"/>
              <a:defRPr/>
            </a:pPr>
            <a:r>
              <a:rPr lang="en-US" sz="2600" dirty="0"/>
              <a:t>In practice, structure goes hand-in-hand with the organizational culture, since it is a knowledge-enriching culture that will largely determine how well the structure works.</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KM Profession</a:t>
            </a:r>
          </a:p>
        </p:txBody>
      </p:sp>
    </p:spTree>
    <p:extLst>
      <p:ext uri="{BB962C8B-B14F-4D97-AF65-F5344CB8AC3E}">
        <p14:creationId xmlns:p14="http://schemas.microsoft.com/office/powerpoint/2010/main" val="2937678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Ethics establishes a framework for making decisions based on values and for determining what is right and wrong</a:t>
            </a:r>
          </a:p>
          <a:p>
            <a:pPr marL="342900" indent="-342900" algn="just">
              <a:lnSpc>
                <a:spcPct val="100000"/>
              </a:lnSpc>
              <a:spcBef>
                <a:spcPts val="1200"/>
              </a:spcBef>
              <a:buClr>
                <a:srgbClr val="973735"/>
              </a:buClr>
              <a:buSzPct val="50000"/>
              <a:buFont typeface="Wingdings" pitchFamily="2" charset="2"/>
              <a:buChar char="u"/>
              <a:defRPr/>
            </a:pPr>
            <a:r>
              <a:rPr lang="en-US" sz="2600" dirty="0"/>
              <a:t>Ethical code for a profession is a system of standards to which those in the field agree to conform</a:t>
            </a:r>
          </a:p>
          <a:p>
            <a:pPr marL="342900" indent="-342900" algn="just">
              <a:lnSpc>
                <a:spcPct val="100000"/>
              </a:lnSpc>
              <a:spcBef>
                <a:spcPts val="1200"/>
              </a:spcBef>
              <a:buClr>
                <a:srgbClr val="973735"/>
              </a:buClr>
              <a:buSzPct val="50000"/>
              <a:buFont typeface="Wingdings" pitchFamily="2" charset="2"/>
              <a:buChar char="u"/>
              <a:defRPr/>
            </a:pPr>
            <a:r>
              <a:rPr lang="en-US" sz="2600" dirty="0"/>
              <a:t>Professionals in formal leadership roles have a responsibility to model the highest possible standards for those whom that manage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Ethics of KM</a:t>
            </a:r>
          </a:p>
        </p:txBody>
      </p:sp>
    </p:spTree>
    <p:extLst>
      <p:ext uri="{BB962C8B-B14F-4D97-AF65-F5344CB8AC3E}">
        <p14:creationId xmlns:p14="http://schemas.microsoft.com/office/powerpoint/2010/main" val="1912097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5181231"/>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Managing ethics involve process</a:t>
            </a:r>
          </a:p>
          <a:p>
            <a:pPr marL="800100" lvl="1" indent="-342900" algn="just">
              <a:lnSpc>
                <a:spcPct val="100000"/>
              </a:lnSpc>
              <a:spcBef>
                <a:spcPts val="1200"/>
              </a:spcBef>
              <a:buClr>
                <a:srgbClr val="973735"/>
              </a:buClr>
              <a:buSzPct val="50000"/>
              <a:buFont typeface="Wingdings" pitchFamily="2" charset="2"/>
              <a:buChar char="u"/>
              <a:defRPr/>
            </a:pPr>
            <a:r>
              <a:rPr lang="en-US" sz="2600" dirty="0"/>
              <a:t>Prevention, using codes of conduct and standard operating practices and providing landmark, fences and DMZs</a:t>
            </a:r>
          </a:p>
          <a:p>
            <a:pPr marL="800100" lvl="1" indent="-342900" algn="just">
              <a:lnSpc>
                <a:spcPct val="100000"/>
              </a:lnSpc>
              <a:spcBef>
                <a:spcPts val="1200"/>
              </a:spcBef>
              <a:buClr>
                <a:srgbClr val="973735"/>
              </a:buClr>
              <a:buSzPct val="50000"/>
              <a:buFont typeface="Wingdings" pitchFamily="2" charset="2"/>
              <a:buChar char="u"/>
              <a:defRPr/>
            </a:pPr>
            <a:r>
              <a:rPr lang="en-US" sz="2600" dirty="0"/>
              <a:t>Detection, using automated systems to enforce and monitor ethical compliance and to verify appropriate use of company assets</a:t>
            </a:r>
          </a:p>
          <a:p>
            <a:pPr marL="800100" lvl="1" indent="-342900" algn="just">
              <a:lnSpc>
                <a:spcPct val="100000"/>
              </a:lnSpc>
              <a:spcBef>
                <a:spcPts val="1200"/>
              </a:spcBef>
              <a:buClr>
                <a:srgbClr val="973735"/>
              </a:buClr>
              <a:buSzPct val="50000"/>
              <a:buFont typeface="Wingdings" pitchFamily="2" charset="2"/>
              <a:buChar char="u"/>
              <a:defRPr/>
            </a:pPr>
            <a:r>
              <a:rPr lang="en-US" sz="2600" dirty="0"/>
              <a:t>Reporting, employees able to report unethical behaviors (“whistleblowers”) without suffering any retaliation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Investigation, requires outside assistance in order to be thorough, fair and neutral</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Ethics of KM</a:t>
            </a:r>
          </a:p>
        </p:txBody>
      </p:sp>
    </p:spTree>
    <p:extLst>
      <p:ext uri="{BB962C8B-B14F-4D97-AF65-F5344CB8AC3E}">
        <p14:creationId xmlns:p14="http://schemas.microsoft.com/office/powerpoint/2010/main" val="22149912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875167" cy="4939407"/>
          </a:xfrm>
        </p:spPr>
        <p:txBody>
          <a:bodyPr>
            <a:normAutofit/>
          </a:bodyPr>
          <a:lstStyle/>
          <a:p>
            <a:pPr marL="457200" lvl="1" indent="0" algn="just">
              <a:lnSpc>
                <a:spcPct val="100000"/>
              </a:lnSpc>
              <a:spcBef>
                <a:spcPts val="1200"/>
              </a:spcBef>
              <a:buClr>
                <a:srgbClr val="973735"/>
              </a:buClr>
              <a:buSzPct val="50000"/>
              <a:buNone/>
              <a:defRPr/>
            </a:pPr>
            <a:r>
              <a:rPr lang="en-US" sz="2600" dirty="0"/>
              <a:t>1. List the key KM skills required </a:t>
            </a:r>
          </a:p>
          <a:p>
            <a:pPr marL="457200" lvl="1" indent="0" algn="just">
              <a:lnSpc>
                <a:spcPct val="100000"/>
              </a:lnSpc>
              <a:spcBef>
                <a:spcPts val="1200"/>
              </a:spcBef>
              <a:buClr>
                <a:srgbClr val="973735"/>
              </a:buClr>
              <a:buSzPct val="50000"/>
              <a:buNone/>
              <a:defRPr/>
            </a:pPr>
            <a:r>
              <a:rPr lang="en-US" sz="2600" dirty="0"/>
              <a:t>2. Describe the different roles that are required for a KM team</a:t>
            </a:r>
          </a:p>
          <a:p>
            <a:pPr marL="457200" lvl="1" indent="0" algn="just">
              <a:lnSpc>
                <a:spcPct val="100000"/>
              </a:lnSpc>
              <a:spcBef>
                <a:spcPts val="1200"/>
              </a:spcBef>
              <a:buClr>
                <a:srgbClr val="973735"/>
              </a:buClr>
              <a:buSzPct val="50000"/>
              <a:buNone/>
              <a:defRPr/>
            </a:pPr>
            <a:r>
              <a:rPr lang="en-US" sz="2600" dirty="0"/>
              <a:t>3. Understand how a CIO role can evolve into a CKO role or even a CLO position.</a:t>
            </a:r>
          </a:p>
          <a:p>
            <a:pPr marL="457200" lvl="1" indent="0" algn="just">
              <a:lnSpc>
                <a:spcPct val="100000"/>
              </a:lnSpc>
              <a:spcBef>
                <a:spcPts val="1200"/>
              </a:spcBef>
              <a:buClr>
                <a:srgbClr val="973735"/>
              </a:buClr>
              <a:buSzPct val="50000"/>
              <a:buNone/>
              <a:defRPr/>
            </a:pPr>
            <a:r>
              <a:rPr lang="en-US" sz="2600" dirty="0"/>
              <a:t>4. Identify the different types of potential KM employers.</a:t>
            </a:r>
          </a:p>
          <a:p>
            <a:pPr marL="457200" lvl="1" indent="0" algn="just">
              <a:lnSpc>
                <a:spcPct val="100000"/>
              </a:lnSpc>
              <a:spcBef>
                <a:spcPts val="1200"/>
              </a:spcBef>
              <a:buClr>
                <a:srgbClr val="973735"/>
              </a:buClr>
              <a:buSzPct val="50000"/>
              <a:buNone/>
              <a:defRPr/>
            </a:pPr>
            <a:r>
              <a:rPr lang="en-US" sz="2600" dirty="0"/>
              <a:t>5. Analyze the critical cognitive and attitudinal attributes that an ideal KM professional should possess.</a:t>
            </a:r>
          </a:p>
          <a:p>
            <a:pPr marL="457200" lvl="1" indent="0" algn="just">
              <a:lnSpc>
                <a:spcPct val="100000"/>
              </a:lnSpc>
              <a:spcBef>
                <a:spcPts val="1200"/>
              </a:spcBef>
              <a:buClr>
                <a:srgbClr val="973735"/>
              </a:buClr>
              <a:buSzPct val="50000"/>
              <a:buNone/>
              <a:defRPr/>
            </a:pPr>
            <a:r>
              <a:rPr lang="en-US" sz="2600" dirty="0"/>
              <a:t>6. Critically evaluate ethical issues in KM situations and their principles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714726"/>
            <a:ext cx="11823192" cy="4322181"/>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How would you devise a training program or a course curriculum to train KM professionals in the critical job skills they will need in the workplace?</a:t>
            </a:r>
          </a:p>
          <a:p>
            <a:pPr marL="514350" indent="-514350" algn="just">
              <a:lnSpc>
                <a:spcPct val="100000"/>
              </a:lnSpc>
              <a:spcBef>
                <a:spcPts val="1200"/>
              </a:spcBef>
              <a:buClr>
                <a:srgbClr val="973735"/>
              </a:buClr>
              <a:buSzPct val="100000"/>
              <a:buFont typeface="+mj-lt"/>
              <a:buAutoNum type="arabicPeriod"/>
              <a:defRPr/>
            </a:pPr>
            <a:r>
              <a:rPr lang="en-US" sz="2000" dirty="0"/>
              <a:t>Compare and contrast professional KM training courses with academic degree programs that integrate KM within their curricula.</a:t>
            </a:r>
          </a:p>
          <a:p>
            <a:pPr marL="514350" indent="-514350" algn="just">
              <a:lnSpc>
                <a:spcPct val="100000"/>
              </a:lnSpc>
              <a:spcBef>
                <a:spcPts val="1200"/>
              </a:spcBef>
              <a:buClr>
                <a:srgbClr val="973735"/>
              </a:buClr>
              <a:buSzPct val="100000"/>
              <a:buFont typeface="+mj-lt"/>
              <a:buAutoNum type="arabicPeriod"/>
              <a:defRPr/>
            </a:pPr>
            <a:r>
              <a:rPr lang="en-US" sz="2000" dirty="0"/>
              <a:t>In your opinion, what are the three critical ethical issues facing KM? Why have you selected these as being critical?</a:t>
            </a:r>
          </a:p>
          <a:p>
            <a:pPr marL="514350" indent="-514350" algn="just">
              <a:lnSpc>
                <a:spcPct val="100000"/>
              </a:lnSpc>
              <a:spcBef>
                <a:spcPts val="1200"/>
              </a:spcBef>
              <a:buClr>
                <a:srgbClr val="973735"/>
              </a:buClr>
              <a:buSzPct val="100000"/>
              <a:buFont typeface="+mj-lt"/>
              <a:buAutoNum type="arabicPeriod"/>
              <a:defRPr/>
            </a:pPr>
            <a:r>
              <a:rPr lang="en-US" sz="2000" dirty="0"/>
              <a:t>Draft a sample code of ethics for KM professionals. Explain/justify each element in your proposed code. What would be the best way of publicizing this? How would you make sure that KM professionals practice KM in an ethical fashion?</a:t>
            </a:r>
          </a:p>
          <a:p>
            <a:pPr marL="514350" indent="-514350" algn="just">
              <a:lnSpc>
                <a:spcPct val="100000"/>
              </a:lnSpc>
              <a:spcBef>
                <a:spcPts val="1200"/>
              </a:spcBef>
              <a:buClr>
                <a:srgbClr val="973735"/>
              </a:buClr>
              <a:buSzPct val="100000"/>
              <a:buFont typeface="+mj-lt"/>
              <a:buAutoNum type="arabicPeriod"/>
              <a:defRPr/>
            </a:pPr>
            <a:endParaRPr lang="en-US" sz="2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1327602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a:t>
            </a:r>
          </a:p>
        </p:txBody>
      </p:sp>
      <p:pic>
        <p:nvPicPr>
          <p:cNvPr id="8194" name="Picture 2" descr="Discussion Vectors &amp; Illustrations for Free Download | Freepik">
            <a:extLst>
              <a:ext uri="{FF2B5EF4-FFF2-40B4-BE49-F238E27FC236}">
                <a16:creationId xmlns:a16="http://schemas.microsoft.com/office/drawing/2014/main" id="{A642F2C7-2523-4678-C65A-F521C8D27C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9518" y="1783737"/>
            <a:ext cx="6382777" cy="418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3200</TotalTime>
  <Words>2254</Words>
  <Application>Microsoft Office PowerPoint</Application>
  <PresentationFormat>Widescreen</PresentationFormat>
  <Paragraphs>347</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Wingdings</vt:lpstr>
      <vt:lpstr>Office Theme</vt:lpstr>
      <vt:lpstr>Chapter 13 The Knowledge Management Team</vt:lpstr>
      <vt:lpstr>Objectives</vt:lpstr>
      <vt:lpstr>Introduction</vt:lpstr>
      <vt:lpstr>Introduction</vt:lpstr>
      <vt:lpstr>Introduction</vt:lpstr>
      <vt:lpstr>Introduction</vt:lpstr>
      <vt:lpstr>Introduction</vt:lpstr>
      <vt:lpstr>Introduction</vt:lpstr>
      <vt:lpstr>Introduction</vt:lpstr>
      <vt:lpstr>Introduction</vt:lpstr>
      <vt:lpstr>Major Categories of KM Roles</vt:lpstr>
      <vt:lpstr>Major Categories of KM Roles</vt:lpstr>
      <vt:lpstr>Major Categories of KM Roles</vt:lpstr>
      <vt:lpstr>Major Categories of KM Roles</vt:lpstr>
      <vt:lpstr>Major Categories of KM Roles</vt:lpstr>
      <vt:lpstr>Senior management roles</vt:lpstr>
      <vt:lpstr>Major Categories of KM Roles</vt:lpstr>
      <vt:lpstr>Major Categories of KM Roles</vt:lpstr>
      <vt:lpstr>Major Categories of KM Roles</vt:lpstr>
      <vt:lpstr>Major Categories of KM Roles</vt:lpstr>
      <vt:lpstr>Major Categories of KM Roles</vt:lpstr>
      <vt:lpstr>Major Categories of KM Roles</vt:lpstr>
      <vt:lpstr>Major Categories of KM Roles</vt:lpstr>
      <vt:lpstr>Major Categories of KM Roles</vt:lpstr>
      <vt:lpstr>Major Categories of KM Roles</vt:lpstr>
      <vt:lpstr>Major Categories of KM Roles</vt:lpstr>
      <vt:lpstr>KM Roles and Responsibilities within Organizations</vt:lpstr>
      <vt:lpstr>KM Roles and Responsibilities within Organizations</vt:lpstr>
      <vt:lpstr>The KM Profession</vt:lpstr>
      <vt:lpstr>The KM Profession</vt:lpstr>
      <vt:lpstr>The KM Profession</vt:lpstr>
      <vt:lpstr>The KM Profession</vt:lpstr>
      <vt:lpstr>The KM Profession</vt:lpstr>
      <vt:lpstr>The KM Profession</vt:lpstr>
      <vt:lpstr>Ethics of KM</vt:lpstr>
      <vt:lpstr>Ethics of KM</vt:lpstr>
      <vt:lpstr>Summary</vt:lpstr>
      <vt:lpstr>Discussion / Homework / Team Activities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118</cp:revision>
  <dcterms:created xsi:type="dcterms:W3CDTF">2021-01-25T08:25:31Z</dcterms:created>
  <dcterms:modified xsi:type="dcterms:W3CDTF">2023-09-20T21:12:17Z</dcterms:modified>
</cp:coreProperties>
</file>