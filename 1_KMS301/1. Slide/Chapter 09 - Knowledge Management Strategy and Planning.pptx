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6" r:id="rId2"/>
    <p:sldId id="278" r:id="rId3"/>
    <p:sldId id="313" r:id="rId4"/>
    <p:sldId id="404" r:id="rId5"/>
    <p:sldId id="405" r:id="rId6"/>
    <p:sldId id="406" r:id="rId7"/>
    <p:sldId id="441" r:id="rId8"/>
    <p:sldId id="322" r:id="rId9"/>
    <p:sldId id="415" r:id="rId10"/>
    <p:sldId id="416" r:id="rId11"/>
    <p:sldId id="417" r:id="rId12"/>
    <p:sldId id="418" r:id="rId13"/>
    <p:sldId id="425" r:id="rId14"/>
    <p:sldId id="426" r:id="rId15"/>
    <p:sldId id="427" r:id="rId16"/>
    <p:sldId id="428" r:id="rId17"/>
    <p:sldId id="421" r:id="rId18"/>
    <p:sldId id="429" r:id="rId19"/>
    <p:sldId id="422" r:id="rId20"/>
    <p:sldId id="430" r:id="rId21"/>
    <p:sldId id="431" r:id="rId22"/>
    <p:sldId id="432" r:id="rId23"/>
    <p:sldId id="434" r:id="rId24"/>
    <p:sldId id="324" r:id="rId25"/>
    <p:sldId id="412" r:id="rId26"/>
    <p:sldId id="435" r:id="rId27"/>
    <p:sldId id="436" r:id="rId28"/>
    <p:sldId id="414" r:id="rId29"/>
    <p:sldId id="325" r:id="rId30"/>
    <p:sldId id="438" r:id="rId31"/>
    <p:sldId id="326" r:id="rId32"/>
    <p:sldId id="328" r:id="rId33"/>
    <p:sldId id="323" r:id="rId34"/>
    <p:sldId id="439" r:id="rId35"/>
    <p:sldId id="329" r:id="rId36"/>
    <p:sldId id="440" r:id="rId37"/>
    <p:sldId id="45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9990" autoAdjust="0"/>
    <p:restoredTop sz="87320" autoAdjust="0"/>
  </p:normalViewPr>
  <p:slideViewPr>
    <p:cSldViewPr snapToGrid="0">
      <p:cViewPr varScale="1">
        <p:scale>
          <a:sx n="81" d="100"/>
          <a:sy n="81" d="100"/>
        </p:scale>
        <p:origin x="62" y="216"/>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3318112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2162057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3462213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034525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636316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1992297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1633606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1556927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543304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1429197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356780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328847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648283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98284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515885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1355698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1746007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3107357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3567819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640918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38381424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10634593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880045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4034100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210614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37190920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24707459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20015740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28650130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34787708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82946" y="2088858"/>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25138"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378" y="2241457"/>
            <a:ext cx="11851105"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fontScale="90000"/>
          </a:bodyPr>
          <a:lstStyle/>
          <a:p>
            <a:r>
              <a:rPr lang="en-US" sz="3600" b="1" dirty="0">
                <a:solidFill>
                  <a:schemeClr val="bg2">
                    <a:lumMod val="50000"/>
                  </a:schemeClr>
                </a:solidFill>
                <a:latin typeface="Arial" panose="020B0604020202020204" pitchFamily="34" charset="0"/>
                <a:cs typeface="Arial" panose="020B0604020202020204" pitchFamily="34" charset="0"/>
              </a:rPr>
              <a:t>Chapter 09</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Knowledge Management Strategy and Planning</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fontScale="92500" lnSpcReduction="20000"/>
          </a:bodyPr>
          <a:lstStyle/>
          <a:p>
            <a:pPr marL="342900" indent="-342900" algn="just">
              <a:lnSpc>
                <a:spcPct val="150000"/>
              </a:lnSpc>
              <a:spcBef>
                <a:spcPts val="600"/>
              </a:spcBef>
              <a:buClr>
                <a:srgbClr val="973735"/>
              </a:buClr>
              <a:buSzPct val="50000"/>
              <a:buFont typeface="Wingdings" pitchFamily="2" charset="2"/>
              <a:buChar char="u"/>
              <a:defRPr/>
            </a:pPr>
            <a:r>
              <a:rPr lang="en-US" dirty="0"/>
              <a:t>Developing a Knowledge Management Strategy</a:t>
            </a:r>
          </a:p>
          <a:p>
            <a:pPr marL="342900" indent="-342900" algn="just">
              <a:lnSpc>
                <a:spcPct val="150000"/>
              </a:lnSpc>
              <a:spcBef>
                <a:spcPts val="600"/>
              </a:spcBef>
              <a:buClr>
                <a:srgbClr val="973735"/>
              </a:buClr>
              <a:buSzPct val="50000"/>
              <a:buFont typeface="Wingdings" pitchFamily="2" charset="2"/>
              <a:buChar char="u"/>
              <a:defRPr/>
            </a:pPr>
            <a:r>
              <a:rPr lang="en-US" dirty="0"/>
              <a:t>Organizational Maturity Models</a:t>
            </a:r>
          </a:p>
          <a:p>
            <a:pPr marL="342900" indent="-342900" algn="just">
              <a:lnSpc>
                <a:spcPct val="150000"/>
              </a:lnSpc>
              <a:spcBef>
                <a:spcPts val="600"/>
              </a:spcBef>
              <a:buClr>
                <a:srgbClr val="973735"/>
              </a:buClr>
              <a:buSzPct val="50000"/>
              <a:buFont typeface="Wingdings" pitchFamily="2" charset="2"/>
              <a:buChar char="u"/>
              <a:defRPr/>
            </a:pPr>
            <a:r>
              <a:rPr lang="en-US" dirty="0"/>
              <a:t>Gap Analysis</a:t>
            </a:r>
          </a:p>
          <a:p>
            <a:pPr marL="342900" indent="-342900" algn="just">
              <a:lnSpc>
                <a:spcPct val="150000"/>
              </a:lnSpc>
              <a:spcBef>
                <a:spcPts val="600"/>
              </a:spcBef>
              <a:buClr>
                <a:srgbClr val="973735"/>
              </a:buClr>
              <a:buSzPct val="50000"/>
              <a:buFont typeface="Wingdings" pitchFamily="2" charset="2"/>
              <a:buChar char="u"/>
              <a:defRPr/>
            </a:pPr>
            <a:r>
              <a:rPr lang="en-US" dirty="0"/>
              <a:t>The KM Strategy Road Map                        </a:t>
            </a:r>
          </a:p>
          <a:p>
            <a:pPr marL="342900" indent="-342900" algn="just">
              <a:lnSpc>
                <a:spcPct val="150000"/>
              </a:lnSpc>
              <a:spcBef>
                <a:spcPts val="600"/>
              </a:spcBef>
              <a:buClr>
                <a:srgbClr val="973735"/>
              </a:buClr>
              <a:buSzPct val="50000"/>
              <a:buFont typeface="Wingdings" pitchFamily="2" charset="2"/>
              <a:buChar char="u"/>
              <a:defRPr/>
            </a:pPr>
            <a:r>
              <a:rPr lang="en-US" dirty="0"/>
              <a:t>Balancing Innovation and Organizational Structure</a:t>
            </a:r>
          </a:p>
          <a:p>
            <a:pPr marL="342900" indent="-342900" algn="just">
              <a:lnSpc>
                <a:spcPct val="150000"/>
              </a:lnSpc>
              <a:spcBef>
                <a:spcPts val="600"/>
              </a:spcBef>
              <a:buClr>
                <a:srgbClr val="973735"/>
              </a:buClr>
              <a:buSzPct val="50000"/>
              <a:buFont typeface="Wingdings" pitchFamily="2" charset="2"/>
              <a:buChar char="u"/>
              <a:defRPr/>
            </a:pPr>
            <a:r>
              <a:rPr lang="en-US" dirty="0"/>
              <a:t>Types of Knowledge Assets Produced</a:t>
            </a:r>
          </a:p>
          <a:p>
            <a:pPr marL="342900" indent="-342900" algn="just">
              <a:lnSpc>
                <a:spcPct val="150000"/>
              </a:lnSpc>
              <a:spcBef>
                <a:spcPts val="600"/>
              </a:spcBef>
              <a:buClr>
                <a:srgbClr val="973735"/>
              </a:buClr>
              <a:buSzPct val="50000"/>
              <a:buFont typeface="Wingdings" pitchFamily="2" charset="2"/>
              <a:buChar char="u"/>
              <a:defRPr/>
            </a:pPr>
            <a:r>
              <a:rPr lang="en-US" dirty="0"/>
              <a:t>The Role of Leadership and Different KM Leadership Styles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2653748"/>
            <a:ext cx="11867322" cy="3266120"/>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The KM Strategy </a:t>
            </a:r>
            <a:r>
              <a:rPr lang="en-US" dirty="0"/>
              <a:t>provides the basic building blocks used to achieve organizational learning and continuous improvement so as to </a:t>
            </a:r>
            <a:r>
              <a:rPr lang="en-US" b="1" dirty="0"/>
              <a:t>not waste time repeating mistakes </a:t>
            </a:r>
            <a:r>
              <a:rPr lang="en-US" dirty="0"/>
              <a:t>and so that everyone is aware of new and </a:t>
            </a:r>
            <a:r>
              <a:rPr lang="en-US" b="1" dirty="0"/>
              <a:t>better ways </a:t>
            </a:r>
            <a:r>
              <a:rPr lang="en-US" dirty="0"/>
              <a:t>of thinking and doing.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Developing a Knowledge Management Strategy</a:t>
            </a:r>
          </a:p>
        </p:txBody>
      </p:sp>
    </p:spTree>
    <p:extLst>
      <p:ext uri="{BB962C8B-B14F-4D97-AF65-F5344CB8AC3E}">
        <p14:creationId xmlns:p14="http://schemas.microsoft.com/office/powerpoint/2010/main" val="94861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971176" cy="4916960"/>
          </a:xfrm>
        </p:spPr>
        <p:txBody>
          <a:bodyPr>
            <a:normAutofit fontScale="92500" lnSpcReduction="20000"/>
          </a:bodyPr>
          <a:lstStyle/>
          <a:p>
            <a:pPr marL="342900" indent="-342900" algn="just">
              <a:lnSpc>
                <a:spcPct val="120000"/>
              </a:lnSpc>
              <a:spcBef>
                <a:spcPts val="1200"/>
              </a:spcBef>
              <a:buClr>
                <a:srgbClr val="973735"/>
              </a:buClr>
              <a:buSzPct val="50000"/>
              <a:buFont typeface="Wingdings" pitchFamily="2" charset="2"/>
              <a:buChar char="u"/>
              <a:defRPr/>
            </a:pPr>
            <a:r>
              <a:rPr lang="en-US" dirty="0" err="1"/>
              <a:t>Sveiby</a:t>
            </a:r>
            <a:r>
              <a:rPr lang="en-US" dirty="0"/>
              <a:t> (2001) developed a framework for categorizing the different types of KM initiatives. He uses three categories:</a:t>
            </a:r>
          </a:p>
          <a:p>
            <a:pPr marL="800100" lvl="1" indent="-342900" algn="just">
              <a:lnSpc>
                <a:spcPct val="120000"/>
              </a:lnSpc>
              <a:spcBef>
                <a:spcPts val="1200"/>
              </a:spcBef>
              <a:buClr>
                <a:srgbClr val="973735"/>
              </a:buClr>
              <a:buSzPct val="50000"/>
              <a:buFont typeface="Wingdings" pitchFamily="2" charset="2"/>
              <a:buChar char="u"/>
              <a:defRPr/>
            </a:pPr>
            <a:r>
              <a:rPr lang="en-US" sz="2600" dirty="0"/>
              <a:t>External structure initiatives (e.g., gain knowledge from customers, offer customers additional knowledge).</a:t>
            </a:r>
          </a:p>
          <a:p>
            <a:pPr marL="800100" lvl="1" indent="-342900" algn="just">
              <a:lnSpc>
                <a:spcPct val="120000"/>
              </a:lnSpc>
              <a:spcBef>
                <a:spcPts val="1200"/>
              </a:spcBef>
              <a:buClr>
                <a:srgbClr val="973735"/>
              </a:buClr>
              <a:buSzPct val="50000"/>
              <a:buFont typeface="Wingdings" pitchFamily="2" charset="2"/>
              <a:buChar char="u"/>
              <a:defRPr/>
            </a:pPr>
            <a:r>
              <a:rPr lang="en-US" sz="2600" dirty="0"/>
              <a:t>Internal structure initiatives (e.g., build a knowledge-sharing culture, create new-revenues from existing knowledge, capture the individual’s tacit knowledge, store it, spread it and reuse it and measure knowledge-creating processes and intangible assets produced).</a:t>
            </a:r>
          </a:p>
          <a:p>
            <a:pPr marL="800100" lvl="1" indent="-342900" algn="just">
              <a:lnSpc>
                <a:spcPct val="120000"/>
              </a:lnSpc>
              <a:spcBef>
                <a:spcPts val="1200"/>
              </a:spcBef>
              <a:buClr>
                <a:srgbClr val="973735"/>
              </a:buClr>
              <a:buSzPct val="50000"/>
              <a:buFont typeface="Wingdings" pitchFamily="2" charset="2"/>
              <a:buChar char="u"/>
              <a:defRPr/>
            </a:pPr>
            <a:r>
              <a:rPr lang="en-US" sz="2600" dirty="0"/>
              <a:t>Competence initiatives (e.g., create careers based on KM, create microenvironments for knowledge transfer, and learn from simulations and pilot projects).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Developing a Knowledge Management Strategy</a:t>
            </a:r>
          </a:p>
        </p:txBody>
      </p:sp>
    </p:spTree>
    <p:extLst>
      <p:ext uri="{BB962C8B-B14F-4D97-AF65-F5344CB8AC3E}">
        <p14:creationId xmlns:p14="http://schemas.microsoft.com/office/powerpoint/2010/main" val="2729892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91696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KM Strategy: A number of different types of business needs may trigger the need for KM :</a:t>
            </a:r>
          </a:p>
          <a:p>
            <a:pPr marL="800100" lvl="1" indent="-342900" algn="just">
              <a:lnSpc>
                <a:spcPct val="100000"/>
              </a:lnSpc>
              <a:spcBef>
                <a:spcPts val="1800"/>
              </a:spcBef>
              <a:buClr>
                <a:srgbClr val="973735"/>
              </a:buClr>
              <a:buSzPct val="50000"/>
              <a:buFont typeface="Wingdings" pitchFamily="2" charset="2"/>
              <a:buChar char="u"/>
              <a:defRPr/>
            </a:pPr>
            <a:r>
              <a:rPr lang="en-US" dirty="0"/>
              <a:t>Imminent retirement of key personnel</a:t>
            </a:r>
          </a:p>
          <a:p>
            <a:pPr marL="800100" lvl="1" indent="-342900" algn="just">
              <a:lnSpc>
                <a:spcPct val="100000"/>
              </a:lnSpc>
              <a:spcBef>
                <a:spcPts val="1800"/>
              </a:spcBef>
              <a:buClr>
                <a:srgbClr val="973735"/>
              </a:buClr>
              <a:buSzPct val="50000"/>
              <a:buFont typeface="Wingdings" pitchFamily="2" charset="2"/>
              <a:buChar char="u"/>
              <a:defRPr/>
            </a:pPr>
            <a:r>
              <a:rPr lang="en-US" dirty="0"/>
              <a:t>Need for innovation to compete in dynamic, challenging business environment</a:t>
            </a:r>
          </a:p>
          <a:p>
            <a:pPr marL="800100" lvl="1" indent="-342900" algn="just">
              <a:lnSpc>
                <a:spcPct val="100000"/>
              </a:lnSpc>
              <a:spcBef>
                <a:spcPts val="1800"/>
              </a:spcBef>
              <a:buClr>
                <a:srgbClr val="973735"/>
              </a:buClr>
              <a:buSzPct val="50000"/>
              <a:buFont typeface="Wingdings" pitchFamily="2" charset="2"/>
              <a:buChar char="u"/>
              <a:defRPr/>
            </a:pPr>
            <a:r>
              <a:rPr lang="en-US" dirty="0"/>
              <a:t>Need for internal efficiencies in order to reduce cost and effort (e.g. time to market a new product)</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Developing a Knowledge Management Strategy</a:t>
            </a:r>
          </a:p>
        </p:txBody>
      </p:sp>
    </p:spTree>
    <p:extLst>
      <p:ext uri="{BB962C8B-B14F-4D97-AF65-F5344CB8AC3E}">
        <p14:creationId xmlns:p14="http://schemas.microsoft.com/office/powerpoint/2010/main" val="577181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916960"/>
          </a:xfrm>
        </p:spPr>
        <p:txBody>
          <a:bodyPr>
            <a:normAutofit/>
          </a:bodyPr>
          <a:lstStyle/>
          <a:p>
            <a:pPr marL="0" indent="0" algn="just">
              <a:lnSpc>
                <a:spcPct val="110000"/>
              </a:lnSpc>
              <a:spcBef>
                <a:spcPts val="1200"/>
              </a:spcBef>
              <a:buClr>
                <a:srgbClr val="973735"/>
              </a:buClr>
              <a:buSzPct val="50000"/>
              <a:buNone/>
              <a:defRPr/>
            </a:pPr>
            <a:r>
              <a:rPr lang="en-US" b="1" dirty="0"/>
              <a:t>Knowledge Audit</a:t>
            </a:r>
          </a:p>
          <a:p>
            <a:pPr marL="342900" indent="-342900" algn="just">
              <a:lnSpc>
                <a:spcPct val="100000"/>
              </a:lnSpc>
              <a:spcBef>
                <a:spcPts val="1800"/>
              </a:spcBef>
              <a:buClr>
                <a:srgbClr val="973735"/>
              </a:buClr>
              <a:buSzPct val="50000"/>
              <a:buFont typeface="Wingdings" pitchFamily="2" charset="2"/>
              <a:buChar char="u"/>
              <a:defRPr/>
            </a:pPr>
            <a:r>
              <a:rPr lang="en-US" sz="2600" dirty="0"/>
              <a:t>A knowledge audit service </a:t>
            </a:r>
            <a:r>
              <a:rPr lang="en-US" sz="2600" b="1" dirty="0"/>
              <a:t>identifies the core information and knowledge needs and uses in an organization</a:t>
            </a:r>
            <a:r>
              <a:rPr lang="en-US" sz="2600" dirty="0"/>
              <a:t>. It also identifies gaps, duplications, and flows and how they contribute to business goals.</a:t>
            </a:r>
          </a:p>
          <a:p>
            <a:pPr marL="342900" indent="-342900" algn="just">
              <a:lnSpc>
                <a:spcPct val="100000"/>
              </a:lnSpc>
              <a:spcBef>
                <a:spcPts val="1800"/>
              </a:spcBef>
              <a:buClr>
                <a:srgbClr val="973735"/>
              </a:buClr>
              <a:buSzPct val="50000"/>
              <a:buFont typeface="Wingdings" pitchFamily="2" charset="2"/>
              <a:buChar char="u"/>
              <a:defRPr/>
            </a:pPr>
            <a:r>
              <a:rPr lang="en-US" sz="2600" dirty="0"/>
              <a:t>A knowledge inventory (sometimes called an information audit or a knowledge map) is a practical way of coming to grips with “</a:t>
            </a:r>
            <a:r>
              <a:rPr lang="en-US" sz="2600" b="1" dirty="0"/>
              <a:t>knowing what you know</a:t>
            </a:r>
            <a:r>
              <a:rPr lang="en-US" sz="2600" dirty="0"/>
              <a:t>.” This inventory is usually performed by applying the principles of information resources management (IRM)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Developing a Knowledge Management Strategy</a:t>
            </a:r>
          </a:p>
        </p:txBody>
      </p:sp>
    </p:spTree>
    <p:extLst>
      <p:ext uri="{BB962C8B-B14F-4D97-AF65-F5344CB8AC3E}">
        <p14:creationId xmlns:p14="http://schemas.microsoft.com/office/powerpoint/2010/main" val="427777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916960"/>
          </a:xfrm>
        </p:spPr>
        <p:txBody>
          <a:bodyPr>
            <a:normAutofit fontScale="92500" lnSpcReduction="20000"/>
          </a:bodyPr>
          <a:lstStyle/>
          <a:p>
            <a:pPr marL="0" indent="0" algn="just">
              <a:lnSpc>
                <a:spcPct val="110000"/>
              </a:lnSpc>
              <a:spcBef>
                <a:spcPts val="1200"/>
              </a:spcBef>
              <a:buClr>
                <a:srgbClr val="973735"/>
              </a:buClr>
              <a:buSzPct val="50000"/>
              <a:buNone/>
              <a:defRPr/>
            </a:pPr>
            <a:r>
              <a:rPr lang="en-US" sz="3000" b="1" dirty="0"/>
              <a:t>Knowledge Audit</a:t>
            </a:r>
          </a:p>
          <a:p>
            <a:pPr marL="342900" indent="-342900" algn="just">
              <a:lnSpc>
                <a:spcPct val="120000"/>
              </a:lnSpc>
              <a:spcBef>
                <a:spcPts val="1200"/>
              </a:spcBef>
              <a:buClr>
                <a:srgbClr val="973735"/>
              </a:buClr>
              <a:buSzPct val="50000"/>
              <a:buFont typeface="Wingdings" pitchFamily="2" charset="2"/>
              <a:buChar char="u"/>
              <a:defRPr/>
            </a:pPr>
            <a:r>
              <a:rPr lang="en-US" dirty="0"/>
              <a:t>A knowledge audit can produce the following </a:t>
            </a:r>
            <a:r>
              <a:rPr lang="en-US" b="1" dirty="0"/>
              <a:t>types of results</a:t>
            </a:r>
            <a:r>
              <a:rPr lang="en-US" dirty="0"/>
              <a:t>:</a:t>
            </a:r>
          </a:p>
          <a:p>
            <a:pPr marL="800100" lvl="1" indent="-342900" algn="just">
              <a:lnSpc>
                <a:spcPct val="120000"/>
              </a:lnSpc>
              <a:spcBef>
                <a:spcPts val="1200"/>
              </a:spcBef>
              <a:buClr>
                <a:srgbClr val="973735"/>
              </a:buClr>
              <a:buSzPct val="50000"/>
              <a:buFont typeface="Wingdings" pitchFamily="2" charset="2"/>
              <a:buChar char="u"/>
              <a:defRPr/>
            </a:pPr>
            <a:r>
              <a:rPr lang="en-US" sz="2600" dirty="0"/>
              <a:t>Identification of </a:t>
            </a:r>
            <a:r>
              <a:rPr lang="en-US" sz="2600" b="1" dirty="0"/>
              <a:t>core knowledge assets </a:t>
            </a:r>
            <a:r>
              <a:rPr lang="en-US" sz="2600" dirty="0"/>
              <a:t>and flows – who creates, who uses.</a:t>
            </a:r>
          </a:p>
          <a:p>
            <a:pPr marL="800100" lvl="1" indent="-342900" algn="just">
              <a:lnSpc>
                <a:spcPct val="120000"/>
              </a:lnSpc>
              <a:spcBef>
                <a:spcPts val="1200"/>
              </a:spcBef>
              <a:buClr>
                <a:srgbClr val="973735"/>
              </a:buClr>
              <a:buSzPct val="50000"/>
              <a:buFont typeface="Wingdings" pitchFamily="2" charset="2"/>
              <a:buChar char="u"/>
              <a:defRPr/>
            </a:pPr>
            <a:r>
              <a:rPr lang="en-US" sz="2600" dirty="0"/>
              <a:t>Identification of </a:t>
            </a:r>
            <a:r>
              <a:rPr lang="en-US" sz="2600" b="1" dirty="0"/>
              <a:t>gaps</a:t>
            </a:r>
            <a:r>
              <a:rPr lang="en-US" sz="2600" dirty="0"/>
              <a:t> in information and knowledge needed to manage the business effectively.</a:t>
            </a:r>
          </a:p>
          <a:p>
            <a:pPr marL="800100" lvl="1" indent="-342900" algn="just">
              <a:lnSpc>
                <a:spcPct val="120000"/>
              </a:lnSpc>
              <a:spcBef>
                <a:spcPts val="1200"/>
              </a:spcBef>
              <a:buClr>
                <a:srgbClr val="973735"/>
              </a:buClr>
              <a:buSzPct val="50000"/>
              <a:buFont typeface="Wingdings" pitchFamily="2" charset="2"/>
              <a:buChar char="u"/>
              <a:defRPr/>
            </a:pPr>
            <a:r>
              <a:rPr lang="en-US" sz="2600" dirty="0"/>
              <a:t>Areas of information </a:t>
            </a:r>
            <a:r>
              <a:rPr lang="en-US" sz="2600" b="1" dirty="0"/>
              <a:t>policy and ownership </a:t>
            </a:r>
            <a:r>
              <a:rPr lang="en-US" sz="2600" dirty="0"/>
              <a:t>that need improving.</a:t>
            </a:r>
          </a:p>
          <a:p>
            <a:pPr marL="800100" lvl="1" indent="-342900" algn="just">
              <a:lnSpc>
                <a:spcPct val="120000"/>
              </a:lnSpc>
              <a:spcBef>
                <a:spcPts val="1200"/>
              </a:spcBef>
              <a:buClr>
                <a:srgbClr val="973735"/>
              </a:buClr>
              <a:buSzPct val="50000"/>
              <a:buFont typeface="Wingdings" pitchFamily="2" charset="2"/>
              <a:buChar char="u"/>
              <a:defRPr/>
            </a:pPr>
            <a:r>
              <a:rPr lang="en-US" sz="2600" dirty="0"/>
              <a:t>Opportunities to </a:t>
            </a:r>
            <a:r>
              <a:rPr lang="en-US" sz="2600" b="1" dirty="0"/>
              <a:t>reduce information-handling costs</a:t>
            </a:r>
            <a:r>
              <a:rPr lang="en-US" sz="2600" dirty="0"/>
              <a:t>.</a:t>
            </a:r>
          </a:p>
          <a:p>
            <a:pPr marL="800100" lvl="1" indent="-342900" algn="just">
              <a:lnSpc>
                <a:spcPct val="120000"/>
              </a:lnSpc>
              <a:spcBef>
                <a:spcPts val="1200"/>
              </a:spcBef>
              <a:buClr>
                <a:srgbClr val="973735"/>
              </a:buClr>
              <a:buSzPct val="50000"/>
              <a:buFont typeface="Wingdings" pitchFamily="2" charset="2"/>
              <a:buChar char="u"/>
              <a:defRPr/>
            </a:pPr>
            <a:r>
              <a:rPr lang="en-US" sz="2600" dirty="0"/>
              <a:t>Opportunities to </a:t>
            </a:r>
            <a:r>
              <a:rPr lang="en-US" sz="2600" b="1" dirty="0"/>
              <a:t>improve coordination and access </a:t>
            </a:r>
            <a:r>
              <a:rPr lang="en-US" sz="2600" dirty="0"/>
              <a:t>to commonly needed information/</a:t>
            </a:r>
          </a:p>
          <a:p>
            <a:pPr marL="800100" lvl="1" indent="-342900" algn="just">
              <a:lnSpc>
                <a:spcPct val="120000"/>
              </a:lnSpc>
              <a:spcBef>
                <a:spcPts val="1200"/>
              </a:spcBef>
              <a:buClr>
                <a:srgbClr val="973735"/>
              </a:buClr>
              <a:buSzPct val="50000"/>
              <a:buFont typeface="Wingdings" pitchFamily="2" charset="2"/>
              <a:buChar char="u"/>
              <a:defRPr/>
            </a:pPr>
            <a:r>
              <a:rPr lang="en-US" sz="2600" dirty="0"/>
              <a:t>A clearer understanding of </a:t>
            </a:r>
            <a:r>
              <a:rPr lang="en-US" sz="2600" b="1" dirty="0"/>
              <a:t>the contribution of knowledge </a:t>
            </a:r>
            <a:r>
              <a:rPr lang="en-US" sz="2600" dirty="0"/>
              <a:t>to business results.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Developing a Knowledge Management Strategy</a:t>
            </a:r>
          </a:p>
        </p:txBody>
      </p:sp>
    </p:spTree>
    <p:extLst>
      <p:ext uri="{BB962C8B-B14F-4D97-AF65-F5344CB8AC3E}">
        <p14:creationId xmlns:p14="http://schemas.microsoft.com/office/powerpoint/2010/main" val="1880191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948070"/>
            <a:ext cx="11971176" cy="3971798"/>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Another type of knowledge audit looks at the overall maturity level or organizational readiness for KM. </a:t>
            </a:r>
          </a:p>
          <a:p>
            <a:pPr marL="342900" indent="-342900" algn="just">
              <a:lnSpc>
                <a:spcPct val="100000"/>
              </a:lnSpc>
              <a:spcBef>
                <a:spcPts val="1800"/>
              </a:spcBef>
              <a:buClr>
                <a:srgbClr val="973735"/>
              </a:buClr>
              <a:buSzPct val="50000"/>
              <a:buFont typeface="Wingdings" pitchFamily="2" charset="2"/>
              <a:buChar char="u"/>
              <a:defRPr/>
            </a:pPr>
            <a:r>
              <a:rPr lang="en-US" sz="2600" dirty="0"/>
              <a:t>The notion of an optimal point or a threshold point that should be reached before effective knowledge management can be implemented is inherent in a number of organizational, KM, and community maturity models. </a:t>
            </a:r>
          </a:p>
          <a:p>
            <a:pPr marL="342900" indent="-342900" algn="just">
              <a:lnSpc>
                <a:spcPct val="100000"/>
              </a:lnSpc>
              <a:spcBef>
                <a:spcPts val="1800"/>
              </a:spcBef>
              <a:buClr>
                <a:srgbClr val="973735"/>
              </a:buClr>
              <a:buSzPct val="50000"/>
              <a:buFont typeface="Wingdings" pitchFamily="2" charset="2"/>
              <a:buChar char="u"/>
              <a:defRPr/>
            </a:pPr>
            <a:r>
              <a:rPr lang="en-US" sz="2600" dirty="0"/>
              <a:t>Maturity models have their roots in software engineering.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2011923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888436"/>
            <a:ext cx="11971176" cy="4435470"/>
          </a:xfrm>
        </p:spPr>
        <p:txBody>
          <a:bodyPr>
            <a:normAutofit fontScale="92500" lnSpcReduction="20000"/>
          </a:bodyPr>
          <a:lstStyle/>
          <a:p>
            <a:pPr marL="342900" indent="-342900" algn="just">
              <a:lnSpc>
                <a:spcPct val="120000"/>
              </a:lnSpc>
              <a:spcBef>
                <a:spcPts val="1800"/>
              </a:spcBef>
              <a:buClr>
                <a:srgbClr val="973735"/>
              </a:buClr>
              <a:buSzPct val="50000"/>
              <a:buFont typeface="Wingdings" pitchFamily="2" charset="2"/>
              <a:buChar char="u"/>
              <a:defRPr/>
            </a:pPr>
            <a:r>
              <a:rPr lang="en-US" dirty="0"/>
              <a:t>A maturity model: “a descriptive model of the stages through which organizations progress as they define, implement, evolve, and improve their processes. </a:t>
            </a:r>
          </a:p>
          <a:p>
            <a:pPr marL="342900" indent="-342900" algn="just">
              <a:lnSpc>
                <a:spcPct val="120000"/>
              </a:lnSpc>
              <a:spcBef>
                <a:spcPts val="1800"/>
              </a:spcBef>
              <a:buClr>
                <a:srgbClr val="973735"/>
              </a:buClr>
              <a:buSzPct val="50000"/>
              <a:buFont typeface="Wingdings" pitchFamily="2" charset="2"/>
              <a:buChar char="u"/>
              <a:defRPr/>
            </a:pPr>
            <a:r>
              <a:rPr lang="en-US" dirty="0"/>
              <a:t>This model serves a guide for selecting process improvement strategies by facilitating the determination of the current process capabilities and the identification of issues most critical to quality and process improvement within a particular domain, such as software engineering or systems engineering”</a:t>
            </a:r>
          </a:p>
          <a:p>
            <a:pPr marL="342900" indent="-342900" algn="just">
              <a:lnSpc>
                <a:spcPct val="120000"/>
              </a:lnSpc>
              <a:spcBef>
                <a:spcPts val="1800"/>
              </a:spcBef>
              <a:buClr>
                <a:srgbClr val="973735"/>
              </a:buClr>
              <a:buSzPct val="50000"/>
              <a:buFont typeface="Wingdings" pitchFamily="2" charset="2"/>
              <a:buChar char="u"/>
              <a:defRPr/>
            </a:pPr>
            <a:r>
              <a:rPr lang="en-US" dirty="0"/>
              <a:t>There are a number of organizational and KM maturity models, most derived from the Capability Maturity Model, CMM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336479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9774"/>
            <a:ext cx="11837504" cy="5176050"/>
          </a:xfrm>
        </p:spPr>
        <p:txBody>
          <a:bodyPr>
            <a:noAutofit/>
          </a:bodyPr>
          <a:lstStyle/>
          <a:p>
            <a:pPr marL="0" indent="0" algn="just">
              <a:lnSpc>
                <a:spcPct val="100000"/>
              </a:lnSpc>
              <a:spcBef>
                <a:spcPts val="1200"/>
              </a:spcBef>
              <a:buClr>
                <a:srgbClr val="973735"/>
              </a:buClr>
              <a:buSzPct val="50000"/>
              <a:buNone/>
              <a:defRPr/>
            </a:pPr>
            <a:r>
              <a:rPr lang="en-US" sz="2600" dirty="0"/>
              <a:t>The five stages of the CMM are:</a:t>
            </a:r>
          </a:p>
          <a:p>
            <a:pPr marL="457200" lvl="1" indent="0" algn="just">
              <a:lnSpc>
                <a:spcPct val="100000"/>
              </a:lnSpc>
              <a:spcBef>
                <a:spcPts val="1200"/>
              </a:spcBef>
              <a:buClr>
                <a:srgbClr val="973735"/>
              </a:buClr>
              <a:buSzPct val="50000"/>
              <a:buNone/>
              <a:defRPr/>
            </a:pPr>
            <a:r>
              <a:rPr lang="en-US" b="1" dirty="0"/>
              <a:t>1. Initial</a:t>
            </a:r>
            <a:r>
              <a:rPr lang="en-US" dirty="0"/>
              <a:t>: Processes are ad-hoc, chaotic, or not well defined.</a:t>
            </a:r>
          </a:p>
          <a:p>
            <a:pPr marL="457200" lvl="1" indent="0" algn="just">
              <a:lnSpc>
                <a:spcPct val="100000"/>
              </a:lnSpc>
              <a:spcBef>
                <a:spcPts val="1200"/>
              </a:spcBef>
              <a:buClr>
                <a:srgbClr val="973735"/>
              </a:buClr>
              <a:buSzPct val="50000"/>
              <a:buNone/>
              <a:defRPr/>
            </a:pPr>
            <a:r>
              <a:rPr lang="en-US" b="1" dirty="0"/>
              <a:t>2. Repeatable</a:t>
            </a:r>
            <a:r>
              <a:rPr lang="en-US" dirty="0"/>
              <a:t>: Basic processes are established and there is a level of discipline to stick to these processes.</a:t>
            </a:r>
          </a:p>
          <a:p>
            <a:pPr marL="457200" lvl="1" indent="0" algn="just">
              <a:lnSpc>
                <a:spcPct val="100000"/>
              </a:lnSpc>
              <a:spcBef>
                <a:spcPts val="1200"/>
              </a:spcBef>
              <a:buClr>
                <a:srgbClr val="973735"/>
              </a:buClr>
              <a:buSzPct val="50000"/>
              <a:buNone/>
              <a:defRPr/>
            </a:pPr>
            <a:r>
              <a:rPr lang="en-US" b="1" dirty="0"/>
              <a:t>3. Defined</a:t>
            </a:r>
            <a:r>
              <a:rPr lang="en-US" dirty="0"/>
              <a:t>: All processes are defined, documented, standardized, and integrated into each other.</a:t>
            </a:r>
          </a:p>
          <a:p>
            <a:pPr marL="457200" lvl="1" indent="0" algn="just">
              <a:lnSpc>
                <a:spcPct val="100000"/>
              </a:lnSpc>
              <a:spcBef>
                <a:spcPts val="1200"/>
              </a:spcBef>
              <a:buClr>
                <a:srgbClr val="973735"/>
              </a:buClr>
              <a:buSzPct val="50000"/>
              <a:buNone/>
              <a:defRPr/>
            </a:pPr>
            <a:r>
              <a:rPr lang="en-US" b="1" dirty="0"/>
              <a:t>4. Managed</a:t>
            </a:r>
            <a:r>
              <a:rPr lang="en-US" dirty="0"/>
              <a:t>: Processes are measured by collecting detailed data on the processes and their quality.</a:t>
            </a:r>
          </a:p>
          <a:p>
            <a:pPr marL="457200" lvl="1" indent="0" algn="just">
              <a:lnSpc>
                <a:spcPct val="100000"/>
              </a:lnSpc>
              <a:spcBef>
                <a:spcPts val="1200"/>
              </a:spcBef>
              <a:buClr>
                <a:srgbClr val="973735"/>
              </a:buClr>
              <a:buSzPct val="50000"/>
              <a:buNone/>
              <a:defRPr/>
            </a:pPr>
            <a:r>
              <a:rPr lang="en-US" b="1" dirty="0"/>
              <a:t>5. Optimizing</a:t>
            </a:r>
            <a:r>
              <a:rPr lang="en-US" dirty="0"/>
              <a:t>: Continuous process improvement is adopted and in place by quantitative feedback and from piloting new ideas and technologies.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278973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2068630"/>
            <a:ext cx="11971176" cy="4777194"/>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graphicFrame>
        <p:nvGraphicFramePr>
          <p:cNvPr id="5" name="Object 4">
            <a:extLst>
              <a:ext uri="{FF2B5EF4-FFF2-40B4-BE49-F238E27FC236}">
                <a16:creationId xmlns:a16="http://schemas.microsoft.com/office/drawing/2014/main" id="{131FBDFB-F45B-6F27-2320-E63D77A229C8}"/>
              </a:ext>
            </a:extLst>
          </p:cNvPr>
          <p:cNvGraphicFramePr>
            <a:graphicFrameLocks noChangeAspect="1"/>
          </p:cNvGraphicFramePr>
          <p:nvPr>
            <p:extLst>
              <p:ext uri="{D42A27DB-BD31-4B8C-83A1-F6EECF244321}">
                <p14:modId xmlns:p14="http://schemas.microsoft.com/office/powerpoint/2010/main" val="3761776301"/>
              </p:ext>
            </p:extLst>
          </p:nvPr>
        </p:nvGraphicFramePr>
        <p:xfrm>
          <a:off x="2297825" y="1698487"/>
          <a:ext cx="7375525" cy="3756025"/>
        </p:xfrm>
        <a:graphic>
          <a:graphicData uri="http://schemas.openxmlformats.org/presentationml/2006/ole">
            <mc:AlternateContent xmlns:mc="http://schemas.openxmlformats.org/markup-compatibility/2006">
              <mc:Choice xmlns:v="urn:schemas-microsoft-com:vml" Requires="v">
                <p:oleObj name="Bitmap Image" r:id="rId3" imgW="7376040" imgH="3756600" progId="PBrush">
                  <p:embed/>
                </p:oleObj>
              </mc:Choice>
              <mc:Fallback>
                <p:oleObj name="Bitmap Image" r:id="rId3" imgW="7376040" imgH="3756600" progId="PBrush">
                  <p:embed/>
                  <p:pic>
                    <p:nvPicPr>
                      <p:cNvPr id="0" name=""/>
                      <p:cNvPicPr/>
                      <p:nvPr/>
                    </p:nvPicPr>
                    <p:blipFill>
                      <a:blip r:embed="rId4"/>
                      <a:stretch>
                        <a:fillRect/>
                      </a:stretch>
                    </p:blipFill>
                    <p:spPr>
                      <a:xfrm>
                        <a:off x="2297825" y="1698487"/>
                        <a:ext cx="7375525" cy="375602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CCA3CA9-0A99-73E1-B265-79B0A6F50D69}"/>
              </a:ext>
            </a:extLst>
          </p:cNvPr>
          <p:cNvGraphicFramePr>
            <a:graphicFrameLocks noChangeAspect="1"/>
          </p:cNvGraphicFramePr>
          <p:nvPr>
            <p:extLst>
              <p:ext uri="{D42A27DB-BD31-4B8C-83A1-F6EECF244321}">
                <p14:modId xmlns:p14="http://schemas.microsoft.com/office/powerpoint/2010/main" val="3093055548"/>
              </p:ext>
            </p:extLst>
          </p:nvPr>
        </p:nvGraphicFramePr>
        <p:xfrm>
          <a:off x="3916017" y="5683021"/>
          <a:ext cx="4512366" cy="355987"/>
        </p:xfrm>
        <a:graphic>
          <a:graphicData uri="http://schemas.openxmlformats.org/presentationml/2006/ole">
            <mc:AlternateContent xmlns:mc="http://schemas.openxmlformats.org/markup-compatibility/2006">
              <mc:Choice xmlns:v="urn:schemas-microsoft-com:vml" Requires="v">
                <p:oleObj name="Bitmap Image" r:id="rId5" imgW="5212080" imgH="411480" progId="PBrush">
                  <p:embed/>
                </p:oleObj>
              </mc:Choice>
              <mc:Fallback>
                <p:oleObj name="Bitmap Image" r:id="rId5" imgW="5212080" imgH="411480" progId="PBrush">
                  <p:embed/>
                  <p:pic>
                    <p:nvPicPr>
                      <p:cNvPr id="0" name=""/>
                      <p:cNvPicPr/>
                      <p:nvPr/>
                    </p:nvPicPr>
                    <p:blipFill>
                      <a:blip r:embed="rId6"/>
                      <a:stretch>
                        <a:fillRect/>
                      </a:stretch>
                    </p:blipFill>
                    <p:spPr>
                      <a:xfrm>
                        <a:off x="3916017" y="5683021"/>
                        <a:ext cx="4512366" cy="355987"/>
                      </a:xfrm>
                      <a:prstGeom prst="rect">
                        <a:avLst/>
                      </a:prstGeom>
                    </p:spPr>
                  </p:pic>
                </p:oleObj>
              </mc:Fallback>
            </mc:AlternateContent>
          </a:graphicData>
        </a:graphic>
      </p:graphicFrame>
    </p:spTree>
    <p:extLst>
      <p:ext uri="{BB962C8B-B14F-4D97-AF65-F5344CB8AC3E}">
        <p14:creationId xmlns:p14="http://schemas.microsoft.com/office/powerpoint/2010/main" val="267876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Stages of organizational maturity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Chaotic:</a:t>
            </a:r>
          </a:p>
          <a:p>
            <a:pPr marL="1257300" lvl="2" indent="-342900" algn="just">
              <a:lnSpc>
                <a:spcPct val="100000"/>
              </a:lnSpc>
              <a:spcBef>
                <a:spcPts val="1800"/>
              </a:spcBef>
              <a:buClr>
                <a:srgbClr val="973735"/>
              </a:buClr>
              <a:buSzPct val="50000"/>
              <a:buFont typeface="Wingdings" pitchFamily="2" charset="2"/>
              <a:buChar char="u"/>
              <a:defRPr/>
            </a:pPr>
            <a:r>
              <a:rPr lang="en-US" sz="2400" dirty="0" err="1"/>
              <a:t>Noncohesive</a:t>
            </a:r>
            <a:r>
              <a:rPr lang="en-US" sz="2400" dirty="0"/>
              <a:t> culture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Decision making in-flight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Leadership structure vague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Operation model undefined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Employees evaporating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2937779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Stages of organizational maturity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Ad hoc:</a:t>
            </a:r>
          </a:p>
          <a:p>
            <a:pPr marL="1257300" lvl="2" indent="-342900" algn="just">
              <a:lnSpc>
                <a:spcPct val="100000"/>
              </a:lnSpc>
              <a:spcBef>
                <a:spcPts val="1800"/>
              </a:spcBef>
              <a:buClr>
                <a:srgbClr val="973735"/>
              </a:buClr>
              <a:buSzPct val="50000"/>
              <a:buFont typeface="Wingdings" pitchFamily="2" charset="2"/>
              <a:buChar char="u"/>
              <a:defRPr/>
            </a:pPr>
            <a:r>
              <a:rPr lang="en-US" sz="2400" dirty="0"/>
              <a:t>Multiple local cultures, leadership structures, and operation models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Local decision making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Employee turnover high except in preferred classes of employees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748116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Stages of organizational maturity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Organized:</a:t>
            </a:r>
          </a:p>
          <a:p>
            <a:pPr marL="1257300" lvl="2" indent="-342900" algn="just">
              <a:lnSpc>
                <a:spcPct val="100000"/>
              </a:lnSpc>
              <a:spcBef>
                <a:spcPts val="1800"/>
              </a:spcBef>
              <a:buClr>
                <a:srgbClr val="973735"/>
              </a:buClr>
              <a:buSzPct val="50000"/>
              <a:buFont typeface="Wingdings" pitchFamily="2" charset="2"/>
              <a:buChar char="u"/>
              <a:defRPr/>
            </a:pPr>
            <a:r>
              <a:rPr lang="en-US" sz="2400" dirty="0"/>
              <a:t>Similar local cultures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Local decision making based on corporate strategy</a:t>
            </a:r>
          </a:p>
          <a:p>
            <a:pPr marL="1257300" lvl="2" indent="-342900" algn="just">
              <a:lnSpc>
                <a:spcPct val="100000"/>
              </a:lnSpc>
              <a:spcBef>
                <a:spcPts val="1800"/>
              </a:spcBef>
              <a:buClr>
                <a:srgbClr val="973735"/>
              </a:buClr>
              <a:buSzPct val="50000"/>
              <a:buFont typeface="Wingdings" pitchFamily="2" charset="2"/>
              <a:buChar char="u"/>
              <a:defRPr/>
            </a:pPr>
            <a:r>
              <a:rPr lang="en-US" sz="2400" dirty="0"/>
              <a:t>Local leadership linked to corporate leadership team</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Corporate operation model pushed down to local level</a:t>
            </a:r>
          </a:p>
          <a:p>
            <a:pPr marL="1257300" lvl="2" indent="-342900" algn="just">
              <a:lnSpc>
                <a:spcPct val="100000"/>
              </a:lnSpc>
              <a:spcBef>
                <a:spcPts val="1800"/>
              </a:spcBef>
              <a:buClr>
                <a:srgbClr val="973735"/>
              </a:buClr>
              <a:buSzPct val="50000"/>
              <a:buFont typeface="Wingdings" pitchFamily="2" charset="2"/>
              <a:buChar char="u"/>
              <a:defRPr/>
            </a:pPr>
            <a:r>
              <a:rPr lang="en-US" sz="2400" dirty="0"/>
              <a:t>Stable employee base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3594852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Stages of organizational maturity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Managed:</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Cohesive corporate culture and operation model</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Corporate strategy drives operational tactics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Corporate leadership team coaches and empowers local leaders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Employees recruited and retained based on strategic direction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3813219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Stages of organizational maturity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Agile:</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Culture adapts strategically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Operation model changes dynamically based on environmental changes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Professionals compete to work for corporation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1054071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37414"/>
            <a:ext cx="11777870"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KM Maturity Model</a:t>
            </a:r>
          </a:p>
          <a:p>
            <a:pPr marL="800100" lvl="1" indent="-342900" algn="just">
              <a:lnSpc>
                <a:spcPct val="100000"/>
              </a:lnSpc>
              <a:spcBef>
                <a:spcPts val="1800"/>
              </a:spcBef>
              <a:buClr>
                <a:srgbClr val="973735"/>
              </a:buClr>
              <a:buSzPct val="50000"/>
              <a:buFont typeface="Wingdings" pitchFamily="2" charset="2"/>
              <a:buChar char="u"/>
              <a:defRPr/>
            </a:pPr>
            <a:r>
              <a:rPr lang="en-US" dirty="0" err="1"/>
              <a:t>Paulzen</a:t>
            </a:r>
            <a:r>
              <a:rPr lang="en-US" dirty="0"/>
              <a:t> and Perc (2002) have proposed a knowledge process quality mode (KPQM) based on the major tenets of quality management and process engineering.</a:t>
            </a:r>
          </a:p>
          <a:p>
            <a:pPr marL="800100" lvl="1" indent="-342900" algn="just">
              <a:lnSpc>
                <a:spcPct val="100000"/>
              </a:lnSpc>
              <a:spcBef>
                <a:spcPts val="1800"/>
              </a:spcBef>
              <a:buClr>
                <a:srgbClr val="973735"/>
              </a:buClr>
              <a:buSzPct val="50000"/>
              <a:buFont typeface="Wingdings" pitchFamily="2" charset="2"/>
              <a:buChar char="u"/>
              <a:defRPr/>
            </a:pPr>
            <a:r>
              <a:rPr lang="en-US" dirty="0"/>
              <a:t>The authors make the assumption that since software development is a knowledge-based activity, it is valid to adapt these models for KM.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143551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37414"/>
            <a:ext cx="11787809" cy="520841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KM Maturity Model</a:t>
            </a:r>
          </a:p>
          <a:p>
            <a:pPr marL="800100" lvl="1" indent="-342900" algn="just">
              <a:lnSpc>
                <a:spcPct val="100000"/>
              </a:lnSpc>
              <a:spcBef>
                <a:spcPts val="1800"/>
              </a:spcBef>
              <a:buClr>
                <a:srgbClr val="973735"/>
              </a:buClr>
              <a:buSzPct val="50000"/>
              <a:buFont typeface="Wingdings" pitchFamily="2" charset="2"/>
              <a:buChar char="u"/>
              <a:defRPr/>
            </a:pPr>
            <a:r>
              <a:rPr lang="en-US" b="1" dirty="0"/>
              <a:t>The Forrester Group KM maturity </a:t>
            </a:r>
            <a:r>
              <a:rPr lang="en-US" dirty="0"/>
              <a:t>model describes the different stages of maturity in terms of how people are supported throughout the KM Cycle.</a:t>
            </a:r>
          </a:p>
          <a:p>
            <a:pPr marL="800100" lvl="1" indent="-342900" algn="just">
              <a:lnSpc>
                <a:spcPct val="100000"/>
              </a:lnSpc>
              <a:spcBef>
                <a:spcPts val="1800"/>
              </a:spcBef>
              <a:buClr>
                <a:srgbClr val="973735"/>
              </a:buClr>
              <a:buSzPct val="50000"/>
              <a:buFont typeface="Wingdings" pitchFamily="2" charset="2"/>
              <a:buChar char="u"/>
              <a:defRPr/>
            </a:pPr>
            <a:r>
              <a:rPr lang="en-US" dirty="0"/>
              <a:t>This model is quite useful in determining </a:t>
            </a:r>
            <a:r>
              <a:rPr lang="en-US" b="1" dirty="0"/>
              <a:t>the level of knowledge support </a:t>
            </a:r>
            <a:r>
              <a:rPr lang="en-US" dirty="0"/>
              <a:t>that will be needed for effective KM to be established within a given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3677895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2782956"/>
            <a:ext cx="11877261" cy="406286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b="1" dirty="0"/>
              <a:t>CoP Maturity Model</a:t>
            </a:r>
          </a:p>
          <a:p>
            <a:pPr marL="800100" lvl="1" indent="-342900" algn="just">
              <a:lnSpc>
                <a:spcPct val="100000"/>
              </a:lnSpc>
              <a:spcBef>
                <a:spcPts val="1800"/>
              </a:spcBef>
              <a:buClr>
                <a:srgbClr val="973735"/>
              </a:buClr>
              <a:buSzPct val="50000"/>
              <a:buFont typeface="Wingdings" pitchFamily="2" charset="2"/>
              <a:buChar char="u"/>
              <a:defRPr/>
            </a:pPr>
            <a:r>
              <a:rPr lang="en-US" dirty="0"/>
              <a:t>Maturity models have also been applied to the CoP life cycle.</a:t>
            </a:r>
          </a:p>
          <a:p>
            <a:pPr marL="800100" lvl="1" indent="-342900" algn="just">
              <a:lnSpc>
                <a:spcPct val="100000"/>
              </a:lnSpc>
              <a:spcBef>
                <a:spcPts val="1800"/>
              </a:spcBef>
              <a:buClr>
                <a:srgbClr val="973735"/>
              </a:buClr>
              <a:buSzPct val="50000"/>
              <a:buFont typeface="Wingdings" pitchFamily="2" charset="2"/>
              <a:buChar char="u"/>
              <a:defRPr/>
            </a:pPr>
            <a:r>
              <a:rPr lang="en-US" dirty="0"/>
              <a:t>A CoP maturity model can serve as a good road map to show what steps need to be taken to move communities to the next stage.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1787329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45520EC2-8165-A34B-DB12-156AE9AD050E}"/>
              </a:ext>
            </a:extLst>
          </p:cNvPr>
          <p:cNvGraphicFramePr>
            <a:graphicFrameLocks noChangeAspect="1"/>
          </p:cNvGraphicFramePr>
          <p:nvPr>
            <p:extLst>
              <p:ext uri="{D42A27DB-BD31-4B8C-83A1-F6EECF244321}">
                <p14:modId xmlns:p14="http://schemas.microsoft.com/office/powerpoint/2010/main" val="3209225235"/>
              </p:ext>
            </p:extLst>
          </p:nvPr>
        </p:nvGraphicFramePr>
        <p:xfrm>
          <a:off x="4991607" y="1177172"/>
          <a:ext cx="7200393" cy="4722316"/>
        </p:xfrm>
        <a:graphic>
          <a:graphicData uri="http://schemas.openxmlformats.org/presentationml/2006/ole">
            <mc:AlternateContent xmlns:mc="http://schemas.openxmlformats.org/markup-compatibility/2006">
              <mc:Choice xmlns:v="urn:schemas-microsoft-com:vml" Requires="v">
                <p:oleObj name="Bitmap Image" r:id="rId3" imgW="7528680" imgH="4937760" progId="PBrush">
                  <p:embed/>
                </p:oleObj>
              </mc:Choice>
              <mc:Fallback>
                <p:oleObj name="Bitmap Image" r:id="rId3" imgW="7528680" imgH="4937760" progId="PBrush">
                  <p:embed/>
                  <p:pic>
                    <p:nvPicPr>
                      <p:cNvPr id="0" name=""/>
                      <p:cNvPicPr/>
                      <p:nvPr/>
                    </p:nvPicPr>
                    <p:blipFill>
                      <a:blip r:embed="rId4"/>
                      <a:stretch>
                        <a:fillRect/>
                      </a:stretch>
                    </p:blipFill>
                    <p:spPr>
                      <a:xfrm>
                        <a:off x="4991607" y="1177172"/>
                        <a:ext cx="7200393" cy="4722316"/>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9035387" cy="709226"/>
          </a:xfrm>
        </p:spPr>
        <p:txBody>
          <a:bodyPr>
            <a:normAutofit/>
          </a:bodyPr>
          <a:lstStyle/>
          <a:p>
            <a:r>
              <a:rPr lang="en-US" sz="4000" b="1" dirty="0"/>
              <a:t>Organizational Maturity Models</a:t>
            </a:r>
          </a:p>
        </p:txBody>
      </p:sp>
      <p:graphicFrame>
        <p:nvGraphicFramePr>
          <p:cNvPr id="7" name="Object 6">
            <a:extLst>
              <a:ext uri="{FF2B5EF4-FFF2-40B4-BE49-F238E27FC236}">
                <a16:creationId xmlns:a16="http://schemas.microsoft.com/office/drawing/2014/main" id="{3A179CBB-878E-3F42-6C06-5F0D0776310D}"/>
              </a:ext>
            </a:extLst>
          </p:cNvPr>
          <p:cNvGraphicFramePr>
            <a:graphicFrameLocks noChangeAspect="1"/>
          </p:cNvGraphicFramePr>
          <p:nvPr>
            <p:extLst>
              <p:ext uri="{D42A27DB-BD31-4B8C-83A1-F6EECF244321}">
                <p14:modId xmlns:p14="http://schemas.microsoft.com/office/powerpoint/2010/main" val="1307401637"/>
              </p:ext>
            </p:extLst>
          </p:nvPr>
        </p:nvGraphicFramePr>
        <p:xfrm>
          <a:off x="6130995" y="6059125"/>
          <a:ext cx="5301836" cy="342584"/>
        </p:xfrm>
        <a:graphic>
          <a:graphicData uri="http://schemas.openxmlformats.org/presentationml/2006/ole">
            <mc:AlternateContent xmlns:mc="http://schemas.openxmlformats.org/markup-compatibility/2006">
              <mc:Choice xmlns:v="urn:schemas-microsoft-com:vml" Requires="v">
                <p:oleObj name="Bitmap Image" r:id="rId5" imgW="6141600" imgH="396360" progId="PBrush">
                  <p:embed/>
                </p:oleObj>
              </mc:Choice>
              <mc:Fallback>
                <p:oleObj name="Bitmap Image" r:id="rId5" imgW="6141600" imgH="396360" progId="PBrush">
                  <p:embed/>
                  <p:pic>
                    <p:nvPicPr>
                      <p:cNvPr id="0" name=""/>
                      <p:cNvPicPr/>
                      <p:nvPr/>
                    </p:nvPicPr>
                    <p:blipFill>
                      <a:blip r:embed="rId6"/>
                      <a:stretch>
                        <a:fillRect/>
                      </a:stretch>
                    </p:blipFill>
                    <p:spPr>
                      <a:xfrm>
                        <a:off x="6130995" y="6059125"/>
                        <a:ext cx="5301836" cy="342584"/>
                      </a:xfrm>
                      <a:prstGeom prst="rect">
                        <a:avLst/>
                      </a:prstGeom>
                    </p:spPr>
                  </p:pic>
                </p:oleObj>
              </mc:Fallback>
            </mc:AlternateContent>
          </a:graphicData>
        </a:graphic>
      </p:graphicFrame>
      <p:sp>
        <p:nvSpPr>
          <p:cNvPr id="11" name="Content Placeholder 3">
            <a:extLst>
              <a:ext uri="{FF2B5EF4-FFF2-40B4-BE49-F238E27FC236}">
                <a16:creationId xmlns:a16="http://schemas.microsoft.com/office/drawing/2014/main" id="{48E2DBE3-A2B2-C117-D85F-8A9432FF42F6}"/>
              </a:ext>
            </a:extLst>
          </p:cNvPr>
          <p:cNvSpPr txBox="1">
            <a:spLocks/>
          </p:cNvSpPr>
          <p:nvPr/>
        </p:nvSpPr>
        <p:spPr>
          <a:xfrm>
            <a:off x="0" y="1637414"/>
            <a:ext cx="11971176" cy="520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ts val="1200"/>
              </a:spcBef>
              <a:buClr>
                <a:srgbClr val="973735"/>
              </a:buClr>
              <a:buSzPct val="50000"/>
              <a:buFont typeface="Wingdings" pitchFamily="2" charset="2"/>
              <a:buChar char="u"/>
              <a:defRPr/>
            </a:pPr>
            <a:r>
              <a:rPr lang="en-US" b="1" dirty="0"/>
              <a:t>CoP Maturity Model: </a:t>
            </a:r>
          </a:p>
        </p:txBody>
      </p:sp>
    </p:spTree>
    <p:extLst>
      <p:ext uri="{BB962C8B-B14F-4D97-AF65-F5344CB8AC3E}">
        <p14:creationId xmlns:p14="http://schemas.microsoft.com/office/powerpoint/2010/main" val="3994205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37414"/>
            <a:ext cx="11837504" cy="5208410"/>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CoP Maturity Model: </a:t>
            </a:r>
          </a:p>
          <a:p>
            <a:pPr marL="0" indent="0" algn="just">
              <a:lnSpc>
                <a:spcPct val="100000"/>
              </a:lnSpc>
              <a:spcBef>
                <a:spcPts val="1800"/>
              </a:spcBef>
              <a:buClr>
                <a:srgbClr val="973735"/>
              </a:buClr>
              <a:buSzPct val="50000"/>
              <a:buNone/>
              <a:defRPr/>
            </a:pPr>
            <a:r>
              <a:rPr lang="en-US" sz="2600" dirty="0"/>
              <a:t>Major features of six maturity models </a:t>
            </a:r>
          </a:p>
          <a:p>
            <a:pPr marL="457200" lvl="1" indent="0" algn="just">
              <a:lnSpc>
                <a:spcPct val="100000"/>
              </a:lnSpc>
              <a:spcBef>
                <a:spcPts val="1800"/>
              </a:spcBef>
              <a:buClr>
                <a:srgbClr val="973735"/>
              </a:buClr>
              <a:buSzPct val="50000"/>
              <a:buNone/>
              <a:defRPr/>
            </a:pPr>
            <a:r>
              <a:rPr lang="en-US" b="1" dirty="0"/>
              <a:t>1. Paulk organizational maturity</a:t>
            </a:r>
            <a:r>
              <a:rPr lang="en-US" dirty="0"/>
              <a:t>: Represents the adoption of a new technology or process within an organization, which is a very good match for the introduction of new KM functions.</a:t>
            </a:r>
          </a:p>
          <a:p>
            <a:pPr marL="457200" lvl="1" indent="0" algn="just">
              <a:lnSpc>
                <a:spcPct val="100000"/>
              </a:lnSpc>
              <a:spcBef>
                <a:spcPts val="1800"/>
              </a:spcBef>
              <a:buClr>
                <a:srgbClr val="973735"/>
              </a:buClr>
              <a:buSzPct val="50000"/>
              <a:buNone/>
              <a:defRPr/>
            </a:pPr>
            <a:r>
              <a:rPr lang="en-US" b="1" dirty="0"/>
              <a:t>2. Fujitsu organizational maturity</a:t>
            </a:r>
            <a:r>
              <a:rPr lang="en-US" dirty="0"/>
              <a:t>: Provides a fast and easy way of assessing how cohesive or pervasive a culture is within a given organization.</a:t>
            </a:r>
          </a:p>
          <a:p>
            <a:pPr marL="457200" lvl="1" indent="0" algn="just">
              <a:lnSpc>
                <a:spcPct val="100000"/>
              </a:lnSpc>
              <a:spcBef>
                <a:spcPts val="1800"/>
              </a:spcBef>
              <a:buClr>
                <a:srgbClr val="973735"/>
              </a:buClr>
              <a:buSzPct val="50000"/>
              <a:buNone/>
              <a:defRPr/>
            </a:pPr>
            <a:r>
              <a:rPr lang="en-US" b="1" dirty="0"/>
              <a:t>3. Infosys KM</a:t>
            </a:r>
            <a:r>
              <a:rPr lang="en-US" dirty="0"/>
              <a:t>: A model that is much more specific and allows diagnosis of specific KM behaviors </a:t>
            </a:r>
          </a:p>
          <a:p>
            <a:pPr marL="457200" lvl="1" indent="0" algn="just">
              <a:lnSpc>
                <a:spcPct val="100000"/>
              </a:lnSpc>
              <a:spcBef>
                <a:spcPts val="18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2392372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37414"/>
            <a:ext cx="11971176" cy="5208410"/>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CoP Maturity Model: </a:t>
            </a:r>
          </a:p>
          <a:p>
            <a:pPr marL="0" indent="0" algn="just">
              <a:lnSpc>
                <a:spcPct val="100000"/>
              </a:lnSpc>
              <a:spcBef>
                <a:spcPts val="1800"/>
              </a:spcBef>
              <a:buClr>
                <a:srgbClr val="973735"/>
              </a:buClr>
              <a:buSzPct val="50000"/>
              <a:buNone/>
              <a:defRPr/>
            </a:pPr>
            <a:r>
              <a:rPr lang="en-US" sz="2600" dirty="0"/>
              <a:t>Major features of six maturity models </a:t>
            </a:r>
          </a:p>
          <a:p>
            <a:pPr marL="457200" lvl="1" indent="0" algn="just">
              <a:lnSpc>
                <a:spcPct val="100000"/>
              </a:lnSpc>
              <a:spcBef>
                <a:spcPts val="1800"/>
              </a:spcBef>
              <a:buClr>
                <a:srgbClr val="973735"/>
              </a:buClr>
              <a:buSzPct val="50000"/>
              <a:buNone/>
              <a:defRPr/>
            </a:pPr>
            <a:r>
              <a:rPr lang="en-US" b="1" dirty="0"/>
              <a:t>4. </a:t>
            </a:r>
            <a:r>
              <a:rPr lang="en-US" b="1" dirty="0" err="1"/>
              <a:t>Paulzen</a:t>
            </a:r>
            <a:r>
              <a:rPr lang="en-US" b="1" dirty="0"/>
              <a:t> and Perc KPQM</a:t>
            </a:r>
            <a:r>
              <a:rPr lang="en-US" dirty="0"/>
              <a:t>: The KPQM is quite similar to the Infosys KM model and also allows for incremental introduction of KM initiatives into an organization based on the phase of KM maturity.</a:t>
            </a:r>
          </a:p>
          <a:p>
            <a:pPr marL="457200" lvl="1" indent="0" algn="just">
              <a:lnSpc>
                <a:spcPct val="100000"/>
              </a:lnSpc>
              <a:spcBef>
                <a:spcPts val="1800"/>
              </a:spcBef>
              <a:buClr>
                <a:srgbClr val="973735"/>
              </a:buClr>
              <a:buSzPct val="50000"/>
              <a:buNone/>
              <a:defRPr/>
            </a:pPr>
            <a:r>
              <a:rPr lang="en-US" b="1" dirty="0"/>
              <a:t>5. Forrester Group KM maturity model</a:t>
            </a:r>
            <a:r>
              <a:rPr lang="en-US" dirty="0"/>
              <a:t>: A model that focuses on how employees acquire relevant content that is particularly well suited for an incremental introduction of  knowledge support services within an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1073812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37414"/>
            <a:ext cx="11688417" cy="5208410"/>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CoP Maturity Model: </a:t>
            </a:r>
          </a:p>
          <a:p>
            <a:pPr marL="0" indent="0" algn="just">
              <a:lnSpc>
                <a:spcPct val="100000"/>
              </a:lnSpc>
              <a:spcBef>
                <a:spcPts val="1800"/>
              </a:spcBef>
              <a:buClr>
                <a:srgbClr val="973735"/>
              </a:buClr>
              <a:buSzPct val="50000"/>
              <a:buNone/>
              <a:defRPr/>
            </a:pPr>
            <a:r>
              <a:rPr lang="en-US" sz="2600" dirty="0"/>
              <a:t>Major features of six maturity models </a:t>
            </a:r>
          </a:p>
          <a:p>
            <a:pPr marL="457200" lvl="1" indent="0" algn="just">
              <a:lnSpc>
                <a:spcPct val="100000"/>
              </a:lnSpc>
              <a:spcBef>
                <a:spcPts val="1800"/>
              </a:spcBef>
              <a:buClr>
                <a:srgbClr val="973735"/>
              </a:buClr>
              <a:buSzPct val="50000"/>
              <a:buNone/>
              <a:defRPr/>
            </a:pPr>
            <a:r>
              <a:rPr lang="en-US" b="1" dirty="0"/>
              <a:t>6. Wenger CoP lifecycle model</a:t>
            </a:r>
            <a:r>
              <a:rPr lang="en-US" dirty="0"/>
              <a:t>: The CoP lifecycle model can also provide a good indicator of the cultural evolution of an organization, particularly as it pertains to the coalescing of informal networks of peers who regularly share valuable knowledge with one another. The CoP lifecycle model can also help identify key KM roles and responsibilities that should be introduced at each phase.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Maturity Models</a:t>
            </a:r>
          </a:p>
        </p:txBody>
      </p:sp>
    </p:spTree>
    <p:extLst>
      <p:ext uri="{BB962C8B-B14F-4D97-AF65-F5344CB8AC3E}">
        <p14:creationId xmlns:p14="http://schemas.microsoft.com/office/powerpoint/2010/main" val="4257034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2534478"/>
            <a:ext cx="11777870" cy="3385390"/>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difference between the organization’s existing and desired KM state is analyzed in terms of enablers and barriers to successful KM implementation.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Gap Analysis</a:t>
            </a:r>
          </a:p>
        </p:txBody>
      </p:sp>
    </p:spTree>
    <p:extLst>
      <p:ext uri="{BB962C8B-B14F-4D97-AF65-F5344CB8AC3E}">
        <p14:creationId xmlns:p14="http://schemas.microsoft.com/office/powerpoint/2010/main" val="1721651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5470254" y="5447799"/>
            <a:ext cx="6431612" cy="650628"/>
          </a:xfrm>
        </p:spPr>
        <p:txBody>
          <a:bodyPr>
            <a:normAutofit/>
          </a:bodyPr>
          <a:lstStyle/>
          <a:p>
            <a:pPr marL="0" indent="0" algn="just">
              <a:lnSpc>
                <a:spcPct val="150000"/>
              </a:lnSpc>
              <a:spcBef>
                <a:spcPts val="600"/>
              </a:spcBef>
              <a:buClr>
                <a:srgbClr val="973735"/>
              </a:buClr>
              <a:buSzPct val="50000"/>
              <a:buNone/>
              <a:defRPr/>
            </a:pPr>
            <a:r>
              <a:rPr lang="en-US" sz="2600" b="0" i="0" dirty="0">
                <a:solidFill>
                  <a:srgbClr val="000000"/>
                </a:solidFill>
                <a:effectLst/>
                <a:latin typeface="Arial" panose="020B0604020202020204" pitchFamily="34" charset="0"/>
              </a:rPr>
              <a:t>The strategic gap analysis</a:t>
            </a: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Gap Analysis</a:t>
            </a:r>
          </a:p>
        </p:txBody>
      </p:sp>
      <p:pic>
        <p:nvPicPr>
          <p:cNvPr id="1026" name="Picture 2">
            <a:extLst>
              <a:ext uri="{FF2B5EF4-FFF2-40B4-BE49-F238E27FC236}">
                <a16:creationId xmlns:a16="http://schemas.microsoft.com/office/drawing/2014/main" id="{D8C595B0-53A1-6A7E-A965-B1AF47836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0161" y="550851"/>
            <a:ext cx="5917849" cy="4675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4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887200"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A good gap analysis should address the following points (Zack, 1999; </a:t>
            </a:r>
            <a:r>
              <a:rPr lang="en-US" dirty="0" err="1"/>
              <a:t>Skyrme</a:t>
            </a:r>
            <a:r>
              <a:rPr lang="en-US" dirty="0"/>
              <a:t>, 2001):</a:t>
            </a:r>
          </a:p>
          <a:p>
            <a:pPr marL="457200" lvl="1" indent="0" algn="just">
              <a:lnSpc>
                <a:spcPct val="100000"/>
              </a:lnSpc>
              <a:spcBef>
                <a:spcPts val="1800"/>
              </a:spcBef>
              <a:buClr>
                <a:srgbClr val="973735"/>
              </a:buClr>
              <a:buSzPct val="50000"/>
              <a:buNone/>
              <a:defRPr/>
            </a:pPr>
            <a:r>
              <a:rPr lang="en-US" sz="2600" dirty="0"/>
              <a:t>1. What are the major differences between the current and desired KM states of the organization?</a:t>
            </a:r>
          </a:p>
          <a:p>
            <a:pPr marL="457200" lvl="1" indent="0" algn="just">
              <a:lnSpc>
                <a:spcPct val="100000"/>
              </a:lnSpc>
              <a:spcBef>
                <a:spcPts val="1800"/>
              </a:spcBef>
              <a:buClr>
                <a:srgbClr val="973735"/>
              </a:buClr>
              <a:buSzPct val="50000"/>
              <a:buNone/>
              <a:defRPr/>
            </a:pPr>
            <a:r>
              <a:rPr lang="en-US" sz="2600" dirty="0"/>
              <a:t>2. List barriers to KM implementation</a:t>
            </a:r>
          </a:p>
          <a:p>
            <a:pPr marL="457200" lvl="1" indent="0" algn="just">
              <a:lnSpc>
                <a:spcPct val="100000"/>
              </a:lnSpc>
              <a:spcBef>
                <a:spcPts val="1800"/>
              </a:spcBef>
              <a:buClr>
                <a:srgbClr val="973735"/>
              </a:buClr>
              <a:buSzPct val="50000"/>
              <a:buNone/>
              <a:defRPr/>
            </a:pPr>
            <a:r>
              <a:rPr lang="en-US" sz="2600" dirty="0"/>
              <a:t>3. List KM leverage points or enablers</a:t>
            </a:r>
          </a:p>
          <a:p>
            <a:pPr marL="457200" lvl="1" indent="0" algn="just">
              <a:lnSpc>
                <a:spcPct val="100000"/>
              </a:lnSpc>
              <a:spcBef>
                <a:spcPts val="1800"/>
              </a:spcBef>
              <a:buClr>
                <a:srgbClr val="973735"/>
              </a:buClr>
              <a:buSzPct val="50000"/>
              <a:buNone/>
              <a:defRPr/>
            </a:pPr>
            <a:r>
              <a:rPr lang="en-US" sz="2600" dirty="0"/>
              <a:t>4. Identify opportunities to collaborate with other business initiatives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Gap Analysis</a:t>
            </a:r>
          </a:p>
        </p:txBody>
      </p:sp>
    </p:spTree>
    <p:extLst>
      <p:ext uri="{BB962C8B-B14F-4D97-AF65-F5344CB8AC3E}">
        <p14:creationId xmlns:p14="http://schemas.microsoft.com/office/powerpoint/2010/main" val="2135741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A good gap analysis should address the following points (Zack, 1999; </a:t>
            </a:r>
            <a:r>
              <a:rPr lang="en-US" dirty="0" err="1"/>
              <a:t>Skyrme</a:t>
            </a:r>
            <a:r>
              <a:rPr lang="en-US" dirty="0"/>
              <a:t>, 2001):</a:t>
            </a:r>
          </a:p>
          <a:p>
            <a:pPr marL="457200" lvl="1" indent="0" algn="just">
              <a:lnSpc>
                <a:spcPct val="100000"/>
              </a:lnSpc>
              <a:spcBef>
                <a:spcPts val="1800"/>
              </a:spcBef>
              <a:buClr>
                <a:srgbClr val="973735"/>
              </a:buClr>
              <a:buSzPct val="50000"/>
              <a:buNone/>
              <a:defRPr/>
            </a:pPr>
            <a:r>
              <a:rPr lang="en-US" sz="2600" dirty="0"/>
              <a:t>5. Conduct a risk analysis</a:t>
            </a:r>
          </a:p>
          <a:p>
            <a:pPr marL="457200" lvl="1" indent="0" algn="just">
              <a:lnSpc>
                <a:spcPct val="100000"/>
              </a:lnSpc>
              <a:spcBef>
                <a:spcPts val="1800"/>
              </a:spcBef>
              <a:buClr>
                <a:srgbClr val="973735"/>
              </a:buClr>
              <a:buSzPct val="50000"/>
              <a:buNone/>
              <a:defRPr/>
            </a:pPr>
            <a:r>
              <a:rPr lang="en-US" sz="2600" dirty="0"/>
              <a:t>6. Are there redundancies within the organization?</a:t>
            </a:r>
          </a:p>
          <a:p>
            <a:pPr marL="457200" lvl="1" indent="0" algn="just">
              <a:lnSpc>
                <a:spcPct val="100000"/>
              </a:lnSpc>
              <a:spcBef>
                <a:spcPts val="1800"/>
              </a:spcBef>
              <a:buClr>
                <a:srgbClr val="973735"/>
              </a:buClr>
              <a:buSzPct val="50000"/>
              <a:buNone/>
              <a:defRPr/>
            </a:pPr>
            <a:r>
              <a:rPr lang="en-US" sz="2600" dirty="0"/>
              <a:t>7. Are there knowledge silos?</a:t>
            </a:r>
          </a:p>
          <a:p>
            <a:pPr marL="457200" lvl="1" indent="0" algn="just">
              <a:lnSpc>
                <a:spcPct val="100000"/>
              </a:lnSpc>
              <a:spcBef>
                <a:spcPts val="1800"/>
              </a:spcBef>
              <a:buClr>
                <a:srgbClr val="973735"/>
              </a:buClr>
              <a:buSzPct val="50000"/>
              <a:buNone/>
              <a:defRPr/>
            </a:pPr>
            <a:r>
              <a:rPr lang="en-US" sz="2600" dirty="0"/>
              <a:t>8. How does the organization rank with respect to others within the industry?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Gap Analysis</a:t>
            </a:r>
          </a:p>
        </p:txBody>
      </p:sp>
    </p:spTree>
    <p:extLst>
      <p:ext uri="{BB962C8B-B14F-4D97-AF65-F5344CB8AC3E}">
        <p14:creationId xmlns:p14="http://schemas.microsoft.com/office/powerpoint/2010/main" val="1891044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2375452"/>
            <a:ext cx="11718235" cy="354441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result will be a </a:t>
            </a:r>
            <a:r>
              <a:rPr lang="en-US" b="1" dirty="0"/>
              <a:t>KM strategy document </a:t>
            </a:r>
            <a:r>
              <a:rPr lang="en-US" dirty="0"/>
              <a:t>that can be used as road map to implement short-term KM initiatives within the organization (those with the highest scores on feasibility, cost-benefit, and priority) as well as a longer-term KM strategy that will describe some of the longer, more complex initiatives.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Gap Analysis</a:t>
            </a:r>
          </a:p>
        </p:txBody>
      </p:sp>
    </p:spTree>
    <p:extLst>
      <p:ext uri="{BB962C8B-B14F-4D97-AF65-F5344CB8AC3E}">
        <p14:creationId xmlns:p14="http://schemas.microsoft.com/office/powerpoint/2010/main" val="2214032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948858"/>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The final recommended strategy would typically cover a three to five year period, outlining the key priorities for each year. The road map addresses issues such as:</a:t>
            </a:r>
          </a:p>
          <a:p>
            <a:pPr marL="457200" lvl="1" indent="0" algn="just">
              <a:lnSpc>
                <a:spcPct val="100000"/>
              </a:lnSpc>
              <a:spcBef>
                <a:spcPts val="1800"/>
              </a:spcBef>
              <a:buClr>
                <a:srgbClr val="973735"/>
              </a:buClr>
              <a:buSzPct val="50000"/>
              <a:buNone/>
              <a:defRPr/>
            </a:pPr>
            <a:r>
              <a:rPr lang="en-US" sz="2600" dirty="0"/>
              <a:t>1. How will the organization manage its knowledge better for the benefits of the business?</a:t>
            </a:r>
          </a:p>
          <a:p>
            <a:pPr marL="457200" lvl="1" indent="0" algn="just">
              <a:lnSpc>
                <a:spcPct val="100000"/>
              </a:lnSpc>
              <a:spcBef>
                <a:spcPts val="1800"/>
              </a:spcBef>
              <a:buClr>
                <a:srgbClr val="973735"/>
              </a:buClr>
              <a:buSzPct val="50000"/>
              <a:buNone/>
              <a:defRPr/>
            </a:pPr>
            <a:r>
              <a:rPr lang="en-US" sz="2600" dirty="0"/>
              <a:t>2. Content (management of explicit knowledge) and community (management of  tacit knowledge) priorities.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Strategy Road Map </a:t>
            </a:r>
          </a:p>
        </p:txBody>
      </p:sp>
    </p:spTree>
    <p:extLst>
      <p:ext uri="{BB962C8B-B14F-4D97-AF65-F5344CB8AC3E}">
        <p14:creationId xmlns:p14="http://schemas.microsoft.com/office/powerpoint/2010/main" val="2833551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948858"/>
          </a:xfrm>
        </p:spPr>
        <p:txBody>
          <a:bodyPr>
            <a:normAutofit lnSpcReduction="10000"/>
          </a:bodyPr>
          <a:lstStyle/>
          <a:p>
            <a:pPr marL="342900" indent="-342900" algn="just">
              <a:lnSpc>
                <a:spcPct val="110000"/>
              </a:lnSpc>
              <a:spcBef>
                <a:spcPts val="1200"/>
              </a:spcBef>
              <a:buClr>
                <a:srgbClr val="973735"/>
              </a:buClr>
              <a:buSzPct val="50000"/>
              <a:buFont typeface="Wingdings" pitchFamily="2" charset="2"/>
              <a:buChar char="u"/>
              <a:defRPr/>
            </a:pPr>
            <a:r>
              <a:rPr lang="en-US" dirty="0"/>
              <a:t>The final recommended strategy would typically cover a three to five year period, outlining the key priorities for each year. The road map addresses issues such as:</a:t>
            </a:r>
          </a:p>
          <a:p>
            <a:pPr marL="457200" lvl="1" indent="0" algn="just">
              <a:lnSpc>
                <a:spcPct val="110000"/>
              </a:lnSpc>
              <a:spcBef>
                <a:spcPts val="1200"/>
              </a:spcBef>
              <a:buClr>
                <a:srgbClr val="973735"/>
              </a:buClr>
              <a:buSzPct val="50000"/>
              <a:buNone/>
              <a:defRPr/>
            </a:pPr>
            <a:r>
              <a:rPr lang="en-US" sz="2600" dirty="0"/>
              <a:t>3. Identification of process, people, products, services, organizational memory, relationships, knowledge assets as high priority knowledge levers to focus on.</a:t>
            </a:r>
          </a:p>
          <a:p>
            <a:pPr marL="457200" lvl="1" indent="0" algn="just">
              <a:lnSpc>
                <a:spcPct val="110000"/>
              </a:lnSpc>
              <a:spcBef>
                <a:spcPts val="1200"/>
              </a:spcBef>
              <a:buClr>
                <a:srgbClr val="973735"/>
              </a:buClr>
              <a:buSzPct val="50000"/>
              <a:buNone/>
              <a:defRPr/>
            </a:pPr>
            <a:r>
              <a:rPr lang="en-US" sz="2600" dirty="0"/>
              <a:t>4. What is the clear or direct link between KM levers and business objectives?</a:t>
            </a:r>
          </a:p>
          <a:p>
            <a:pPr marL="457200" lvl="1" indent="0" algn="just">
              <a:lnSpc>
                <a:spcPct val="110000"/>
              </a:lnSpc>
              <a:spcBef>
                <a:spcPts val="1200"/>
              </a:spcBef>
              <a:buClr>
                <a:srgbClr val="973735"/>
              </a:buClr>
              <a:buSzPct val="50000"/>
              <a:buNone/>
              <a:defRPr/>
            </a:pPr>
            <a:r>
              <a:rPr lang="en-US" sz="2600" dirty="0"/>
              <a:t>5. What are some quick win?</a:t>
            </a:r>
          </a:p>
          <a:p>
            <a:pPr marL="457200" lvl="1" indent="0" algn="just">
              <a:lnSpc>
                <a:spcPct val="110000"/>
              </a:lnSpc>
              <a:spcBef>
                <a:spcPts val="1200"/>
              </a:spcBef>
              <a:buClr>
                <a:srgbClr val="973735"/>
              </a:buClr>
              <a:buSzPct val="50000"/>
              <a:buNone/>
              <a:defRPr/>
            </a:pPr>
            <a:r>
              <a:rPr lang="en-US" sz="2600" dirty="0"/>
              <a:t>6. How will KM capability be sustained over the long term?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Strategy Road Map </a:t>
            </a:r>
          </a:p>
        </p:txBody>
      </p:sp>
    </p:spTree>
    <p:extLst>
      <p:ext uri="{BB962C8B-B14F-4D97-AF65-F5344CB8AC3E}">
        <p14:creationId xmlns:p14="http://schemas.microsoft.com/office/powerpoint/2010/main" val="2076916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A </a:t>
            </a:r>
            <a:r>
              <a:rPr lang="en-US" sz="2600" b="1" dirty="0"/>
              <a:t>balance between innovation and organizational structure </a:t>
            </a:r>
            <a:r>
              <a:rPr lang="en-US" sz="2600" dirty="0"/>
              <a:t>should be the desired outcome of a good KM strategy.</a:t>
            </a:r>
          </a:p>
          <a:p>
            <a:pPr marL="342900" indent="-342900" algn="just">
              <a:lnSpc>
                <a:spcPct val="100000"/>
              </a:lnSpc>
              <a:spcBef>
                <a:spcPts val="1800"/>
              </a:spcBef>
              <a:buClr>
                <a:srgbClr val="973735"/>
              </a:buClr>
              <a:buSzPct val="50000"/>
              <a:buFont typeface="Wingdings" pitchFamily="2" charset="2"/>
              <a:buChar char="u"/>
              <a:defRPr/>
            </a:pPr>
            <a:r>
              <a:rPr lang="en-US" sz="2600" dirty="0"/>
              <a:t>If the organization is </a:t>
            </a:r>
            <a:r>
              <a:rPr lang="en-US" sz="2600" b="1" dirty="0"/>
              <a:t>too fluid</a:t>
            </a:r>
            <a:r>
              <a:rPr lang="en-US" sz="2600" dirty="0"/>
              <a:t>, there will be no solid connection of knowledge work to business goals, and it will be difficult to have clear accountability.</a:t>
            </a:r>
          </a:p>
          <a:p>
            <a:pPr marL="342900" indent="-342900" algn="just">
              <a:lnSpc>
                <a:spcPct val="100000"/>
              </a:lnSpc>
              <a:spcBef>
                <a:spcPts val="1800"/>
              </a:spcBef>
              <a:buClr>
                <a:srgbClr val="973735"/>
              </a:buClr>
              <a:buSzPct val="50000"/>
              <a:buFont typeface="Wingdings" pitchFamily="2" charset="2"/>
              <a:buChar char="u"/>
              <a:defRPr/>
            </a:pPr>
            <a:r>
              <a:rPr lang="en-US" sz="2600" dirty="0"/>
              <a:t>If the balance shifts </a:t>
            </a:r>
            <a:r>
              <a:rPr lang="en-US" sz="2600" b="1" dirty="0"/>
              <a:t>too much in favor of institutionalization</a:t>
            </a:r>
            <a:r>
              <a:rPr lang="en-US" sz="2600" dirty="0"/>
              <a:t>, however the organization risks becoming too formal, which can stifle innovation and the open communication necessary for creative work to take place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273451" cy="709226"/>
          </a:xfrm>
        </p:spPr>
        <p:txBody>
          <a:bodyPr>
            <a:normAutofit fontScale="90000"/>
          </a:bodyPr>
          <a:lstStyle/>
          <a:p>
            <a:r>
              <a:rPr lang="en-US" sz="4000" b="1" dirty="0"/>
              <a:t>Balancing Innovation and Organizational Structure</a:t>
            </a:r>
          </a:p>
        </p:txBody>
      </p:sp>
    </p:spTree>
    <p:extLst>
      <p:ext uri="{BB962C8B-B14F-4D97-AF65-F5344CB8AC3E}">
        <p14:creationId xmlns:p14="http://schemas.microsoft.com/office/powerpoint/2010/main" val="2106522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10000"/>
              </a:lnSpc>
              <a:spcBef>
                <a:spcPts val="1200"/>
              </a:spcBef>
              <a:buClr>
                <a:srgbClr val="973735"/>
              </a:buClr>
              <a:buSzPct val="50000"/>
              <a:buFont typeface="Wingdings" pitchFamily="2" charset="2"/>
              <a:buChar char="u"/>
              <a:defRPr/>
            </a:pPr>
            <a:endParaRPr lang="en-US" dirty="0"/>
          </a:p>
          <a:p>
            <a:pPr marL="342900" indent="-342900" algn="just">
              <a:lnSpc>
                <a:spcPct val="110000"/>
              </a:lnSpc>
              <a:spcBef>
                <a:spcPts val="1200"/>
              </a:spcBef>
              <a:buClr>
                <a:srgbClr val="973735"/>
              </a:buClr>
              <a:buSzPct val="50000"/>
              <a:buFont typeface="Wingdings" pitchFamily="2" charset="2"/>
              <a:buChar char="u"/>
              <a:defRPr/>
            </a:pPr>
            <a:r>
              <a:rPr lang="en-US" dirty="0" err="1"/>
              <a:t>Edvisson</a:t>
            </a:r>
            <a:r>
              <a:rPr lang="en-US" dirty="0"/>
              <a:t> and Malone (1997) propose that knowledge assets can be laced in one of these categories:</a:t>
            </a:r>
          </a:p>
          <a:p>
            <a:pPr marL="457200" lvl="1" indent="0" algn="just">
              <a:lnSpc>
                <a:spcPct val="100000"/>
              </a:lnSpc>
              <a:spcBef>
                <a:spcPts val="1800"/>
              </a:spcBef>
              <a:buClr>
                <a:srgbClr val="973735"/>
              </a:buClr>
              <a:buSzPct val="50000"/>
              <a:buNone/>
              <a:defRPr/>
            </a:pPr>
            <a:r>
              <a:rPr lang="en-US" sz="2600" dirty="0"/>
              <a:t>1.</a:t>
            </a:r>
            <a:r>
              <a:rPr lang="en-US" sz="2600" b="1" dirty="0"/>
              <a:t>Human capital</a:t>
            </a:r>
            <a:r>
              <a:rPr lang="en-US" sz="2600" dirty="0"/>
              <a:t>, or all the brainpower that “leaves at 5 PM.”</a:t>
            </a:r>
          </a:p>
          <a:p>
            <a:pPr marL="457200" lvl="1" indent="0" algn="just">
              <a:lnSpc>
                <a:spcPct val="100000"/>
              </a:lnSpc>
              <a:spcBef>
                <a:spcPts val="1800"/>
              </a:spcBef>
              <a:buClr>
                <a:srgbClr val="973735"/>
              </a:buClr>
              <a:buSzPct val="50000"/>
              <a:buNone/>
              <a:defRPr/>
            </a:pPr>
            <a:r>
              <a:rPr lang="en-US" sz="2600" dirty="0"/>
              <a:t>2.</a:t>
            </a:r>
            <a:r>
              <a:rPr lang="en-US" sz="2600" b="1" dirty="0"/>
              <a:t>Structural capital</a:t>
            </a:r>
            <a:r>
              <a:rPr lang="en-US" sz="2600" dirty="0"/>
              <a:t>, or all the brainpower that “stays after 5 PM” (policies, procedures, training courses, patents, </a:t>
            </a:r>
            <a:r>
              <a:rPr lang="en-US" sz="2600" dirty="0" err="1"/>
              <a:t>etc</a:t>
            </a:r>
            <a:r>
              <a:rPr lang="en-US" sz="2600" dirty="0"/>
              <a:t>).</a:t>
            </a:r>
          </a:p>
          <a:p>
            <a:pPr marL="457200" lvl="1" indent="0" algn="just">
              <a:lnSpc>
                <a:spcPct val="100000"/>
              </a:lnSpc>
              <a:spcBef>
                <a:spcPts val="1800"/>
              </a:spcBef>
              <a:buClr>
                <a:srgbClr val="973735"/>
              </a:buClr>
              <a:buSzPct val="50000"/>
              <a:buNone/>
              <a:defRPr/>
            </a:pPr>
            <a:r>
              <a:rPr lang="en-US" sz="2600" dirty="0"/>
              <a:t>3.</a:t>
            </a:r>
            <a:r>
              <a:rPr lang="en-US" sz="2600" b="1" dirty="0"/>
              <a:t>Customer capital</a:t>
            </a:r>
            <a:r>
              <a:rPr lang="en-US" sz="2600" dirty="0"/>
              <a:t>, or all the corporate relationships with customers and prospects.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Types of Knowledge Assets Produced</a:t>
            </a:r>
          </a:p>
        </p:txBody>
      </p:sp>
    </p:spTree>
    <p:extLst>
      <p:ext uri="{BB962C8B-B14F-4D97-AF65-F5344CB8AC3E}">
        <p14:creationId xmlns:p14="http://schemas.microsoft.com/office/powerpoint/2010/main" val="3340934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endParaRPr lang="en-US" dirty="0"/>
          </a:p>
          <a:p>
            <a:pPr marL="342900" indent="-342900" algn="just">
              <a:lnSpc>
                <a:spcPct val="120000"/>
              </a:lnSpc>
              <a:spcBef>
                <a:spcPts val="1200"/>
              </a:spcBef>
              <a:buClr>
                <a:srgbClr val="973735"/>
              </a:buClr>
              <a:buSzPct val="50000"/>
              <a:buFont typeface="Wingdings" pitchFamily="2" charset="2"/>
              <a:buChar char="u"/>
              <a:defRPr/>
            </a:pPr>
            <a:r>
              <a:rPr lang="en-US" dirty="0"/>
              <a:t>Leadership plays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Helps determine the types of interactions that will take place, including knowledge-sharing interactions.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Helps shape the culture and plays a key role in establishing incentives and disincentives for organizational behaviors.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9758851" cy="709226"/>
          </a:xfrm>
        </p:spPr>
        <p:txBody>
          <a:bodyPr>
            <a:normAutofit fontScale="90000"/>
          </a:bodyPr>
          <a:lstStyle/>
          <a:p>
            <a:r>
              <a:rPr lang="en-US" sz="4000" b="1" dirty="0"/>
              <a:t>The Role of Leadership and Different KM Leadership Styles</a:t>
            </a:r>
          </a:p>
        </p:txBody>
      </p:sp>
    </p:spTree>
    <p:extLst>
      <p:ext uri="{BB962C8B-B14F-4D97-AF65-F5344CB8AC3E}">
        <p14:creationId xmlns:p14="http://schemas.microsoft.com/office/powerpoint/2010/main" val="3399781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2007703"/>
            <a:ext cx="11847443" cy="4472996"/>
          </a:xfrm>
        </p:spPr>
        <p:txBody>
          <a:bodyPr>
            <a:normAutofit fontScale="92500" lnSpcReduction="20000"/>
          </a:bodyPr>
          <a:lstStyle/>
          <a:p>
            <a:pPr marL="342900" indent="-342900" algn="just">
              <a:lnSpc>
                <a:spcPct val="120000"/>
              </a:lnSpc>
              <a:spcBef>
                <a:spcPts val="1200"/>
              </a:spcBef>
              <a:buClr>
                <a:srgbClr val="973735"/>
              </a:buClr>
              <a:buSzPct val="50000"/>
              <a:buFont typeface="Wingdings" pitchFamily="2" charset="2"/>
              <a:buChar char="u"/>
              <a:defRPr/>
            </a:pPr>
            <a:r>
              <a:rPr lang="en-US" dirty="0"/>
              <a:t>Donate and de Pablo (2015) note that a new type of leadership, called knowledge-oriented leadership, may be required in order to address the two major goals of KM: efficiency and innovation. </a:t>
            </a:r>
          </a:p>
          <a:p>
            <a:pPr marL="342900" indent="-342900" algn="just">
              <a:lnSpc>
                <a:spcPct val="120000"/>
              </a:lnSpc>
              <a:spcBef>
                <a:spcPts val="1200"/>
              </a:spcBef>
              <a:buClr>
                <a:srgbClr val="973735"/>
              </a:buClr>
              <a:buSzPct val="50000"/>
              <a:buFont typeface="Wingdings" pitchFamily="2" charset="2"/>
              <a:buChar char="u"/>
              <a:defRPr/>
            </a:pPr>
            <a:r>
              <a:rPr lang="en-US" dirty="0"/>
              <a:t>Knowledge-oriented leadership is a leadership style that includes all the major KM processes: leaders play an active role in knowledge creation, sharing, dissemination, preservation, and application. </a:t>
            </a:r>
          </a:p>
          <a:p>
            <a:pPr marL="342900" indent="-342900" algn="just">
              <a:lnSpc>
                <a:spcPct val="120000"/>
              </a:lnSpc>
              <a:spcBef>
                <a:spcPts val="1200"/>
              </a:spcBef>
              <a:buClr>
                <a:srgbClr val="973735"/>
              </a:buClr>
              <a:buSzPct val="50000"/>
              <a:buFont typeface="Wingdings" pitchFamily="2" charset="2"/>
              <a:buChar char="u"/>
              <a:defRPr/>
            </a:pPr>
            <a:r>
              <a:rPr lang="en-US" dirty="0"/>
              <a:t>A final component is that KM leadership include not only a tolerance of errors, but of risk taking, admitting errors, and being allowed to learn and improve. This type of leadership is much more likely to lead to both efficiency gains and innovative results.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9758851" cy="709226"/>
          </a:xfrm>
        </p:spPr>
        <p:txBody>
          <a:bodyPr>
            <a:normAutofit fontScale="90000"/>
          </a:bodyPr>
          <a:lstStyle/>
          <a:p>
            <a:r>
              <a:rPr lang="en-US" sz="4000" b="1" dirty="0"/>
              <a:t>The Role of Leadership and Different KM Leadership Styles</a:t>
            </a:r>
          </a:p>
        </p:txBody>
      </p:sp>
    </p:spTree>
    <p:extLst>
      <p:ext uri="{BB962C8B-B14F-4D97-AF65-F5344CB8AC3E}">
        <p14:creationId xmlns:p14="http://schemas.microsoft.com/office/powerpoint/2010/main" val="1217538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2295938"/>
            <a:ext cx="11875167" cy="3623929"/>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The key steps in the evolution of an innovative new idea and the institutionalization of a best practice that forms the object of reuse.</a:t>
            </a:r>
          </a:p>
          <a:p>
            <a:pPr marL="342900" indent="-342900" algn="just">
              <a:lnSpc>
                <a:spcPct val="100000"/>
              </a:lnSpc>
              <a:spcBef>
                <a:spcPts val="1800"/>
              </a:spcBef>
              <a:buClr>
                <a:srgbClr val="973735"/>
              </a:buClr>
              <a:buSzPct val="50000"/>
              <a:buFont typeface="Wingdings" pitchFamily="2" charset="2"/>
              <a:buChar char="u"/>
              <a:defRPr/>
            </a:pPr>
            <a:r>
              <a:rPr lang="en-US" sz="2600" dirty="0"/>
              <a:t>The major strengths and weaknesses of different maturity models in terms of how they can be used to assess progress toward KM goals</a:t>
            </a:r>
            <a:r>
              <a:rPr lang="en-US" dirty="0"/>
              <a: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2117035"/>
            <a:ext cx="11971176" cy="4363664"/>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The different approaches that may be undertaken in order to achieve an optimal balance between creativity and organizational structure.</a:t>
            </a:r>
          </a:p>
          <a:p>
            <a:pPr marL="342900" indent="-342900" algn="just">
              <a:lnSpc>
                <a:spcPct val="100000"/>
              </a:lnSpc>
              <a:spcBef>
                <a:spcPts val="2400"/>
              </a:spcBef>
              <a:buClr>
                <a:srgbClr val="973735"/>
              </a:buClr>
              <a:buSzPct val="50000"/>
              <a:buFont typeface="Wingdings" pitchFamily="2" charset="2"/>
              <a:buChar char="u"/>
              <a:defRPr/>
            </a:pPr>
            <a:r>
              <a:rPr lang="en-US" sz="2600" dirty="0"/>
              <a:t>The different types of knowledge assets that result from KM initiatives.</a:t>
            </a:r>
          </a:p>
          <a:p>
            <a:pPr marL="342900" indent="-342900" algn="just">
              <a:lnSpc>
                <a:spcPct val="100000"/>
              </a:lnSpc>
              <a:spcBef>
                <a:spcPts val="2400"/>
              </a:spcBef>
              <a:buClr>
                <a:srgbClr val="973735"/>
              </a:buClr>
              <a:buSzPct val="50000"/>
              <a:buFont typeface="Wingdings" pitchFamily="2" charset="2"/>
              <a:buChar char="u"/>
              <a:defRPr/>
            </a:pPr>
            <a:r>
              <a:rPr lang="en-US" sz="2600" dirty="0"/>
              <a:t>The major phases involved in initiating organizational change and review how the organizational culture would have to evolve so that KM goals can be attained.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 (</a:t>
            </a:r>
            <a:r>
              <a:rPr lang="en-US" sz="4000" b="1" dirty="0" err="1"/>
              <a:t>con’t</a:t>
            </a:r>
            <a:r>
              <a:rPr lang="en-US" sz="4000" b="1" dirty="0"/>
              <a:t>)</a:t>
            </a:r>
          </a:p>
        </p:txBody>
      </p:sp>
    </p:spTree>
    <p:extLst>
      <p:ext uri="{BB962C8B-B14F-4D97-AF65-F5344CB8AC3E}">
        <p14:creationId xmlns:p14="http://schemas.microsoft.com/office/powerpoint/2010/main" val="4016907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at vector illustration of group of people doing discussion. Suitable for  design element of business forum, political debate, and discuss current  issues activity. 4413146 Vector Art at Vecteezy">
            <a:extLst>
              <a:ext uri="{FF2B5EF4-FFF2-40B4-BE49-F238E27FC236}">
                <a16:creationId xmlns:a16="http://schemas.microsoft.com/office/drawing/2014/main" id="{0D314973-F284-50CF-8BE5-793ECB6B1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2540" y="4717360"/>
            <a:ext cx="2762250" cy="16573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714726"/>
            <a:ext cx="12002308" cy="4765973"/>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Compare and contrast KM applications that are driven by an objective of reuse </a:t>
            </a:r>
            <a:r>
              <a:rPr lang="en-US" sz="2000" dirty="0" err="1"/>
              <a:t>ersus</a:t>
            </a:r>
            <a:r>
              <a:rPr lang="en-US" sz="2000" dirty="0"/>
              <a:t> and innovation.</a:t>
            </a:r>
          </a:p>
          <a:p>
            <a:pPr marL="514350" indent="-514350" algn="just">
              <a:lnSpc>
                <a:spcPct val="100000"/>
              </a:lnSpc>
              <a:spcBef>
                <a:spcPts val="1200"/>
              </a:spcBef>
              <a:buClr>
                <a:srgbClr val="973735"/>
              </a:buClr>
              <a:buSzPct val="100000"/>
              <a:buFont typeface="+mj-lt"/>
              <a:buAutoNum type="arabicPeriod"/>
              <a:defRPr/>
            </a:pPr>
            <a:r>
              <a:rPr lang="en-US" sz="2000" dirty="0"/>
              <a:t>What are some of the pros and cons of a web-based questionnaire versus face-to-face interviewing when conducting a knowledge audit?</a:t>
            </a:r>
          </a:p>
          <a:p>
            <a:pPr marL="514350" indent="-514350" algn="just">
              <a:lnSpc>
                <a:spcPct val="100000"/>
              </a:lnSpc>
              <a:spcBef>
                <a:spcPts val="1200"/>
              </a:spcBef>
              <a:buClr>
                <a:srgbClr val="973735"/>
              </a:buClr>
              <a:buSzPct val="100000"/>
              <a:buFont typeface="+mj-lt"/>
              <a:buAutoNum type="arabicPeriod"/>
              <a:defRPr/>
            </a:pPr>
            <a:r>
              <a:rPr lang="en-US" sz="2000" dirty="0"/>
              <a:t>What are some of the maturity models that can be used to situate a company with respect to its KM culture</a:t>
            </a:r>
            <a:r>
              <a:rPr lang="en-US" sz="2000"/>
              <a:t>? </a:t>
            </a:r>
          </a:p>
          <a:p>
            <a:pPr marL="514350" indent="-514350" algn="just">
              <a:lnSpc>
                <a:spcPct val="100000"/>
              </a:lnSpc>
              <a:spcBef>
                <a:spcPts val="1200"/>
              </a:spcBef>
              <a:buClr>
                <a:srgbClr val="973735"/>
              </a:buClr>
              <a:buSzPct val="100000"/>
              <a:buFont typeface="+mj-lt"/>
              <a:buAutoNum type="arabicPeriod"/>
              <a:defRPr/>
            </a:pPr>
            <a:r>
              <a:rPr lang="en-US" sz="2000"/>
              <a:t>What </a:t>
            </a:r>
            <a:r>
              <a:rPr lang="en-US" sz="2000" dirty="0"/>
              <a:t>are the major differences between the short-term and long-term strategies? How do they fit together?</a:t>
            </a:r>
          </a:p>
          <a:p>
            <a:pPr marL="514350" indent="-514350" algn="just">
              <a:lnSpc>
                <a:spcPct val="100000"/>
              </a:lnSpc>
              <a:spcBef>
                <a:spcPts val="1200"/>
              </a:spcBef>
              <a:buClr>
                <a:srgbClr val="973735"/>
              </a:buClr>
              <a:buSzPct val="100000"/>
              <a:buFont typeface="+mj-lt"/>
              <a:buAutoNum type="arabicPeriod"/>
              <a:defRPr/>
            </a:pPr>
            <a:r>
              <a:rPr lang="en-US" sz="2000" dirty="0"/>
              <a:t>List and provide examples for some different types of knowledge assets. What are some typologies that can be used to categorize them?</a:t>
            </a:r>
          </a:p>
          <a:p>
            <a:pPr marL="514350" indent="-514350" algn="just">
              <a:lnSpc>
                <a:spcPct val="100000"/>
              </a:lnSpc>
              <a:spcBef>
                <a:spcPts val="1200"/>
              </a:spcBef>
              <a:buClr>
                <a:srgbClr val="973735"/>
              </a:buClr>
              <a:buSzPct val="100000"/>
              <a:buFont typeface="+mj-lt"/>
              <a:buAutoNum type="arabicPeriod"/>
              <a:defRPr/>
            </a:pPr>
            <a:r>
              <a:rPr lang="en-US" sz="2000" dirty="0"/>
              <a:t>What is the relationship among human, structural, and relationship capital?</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1327602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2073</TotalTime>
  <Words>2351</Words>
  <Application>Microsoft Office PowerPoint</Application>
  <PresentationFormat>Widescreen</PresentationFormat>
  <Paragraphs>284</Paragraphs>
  <Slides>37</Slides>
  <Notes>37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2" baseType="lpstr">
      <vt:lpstr>Arial</vt:lpstr>
      <vt:lpstr>Calibri</vt:lpstr>
      <vt:lpstr>Wingdings</vt:lpstr>
      <vt:lpstr>Office Theme</vt:lpstr>
      <vt:lpstr>Bitmap Image</vt:lpstr>
      <vt:lpstr>Chapter 09 Knowledge Management Strategy and Planning</vt:lpstr>
      <vt:lpstr>Objectives</vt:lpstr>
      <vt:lpstr>Developing a Knowledge Management Strategy</vt:lpstr>
      <vt:lpstr>Developing a Knowledge Management Strategy</vt:lpstr>
      <vt:lpstr>Developing a Knowledge Management Strategy</vt:lpstr>
      <vt:lpstr>Developing a Knowledge Management Strategy</vt:lpstr>
      <vt:lpstr>Developing a Knowledge Management Strategy</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Organizational Maturity Models</vt:lpstr>
      <vt:lpstr>Gap Analysis</vt:lpstr>
      <vt:lpstr>Gap Analysis</vt:lpstr>
      <vt:lpstr>Gap Analysis</vt:lpstr>
      <vt:lpstr>Gap Analysis</vt:lpstr>
      <vt:lpstr>Gap Analysis</vt:lpstr>
      <vt:lpstr>The KM Strategy Road Map </vt:lpstr>
      <vt:lpstr>The KM Strategy Road Map </vt:lpstr>
      <vt:lpstr>Balancing Innovation and Organizational Structure</vt:lpstr>
      <vt:lpstr>Types of Knowledge Assets Produced</vt:lpstr>
      <vt:lpstr>The Role of Leadership and Different KM Leadership Styles</vt:lpstr>
      <vt:lpstr>The Role of Leadership and Different KM Leadership Styles</vt:lpstr>
      <vt:lpstr>Summary</vt:lpstr>
      <vt:lpstr>Summary (con’t)</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122</cp:revision>
  <dcterms:created xsi:type="dcterms:W3CDTF">2021-01-25T08:25:31Z</dcterms:created>
  <dcterms:modified xsi:type="dcterms:W3CDTF">2023-09-20T21:10:11Z</dcterms:modified>
</cp:coreProperties>
</file>