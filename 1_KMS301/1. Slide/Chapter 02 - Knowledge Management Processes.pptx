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256" r:id="rId2"/>
    <p:sldId id="278" r:id="rId3"/>
    <p:sldId id="279" r:id="rId4"/>
    <p:sldId id="354" r:id="rId5"/>
    <p:sldId id="400" r:id="rId6"/>
    <p:sldId id="398" r:id="rId7"/>
    <p:sldId id="348" r:id="rId8"/>
    <p:sldId id="362" r:id="rId9"/>
    <p:sldId id="355" r:id="rId10"/>
    <p:sldId id="401" r:id="rId11"/>
    <p:sldId id="356" r:id="rId12"/>
    <p:sldId id="366" r:id="rId13"/>
    <p:sldId id="374" r:id="rId14"/>
    <p:sldId id="377" r:id="rId15"/>
    <p:sldId id="378" r:id="rId16"/>
    <p:sldId id="402" r:id="rId17"/>
    <p:sldId id="357" r:id="rId18"/>
    <p:sldId id="379" r:id="rId19"/>
    <p:sldId id="367" r:id="rId20"/>
    <p:sldId id="380" r:id="rId21"/>
    <p:sldId id="381" r:id="rId22"/>
    <p:sldId id="403" r:id="rId23"/>
    <p:sldId id="370" r:id="rId24"/>
    <p:sldId id="371" r:id="rId25"/>
    <p:sldId id="382" r:id="rId26"/>
    <p:sldId id="372" r:id="rId27"/>
    <p:sldId id="383" r:id="rId28"/>
    <p:sldId id="384" r:id="rId29"/>
    <p:sldId id="385" r:id="rId30"/>
    <p:sldId id="386" r:id="rId31"/>
    <p:sldId id="387" r:id="rId32"/>
    <p:sldId id="388" r:id="rId33"/>
    <p:sldId id="404" r:id="rId34"/>
    <p:sldId id="359" r:id="rId35"/>
    <p:sldId id="390" r:id="rId36"/>
    <p:sldId id="405" r:id="rId37"/>
    <p:sldId id="360" r:id="rId38"/>
    <p:sldId id="391" r:id="rId39"/>
    <p:sldId id="392" r:id="rId40"/>
    <p:sldId id="393" r:id="rId41"/>
    <p:sldId id="394" r:id="rId42"/>
    <p:sldId id="406" r:id="rId43"/>
    <p:sldId id="396" r:id="rId44"/>
    <p:sldId id="397" r:id="rId45"/>
    <p:sldId id="313" r:id="rId46"/>
    <p:sldId id="407" r:id="rId47"/>
    <p:sldId id="321" r:id="rId48"/>
    <p:sldId id="347" r:id="rId49"/>
    <p:sldId id="34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1870" autoAdjust="0"/>
    <p:restoredTop sz="88497" autoAdjust="0"/>
  </p:normalViewPr>
  <p:slideViewPr>
    <p:cSldViewPr snapToGrid="0">
      <p:cViewPr varScale="1">
        <p:scale>
          <a:sx n="79" d="100"/>
          <a:sy n="79" d="100"/>
        </p:scale>
        <p:origin x="72" y="269"/>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2121849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2303622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891572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1674522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1096851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3391764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187885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3041835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2708718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580108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1047271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1290892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713927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531391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3546713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2763030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1351926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3477987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2811395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213264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2091401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30527864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3122252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40008921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475135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10840169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9450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36391595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8406963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25862393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3404379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7191312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lgn="l" rtl="0" latinLnBrk="0">
              <a:spcBef>
                <a:spcPts val="600"/>
              </a:spcBef>
              <a:spcAft>
                <a:spcPts val="0"/>
              </a:spcAft>
            </a:pPr>
            <a:endParaRPr lang="en-US" b="0"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26372229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33788621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29217081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14711065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30764015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17860274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42</a:t>
            </a:fld>
            <a:endParaRPr lang="en-US"/>
          </a:p>
        </p:txBody>
      </p:sp>
    </p:spTree>
    <p:extLst>
      <p:ext uri="{BB962C8B-B14F-4D97-AF65-F5344CB8AC3E}">
        <p14:creationId xmlns:p14="http://schemas.microsoft.com/office/powerpoint/2010/main" val="17831074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6053883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44</a:t>
            </a:fld>
            <a:endParaRPr lang="en-US"/>
          </a:p>
        </p:txBody>
      </p:sp>
    </p:spTree>
    <p:extLst>
      <p:ext uri="{BB962C8B-B14F-4D97-AF65-F5344CB8AC3E}">
        <p14:creationId xmlns:p14="http://schemas.microsoft.com/office/powerpoint/2010/main" val="29843598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45</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46</a:t>
            </a:fld>
            <a:endParaRPr lang="en-US"/>
          </a:p>
        </p:txBody>
      </p:sp>
    </p:spTree>
    <p:extLst>
      <p:ext uri="{BB962C8B-B14F-4D97-AF65-F5344CB8AC3E}">
        <p14:creationId xmlns:p14="http://schemas.microsoft.com/office/powerpoint/2010/main" val="16293891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41822558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48</a:t>
            </a:fld>
            <a:endParaRPr lang="en-US"/>
          </a:p>
        </p:txBody>
      </p:sp>
    </p:spTree>
    <p:extLst>
      <p:ext uri="{BB962C8B-B14F-4D97-AF65-F5344CB8AC3E}">
        <p14:creationId xmlns:p14="http://schemas.microsoft.com/office/powerpoint/2010/main" val="27938953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49</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83548" y="1968416"/>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2537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9.bin"/><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1.bin"/><Relationship Id="rId4" Type="http://schemas.openxmlformats.org/officeDocument/2006/relationships/image" Target="../media/image11.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3.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5.bin"/><Relationship Id="rId4" Type="http://schemas.openxmlformats.org/officeDocument/2006/relationships/image" Target="../media/image15.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7.bin"/><Relationship Id="rId4" Type="http://schemas.openxmlformats.org/officeDocument/2006/relationships/image" Target="../media/image17.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20.bin"/><Relationship Id="rId4" Type="http://schemas.openxmlformats.org/officeDocument/2006/relationships/image" Target="../media/image20.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3200" b="1" dirty="0">
                <a:solidFill>
                  <a:schemeClr val="bg2">
                    <a:lumMod val="50000"/>
                  </a:schemeClr>
                </a:solidFill>
                <a:latin typeface="Arial" panose="020B0604020202020204" pitchFamily="34" charset="0"/>
                <a:cs typeface="Arial" panose="020B0604020202020204" pitchFamily="34" charset="0"/>
              </a:rPr>
              <a:t>Chapter 02 </a:t>
            </a:r>
            <a:br>
              <a:rPr lang="en-US" altLang="ko-KR" sz="4400" b="1" dirty="0">
                <a:solidFill>
                  <a:schemeClr val="accent2"/>
                </a:solidFill>
                <a:latin typeface="Arial" panose="020B0604020202020204" pitchFamily="34" charset="0"/>
                <a:cs typeface="Arial" panose="020B0604020202020204" pitchFamily="34" charset="0"/>
              </a:rPr>
            </a:br>
            <a:r>
              <a:rPr lang="en-US" altLang="ko-KR" sz="4400" b="1" dirty="0">
                <a:solidFill>
                  <a:schemeClr val="accent2"/>
                </a:solidFill>
                <a:latin typeface="Arial" panose="020B0604020202020204" pitchFamily="34" charset="0"/>
                <a:cs typeface="Arial" panose="020B0604020202020204" pitchFamily="34" charset="0"/>
              </a:rPr>
              <a:t>Knowledge Management Processes</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Major Approaches to the KM Cycle</a:t>
            </a:r>
          </a:p>
          <a:p>
            <a:pPr marL="342900" indent="-342900" algn="just">
              <a:lnSpc>
                <a:spcPct val="150000"/>
              </a:lnSpc>
              <a:spcBef>
                <a:spcPts val="600"/>
              </a:spcBef>
              <a:buClr>
                <a:srgbClr val="973735"/>
              </a:buClr>
              <a:buSzPct val="50000"/>
              <a:buFont typeface="Wingdings" pitchFamily="2" charset="2"/>
              <a:buChar char="u"/>
              <a:defRPr/>
            </a:pPr>
            <a:r>
              <a:rPr lang="en-US" dirty="0"/>
              <a:t>Strategic Implications of the KM Cycle</a:t>
            </a:r>
          </a:p>
          <a:p>
            <a:pPr marL="342900" indent="-342900" algn="just">
              <a:lnSpc>
                <a:spcPct val="150000"/>
              </a:lnSpc>
              <a:spcBef>
                <a:spcPts val="600"/>
              </a:spcBef>
              <a:buClr>
                <a:srgbClr val="973735"/>
              </a:buClr>
              <a:buSzPct val="50000"/>
              <a:buFont typeface="Wingdings" pitchFamily="2" charset="2"/>
              <a:buChar char="u"/>
              <a:defRPr/>
            </a:pPr>
            <a:r>
              <a:rPr lang="en-US" dirty="0"/>
              <a:t>Practical Considerations for Managing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409083" y="1927774"/>
            <a:ext cx="4221283" cy="4255275"/>
          </a:xfrm>
        </p:spPr>
        <p:txBody>
          <a:bodyPr>
            <a:normAutofit/>
          </a:bodyPr>
          <a:lstStyle/>
          <a:p>
            <a:pPr marL="0" indent="0" algn="just">
              <a:lnSpc>
                <a:spcPct val="100000"/>
              </a:lnSpc>
              <a:spcBef>
                <a:spcPts val="1200"/>
              </a:spcBef>
              <a:buClr>
                <a:srgbClr val="973735"/>
              </a:buClr>
              <a:buSzPct val="50000"/>
              <a:buNone/>
              <a:defRPr/>
            </a:pPr>
            <a:r>
              <a:rPr lang="en-US" dirty="0"/>
              <a:t>The KM cycle focuses on processes to identity </a:t>
            </a:r>
            <a:r>
              <a:rPr lang="en-US" b="1" dirty="0"/>
              <a:t>knowledge content that is of value to the organization </a:t>
            </a:r>
            <a:r>
              <a:rPr lang="en-US" dirty="0"/>
              <a:t>and its employees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graphicFrame>
        <p:nvGraphicFramePr>
          <p:cNvPr id="7" name="Object 6">
            <a:extLst>
              <a:ext uri="{FF2B5EF4-FFF2-40B4-BE49-F238E27FC236}">
                <a16:creationId xmlns:a16="http://schemas.microsoft.com/office/drawing/2014/main" id="{03F47532-F9A9-DD35-8D6C-EBEC68AFE251}"/>
              </a:ext>
            </a:extLst>
          </p:cNvPr>
          <p:cNvGraphicFramePr>
            <a:graphicFrameLocks noChangeAspect="1"/>
          </p:cNvGraphicFramePr>
          <p:nvPr>
            <p:extLst>
              <p:ext uri="{D42A27DB-BD31-4B8C-83A1-F6EECF244321}">
                <p14:modId xmlns:p14="http://schemas.microsoft.com/office/powerpoint/2010/main" val="425270046"/>
              </p:ext>
            </p:extLst>
          </p:nvPr>
        </p:nvGraphicFramePr>
        <p:xfrm>
          <a:off x="6353463" y="1650441"/>
          <a:ext cx="5429454" cy="4809939"/>
        </p:xfrm>
        <a:graphic>
          <a:graphicData uri="http://schemas.openxmlformats.org/presentationml/2006/ole">
            <mc:AlternateContent xmlns:mc="http://schemas.openxmlformats.org/markup-compatibility/2006">
              <mc:Choice xmlns:v="urn:schemas-microsoft-com:vml" Requires="v">
                <p:oleObj name="Bitmap Image" r:id="rId3" imgW="2476440" imgH="2194560" progId="PBrush">
                  <p:embed/>
                </p:oleObj>
              </mc:Choice>
              <mc:Fallback>
                <p:oleObj name="Bitmap Image" r:id="rId3" imgW="2476440" imgH="2194560" progId="PBrush">
                  <p:embed/>
                  <p:pic>
                    <p:nvPicPr>
                      <p:cNvPr id="0" name=""/>
                      <p:cNvPicPr/>
                      <p:nvPr/>
                    </p:nvPicPr>
                    <p:blipFill>
                      <a:blip r:embed="rId4"/>
                      <a:stretch>
                        <a:fillRect/>
                      </a:stretch>
                    </p:blipFill>
                    <p:spPr>
                      <a:xfrm>
                        <a:off x="6353463" y="1650441"/>
                        <a:ext cx="5429454" cy="4809939"/>
                      </a:xfrm>
                      <a:prstGeom prst="rect">
                        <a:avLst/>
                      </a:prstGeom>
                    </p:spPr>
                  </p:pic>
                </p:oleObj>
              </mc:Fallback>
            </mc:AlternateContent>
          </a:graphicData>
        </a:graphic>
      </p:graphicFrame>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The following models highlight the major phases included in the cycle:</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a:t>
            </a:r>
            <a:r>
              <a:rPr lang="en-US" sz="2600" dirty="0" err="1"/>
              <a:t>Bukowitz</a:t>
            </a:r>
            <a:r>
              <a:rPr lang="en-US" sz="2600" dirty="0"/>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a:t>
            </a:r>
            <a:r>
              <a:rPr lang="en-US" sz="2600" dirty="0" err="1"/>
              <a:t>Carlile</a:t>
            </a:r>
            <a:r>
              <a:rPr lang="en-US" sz="2600" dirty="0"/>
              <a:t> and </a:t>
            </a:r>
            <a:r>
              <a:rPr lang="en-US" sz="2600" dirty="0" err="1"/>
              <a:t>Rebentisch</a:t>
            </a:r>
            <a:r>
              <a:rPr lang="en-US" sz="2600" dirty="0"/>
              <a:t> Knowledge Transformation Cycle (2003)</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Evans, </a:t>
            </a:r>
            <a:r>
              <a:rPr lang="en-US" sz="2600" dirty="0" err="1"/>
              <a:t>Dalkir</a:t>
            </a:r>
            <a:r>
              <a:rPr lang="en-US" sz="2600" dirty="0"/>
              <a:t>, and </a:t>
            </a:r>
            <a:r>
              <a:rPr lang="en-US" sz="2600" dirty="0" err="1"/>
              <a:t>Bidian</a:t>
            </a:r>
            <a:r>
              <a:rPr lang="en-US" sz="2600" dirty="0"/>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103274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Bukowitz</a:t>
            </a:r>
            <a:r>
              <a:rPr lang="en-US" sz="2800" dirty="0"/>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Carlile</a:t>
            </a:r>
            <a:r>
              <a:rPr lang="en-US" sz="2800" dirty="0"/>
              <a:t> and </a:t>
            </a:r>
            <a:r>
              <a:rPr lang="en-US" sz="2800" dirty="0" err="1"/>
              <a:t>Rebentisch</a:t>
            </a:r>
            <a:r>
              <a:rPr lang="en-US" sz="2800" dirty="0"/>
              <a:t> Knowledge Transformation Cycle (2003)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Evans, </a:t>
            </a:r>
            <a:r>
              <a:rPr lang="en-US" sz="2800" dirty="0" err="1"/>
              <a:t>Dalkir</a:t>
            </a:r>
            <a:r>
              <a:rPr lang="en-US" sz="2800" dirty="0"/>
              <a:t>, and </a:t>
            </a:r>
            <a:r>
              <a:rPr lang="en-US" sz="2800" dirty="0" err="1"/>
              <a:t>Bidian</a:t>
            </a:r>
            <a:r>
              <a:rPr lang="en-US" sz="2800" dirty="0"/>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4035467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00000"/>
              </a:lnSpc>
              <a:spcBef>
                <a:spcPts val="2400"/>
              </a:spcBef>
              <a:buClr>
                <a:srgbClr val="973735"/>
              </a:buClr>
              <a:buSzPct val="50000"/>
              <a:buFont typeface="Wingdings" pitchFamily="2" charset="2"/>
              <a:buChar char="u"/>
              <a:defRPr/>
            </a:pPr>
            <a:r>
              <a:rPr lang="en-US" sz="2800" b="1" dirty="0"/>
              <a:t>Research and knowledge</a:t>
            </a:r>
            <a:r>
              <a:rPr lang="en-US" sz="2800" dirty="0"/>
              <a:t> about the design of physical products can be </a:t>
            </a:r>
            <a:r>
              <a:rPr lang="en-US" sz="2800" b="1" dirty="0"/>
              <a:t>extended into </a:t>
            </a:r>
            <a:r>
              <a:rPr lang="en-US" sz="2800" dirty="0"/>
              <a:t>the </a:t>
            </a:r>
            <a:r>
              <a:rPr lang="en-US" sz="2800" b="1" dirty="0"/>
              <a:t>intellectual realm </a:t>
            </a:r>
            <a:r>
              <a:rPr lang="en-US" sz="2800" dirty="0"/>
              <a:t>to serve as the basis for a KM cycle.</a:t>
            </a:r>
          </a:p>
          <a:p>
            <a:pPr marL="800100" lvl="1" indent="-342900" algn="just">
              <a:lnSpc>
                <a:spcPct val="100000"/>
              </a:lnSpc>
              <a:spcBef>
                <a:spcPts val="2400"/>
              </a:spcBef>
              <a:buClr>
                <a:srgbClr val="973735"/>
              </a:buClr>
              <a:buSzPct val="50000"/>
              <a:buFont typeface="Wingdings" pitchFamily="2" charset="2"/>
              <a:buChar char="u"/>
              <a:defRPr/>
            </a:pPr>
            <a:r>
              <a:rPr lang="en-US" sz="2800" b="1" dirty="0"/>
              <a:t>Platforms:</a:t>
            </a:r>
          </a:p>
          <a:p>
            <a:pPr marL="1257300" lvl="2" indent="-342900" algn="just">
              <a:lnSpc>
                <a:spcPct val="100000"/>
              </a:lnSpc>
              <a:spcBef>
                <a:spcPts val="1200"/>
              </a:spcBef>
              <a:buClr>
                <a:srgbClr val="973735"/>
              </a:buClr>
              <a:buSzPct val="50000"/>
              <a:buFont typeface="Wingdings" pitchFamily="2" charset="2"/>
              <a:buChar char="u"/>
              <a:defRPr/>
            </a:pPr>
            <a:r>
              <a:rPr lang="en-US" sz="2600" dirty="0"/>
              <a:t>Product platform: the knowledge repository</a:t>
            </a:r>
          </a:p>
          <a:p>
            <a:pPr marL="1257300" lvl="2" indent="-342900" algn="just">
              <a:lnSpc>
                <a:spcPct val="100000"/>
              </a:lnSpc>
              <a:spcBef>
                <a:spcPts val="1200"/>
              </a:spcBef>
              <a:buClr>
                <a:srgbClr val="973735"/>
              </a:buClr>
              <a:buSzPct val="50000"/>
              <a:buFont typeface="Wingdings" pitchFamily="2" charset="2"/>
              <a:buChar char="u"/>
              <a:defRPr/>
            </a:pPr>
            <a:r>
              <a:rPr lang="en-US" sz="2600" dirty="0"/>
              <a:t>Information process platform: the knowledge refinery</a:t>
            </a:r>
          </a:p>
          <a:p>
            <a:pPr marL="800100" lvl="1" indent="-342900" algn="just">
              <a:lnSpc>
                <a:spcPct val="100000"/>
              </a:lnSpc>
              <a:spcBef>
                <a:spcPts val="2400"/>
              </a:spcBef>
              <a:buClr>
                <a:srgbClr val="973735"/>
              </a:buClr>
              <a:buSzPct val="50000"/>
              <a:buFont typeface="Wingdings" pitchFamily="2" charset="2"/>
              <a:buChar char="u"/>
              <a:defRPr/>
            </a:pPr>
            <a:r>
              <a:rPr lang="en-US" sz="2800" b="1" dirty="0"/>
              <a:t>Information Unit: </a:t>
            </a:r>
            <a:r>
              <a:rPr lang="en-US" sz="2800" dirty="0"/>
              <a:t>formally defined atom of information to be stored, retrieved, and manipulated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Meyer and Zack KM Cycle</a:t>
            </a:r>
          </a:p>
        </p:txBody>
      </p:sp>
    </p:spTree>
    <p:extLst>
      <p:ext uri="{BB962C8B-B14F-4D97-AF65-F5344CB8AC3E}">
        <p14:creationId xmlns:p14="http://schemas.microsoft.com/office/powerpoint/2010/main" val="1211899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graphicFrame>
        <p:nvGraphicFramePr>
          <p:cNvPr id="2" name="Object 1">
            <a:extLst>
              <a:ext uri="{FF2B5EF4-FFF2-40B4-BE49-F238E27FC236}">
                <a16:creationId xmlns:a16="http://schemas.microsoft.com/office/drawing/2014/main" id="{792CE943-E404-6785-E3F1-92356302901D}"/>
              </a:ext>
            </a:extLst>
          </p:cNvPr>
          <p:cNvGraphicFramePr>
            <a:graphicFrameLocks noChangeAspect="1"/>
          </p:cNvGraphicFramePr>
          <p:nvPr>
            <p:extLst>
              <p:ext uri="{D42A27DB-BD31-4B8C-83A1-F6EECF244321}">
                <p14:modId xmlns:p14="http://schemas.microsoft.com/office/powerpoint/2010/main" val="1889716492"/>
              </p:ext>
            </p:extLst>
          </p:nvPr>
        </p:nvGraphicFramePr>
        <p:xfrm>
          <a:off x="1706902" y="1198178"/>
          <a:ext cx="7676829" cy="5002105"/>
        </p:xfrm>
        <a:graphic>
          <a:graphicData uri="http://schemas.openxmlformats.org/presentationml/2006/ole">
            <mc:AlternateContent xmlns:mc="http://schemas.openxmlformats.org/markup-compatibility/2006">
              <mc:Choice xmlns:v="urn:schemas-microsoft-com:vml" Requires="v">
                <p:oleObj name="Bitmap Image" r:id="rId3" imgW="6561000" imgH="4275000" progId="PBrush">
                  <p:embed/>
                </p:oleObj>
              </mc:Choice>
              <mc:Fallback>
                <p:oleObj name="Bitmap Image" r:id="rId3" imgW="6561000" imgH="4275000" progId="PBrush">
                  <p:embed/>
                  <p:pic>
                    <p:nvPicPr>
                      <p:cNvPr id="0" name=""/>
                      <p:cNvPicPr/>
                      <p:nvPr/>
                    </p:nvPicPr>
                    <p:blipFill>
                      <a:blip r:embed="rId4"/>
                      <a:stretch>
                        <a:fillRect/>
                      </a:stretch>
                    </p:blipFill>
                    <p:spPr>
                      <a:xfrm>
                        <a:off x="1706902" y="1198178"/>
                        <a:ext cx="7676829" cy="5002105"/>
                      </a:xfrm>
                      <a:prstGeom prst="rect">
                        <a:avLst/>
                      </a:prstGeom>
                    </p:spPr>
                  </p:pic>
                </p:oleObj>
              </mc:Fallback>
            </mc:AlternateContent>
          </a:graphicData>
        </a:graphic>
      </p:graphicFrame>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Meyer and Zack KM Cycle</a:t>
            </a:r>
            <a:endParaRPr lang="en-US" sz="4000" b="1" dirty="0"/>
          </a:p>
        </p:txBody>
      </p:sp>
      <p:graphicFrame>
        <p:nvGraphicFramePr>
          <p:cNvPr id="5" name="Object 4">
            <a:extLst>
              <a:ext uri="{FF2B5EF4-FFF2-40B4-BE49-F238E27FC236}">
                <a16:creationId xmlns:a16="http://schemas.microsoft.com/office/drawing/2014/main" id="{64DC289A-2BD2-B087-5B8B-015D8F2F3AAE}"/>
              </a:ext>
            </a:extLst>
          </p:cNvPr>
          <p:cNvGraphicFramePr>
            <a:graphicFrameLocks noChangeAspect="1"/>
          </p:cNvGraphicFramePr>
          <p:nvPr>
            <p:extLst>
              <p:ext uri="{D42A27DB-BD31-4B8C-83A1-F6EECF244321}">
                <p14:modId xmlns:p14="http://schemas.microsoft.com/office/powerpoint/2010/main" val="2020913276"/>
              </p:ext>
            </p:extLst>
          </p:nvPr>
        </p:nvGraphicFramePr>
        <p:xfrm>
          <a:off x="2300119" y="6103899"/>
          <a:ext cx="6811963" cy="358775"/>
        </p:xfrm>
        <a:graphic>
          <a:graphicData uri="http://schemas.openxmlformats.org/presentationml/2006/ole">
            <mc:AlternateContent xmlns:mc="http://schemas.openxmlformats.org/markup-compatibility/2006">
              <mc:Choice xmlns:v="urn:schemas-microsoft-com:vml" Requires="v">
                <p:oleObj name="Bitmap Image" r:id="rId5" imgW="6812280" imgH="358200" progId="PBrush">
                  <p:embed/>
                </p:oleObj>
              </mc:Choice>
              <mc:Fallback>
                <p:oleObj name="Bitmap Image" r:id="rId5" imgW="6812280" imgH="358200" progId="PBrush">
                  <p:embed/>
                  <p:pic>
                    <p:nvPicPr>
                      <p:cNvPr id="0" name=""/>
                      <p:cNvPicPr/>
                      <p:nvPr/>
                    </p:nvPicPr>
                    <p:blipFill>
                      <a:blip r:embed="rId6"/>
                      <a:stretch>
                        <a:fillRect/>
                      </a:stretch>
                    </p:blipFill>
                    <p:spPr>
                      <a:xfrm>
                        <a:off x="2300119" y="6103899"/>
                        <a:ext cx="6811963" cy="358775"/>
                      </a:xfrm>
                      <a:prstGeom prst="rect">
                        <a:avLst/>
                      </a:prstGeom>
                    </p:spPr>
                  </p:pic>
                </p:oleObj>
              </mc:Fallback>
            </mc:AlternateContent>
          </a:graphicData>
        </a:graphic>
      </p:graphicFrame>
    </p:spTree>
    <p:extLst>
      <p:ext uri="{BB962C8B-B14F-4D97-AF65-F5344CB8AC3E}">
        <p14:creationId xmlns:p14="http://schemas.microsoft.com/office/powerpoint/2010/main" val="679217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971176" cy="4655525"/>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Acquisition:</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Issues of raw materials: </a:t>
            </a:r>
            <a:r>
              <a:rPr lang="en-US" sz="2600" dirty="0"/>
              <a:t>scope, breadth, depth, credibility, accuracy, timelines, relevance, cost, control and exclusivity</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“garbage in garbage out”</a:t>
            </a:r>
            <a:r>
              <a:rPr lang="en-US" sz="2600" dirty="0"/>
              <a:t>: data has to be in highest quality.</a:t>
            </a:r>
          </a:p>
          <a:p>
            <a:pPr marL="342900" indent="-342900" algn="just">
              <a:lnSpc>
                <a:spcPct val="100000"/>
              </a:lnSpc>
              <a:spcBef>
                <a:spcPts val="1200"/>
              </a:spcBef>
              <a:buClr>
                <a:srgbClr val="973735"/>
              </a:buClr>
              <a:buSzPct val="50000"/>
              <a:buFont typeface="Wingdings" pitchFamily="2" charset="2"/>
              <a:buChar char="u"/>
              <a:defRPr/>
            </a:pPr>
            <a:r>
              <a:rPr lang="en-US" b="1" dirty="0"/>
              <a:t>Refinement: </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Primary source of added value</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Physical refinement</a:t>
            </a:r>
            <a:r>
              <a:rPr lang="en-US" sz="2600" dirty="0"/>
              <a:t>: moving between mediums</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Logical refinement</a:t>
            </a:r>
            <a:r>
              <a:rPr lang="en-US" sz="2600" dirty="0"/>
              <a:t>: restructuring, (re)labelling, indexing and integrating, cleaning up / sanitizing content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Meyer and Zack KM Cycle</a:t>
            </a:r>
            <a:endParaRPr lang="en-US" sz="4000" b="1" dirty="0"/>
          </a:p>
        </p:txBody>
      </p:sp>
    </p:spTree>
    <p:extLst>
      <p:ext uri="{BB962C8B-B14F-4D97-AF65-F5344CB8AC3E}">
        <p14:creationId xmlns:p14="http://schemas.microsoft.com/office/powerpoint/2010/main" val="1691474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4"/>
            <a:ext cx="11971176" cy="2339848"/>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Storage and Retrieval</a:t>
            </a:r>
            <a:r>
              <a:rPr lang="en-US" dirty="0"/>
              <a:t> </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Bridge from acquisition and refinement to product generation</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Physical</a:t>
            </a:r>
            <a:r>
              <a:rPr lang="en-US" sz="2600" dirty="0"/>
              <a:t>: folder, printed information</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Digital</a:t>
            </a:r>
            <a:r>
              <a:rPr lang="en-US" sz="2600" dirty="0"/>
              <a:t>: database, knowledge management software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Meyer and Zack KM Cycle</a:t>
            </a:r>
            <a:endParaRPr lang="en-US" sz="4000" b="1" dirty="0"/>
          </a:p>
        </p:txBody>
      </p:sp>
      <p:sp>
        <p:nvSpPr>
          <p:cNvPr id="2" name="Content Placeholder 3">
            <a:extLst>
              <a:ext uri="{FF2B5EF4-FFF2-40B4-BE49-F238E27FC236}">
                <a16:creationId xmlns:a16="http://schemas.microsoft.com/office/drawing/2014/main" id="{6ABB1311-2990-365C-8616-336BADE59F2B}"/>
              </a:ext>
            </a:extLst>
          </p:cNvPr>
          <p:cNvSpPr txBox="1">
            <a:spLocks/>
          </p:cNvSpPr>
          <p:nvPr/>
        </p:nvSpPr>
        <p:spPr>
          <a:xfrm>
            <a:off x="0" y="4004442"/>
            <a:ext cx="6585626" cy="29411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200"/>
              </a:spcBef>
              <a:buClr>
                <a:srgbClr val="973735"/>
              </a:buClr>
              <a:buSzPct val="50000"/>
              <a:buFont typeface="Wingdings" pitchFamily="2" charset="2"/>
              <a:buChar char="u"/>
              <a:defRPr/>
            </a:pPr>
            <a:r>
              <a:rPr lang="en-US" b="1" dirty="0"/>
              <a:t>Distribution</a:t>
            </a:r>
            <a:r>
              <a:rPr lang="en-US" dirty="0"/>
              <a:t> </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How information is delivered to end users</a:t>
            </a:r>
            <a:r>
              <a:rPr lang="en-US" sz="2600" dirty="0"/>
              <a:t>: fax, print, email. Publication on a web page</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Timing, frequency, form, language,    </a:t>
            </a:r>
            <a:br>
              <a:rPr lang="en-US" sz="2600" b="1" dirty="0"/>
            </a:br>
            <a:r>
              <a:rPr lang="en-US" sz="2600" b="1" dirty="0"/>
              <a:t>                                                       …</a:t>
            </a:r>
          </a:p>
        </p:txBody>
      </p:sp>
      <p:sp>
        <p:nvSpPr>
          <p:cNvPr id="5" name="Content Placeholder 3">
            <a:extLst>
              <a:ext uri="{FF2B5EF4-FFF2-40B4-BE49-F238E27FC236}">
                <a16:creationId xmlns:a16="http://schemas.microsoft.com/office/drawing/2014/main" id="{49F49A7D-03E2-3578-2139-20F0AB9F0F37}"/>
              </a:ext>
            </a:extLst>
          </p:cNvPr>
          <p:cNvSpPr txBox="1">
            <a:spLocks/>
          </p:cNvSpPr>
          <p:nvPr/>
        </p:nvSpPr>
        <p:spPr>
          <a:xfrm>
            <a:off x="6336994" y="4035974"/>
            <a:ext cx="5812961" cy="25852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gn="just">
              <a:lnSpc>
                <a:spcPct val="100000"/>
              </a:lnSpc>
              <a:spcBef>
                <a:spcPts val="1200"/>
              </a:spcBef>
              <a:buClr>
                <a:srgbClr val="973735"/>
              </a:buClr>
              <a:buSzPct val="50000"/>
              <a:buFont typeface="Wingdings" pitchFamily="2" charset="2"/>
              <a:buChar char="u"/>
              <a:defRPr/>
            </a:pPr>
            <a:r>
              <a:rPr lang="en-US" sz="2800" b="1" dirty="0"/>
              <a:t>Presentation</a:t>
            </a:r>
            <a:r>
              <a:rPr lang="en-US" sz="2800" dirty="0"/>
              <a:t> </a:t>
            </a:r>
          </a:p>
          <a:p>
            <a:pPr marL="1257300" lvl="2" indent="-342900" algn="just">
              <a:lnSpc>
                <a:spcPct val="100000"/>
              </a:lnSpc>
              <a:spcBef>
                <a:spcPts val="1200"/>
              </a:spcBef>
              <a:buClr>
                <a:srgbClr val="973735"/>
              </a:buClr>
              <a:buSzPct val="50000"/>
              <a:buFont typeface="Wingdings" pitchFamily="2" charset="2"/>
              <a:buChar char="u"/>
              <a:defRPr/>
            </a:pPr>
            <a:r>
              <a:rPr lang="en-US" sz="2600" b="1" dirty="0"/>
              <a:t>Context</a:t>
            </a:r>
            <a:r>
              <a:rPr lang="en-US" sz="2600" dirty="0"/>
              <a:t> plays important role</a:t>
            </a:r>
          </a:p>
          <a:p>
            <a:pPr marL="1257300" lvl="2" indent="-342900" algn="just">
              <a:lnSpc>
                <a:spcPct val="100000"/>
              </a:lnSpc>
              <a:spcBef>
                <a:spcPts val="1200"/>
              </a:spcBef>
              <a:buClr>
                <a:srgbClr val="973735"/>
              </a:buClr>
              <a:buSzPct val="50000"/>
              <a:buFont typeface="Wingdings" pitchFamily="2" charset="2"/>
              <a:buChar char="u"/>
              <a:defRPr/>
            </a:pPr>
            <a:r>
              <a:rPr lang="en-US" sz="2600" dirty="0"/>
              <a:t>Users have to have </a:t>
            </a:r>
            <a:r>
              <a:rPr lang="en-US" sz="2600" b="1" dirty="0"/>
              <a:t>enough context </a:t>
            </a:r>
            <a:r>
              <a:rPr lang="en-US" sz="2600" dirty="0"/>
              <a:t>to be able to make use of a content</a:t>
            </a:r>
          </a:p>
        </p:txBody>
      </p:sp>
    </p:spTree>
    <p:extLst>
      <p:ext uri="{BB962C8B-B14F-4D97-AF65-F5344CB8AC3E}">
        <p14:creationId xmlns:p14="http://schemas.microsoft.com/office/powerpoint/2010/main" val="3654953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800" dirty="0"/>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The </a:t>
            </a:r>
            <a:r>
              <a:rPr lang="en-US" sz="2800" b="1" dirty="0" err="1">
                <a:solidFill>
                  <a:srgbClr val="ED7D31"/>
                </a:solidFill>
              </a:rPr>
              <a:t>Bukowitz</a:t>
            </a:r>
            <a:r>
              <a:rPr lang="en-US" sz="2800" b="1" dirty="0">
                <a:solidFill>
                  <a:srgbClr val="ED7D31"/>
                </a:solidFill>
              </a:rPr>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Carlile</a:t>
            </a:r>
            <a:r>
              <a:rPr lang="en-US" sz="2800" dirty="0"/>
              <a:t> and </a:t>
            </a:r>
            <a:r>
              <a:rPr lang="en-US" sz="2800" dirty="0" err="1"/>
              <a:t>Rebentisch</a:t>
            </a:r>
            <a:r>
              <a:rPr lang="en-US" sz="2800" dirty="0"/>
              <a:t> Knowledge Transformation Cycle (2003)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Evans, </a:t>
            </a:r>
            <a:r>
              <a:rPr lang="en-US" sz="2800" dirty="0" err="1"/>
              <a:t>Dalkir</a:t>
            </a:r>
            <a:r>
              <a:rPr lang="en-US" sz="2800" dirty="0"/>
              <a:t>, and </a:t>
            </a:r>
            <a:r>
              <a:rPr lang="en-US" sz="2800" dirty="0" err="1"/>
              <a:t>Bidian</a:t>
            </a:r>
            <a:r>
              <a:rPr lang="en-US" sz="2800" dirty="0"/>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1817819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Bukowitz</a:t>
            </a:r>
            <a:r>
              <a:rPr lang="en-US" sz="4000" b="1" dirty="0">
                <a:solidFill>
                  <a:srgbClr val="ED7D31"/>
                </a:solidFill>
              </a:rPr>
              <a:t> and Williams KM Cycle</a:t>
            </a:r>
            <a:endParaRPr lang="en-US" sz="4000" b="1" dirty="0"/>
          </a:p>
        </p:txBody>
      </p:sp>
      <p:graphicFrame>
        <p:nvGraphicFramePr>
          <p:cNvPr id="2" name="Object 1">
            <a:extLst>
              <a:ext uri="{FF2B5EF4-FFF2-40B4-BE49-F238E27FC236}">
                <a16:creationId xmlns:a16="http://schemas.microsoft.com/office/drawing/2014/main" id="{A1A4329A-9299-0F74-7A0D-06A93438C218}"/>
              </a:ext>
            </a:extLst>
          </p:cNvPr>
          <p:cNvGraphicFramePr>
            <a:graphicFrameLocks noChangeAspect="1"/>
          </p:cNvGraphicFramePr>
          <p:nvPr>
            <p:extLst>
              <p:ext uri="{D42A27DB-BD31-4B8C-83A1-F6EECF244321}">
                <p14:modId xmlns:p14="http://schemas.microsoft.com/office/powerpoint/2010/main" val="254238694"/>
              </p:ext>
            </p:extLst>
          </p:nvPr>
        </p:nvGraphicFramePr>
        <p:xfrm>
          <a:off x="5414536" y="1682171"/>
          <a:ext cx="6543046" cy="3493657"/>
        </p:xfrm>
        <a:graphic>
          <a:graphicData uri="http://schemas.openxmlformats.org/presentationml/2006/ole">
            <mc:AlternateContent xmlns:mc="http://schemas.openxmlformats.org/markup-compatibility/2006">
              <mc:Choice xmlns:v="urn:schemas-microsoft-com:vml" Requires="v">
                <p:oleObj name="Bitmap Image" r:id="rId3" imgW="4465440" imgH="2385000" progId="PBrush">
                  <p:embed/>
                </p:oleObj>
              </mc:Choice>
              <mc:Fallback>
                <p:oleObj name="Bitmap Image" r:id="rId3" imgW="4465440" imgH="2385000" progId="PBrush">
                  <p:embed/>
                  <p:pic>
                    <p:nvPicPr>
                      <p:cNvPr id="2" name="Object 1">
                        <a:extLst>
                          <a:ext uri="{FF2B5EF4-FFF2-40B4-BE49-F238E27FC236}">
                            <a16:creationId xmlns:a16="http://schemas.microsoft.com/office/drawing/2014/main" id="{0788D6CC-6F0A-9FE5-4B4A-CDC3102D6A14}"/>
                          </a:ext>
                        </a:extLst>
                      </p:cNvPr>
                      <p:cNvPicPr/>
                      <p:nvPr/>
                    </p:nvPicPr>
                    <p:blipFill>
                      <a:blip r:embed="rId4"/>
                      <a:stretch>
                        <a:fillRect/>
                      </a:stretch>
                    </p:blipFill>
                    <p:spPr>
                      <a:xfrm>
                        <a:off x="5414536" y="1682171"/>
                        <a:ext cx="6543046" cy="3493657"/>
                      </a:xfrm>
                      <a:prstGeom prst="rect">
                        <a:avLst/>
                      </a:prstGeom>
                    </p:spPr>
                  </p:pic>
                </p:oleObj>
              </mc:Fallback>
            </mc:AlternateContent>
          </a:graphicData>
        </a:graphic>
      </p:graphicFrame>
      <p:sp>
        <p:nvSpPr>
          <p:cNvPr id="5" name="Content Placeholder 3">
            <a:extLst>
              <a:ext uri="{FF2B5EF4-FFF2-40B4-BE49-F238E27FC236}">
                <a16:creationId xmlns:a16="http://schemas.microsoft.com/office/drawing/2014/main" id="{EC1B2F10-F549-9DEB-35A5-350AE5183F6C}"/>
              </a:ext>
            </a:extLst>
          </p:cNvPr>
          <p:cNvSpPr txBox="1">
            <a:spLocks/>
          </p:cNvSpPr>
          <p:nvPr/>
        </p:nvSpPr>
        <p:spPr>
          <a:xfrm>
            <a:off x="4482" y="1797269"/>
            <a:ext cx="4713433" cy="49204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600"/>
              </a:spcBef>
              <a:buClr>
                <a:srgbClr val="973735"/>
              </a:buClr>
              <a:buSzPct val="50000"/>
              <a:buFont typeface="Wingdings" pitchFamily="2" charset="2"/>
              <a:buChar char="u"/>
              <a:defRPr/>
            </a:pPr>
            <a:r>
              <a:rPr lang="en-US" sz="2600" dirty="0" err="1"/>
              <a:t>Bukowitz</a:t>
            </a:r>
            <a:r>
              <a:rPr lang="en-US" sz="2600" dirty="0"/>
              <a:t> and Williams describe a KM process framework that outlines “how organizations generate, maintain, and deploy a strategically correct stock of knowledge to create value.” </a:t>
            </a:r>
          </a:p>
        </p:txBody>
      </p:sp>
      <p:graphicFrame>
        <p:nvGraphicFramePr>
          <p:cNvPr id="4" name="Object 3">
            <a:extLst>
              <a:ext uri="{FF2B5EF4-FFF2-40B4-BE49-F238E27FC236}">
                <a16:creationId xmlns:a16="http://schemas.microsoft.com/office/drawing/2014/main" id="{70952CF7-13F3-18FB-B129-D34A6CBF5E08}"/>
              </a:ext>
            </a:extLst>
          </p:cNvPr>
          <p:cNvGraphicFramePr>
            <a:graphicFrameLocks noChangeAspect="1"/>
          </p:cNvGraphicFramePr>
          <p:nvPr>
            <p:extLst>
              <p:ext uri="{D42A27DB-BD31-4B8C-83A1-F6EECF244321}">
                <p14:modId xmlns:p14="http://schemas.microsoft.com/office/powerpoint/2010/main" val="2444935697"/>
              </p:ext>
            </p:extLst>
          </p:nvPr>
        </p:nvGraphicFramePr>
        <p:xfrm>
          <a:off x="6159553" y="5336997"/>
          <a:ext cx="5053013" cy="342900"/>
        </p:xfrm>
        <a:graphic>
          <a:graphicData uri="http://schemas.openxmlformats.org/presentationml/2006/ole">
            <mc:AlternateContent xmlns:mc="http://schemas.openxmlformats.org/markup-compatibility/2006">
              <mc:Choice xmlns:v="urn:schemas-microsoft-com:vml" Requires="v">
                <p:oleObj name="Bitmap Image" r:id="rId5" imgW="5052240" imgH="343080" progId="PBrush">
                  <p:embed/>
                </p:oleObj>
              </mc:Choice>
              <mc:Fallback>
                <p:oleObj name="Bitmap Image" r:id="rId5" imgW="5052240" imgH="343080" progId="PBrush">
                  <p:embed/>
                  <p:pic>
                    <p:nvPicPr>
                      <p:cNvPr id="0" name=""/>
                      <p:cNvPicPr/>
                      <p:nvPr/>
                    </p:nvPicPr>
                    <p:blipFill>
                      <a:blip r:embed="rId6"/>
                      <a:stretch>
                        <a:fillRect/>
                      </a:stretch>
                    </p:blipFill>
                    <p:spPr>
                      <a:xfrm>
                        <a:off x="6159553" y="5336997"/>
                        <a:ext cx="5053013" cy="342900"/>
                      </a:xfrm>
                      <a:prstGeom prst="rect">
                        <a:avLst/>
                      </a:prstGeom>
                    </p:spPr>
                  </p:pic>
                </p:oleObj>
              </mc:Fallback>
            </mc:AlternateContent>
          </a:graphicData>
        </a:graphic>
      </p:graphicFrame>
    </p:spTree>
    <p:extLst>
      <p:ext uri="{BB962C8B-B14F-4D97-AF65-F5344CB8AC3E}">
        <p14:creationId xmlns:p14="http://schemas.microsoft.com/office/powerpoint/2010/main" val="817254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6537434" cy="4255275"/>
          </a:xfrm>
        </p:spPr>
        <p:txBody>
          <a:bodyPr>
            <a:normAutofit fontScale="92500" lnSpcReduction="10000"/>
          </a:bodyPr>
          <a:lstStyle/>
          <a:p>
            <a:pPr marL="342900" indent="-342900" algn="just">
              <a:lnSpc>
                <a:spcPct val="110000"/>
              </a:lnSpc>
              <a:spcBef>
                <a:spcPts val="1200"/>
              </a:spcBef>
              <a:buClr>
                <a:srgbClr val="973735"/>
              </a:buClr>
              <a:buSzPct val="50000"/>
              <a:buFont typeface="Wingdings" pitchFamily="2" charset="2"/>
              <a:buChar char="u"/>
              <a:defRPr/>
            </a:pPr>
            <a:r>
              <a:rPr lang="en-US" sz="3000" b="1" dirty="0"/>
              <a:t>Get:</a:t>
            </a:r>
          </a:p>
          <a:p>
            <a:pPr marL="800100" lvl="1" indent="-342900" algn="just">
              <a:lnSpc>
                <a:spcPct val="110000"/>
              </a:lnSpc>
              <a:spcBef>
                <a:spcPts val="1200"/>
              </a:spcBef>
              <a:buClr>
                <a:srgbClr val="973735"/>
              </a:buClr>
              <a:buSzPct val="50000"/>
              <a:buFont typeface="Wingdings" pitchFamily="2" charset="2"/>
              <a:buChar char="u"/>
              <a:defRPr/>
            </a:pPr>
            <a:r>
              <a:rPr lang="en-US" sz="2800" dirty="0"/>
              <a:t>Seek out needed information: </a:t>
            </a:r>
          </a:p>
          <a:p>
            <a:pPr marL="1257300" lvl="2" indent="-342900" algn="just">
              <a:lnSpc>
                <a:spcPct val="110000"/>
              </a:lnSpc>
              <a:spcBef>
                <a:spcPts val="1200"/>
              </a:spcBef>
              <a:buClr>
                <a:srgbClr val="973735"/>
              </a:buClr>
              <a:buSzPct val="50000"/>
              <a:buFont typeface="Wingdings" pitchFamily="2" charset="2"/>
              <a:buChar char="u"/>
              <a:defRPr/>
            </a:pPr>
            <a:r>
              <a:rPr lang="en-US" sz="2800" dirty="0"/>
              <a:t>For decision making, problem solving or innovation</a:t>
            </a:r>
          </a:p>
          <a:p>
            <a:pPr marL="800100" lvl="1" indent="-342900" algn="just">
              <a:lnSpc>
                <a:spcPct val="110000"/>
              </a:lnSpc>
              <a:spcBef>
                <a:spcPts val="1200"/>
              </a:spcBef>
              <a:buClr>
                <a:srgbClr val="973735"/>
              </a:buClr>
              <a:buSzPct val="50000"/>
              <a:buFont typeface="Wingdings" pitchFamily="2" charset="2"/>
              <a:buChar char="u"/>
              <a:defRPr/>
            </a:pPr>
            <a:r>
              <a:rPr lang="en-US" sz="2800" dirty="0"/>
              <a:t>Think of </a:t>
            </a:r>
            <a:r>
              <a:rPr lang="en-US" sz="2800" b="1" dirty="0"/>
              <a:t>information overload</a:t>
            </a:r>
          </a:p>
          <a:p>
            <a:pPr marL="800100" lvl="1" indent="-342900" algn="just">
              <a:lnSpc>
                <a:spcPct val="110000"/>
              </a:lnSpc>
              <a:spcBef>
                <a:spcPts val="1200"/>
              </a:spcBef>
              <a:buClr>
                <a:srgbClr val="973735"/>
              </a:buClr>
              <a:buSzPct val="50000"/>
              <a:buFont typeface="Wingdings" pitchFamily="2" charset="2"/>
              <a:buChar char="u"/>
              <a:defRPr/>
            </a:pPr>
            <a:r>
              <a:rPr lang="en-US" sz="2800" dirty="0"/>
              <a:t>User need must be well understood</a:t>
            </a:r>
          </a:p>
          <a:p>
            <a:pPr marL="800100" lvl="1" indent="-342900" algn="just">
              <a:lnSpc>
                <a:spcPct val="110000"/>
              </a:lnSpc>
              <a:spcBef>
                <a:spcPts val="1200"/>
              </a:spcBef>
              <a:buClr>
                <a:srgbClr val="973735"/>
              </a:buClr>
              <a:buSzPct val="50000"/>
              <a:buFont typeface="Wingdings" pitchFamily="2" charset="2"/>
              <a:buChar char="u"/>
              <a:defRPr/>
            </a:pPr>
            <a:r>
              <a:rPr lang="en-US" sz="2800" dirty="0"/>
              <a:t>Know where knowledge resources exist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Bukowitz</a:t>
            </a:r>
            <a:r>
              <a:rPr lang="en-US" sz="4000" b="1" dirty="0">
                <a:solidFill>
                  <a:srgbClr val="ED7D31"/>
                </a:solidFill>
              </a:rPr>
              <a:t> and Williams KM Cycle</a:t>
            </a:r>
            <a:endParaRPr lang="en-US" sz="4000" b="1" dirty="0"/>
          </a:p>
        </p:txBody>
      </p:sp>
      <p:sp>
        <p:nvSpPr>
          <p:cNvPr id="2" name="Content Placeholder 3">
            <a:extLst>
              <a:ext uri="{FF2B5EF4-FFF2-40B4-BE49-F238E27FC236}">
                <a16:creationId xmlns:a16="http://schemas.microsoft.com/office/drawing/2014/main" id="{5399700C-44B2-B7C8-B5E2-C78B64022260}"/>
              </a:ext>
            </a:extLst>
          </p:cNvPr>
          <p:cNvSpPr txBox="1">
            <a:spLocks/>
          </p:cNvSpPr>
          <p:nvPr/>
        </p:nvSpPr>
        <p:spPr>
          <a:xfrm>
            <a:off x="6681935" y="1759181"/>
            <a:ext cx="5194735" cy="4255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200"/>
              </a:spcBef>
              <a:buClr>
                <a:srgbClr val="973735"/>
              </a:buClr>
              <a:buSzPct val="50000"/>
              <a:buFont typeface="Wingdings" pitchFamily="2" charset="2"/>
              <a:buChar char="u"/>
              <a:defRPr/>
            </a:pPr>
            <a:r>
              <a:rPr lang="en-US" b="1" dirty="0"/>
              <a:t>Use:</a:t>
            </a:r>
          </a:p>
          <a:p>
            <a:pPr marL="800100" lvl="1" indent="-342900" algn="just">
              <a:lnSpc>
                <a:spcPct val="100000"/>
              </a:lnSpc>
              <a:spcBef>
                <a:spcPts val="1200"/>
              </a:spcBef>
              <a:buClr>
                <a:srgbClr val="973735"/>
              </a:buClr>
              <a:buSzPct val="50000"/>
              <a:buFont typeface="Wingdings" pitchFamily="2" charset="2"/>
              <a:buChar char="u"/>
              <a:defRPr/>
            </a:pPr>
            <a:r>
              <a:rPr lang="en-US" sz="2600" dirty="0"/>
              <a:t>How to combine information</a:t>
            </a:r>
          </a:p>
          <a:p>
            <a:pPr marL="1257300" lvl="2" indent="-342900" algn="just">
              <a:lnSpc>
                <a:spcPct val="100000"/>
              </a:lnSpc>
              <a:spcBef>
                <a:spcPts val="1200"/>
              </a:spcBef>
              <a:buClr>
                <a:srgbClr val="973735"/>
              </a:buClr>
              <a:buSzPct val="50000"/>
              <a:buFont typeface="Wingdings" pitchFamily="2" charset="2"/>
              <a:buChar char="u"/>
              <a:defRPr/>
            </a:pPr>
            <a:r>
              <a:rPr lang="en-US" sz="2600" dirty="0"/>
              <a:t>In new and interesting ways to foster organization innovation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Focus on individuals and then on groups</a:t>
            </a:r>
          </a:p>
        </p:txBody>
      </p:sp>
    </p:spTree>
    <p:extLst>
      <p:ext uri="{BB962C8B-B14F-4D97-AF65-F5344CB8AC3E}">
        <p14:creationId xmlns:p14="http://schemas.microsoft.com/office/powerpoint/2010/main" val="4024977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Bukowitz</a:t>
            </a:r>
            <a:r>
              <a:rPr lang="en-US" sz="4000" b="1" dirty="0">
                <a:solidFill>
                  <a:srgbClr val="ED7D31"/>
                </a:solidFill>
              </a:rPr>
              <a:t> and Williams KM Cycle</a:t>
            </a:r>
          </a:p>
        </p:txBody>
      </p:sp>
      <p:sp>
        <p:nvSpPr>
          <p:cNvPr id="2" name="Content Placeholder 3">
            <a:extLst>
              <a:ext uri="{FF2B5EF4-FFF2-40B4-BE49-F238E27FC236}">
                <a16:creationId xmlns:a16="http://schemas.microsoft.com/office/drawing/2014/main" id="{5CA96845-5C94-5621-DAA3-A58D135C57EA}"/>
              </a:ext>
            </a:extLst>
          </p:cNvPr>
          <p:cNvSpPr txBox="1">
            <a:spLocks/>
          </p:cNvSpPr>
          <p:nvPr/>
        </p:nvSpPr>
        <p:spPr>
          <a:xfrm>
            <a:off x="287517" y="1804800"/>
            <a:ext cx="6312956" cy="46446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10000"/>
              </a:lnSpc>
              <a:spcBef>
                <a:spcPts val="1200"/>
              </a:spcBef>
              <a:buClr>
                <a:srgbClr val="973735"/>
              </a:buClr>
              <a:buSzPct val="50000"/>
              <a:buFont typeface="Wingdings" pitchFamily="2" charset="2"/>
              <a:buChar char="u"/>
              <a:defRPr/>
            </a:pPr>
            <a:r>
              <a:rPr lang="en-US" sz="3300" b="1" dirty="0"/>
              <a:t>Learn:</a:t>
            </a:r>
          </a:p>
          <a:p>
            <a:pPr marL="800100" lvl="1" indent="-342900" algn="just">
              <a:lnSpc>
                <a:spcPct val="110000"/>
              </a:lnSpc>
              <a:spcBef>
                <a:spcPts val="1200"/>
              </a:spcBef>
              <a:buClr>
                <a:srgbClr val="973735"/>
              </a:buClr>
              <a:buSzPct val="50000"/>
              <a:buFont typeface="Wingdings" pitchFamily="2" charset="2"/>
              <a:buChar char="u"/>
              <a:defRPr/>
            </a:pPr>
            <a:r>
              <a:rPr lang="en-US" sz="3100" dirty="0"/>
              <a:t>Learning from experiences</a:t>
            </a:r>
          </a:p>
          <a:p>
            <a:pPr marL="1257300" lvl="2" indent="-342900" algn="just">
              <a:lnSpc>
                <a:spcPct val="110000"/>
              </a:lnSpc>
              <a:spcBef>
                <a:spcPts val="1200"/>
              </a:spcBef>
              <a:buClr>
                <a:srgbClr val="973735"/>
              </a:buClr>
              <a:buSzPct val="50000"/>
              <a:buFont typeface="Wingdings" pitchFamily="2" charset="2"/>
              <a:buChar char="u"/>
              <a:defRPr/>
            </a:pPr>
            <a:r>
              <a:rPr lang="en-US" sz="2800" dirty="0"/>
              <a:t>Means of creating competitive advantage</a:t>
            </a:r>
          </a:p>
          <a:p>
            <a:pPr marL="800100" lvl="1" indent="-342900" algn="just">
              <a:lnSpc>
                <a:spcPct val="110000"/>
              </a:lnSpc>
              <a:spcBef>
                <a:spcPts val="1200"/>
              </a:spcBef>
              <a:buClr>
                <a:srgbClr val="973735"/>
              </a:buClr>
              <a:buSzPct val="50000"/>
              <a:buFont typeface="Wingdings" pitchFamily="2" charset="2"/>
              <a:buChar char="u"/>
              <a:defRPr/>
            </a:pPr>
            <a:r>
              <a:rPr lang="en-US" sz="3100" dirty="0"/>
              <a:t>Creation of organizational memory</a:t>
            </a:r>
          </a:p>
          <a:p>
            <a:pPr marL="1257300" lvl="2" indent="-342900" algn="just">
              <a:lnSpc>
                <a:spcPct val="110000"/>
              </a:lnSpc>
              <a:spcBef>
                <a:spcPts val="1200"/>
              </a:spcBef>
              <a:buClr>
                <a:srgbClr val="973735"/>
              </a:buClr>
              <a:buSzPct val="50000"/>
              <a:buFont typeface="Wingdings" pitchFamily="2" charset="2"/>
              <a:buChar char="u"/>
              <a:defRPr/>
            </a:pPr>
            <a:r>
              <a:rPr lang="en-US" sz="2800" dirty="0"/>
              <a:t>Best practices and lessons learned</a:t>
            </a:r>
            <a:endParaRPr lang="en-US" sz="3100" dirty="0"/>
          </a:p>
          <a:p>
            <a:pPr marL="800100" lvl="1" indent="-342900" algn="just">
              <a:lnSpc>
                <a:spcPct val="110000"/>
              </a:lnSpc>
              <a:spcBef>
                <a:spcPts val="1200"/>
              </a:spcBef>
              <a:buClr>
                <a:srgbClr val="973735"/>
              </a:buClr>
              <a:buSzPct val="50000"/>
              <a:buFont typeface="Wingdings" pitchFamily="2" charset="2"/>
              <a:buChar char="u"/>
              <a:defRPr/>
            </a:pPr>
            <a:r>
              <a:rPr lang="en-US" sz="3100" dirty="0"/>
              <a:t>Transition between application and generation</a:t>
            </a:r>
          </a:p>
        </p:txBody>
      </p:sp>
      <p:sp>
        <p:nvSpPr>
          <p:cNvPr id="8" name="Content Placeholder 3">
            <a:extLst>
              <a:ext uri="{FF2B5EF4-FFF2-40B4-BE49-F238E27FC236}">
                <a16:creationId xmlns:a16="http://schemas.microsoft.com/office/drawing/2014/main" id="{96C9A362-61B2-A1E9-DA66-1EA75675D749}"/>
              </a:ext>
            </a:extLst>
          </p:cNvPr>
          <p:cNvSpPr>
            <a:spLocks noGrp="1"/>
          </p:cNvSpPr>
          <p:nvPr>
            <p:ph sz="quarter" idx="1"/>
          </p:nvPr>
        </p:nvSpPr>
        <p:spPr>
          <a:xfrm>
            <a:off x="6931233" y="1819711"/>
            <a:ext cx="5118562"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Contribute:</a:t>
            </a:r>
          </a:p>
          <a:p>
            <a:pPr marL="800100" lvl="1" indent="-342900" algn="just">
              <a:lnSpc>
                <a:spcPct val="100000"/>
              </a:lnSpc>
              <a:spcBef>
                <a:spcPts val="1200"/>
              </a:spcBef>
              <a:buClr>
                <a:srgbClr val="973735"/>
              </a:buClr>
              <a:buSzPct val="50000"/>
              <a:buFont typeface="Wingdings" pitchFamily="2" charset="2"/>
              <a:buChar char="u"/>
              <a:defRPr/>
            </a:pPr>
            <a:r>
              <a:rPr lang="en-US" sz="2600" dirty="0"/>
              <a:t>Getting employees to post</a:t>
            </a:r>
          </a:p>
          <a:p>
            <a:pPr marL="1257300" lvl="2" indent="-342900" algn="just">
              <a:lnSpc>
                <a:spcPct val="100000"/>
              </a:lnSpc>
              <a:spcBef>
                <a:spcPts val="1200"/>
              </a:spcBef>
              <a:buClr>
                <a:srgbClr val="973735"/>
              </a:buClr>
              <a:buSzPct val="50000"/>
              <a:buFont typeface="Wingdings" pitchFamily="2" charset="2"/>
              <a:buChar char="u"/>
              <a:defRPr/>
            </a:pPr>
            <a:r>
              <a:rPr lang="en-US" sz="2400" dirty="0"/>
              <a:t>What the have learned</a:t>
            </a:r>
          </a:p>
          <a:p>
            <a:pPr marL="800100" lvl="1" indent="-342900" algn="just">
              <a:lnSpc>
                <a:spcPct val="100000"/>
              </a:lnSpc>
              <a:spcBef>
                <a:spcPts val="1200"/>
              </a:spcBef>
              <a:buClr>
                <a:srgbClr val="973735"/>
              </a:buClr>
              <a:buSzPct val="50000"/>
              <a:buFont typeface="Wingdings" pitchFamily="2" charset="2"/>
              <a:buChar char="u"/>
              <a:defRPr/>
            </a:pPr>
            <a:r>
              <a:rPr lang="en-US" sz="2600" dirty="0"/>
              <a:t>Making knowledge visible and available</a:t>
            </a:r>
          </a:p>
          <a:p>
            <a:pPr marL="800100" lvl="1" indent="-342900" algn="just">
              <a:lnSpc>
                <a:spcPct val="100000"/>
              </a:lnSpc>
              <a:spcBef>
                <a:spcPts val="1200"/>
              </a:spcBef>
              <a:buClr>
                <a:srgbClr val="973735"/>
              </a:buClr>
              <a:buSzPct val="50000"/>
              <a:buFont typeface="Wingdings" pitchFamily="2" charset="2"/>
              <a:buChar char="u"/>
              <a:defRPr/>
            </a:pPr>
            <a:r>
              <a:rPr lang="en-US" sz="2600" dirty="0"/>
              <a:t>Sharing </a:t>
            </a:r>
          </a:p>
        </p:txBody>
      </p:sp>
    </p:spTree>
    <p:extLst>
      <p:ext uri="{BB962C8B-B14F-4D97-AF65-F5344CB8AC3E}">
        <p14:creationId xmlns:p14="http://schemas.microsoft.com/office/powerpoint/2010/main" val="4232461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6001407"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Assess:</a:t>
            </a:r>
          </a:p>
          <a:p>
            <a:pPr marL="800100" lvl="1" indent="-342900" algn="just">
              <a:lnSpc>
                <a:spcPct val="100000"/>
              </a:lnSpc>
              <a:spcBef>
                <a:spcPts val="1200"/>
              </a:spcBef>
              <a:buClr>
                <a:srgbClr val="973735"/>
              </a:buClr>
              <a:buSzPct val="50000"/>
              <a:buFont typeface="Wingdings" pitchFamily="2" charset="2"/>
              <a:buChar char="u"/>
              <a:defRPr/>
            </a:pPr>
            <a:r>
              <a:rPr lang="en-US" sz="2600" dirty="0"/>
              <a:t>Evaluation of intellectual capital</a:t>
            </a:r>
          </a:p>
          <a:p>
            <a:pPr marL="800100" lvl="1" indent="-342900" algn="just">
              <a:lnSpc>
                <a:spcPct val="100000"/>
              </a:lnSpc>
              <a:spcBef>
                <a:spcPts val="1200"/>
              </a:spcBef>
              <a:buClr>
                <a:srgbClr val="973735"/>
              </a:buClr>
              <a:buSzPct val="50000"/>
              <a:buFont typeface="Wingdings" pitchFamily="2" charset="2"/>
              <a:buChar char="u"/>
              <a:defRPr/>
            </a:pPr>
            <a:r>
              <a:rPr lang="en-US" sz="2600" dirty="0"/>
              <a:t>Definition of mission-critical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Map of current intellectual capital</a:t>
            </a:r>
          </a:p>
          <a:p>
            <a:pPr marL="1257300" lvl="2" indent="-342900" algn="just">
              <a:lnSpc>
                <a:spcPct val="100000"/>
              </a:lnSpc>
              <a:spcBef>
                <a:spcPts val="1200"/>
              </a:spcBef>
              <a:buClr>
                <a:srgbClr val="973735"/>
              </a:buClr>
              <a:buSzPct val="50000"/>
              <a:buFont typeface="Wingdings" pitchFamily="2" charset="2"/>
              <a:buChar char="u"/>
              <a:defRPr/>
            </a:pPr>
            <a:r>
              <a:rPr lang="en-US" sz="2400" dirty="0"/>
              <a:t>Against future knowledge needs</a:t>
            </a:r>
          </a:p>
          <a:p>
            <a:pPr marL="800100" lvl="1" indent="-342900" algn="just">
              <a:lnSpc>
                <a:spcPct val="100000"/>
              </a:lnSpc>
              <a:spcBef>
                <a:spcPts val="1200"/>
              </a:spcBef>
              <a:buClr>
                <a:srgbClr val="973735"/>
              </a:buClr>
              <a:buSzPct val="50000"/>
              <a:buFont typeface="Wingdings" pitchFamily="2" charset="2"/>
              <a:buChar char="u"/>
              <a:defRPr/>
            </a:pPr>
            <a:r>
              <a:rPr lang="en-US" sz="2600" dirty="0"/>
              <a:t>Requirements for new set of processes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Bukowitz</a:t>
            </a:r>
            <a:r>
              <a:rPr lang="en-US" sz="4000" b="1" dirty="0">
                <a:solidFill>
                  <a:srgbClr val="ED7D31"/>
                </a:solidFill>
              </a:rPr>
              <a:t> and Williams KM Cycle</a:t>
            </a:r>
          </a:p>
        </p:txBody>
      </p:sp>
      <p:sp>
        <p:nvSpPr>
          <p:cNvPr id="2" name="Content Placeholder 3">
            <a:extLst>
              <a:ext uri="{FF2B5EF4-FFF2-40B4-BE49-F238E27FC236}">
                <a16:creationId xmlns:a16="http://schemas.microsoft.com/office/drawing/2014/main" id="{F16557C6-E435-658E-4CC3-1761FA6393A4}"/>
              </a:ext>
            </a:extLst>
          </p:cNvPr>
          <p:cNvSpPr txBox="1">
            <a:spLocks/>
          </p:cNvSpPr>
          <p:nvPr/>
        </p:nvSpPr>
        <p:spPr>
          <a:xfrm>
            <a:off x="6438256" y="1664593"/>
            <a:ext cx="5549484" cy="46899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200"/>
              </a:spcBef>
              <a:buClr>
                <a:srgbClr val="973735"/>
              </a:buClr>
              <a:buSzPct val="50000"/>
              <a:buFont typeface="Wingdings" pitchFamily="2" charset="2"/>
              <a:buChar char="u"/>
              <a:defRPr/>
            </a:pPr>
            <a:r>
              <a:rPr lang="en-US" b="1" dirty="0"/>
              <a:t>Build / sustain</a:t>
            </a:r>
          </a:p>
          <a:p>
            <a:pPr marL="800100" lvl="1" indent="-342900" algn="just">
              <a:lnSpc>
                <a:spcPct val="100000"/>
              </a:lnSpc>
              <a:spcBef>
                <a:spcPts val="1200"/>
              </a:spcBef>
              <a:buClr>
                <a:srgbClr val="973735"/>
              </a:buClr>
              <a:buSzPct val="50000"/>
              <a:buFont typeface="Wingdings" pitchFamily="2" charset="2"/>
              <a:buChar char="u"/>
              <a:defRPr/>
            </a:pPr>
            <a:r>
              <a:rPr lang="en-US" sz="2600" dirty="0"/>
              <a:t>Allocation of resources: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To growth and maintenance of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Creation of new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Reinforcement of existing knowledge</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Tree>
    <p:extLst>
      <p:ext uri="{BB962C8B-B14F-4D97-AF65-F5344CB8AC3E}">
        <p14:creationId xmlns:p14="http://schemas.microsoft.com/office/powerpoint/2010/main" val="3174593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Divest</a:t>
            </a:r>
            <a:r>
              <a:rPr lang="en-US" dirty="0"/>
              <a:t> </a:t>
            </a:r>
          </a:p>
          <a:p>
            <a:pPr marL="800100" lvl="1" indent="-342900" algn="just">
              <a:lnSpc>
                <a:spcPct val="100000"/>
              </a:lnSpc>
              <a:spcBef>
                <a:spcPts val="1200"/>
              </a:spcBef>
              <a:buClr>
                <a:srgbClr val="973735"/>
              </a:buClr>
              <a:buSzPct val="50000"/>
              <a:buFont typeface="Wingdings" pitchFamily="2" charset="2"/>
              <a:buChar char="u"/>
              <a:defRPr/>
            </a:pPr>
            <a:r>
              <a:rPr lang="en-US" sz="2600" dirty="0"/>
              <a:t>Identification of obsolete knowledge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Knowledge that gives no value any further</a:t>
            </a:r>
          </a:p>
          <a:p>
            <a:pPr marL="800100" lvl="1" indent="-342900" algn="just">
              <a:lnSpc>
                <a:spcPct val="100000"/>
              </a:lnSpc>
              <a:spcBef>
                <a:spcPts val="1200"/>
              </a:spcBef>
              <a:buClr>
                <a:srgbClr val="973735"/>
              </a:buClr>
              <a:buSzPct val="50000"/>
              <a:buFont typeface="Wingdings" pitchFamily="2" charset="2"/>
              <a:buChar char="u"/>
              <a:defRPr/>
            </a:pPr>
            <a:r>
              <a:rPr lang="en-US" sz="2600" dirty="0"/>
              <a:t>Examination of resources required</a:t>
            </a:r>
          </a:p>
          <a:p>
            <a:pPr marL="1257300" lvl="2" indent="-342900" algn="just">
              <a:lnSpc>
                <a:spcPct val="100000"/>
              </a:lnSpc>
              <a:spcBef>
                <a:spcPts val="1200"/>
              </a:spcBef>
              <a:buClr>
                <a:srgbClr val="973735"/>
              </a:buClr>
              <a:buSzPct val="50000"/>
              <a:buFont typeface="Wingdings" pitchFamily="2" charset="2"/>
              <a:buChar char="u"/>
              <a:defRPr/>
            </a:pPr>
            <a:r>
              <a:rPr lang="en-US" sz="2400" dirty="0"/>
              <a:t>To maintain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Redeploying, outsourcing or terminating</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Bukowitz</a:t>
            </a:r>
            <a:r>
              <a:rPr lang="en-US" sz="4000" b="1" dirty="0">
                <a:solidFill>
                  <a:srgbClr val="ED7D31"/>
                </a:solidFill>
              </a:rPr>
              <a:t> and Williams KM Cycle</a:t>
            </a:r>
            <a:endParaRPr lang="en-US" sz="4000" b="1" dirty="0"/>
          </a:p>
        </p:txBody>
      </p:sp>
    </p:spTree>
    <p:extLst>
      <p:ext uri="{BB962C8B-B14F-4D97-AF65-F5344CB8AC3E}">
        <p14:creationId xmlns:p14="http://schemas.microsoft.com/office/powerpoint/2010/main" val="2167523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800" dirty="0"/>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Bukowitz</a:t>
            </a:r>
            <a:r>
              <a:rPr lang="en-US" sz="2800" dirty="0"/>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Carlile</a:t>
            </a:r>
            <a:r>
              <a:rPr lang="en-US" sz="2800" dirty="0"/>
              <a:t> and </a:t>
            </a:r>
            <a:r>
              <a:rPr lang="en-US" sz="2800" dirty="0" err="1"/>
              <a:t>Rebentisch</a:t>
            </a:r>
            <a:r>
              <a:rPr lang="en-US" sz="2800" dirty="0"/>
              <a:t> Knowledge Transformation Cycle (2003)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Evans, </a:t>
            </a:r>
            <a:r>
              <a:rPr lang="en-US" sz="2800" dirty="0" err="1"/>
              <a:t>Dalkir</a:t>
            </a:r>
            <a:r>
              <a:rPr lang="en-US" sz="2800" dirty="0"/>
              <a:t>, and </a:t>
            </a:r>
            <a:r>
              <a:rPr lang="en-US" sz="2800" dirty="0" err="1"/>
              <a:t>Bidian</a:t>
            </a:r>
            <a:r>
              <a:rPr lang="en-US" sz="2800" dirty="0"/>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2796478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2363821"/>
            <a:ext cx="11624553" cy="3556047"/>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McElroy (1999) describes a knowledge life cycle that consists of the knowledge processes of knowledge production and knowledge integration, with a series of feedback loops to organizational memory, beliefs, claims and the business-processing environment. </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McElroy KM Cycle</a:t>
            </a:r>
          </a:p>
        </p:txBody>
      </p:sp>
    </p:spTree>
    <p:extLst>
      <p:ext uri="{BB962C8B-B14F-4D97-AF65-F5344CB8AC3E}">
        <p14:creationId xmlns:p14="http://schemas.microsoft.com/office/powerpoint/2010/main" val="3598105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3"/>
            <a:ext cx="11712102" cy="4816106"/>
          </a:xfrm>
        </p:spPr>
        <p:txBody>
          <a:bodyPr>
            <a:normAutofit fontScale="77500" lnSpcReduction="20000"/>
          </a:bodyPr>
          <a:lstStyle/>
          <a:p>
            <a:pPr marL="342900" indent="-342900" algn="just">
              <a:lnSpc>
                <a:spcPct val="120000"/>
              </a:lnSpc>
              <a:spcBef>
                <a:spcPts val="1800"/>
              </a:spcBef>
              <a:buClr>
                <a:srgbClr val="973735"/>
              </a:buClr>
              <a:buSzPct val="50000"/>
              <a:buFont typeface="Wingdings" pitchFamily="2" charset="2"/>
              <a:buChar char="u"/>
              <a:defRPr/>
            </a:pPr>
            <a:r>
              <a:rPr lang="en-US" sz="3600" b="1" dirty="0"/>
              <a:t>Knowledge is held </a:t>
            </a:r>
          </a:p>
          <a:p>
            <a:pPr marL="800100" lvl="1" indent="-342900" algn="just">
              <a:lnSpc>
                <a:spcPct val="120000"/>
              </a:lnSpc>
              <a:spcBef>
                <a:spcPts val="1800"/>
              </a:spcBef>
              <a:buClr>
                <a:srgbClr val="973735"/>
              </a:buClr>
              <a:buSzPct val="50000"/>
              <a:buFont typeface="Wingdings" pitchFamily="2" charset="2"/>
              <a:buChar char="u"/>
              <a:defRPr/>
            </a:pPr>
            <a:r>
              <a:rPr lang="en-US" sz="3400" b="1" dirty="0"/>
              <a:t>Subjectively</a:t>
            </a:r>
            <a:r>
              <a:rPr lang="en-US" sz="3400" dirty="0"/>
              <a:t> in minds of individuals and groups</a:t>
            </a:r>
          </a:p>
          <a:p>
            <a:pPr marL="800100" lvl="1" indent="-342900" algn="just">
              <a:lnSpc>
                <a:spcPct val="120000"/>
              </a:lnSpc>
              <a:spcBef>
                <a:spcPts val="1800"/>
              </a:spcBef>
              <a:buClr>
                <a:srgbClr val="973735"/>
              </a:buClr>
              <a:buSzPct val="50000"/>
              <a:buFont typeface="Wingdings" pitchFamily="2" charset="2"/>
              <a:buChar char="u"/>
              <a:defRPr/>
            </a:pPr>
            <a:r>
              <a:rPr lang="en-US" sz="3400" b="1" dirty="0"/>
              <a:t>Objectively</a:t>
            </a:r>
            <a:r>
              <a:rPr lang="en-US" sz="3400" dirty="0"/>
              <a:t> in explicit forms</a:t>
            </a:r>
          </a:p>
          <a:p>
            <a:pPr marL="342900" indent="-342900" algn="just">
              <a:lnSpc>
                <a:spcPct val="120000"/>
              </a:lnSpc>
              <a:spcBef>
                <a:spcPts val="1800"/>
              </a:spcBef>
              <a:buClr>
                <a:srgbClr val="973735"/>
              </a:buClr>
              <a:buSzPct val="50000"/>
              <a:buFont typeface="Wingdings" pitchFamily="2" charset="2"/>
              <a:buChar char="u"/>
              <a:defRPr/>
            </a:pPr>
            <a:r>
              <a:rPr lang="en-US" sz="3600" b="1" dirty="0"/>
              <a:t>Knowledge use </a:t>
            </a:r>
            <a:r>
              <a:rPr lang="en-US" sz="3600" dirty="0"/>
              <a:t>in business-processing environment</a:t>
            </a:r>
          </a:p>
          <a:p>
            <a:pPr marL="800100" lvl="1" indent="-342900" algn="just">
              <a:lnSpc>
                <a:spcPct val="120000"/>
              </a:lnSpc>
              <a:spcBef>
                <a:spcPts val="1800"/>
              </a:spcBef>
              <a:buClr>
                <a:srgbClr val="973735"/>
              </a:buClr>
              <a:buSzPct val="50000"/>
              <a:buFont typeface="Wingdings" pitchFamily="2" charset="2"/>
              <a:buChar char="u"/>
              <a:defRPr/>
            </a:pPr>
            <a:r>
              <a:rPr lang="en-US" sz="3400" dirty="0"/>
              <a:t>Matched expectations: reinforcement of existing knowledge, lead to reuse, double-loop learning</a:t>
            </a:r>
          </a:p>
          <a:p>
            <a:pPr marL="800100" lvl="1" indent="-342900" algn="just">
              <a:lnSpc>
                <a:spcPct val="120000"/>
              </a:lnSpc>
              <a:spcBef>
                <a:spcPts val="1800"/>
              </a:spcBef>
              <a:buClr>
                <a:srgbClr val="973735"/>
              </a:buClr>
              <a:buSzPct val="50000"/>
              <a:buFont typeface="Wingdings" pitchFamily="2" charset="2"/>
              <a:buChar char="u"/>
              <a:defRPr/>
            </a:pPr>
            <a:r>
              <a:rPr lang="en-US" sz="3400" dirty="0"/>
              <a:t>Failed to match expectations: adjustments in business processing behavior, single-loop learning</a:t>
            </a:r>
          </a:p>
          <a:p>
            <a:pPr marL="1257300" lvl="2" indent="-342900" algn="just">
              <a:lnSpc>
                <a:spcPct val="150000"/>
              </a:lnSpc>
              <a:spcBef>
                <a:spcPts val="24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McElroy KM Cycle</a:t>
            </a:r>
            <a:endParaRPr lang="en-US" sz="4000" b="1" dirty="0"/>
          </a:p>
        </p:txBody>
      </p:sp>
    </p:spTree>
    <p:extLst>
      <p:ext uri="{BB962C8B-B14F-4D97-AF65-F5344CB8AC3E}">
        <p14:creationId xmlns:p14="http://schemas.microsoft.com/office/powerpoint/2010/main" val="3420073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McElroy KM Cycle</a:t>
            </a:r>
            <a:endParaRPr lang="en-US" sz="4000" b="1" dirty="0"/>
          </a:p>
        </p:txBody>
      </p:sp>
      <p:graphicFrame>
        <p:nvGraphicFramePr>
          <p:cNvPr id="5" name="Object 4">
            <a:extLst>
              <a:ext uri="{FF2B5EF4-FFF2-40B4-BE49-F238E27FC236}">
                <a16:creationId xmlns:a16="http://schemas.microsoft.com/office/drawing/2014/main" id="{EF229C60-8037-8250-61DA-057777659921}"/>
              </a:ext>
            </a:extLst>
          </p:cNvPr>
          <p:cNvGraphicFramePr>
            <a:graphicFrameLocks noChangeAspect="1"/>
          </p:cNvGraphicFramePr>
          <p:nvPr>
            <p:extLst>
              <p:ext uri="{D42A27DB-BD31-4B8C-83A1-F6EECF244321}">
                <p14:modId xmlns:p14="http://schemas.microsoft.com/office/powerpoint/2010/main" val="3314854297"/>
              </p:ext>
            </p:extLst>
          </p:nvPr>
        </p:nvGraphicFramePr>
        <p:xfrm>
          <a:off x="2355375" y="1340356"/>
          <a:ext cx="7481249" cy="4806468"/>
        </p:xfrm>
        <a:graphic>
          <a:graphicData uri="http://schemas.openxmlformats.org/presentationml/2006/ole">
            <mc:AlternateContent xmlns:mc="http://schemas.openxmlformats.org/markup-compatibility/2006">
              <mc:Choice xmlns:v="urn:schemas-microsoft-com:vml" Requires="v">
                <p:oleObj name="Bitmap Image" r:id="rId3" imgW="6713280" imgH="4312800" progId="PBrush">
                  <p:embed/>
                </p:oleObj>
              </mc:Choice>
              <mc:Fallback>
                <p:oleObj name="Bitmap Image" r:id="rId3" imgW="6713280" imgH="4312800" progId="PBrush">
                  <p:embed/>
                  <p:pic>
                    <p:nvPicPr>
                      <p:cNvPr id="0" name=""/>
                      <p:cNvPicPr/>
                      <p:nvPr/>
                    </p:nvPicPr>
                    <p:blipFill>
                      <a:blip r:embed="rId4"/>
                      <a:stretch>
                        <a:fillRect/>
                      </a:stretch>
                    </p:blipFill>
                    <p:spPr>
                      <a:xfrm>
                        <a:off x="2355375" y="1340356"/>
                        <a:ext cx="7481249" cy="4806468"/>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1C5427A4-2114-DAEF-F7AD-D3225F60E951}"/>
              </a:ext>
            </a:extLst>
          </p:cNvPr>
          <p:cNvGraphicFramePr>
            <a:graphicFrameLocks noChangeAspect="1"/>
          </p:cNvGraphicFramePr>
          <p:nvPr>
            <p:extLst>
              <p:ext uri="{D42A27DB-BD31-4B8C-83A1-F6EECF244321}">
                <p14:modId xmlns:p14="http://schemas.microsoft.com/office/powerpoint/2010/main" val="3743675594"/>
              </p:ext>
            </p:extLst>
          </p:nvPr>
        </p:nvGraphicFramePr>
        <p:xfrm>
          <a:off x="3321116" y="6074398"/>
          <a:ext cx="5859463" cy="358775"/>
        </p:xfrm>
        <a:graphic>
          <a:graphicData uri="http://schemas.openxmlformats.org/presentationml/2006/ole">
            <mc:AlternateContent xmlns:mc="http://schemas.openxmlformats.org/markup-compatibility/2006">
              <mc:Choice xmlns:v="urn:schemas-microsoft-com:vml" Requires="v">
                <p:oleObj name="Bitmap Image" r:id="rId5" imgW="5859720" imgH="358200" progId="PBrush">
                  <p:embed/>
                </p:oleObj>
              </mc:Choice>
              <mc:Fallback>
                <p:oleObj name="Bitmap Image" r:id="rId5" imgW="5859720" imgH="358200" progId="PBrush">
                  <p:embed/>
                  <p:pic>
                    <p:nvPicPr>
                      <p:cNvPr id="0" name=""/>
                      <p:cNvPicPr/>
                      <p:nvPr/>
                    </p:nvPicPr>
                    <p:blipFill>
                      <a:blip r:embed="rId6"/>
                      <a:stretch>
                        <a:fillRect/>
                      </a:stretch>
                    </p:blipFill>
                    <p:spPr>
                      <a:xfrm>
                        <a:off x="3321116" y="6074398"/>
                        <a:ext cx="5859463" cy="358775"/>
                      </a:xfrm>
                      <a:prstGeom prst="rect">
                        <a:avLst/>
                      </a:prstGeom>
                    </p:spPr>
                  </p:pic>
                </p:oleObj>
              </mc:Fallback>
            </mc:AlternateContent>
          </a:graphicData>
        </a:graphic>
      </p:graphicFrame>
    </p:spTree>
    <p:extLst>
      <p:ext uri="{BB962C8B-B14F-4D97-AF65-F5344CB8AC3E}">
        <p14:creationId xmlns:p14="http://schemas.microsoft.com/office/powerpoint/2010/main" val="3209509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McElroy KM Cycle</a:t>
            </a:r>
            <a:endParaRPr lang="en-US" sz="4000" b="1" dirty="0"/>
          </a:p>
        </p:txBody>
      </p:sp>
      <p:sp>
        <p:nvSpPr>
          <p:cNvPr id="10" name="Content Placeholder 3">
            <a:extLst>
              <a:ext uri="{FF2B5EF4-FFF2-40B4-BE49-F238E27FC236}">
                <a16:creationId xmlns:a16="http://schemas.microsoft.com/office/drawing/2014/main" id="{825DD1D4-9CDF-7C9C-AE4A-26466163593B}"/>
              </a:ext>
            </a:extLst>
          </p:cNvPr>
          <p:cNvSpPr txBox="1">
            <a:spLocks/>
          </p:cNvSpPr>
          <p:nvPr/>
        </p:nvSpPr>
        <p:spPr>
          <a:xfrm>
            <a:off x="0" y="1664593"/>
            <a:ext cx="11971176" cy="4255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graphicFrame>
        <p:nvGraphicFramePr>
          <p:cNvPr id="4" name="Object 3">
            <a:extLst>
              <a:ext uri="{FF2B5EF4-FFF2-40B4-BE49-F238E27FC236}">
                <a16:creationId xmlns:a16="http://schemas.microsoft.com/office/drawing/2014/main" id="{C135F1BD-9FD7-3D98-B016-3484A2FBFA21}"/>
              </a:ext>
            </a:extLst>
          </p:cNvPr>
          <p:cNvGraphicFramePr>
            <a:graphicFrameLocks noChangeAspect="1"/>
          </p:cNvGraphicFramePr>
          <p:nvPr>
            <p:extLst>
              <p:ext uri="{D42A27DB-BD31-4B8C-83A1-F6EECF244321}">
                <p14:modId xmlns:p14="http://schemas.microsoft.com/office/powerpoint/2010/main" val="4159486386"/>
              </p:ext>
            </p:extLst>
          </p:nvPr>
        </p:nvGraphicFramePr>
        <p:xfrm>
          <a:off x="2639675" y="5680336"/>
          <a:ext cx="7185025" cy="388937"/>
        </p:xfrm>
        <a:graphic>
          <a:graphicData uri="http://schemas.openxmlformats.org/presentationml/2006/ole">
            <mc:AlternateContent xmlns:mc="http://schemas.openxmlformats.org/markup-compatibility/2006">
              <mc:Choice xmlns:v="urn:schemas-microsoft-com:vml" Requires="v">
                <p:oleObj name="Bitmap Image" r:id="rId3" imgW="7185600" imgH="388800" progId="PBrush">
                  <p:embed/>
                </p:oleObj>
              </mc:Choice>
              <mc:Fallback>
                <p:oleObj name="Bitmap Image" r:id="rId3" imgW="7185600" imgH="388800" progId="PBrush">
                  <p:embed/>
                  <p:pic>
                    <p:nvPicPr>
                      <p:cNvPr id="0" name=""/>
                      <p:cNvPicPr/>
                      <p:nvPr/>
                    </p:nvPicPr>
                    <p:blipFill>
                      <a:blip r:embed="rId4"/>
                      <a:stretch>
                        <a:fillRect/>
                      </a:stretch>
                    </p:blipFill>
                    <p:spPr>
                      <a:xfrm>
                        <a:off x="2639675" y="5680336"/>
                        <a:ext cx="7185025" cy="38893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7B5C2306-D04C-9D6F-3E56-AD1E19B41316}"/>
              </a:ext>
            </a:extLst>
          </p:cNvPr>
          <p:cNvGraphicFramePr>
            <a:graphicFrameLocks noChangeAspect="1"/>
          </p:cNvGraphicFramePr>
          <p:nvPr>
            <p:extLst>
              <p:ext uri="{D42A27DB-BD31-4B8C-83A1-F6EECF244321}">
                <p14:modId xmlns:p14="http://schemas.microsoft.com/office/powerpoint/2010/main" val="641217661"/>
              </p:ext>
            </p:extLst>
          </p:nvPr>
        </p:nvGraphicFramePr>
        <p:xfrm>
          <a:off x="2209800" y="1656115"/>
          <a:ext cx="7742237" cy="3756025"/>
        </p:xfrm>
        <a:graphic>
          <a:graphicData uri="http://schemas.openxmlformats.org/presentationml/2006/ole">
            <mc:AlternateContent xmlns:mc="http://schemas.openxmlformats.org/markup-compatibility/2006">
              <mc:Choice xmlns:v="urn:schemas-microsoft-com:vml" Requires="v">
                <p:oleObj name="Bitmap Image" r:id="rId5" imgW="7741800" imgH="3756600" progId="PBrush">
                  <p:embed/>
                </p:oleObj>
              </mc:Choice>
              <mc:Fallback>
                <p:oleObj name="Bitmap Image" r:id="rId5" imgW="7741800" imgH="3756600" progId="PBrush">
                  <p:embed/>
                  <p:pic>
                    <p:nvPicPr>
                      <p:cNvPr id="0" name=""/>
                      <p:cNvPicPr/>
                      <p:nvPr/>
                    </p:nvPicPr>
                    <p:blipFill>
                      <a:blip r:embed="rId6"/>
                      <a:stretch>
                        <a:fillRect/>
                      </a:stretch>
                    </p:blipFill>
                    <p:spPr>
                      <a:xfrm>
                        <a:off x="2209800" y="1656115"/>
                        <a:ext cx="7742237" cy="3756025"/>
                      </a:xfrm>
                      <a:prstGeom prst="rect">
                        <a:avLst/>
                      </a:prstGeom>
                    </p:spPr>
                  </p:pic>
                </p:oleObj>
              </mc:Fallback>
            </mc:AlternateContent>
          </a:graphicData>
        </a:graphic>
      </p:graphicFrame>
    </p:spTree>
    <p:extLst>
      <p:ext uri="{BB962C8B-B14F-4D97-AF65-F5344CB8AC3E}">
        <p14:creationId xmlns:p14="http://schemas.microsoft.com/office/powerpoint/2010/main" val="2417931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McElroy KM Cycle</a:t>
            </a:r>
            <a:endParaRPr lang="en-US" sz="4000" b="1" dirty="0"/>
          </a:p>
        </p:txBody>
      </p:sp>
      <p:sp>
        <p:nvSpPr>
          <p:cNvPr id="10" name="Content Placeholder 3">
            <a:extLst>
              <a:ext uri="{FF2B5EF4-FFF2-40B4-BE49-F238E27FC236}">
                <a16:creationId xmlns:a16="http://schemas.microsoft.com/office/drawing/2014/main" id="{825DD1D4-9CDF-7C9C-AE4A-26466163593B}"/>
              </a:ext>
            </a:extLst>
          </p:cNvPr>
          <p:cNvSpPr txBox="1">
            <a:spLocks/>
          </p:cNvSpPr>
          <p:nvPr/>
        </p:nvSpPr>
        <p:spPr>
          <a:xfrm>
            <a:off x="0" y="1664593"/>
            <a:ext cx="11971176" cy="4255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2400"/>
              </a:spcBef>
              <a:buClr>
                <a:srgbClr val="973735"/>
              </a:buClr>
              <a:buSzPct val="50000"/>
              <a:buFont typeface="Wingdings" pitchFamily="2" charset="2"/>
              <a:buChar char="u"/>
              <a:defRPr/>
            </a:pPr>
            <a:r>
              <a:rPr lang="en-US" b="1" dirty="0"/>
              <a:t>Knowledge integration</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Introduction of new knowledge claims </a:t>
            </a:r>
            <a:r>
              <a:rPr lang="en-US" sz="2600" dirty="0"/>
              <a:t>to organization’s operating environment</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Retirement of old knowledge claims</a:t>
            </a:r>
          </a:p>
          <a:p>
            <a:pPr marL="342900" indent="-342900" algn="just">
              <a:lnSpc>
                <a:spcPct val="100000"/>
              </a:lnSpc>
              <a:spcBef>
                <a:spcPts val="2400"/>
              </a:spcBef>
              <a:buClr>
                <a:srgbClr val="973735"/>
              </a:buClr>
              <a:buSzPct val="50000"/>
              <a:buFont typeface="Wingdings" pitchFamily="2" charset="2"/>
              <a:buChar char="u"/>
              <a:defRPr/>
            </a:pPr>
            <a:r>
              <a:rPr lang="en-US" b="1" dirty="0"/>
              <a:t>Validation </a:t>
            </a:r>
            <a:r>
              <a:rPr lang="en-US" dirty="0"/>
              <a:t>of knowledge is a step that clearly </a:t>
            </a:r>
            <a:r>
              <a:rPr lang="en-US" b="1" dirty="0"/>
              <a:t>distinguished </a:t>
            </a:r>
            <a:r>
              <a:rPr lang="en-US" dirty="0"/>
              <a:t>knowledge management from document management</a:t>
            </a:r>
          </a:p>
          <a:p>
            <a:pPr marL="1257300" lvl="2" indent="-342900" algn="just">
              <a:lnSpc>
                <a:spcPct val="150000"/>
              </a:lnSpc>
              <a:spcBef>
                <a:spcPts val="600"/>
              </a:spcBef>
              <a:buClr>
                <a:srgbClr val="973735"/>
              </a:buClr>
              <a:buSzPct val="50000"/>
              <a:buFont typeface="Wingdings" pitchFamily="2" charset="2"/>
              <a:buChar char="u"/>
              <a:defRPr/>
            </a:pPr>
            <a:endParaRPr lang="en-US" dirty="0"/>
          </a:p>
        </p:txBody>
      </p:sp>
    </p:spTree>
    <p:extLst>
      <p:ext uri="{BB962C8B-B14F-4D97-AF65-F5344CB8AC3E}">
        <p14:creationId xmlns:p14="http://schemas.microsoft.com/office/powerpoint/2010/main" val="2700630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800" dirty="0"/>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Bukowitz</a:t>
            </a:r>
            <a:r>
              <a:rPr lang="en-US" sz="2800" dirty="0"/>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Carlile</a:t>
            </a:r>
            <a:r>
              <a:rPr lang="en-US" sz="2800" dirty="0"/>
              <a:t> and </a:t>
            </a:r>
            <a:r>
              <a:rPr lang="en-US" sz="2800" dirty="0" err="1"/>
              <a:t>Rebentisch</a:t>
            </a:r>
            <a:r>
              <a:rPr lang="en-US" sz="2800" dirty="0"/>
              <a:t> Knowledge Transformation Cycle (2003)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Evans, </a:t>
            </a:r>
            <a:r>
              <a:rPr lang="en-US" sz="2800" dirty="0" err="1"/>
              <a:t>Dalkir</a:t>
            </a:r>
            <a:r>
              <a:rPr lang="en-US" sz="2800" dirty="0"/>
              <a:t>, and </a:t>
            </a:r>
            <a:r>
              <a:rPr lang="en-US" sz="2800" dirty="0" err="1"/>
              <a:t>Bidian</a:t>
            </a:r>
            <a:r>
              <a:rPr lang="en-US" sz="2800" dirty="0"/>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1436191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graphicFrame>
        <p:nvGraphicFramePr>
          <p:cNvPr id="5" name="Object 4">
            <a:extLst>
              <a:ext uri="{FF2B5EF4-FFF2-40B4-BE49-F238E27FC236}">
                <a16:creationId xmlns:a16="http://schemas.microsoft.com/office/drawing/2014/main" id="{E9C0ABE2-1172-74DC-1838-E47F9DED1EEF}"/>
              </a:ext>
            </a:extLst>
          </p:cNvPr>
          <p:cNvGraphicFramePr>
            <a:graphicFrameLocks noChangeAspect="1"/>
          </p:cNvGraphicFramePr>
          <p:nvPr>
            <p:extLst>
              <p:ext uri="{D42A27DB-BD31-4B8C-83A1-F6EECF244321}">
                <p14:modId xmlns:p14="http://schemas.microsoft.com/office/powerpoint/2010/main" val="2204196348"/>
              </p:ext>
            </p:extLst>
          </p:nvPr>
        </p:nvGraphicFramePr>
        <p:xfrm>
          <a:off x="7013240" y="5405336"/>
          <a:ext cx="3178175" cy="403225"/>
        </p:xfrm>
        <a:graphic>
          <a:graphicData uri="http://schemas.openxmlformats.org/presentationml/2006/ole">
            <mc:AlternateContent xmlns:mc="http://schemas.openxmlformats.org/markup-compatibility/2006">
              <mc:Choice xmlns:v="urn:schemas-microsoft-com:vml" Requires="v">
                <p:oleObj name="Bitmap Image" r:id="rId3" imgW="3177720" imgH="403920" progId="PBrush">
                  <p:embed/>
                </p:oleObj>
              </mc:Choice>
              <mc:Fallback>
                <p:oleObj name="Bitmap Image" r:id="rId3" imgW="3177720" imgH="403920" progId="PBrush">
                  <p:embed/>
                  <p:pic>
                    <p:nvPicPr>
                      <p:cNvPr id="0" name=""/>
                      <p:cNvPicPr/>
                      <p:nvPr/>
                    </p:nvPicPr>
                    <p:blipFill>
                      <a:blip r:embed="rId4"/>
                      <a:stretch>
                        <a:fillRect/>
                      </a:stretch>
                    </p:blipFill>
                    <p:spPr>
                      <a:xfrm>
                        <a:off x="7013240" y="5405336"/>
                        <a:ext cx="3178175" cy="40322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C4B38B3D-83F9-B574-FD6D-A8C9FA3B2AFB}"/>
              </a:ext>
            </a:extLst>
          </p:cNvPr>
          <p:cNvGraphicFramePr>
            <a:graphicFrameLocks noChangeAspect="1"/>
          </p:cNvGraphicFramePr>
          <p:nvPr>
            <p:extLst>
              <p:ext uri="{D42A27DB-BD31-4B8C-83A1-F6EECF244321}">
                <p14:modId xmlns:p14="http://schemas.microsoft.com/office/powerpoint/2010/main" val="333996251"/>
              </p:ext>
            </p:extLst>
          </p:nvPr>
        </p:nvGraphicFramePr>
        <p:xfrm>
          <a:off x="5135968" y="469007"/>
          <a:ext cx="6530975" cy="4724400"/>
        </p:xfrm>
        <a:graphic>
          <a:graphicData uri="http://schemas.openxmlformats.org/presentationml/2006/ole">
            <mc:AlternateContent xmlns:mc="http://schemas.openxmlformats.org/markup-compatibility/2006">
              <mc:Choice xmlns:v="urn:schemas-microsoft-com:vml" Requires="v">
                <p:oleObj name="Bitmap Image" r:id="rId5" imgW="6530400" imgH="4724280" progId="PBrush">
                  <p:embed/>
                </p:oleObj>
              </mc:Choice>
              <mc:Fallback>
                <p:oleObj name="Bitmap Image" r:id="rId5" imgW="6530400" imgH="4724280" progId="PBrush">
                  <p:embed/>
                  <p:pic>
                    <p:nvPicPr>
                      <p:cNvPr id="0" name=""/>
                      <p:cNvPicPr/>
                      <p:nvPr/>
                    </p:nvPicPr>
                    <p:blipFill>
                      <a:blip r:embed="rId6"/>
                      <a:stretch>
                        <a:fillRect/>
                      </a:stretch>
                    </p:blipFill>
                    <p:spPr>
                      <a:xfrm>
                        <a:off x="5135968" y="469007"/>
                        <a:ext cx="6530975" cy="4724400"/>
                      </a:xfrm>
                      <a:prstGeom prst="rect">
                        <a:avLst/>
                      </a:prstGeom>
                    </p:spPr>
                  </p:pic>
                </p:oleObj>
              </mc:Fallback>
            </mc:AlternateContent>
          </a:graphicData>
        </a:graphic>
      </p:graphicFrame>
    </p:spTree>
    <p:extLst>
      <p:ext uri="{BB962C8B-B14F-4D97-AF65-F5344CB8AC3E}">
        <p14:creationId xmlns:p14="http://schemas.microsoft.com/office/powerpoint/2010/main" val="1259840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Wiig conditions: </a:t>
            </a:r>
            <a:r>
              <a:rPr lang="en-US" dirty="0"/>
              <a:t>Organization must have</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Business and customers: </a:t>
            </a:r>
            <a:r>
              <a:rPr lang="en-US" sz="2600" dirty="0"/>
              <a:t>products and services</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Resources:</a:t>
            </a:r>
            <a:r>
              <a:rPr lang="en-US" sz="2600" dirty="0"/>
              <a:t> people, capital and facilities</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Ability to act</a:t>
            </a:r>
          </a:p>
          <a:p>
            <a:pPr marL="342900" indent="-342900" algn="just">
              <a:lnSpc>
                <a:spcPct val="100000"/>
              </a:lnSpc>
              <a:spcBef>
                <a:spcPts val="2400"/>
              </a:spcBef>
              <a:buClr>
                <a:srgbClr val="973735"/>
              </a:buClr>
              <a:buSzPct val="50000"/>
              <a:buFont typeface="Wingdings" pitchFamily="2" charset="2"/>
              <a:buChar char="u"/>
              <a:defRPr/>
            </a:pPr>
            <a:r>
              <a:rPr lang="en-US" b="1" dirty="0"/>
              <a:t>Knowledge </a:t>
            </a:r>
            <a:r>
              <a:rPr lang="en-US" dirty="0"/>
              <a:t>is the principal force that determines and drives the ability to act intelligently</a:t>
            </a:r>
          </a:p>
          <a:p>
            <a:pPr marL="1257300" lvl="2" indent="-342900" algn="just">
              <a:lnSpc>
                <a:spcPct val="150000"/>
              </a:lnSpc>
              <a:spcBef>
                <a:spcPts val="600"/>
              </a:spcBef>
              <a:buClr>
                <a:srgbClr val="973735"/>
              </a:buClr>
              <a:buSzPct val="50000"/>
              <a:buFont typeface="Wingdings" pitchFamily="2" charset="2"/>
              <a:buChar char="u"/>
              <a:defRPr/>
            </a:pPr>
            <a:endParaRPr lang="en-US" sz="2200" b="1"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p>
        </p:txBody>
      </p:sp>
    </p:spTree>
    <p:extLst>
      <p:ext uri="{BB962C8B-B14F-4D97-AF65-F5344CB8AC3E}">
        <p14:creationId xmlns:p14="http://schemas.microsoft.com/office/powerpoint/2010/main" val="687166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1257300" lvl="2" indent="-342900" algn="just">
              <a:lnSpc>
                <a:spcPct val="150000"/>
              </a:lnSpc>
              <a:spcBef>
                <a:spcPts val="600"/>
              </a:spcBef>
              <a:buClr>
                <a:srgbClr val="973735"/>
              </a:buClr>
              <a:buSzPct val="50000"/>
              <a:buFont typeface="Wingdings" pitchFamily="2" charset="2"/>
              <a:buChar char="u"/>
              <a:defRPr/>
            </a:pPr>
            <a:endParaRPr lang="en-US" sz="2200" b="1"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graphicFrame>
        <p:nvGraphicFramePr>
          <p:cNvPr id="2" name="Object 1">
            <a:extLst>
              <a:ext uri="{FF2B5EF4-FFF2-40B4-BE49-F238E27FC236}">
                <a16:creationId xmlns:a16="http://schemas.microsoft.com/office/drawing/2014/main" id="{3F9C3A92-06C1-D92D-327C-99FAD8FB2AC9}"/>
              </a:ext>
            </a:extLst>
          </p:cNvPr>
          <p:cNvGraphicFramePr>
            <a:graphicFrameLocks noChangeAspect="1"/>
          </p:cNvGraphicFramePr>
          <p:nvPr>
            <p:extLst>
              <p:ext uri="{D42A27DB-BD31-4B8C-83A1-F6EECF244321}">
                <p14:modId xmlns:p14="http://schemas.microsoft.com/office/powerpoint/2010/main" val="2927813566"/>
              </p:ext>
            </p:extLst>
          </p:nvPr>
        </p:nvGraphicFramePr>
        <p:xfrm>
          <a:off x="3032838" y="6032801"/>
          <a:ext cx="5905500" cy="334963"/>
        </p:xfrm>
        <a:graphic>
          <a:graphicData uri="http://schemas.openxmlformats.org/presentationml/2006/ole">
            <mc:AlternateContent xmlns:mc="http://schemas.openxmlformats.org/markup-compatibility/2006">
              <mc:Choice xmlns:v="urn:schemas-microsoft-com:vml" Requires="v">
                <p:oleObj name="Bitmap Image" r:id="rId3" imgW="5905440" imgH="335160" progId="PBrush">
                  <p:embed/>
                </p:oleObj>
              </mc:Choice>
              <mc:Fallback>
                <p:oleObj name="Bitmap Image" r:id="rId3" imgW="5905440" imgH="335160" progId="PBrush">
                  <p:embed/>
                  <p:pic>
                    <p:nvPicPr>
                      <p:cNvPr id="0" name=""/>
                      <p:cNvPicPr/>
                      <p:nvPr/>
                    </p:nvPicPr>
                    <p:blipFill>
                      <a:blip r:embed="rId4"/>
                      <a:stretch>
                        <a:fillRect/>
                      </a:stretch>
                    </p:blipFill>
                    <p:spPr>
                      <a:xfrm>
                        <a:off x="3032838" y="6032801"/>
                        <a:ext cx="5905500" cy="3349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757C6DE3-D26D-EF69-30A4-FD775061ED9A}"/>
              </a:ext>
            </a:extLst>
          </p:cNvPr>
          <p:cNvGraphicFramePr>
            <a:graphicFrameLocks noChangeAspect="1"/>
          </p:cNvGraphicFramePr>
          <p:nvPr>
            <p:extLst>
              <p:ext uri="{D42A27DB-BD31-4B8C-83A1-F6EECF244321}">
                <p14:modId xmlns:p14="http://schemas.microsoft.com/office/powerpoint/2010/main" val="1428441227"/>
              </p:ext>
            </p:extLst>
          </p:nvPr>
        </p:nvGraphicFramePr>
        <p:xfrm>
          <a:off x="1756590" y="1876256"/>
          <a:ext cx="8678819" cy="3619871"/>
        </p:xfrm>
        <a:graphic>
          <a:graphicData uri="http://schemas.openxmlformats.org/presentationml/2006/ole">
            <mc:AlternateContent xmlns:mc="http://schemas.openxmlformats.org/markup-compatibility/2006">
              <mc:Choice xmlns:v="urn:schemas-microsoft-com:vml" Requires="v">
                <p:oleObj name="Bitmap Image" r:id="rId5" imgW="7764840" imgH="3238560" progId="PBrush">
                  <p:embed/>
                </p:oleObj>
              </mc:Choice>
              <mc:Fallback>
                <p:oleObj name="Bitmap Image" r:id="rId5" imgW="7764840" imgH="3238560" progId="PBrush">
                  <p:embed/>
                  <p:pic>
                    <p:nvPicPr>
                      <p:cNvPr id="0" name=""/>
                      <p:cNvPicPr/>
                      <p:nvPr/>
                    </p:nvPicPr>
                    <p:blipFill>
                      <a:blip r:embed="rId6"/>
                      <a:stretch>
                        <a:fillRect/>
                      </a:stretch>
                    </p:blipFill>
                    <p:spPr>
                      <a:xfrm>
                        <a:off x="1756590" y="1876256"/>
                        <a:ext cx="8678819" cy="3619871"/>
                      </a:xfrm>
                      <a:prstGeom prst="rect">
                        <a:avLst/>
                      </a:prstGeom>
                    </p:spPr>
                  </p:pic>
                </p:oleObj>
              </mc:Fallback>
            </mc:AlternateContent>
          </a:graphicData>
        </a:graphic>
      </p:graphicFrame>
    </p:spTree>
    <p:extLst>
      <p:ext uri="{BB962C8B-B14F-4D97-AF65-F5344CB8AC3E}">
        <p14:creationId xmlns:p14="http://schemas.microsoft.com/office/powerpoint/2010/main" val="3655822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Building knowledge consists of five major activities:</a:t>
            </a:r>
          </a:p>
          <a:p>
            <a:pPr marL="914400" lvl="2" indent="0" algn="just">
              <a:lnSpc>
                <a:spcPct val="150000"/>
              </a:lnSpc>
              <a:spcBef>
                <a:spcPts val="600"/>
              </a:spcBef>
              <a:buClr>
                <a:srgbClr val="973735"/>
              </a:buClr>
              <a:buSzPct val="50000"/>
              <a:buNone/>
              <a:defRPr/>
            </a:pPr>
            <a:r>
              <a:rPr lang="en-US" sz="2600" dirty="0"/>
              <a:t>1.Obtain knowledge</a:t>
            </a:r>
          </a:p>
          <a:p>
            <a:pPr marL="914400" lvl="2" indent="0" algn="just">
              <a:lnSpc>
                <a:spcPct val="150000"/>
              </a:lnSpc>
              <a:spcBef>
                <a:spcPts val="600"/>
              </a:spcBef>
              <a:buClr>
                <a:srgbClr val="973735"/>
              </a:buClr>
              <a:buSzPct val="50000"/>
              <a:buNone/>
              <a:defRPr/>
            </a:pPr>
            <a:r>
              <a:rPr lang="en-US" sz="2600" dirty="0"/>
              <a:t>2.Analyze knowledge</a:t>
            </a:r>
          </a:p>
          <a:p>
            <a:pPr marL="914400" lvl="2" indent="0" algn="just">
              <a:lnSpc>
                <a:spcPct val="150000"/>
              </a:lnSpc>
              <a:spcBef>
                <a:spcPts val="600"/>
              </a:spcBef>
              <a:buClr>
                <a:srgbClr val="973735"/>
              </a:buClr>
              <a:buSzPct val="50000"/>
              <a:buNone/>
              <a:defRPr/>
            </a:pPr>
            <a:r>
              <a:rPr lang="en-US" sz="2600" dirty="0"/>
              <a:t>3.Reconstruct/synthesize knowledge</a:t>
            </a:r>
          </a:p>
          <a:p>
            <a:pPr marL="914400" lvl="2" indent="0" algn="just">
              <a:lnSpc>
                <a:spcPct val="150000"/>
              </a:lnSpc>
              <a:spcBef>
                <a:spcPts val="600"/>
              </a:spcBef>
              <a:buClr>
                <a:srgbClr val="973735"/>
              </a:buClr>
              <a:buSzPct val="50000"/>
              <a:buNone/>
              <a:defRPr/>
            </a:pPr>
            <a:r>
              <a:rPr lang="en-US" sz="2600" dirty="0"/>
              <a:t>4.Codify and model knowledge</a:t>
            </a:r>
          </a:p>
          <a:p>
            <a:pPr marL="914400" lvl="2" indent="0" algn="just">
              <a:lnSpc>
                <a:spcPct val="150000"/>
              </a:lnSpc>
              <a:spcBef>
                <a:spcPts val="600"/>
              </a:spcBef>
              <a:buClr>
                <a:srgbClr val="973735"/>
              </a:buClr>
              <a:buSzPct val="50000"/>
              <a:buNone/>
              <a:defRPr/>
            </a:pPr>
            <a:r>
              <a:rPr lang="en-US" sz="2600" dirty="0"/>
              <a:t>5.Organize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Tree>
    <p:extLst>
      <p:ext uri="{BB962C8B-B14F-4D97-AF65-F5344CB8AC3E}">
        <p14:creationId xmlns:p14="http://schemas.microsoft.com/office/powerpoint/2010/main" val="1538539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615183"/>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Obtaining knowledge</a:t>
            </a:r>
          </a:p>
          <a:p>
            <a:pPr marL="800100" lvl="1" indent="-342900" algn="just">
              <a:lnSpc>
                <a:spcPct val="150000"/>
              </a:lnSpc>
              <a:spcBef>
                <a:spcPts val="600"/>
              </a:spcBef>
              <a:buClr>
                <a:srgbClr val="973735"/>
              </a:buClr>
              <a:buSzPct val="50000"/>
              <a:buFont typeface="Wingdings" pitchFamily="2" charset="2"/>
              <a:buChar char="u"/>
              <a:defRPr/>
            </a:pPr>
            <a:r>
              <a:rPr lang="en-US" sz="2600" dirty="0"/>
              <a:t>Research and development projects</a:t>
            </a:r>
          </a:p>
          <a:p>
            <a:pPr marL="800100" lvl="1" indent="-342900" algn="just">
              <a:lnSpc>
                <a:spcPct val="150000"/>
              </a:lnSpc>
              <a:spcBef>
                <a:spcPts val="600"/>
              </a:spcBef>
              <a:buClr>
                <a:srgbClr val="973735"/>
              </a:buClr>
              <a:buSzPct val="50000"/>
              <a:buFont typeface="Wingdings" pitchFamily="2" charset="2"/>
              <a:buChar char="u"/>
              <a:defRPr/>
            </a:pPr>
            <a:r>
              <a:rPr lang="en-US" sz="2600" dirty="0"/>
              <a:t>Innovations by individuals</a:t>
            </a:r>
          </a:p>
          <a:p>
            <a:pPr marL="800100" lvl="1" indent="-342900" algn="just">
              <a:lnSpc>
                <a:spcPct val="150000"/>
              </a:lnSpc>
              <a:spcBef>
                <a:spcPts val="600"/>
              </a:spcBef>
              <a:buClr>
                <a:srgbClr val="973735"/>
              </a:buClr>
              <a:buSzPct val="50000"/>
              <a:buFont typeface="Wingdings" pitchFamily="2" charset="2"/>
              <a:buChar char="u"/>
              <a:defRPr/>
            </a:pPr>
            <a:r>
              <a:rPr lang="en-US" sz="2600" dirty="0"/>
              <a:t>Experimentation</a:t>
            </a:r>
          </a:p>
          <a:p>
            <a:pPr marL="800100" lvl="1" indent="-342900" algn="just">
              <a:lnSpc>
                <a:spcPct val="150000"/>
              </a:lnSpc>
              <a:spcBef>
                <a:spcPts val="600"/>
              </a:spcBef>
              <a:buClr>
                <a:srgbClr val="973735"/>
              </a:buClr>
              <a:buSzPct val="50000"/>
              <a:buFont typeface="Wingdings" pitchFamily="2" charset="2"/>
              <a:buChar char="u"/>
              <a:defRPr/>
            </a:pPr>
            <a:r>
              <a:rPr lang="en-US" sz="2600" dirty="0"/>
              <a:t>Reasoning with existing knowledge</a:t>
            </a:r>
          </a:p>
          <a:p>
            <a:pPr marL="800100" lvl="1" indent="-342900" algn="just">
              <a:lnSpc>
                <a:spcPct val="150000"/>
              </a:lnSpc>
              <a:spcBef>
                <a:spcPts val="600"/>
              </a:spcBef>
              <a:buClr>
                <a:srgbClr val="973735"/>
              </a:buClr>
              <a:buSzPct val="50000"/>
              <a:buFont typeface="Wingdings" pitchFamily="2" charset="2"/>
              <a:buChar char="u"/>
              <a:defRPr/>
            </a:pPr>
            <a:r>
              <a:rPr lang="en-US" sz="2600" dirty="0"/>
              <a:t>Hiring new people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Tree>
    <p:extLst>
      <p:ext uri="{BB962C8B-B14F-4D97-AF65-F5344CB8AC3E}">
        <p14:creationId xmlns:p14="http://schemas.microsoft.com/office/powerpoint/2010/main" val="3998418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664593"/>
            <a:ext cx="11971176" cy="4615183"/>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Knowledge analysis</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Extracting</a:t>
            </a:r>
            <a:r>
              <a:rPr lang="en-US" sz="2600" dirty="0"/>
              <a:t> – from obtained material (transcripts, identify themes)</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Abstracting</a:t>
            </a:r>
            <a:r>
              <a:rPr lang="en-US" sz="2600" dirty="0"/>
              <a:t> – from model or a theory</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Identifying patterns </a:t>
            </a:r>
            <a:r>
              <a:rPr lang="en-US" sz="2600" dirty="0"/>
              <a:t>– trend analysis</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Explaining relations </a:t>
            </a:r>
            <a:r>
              <a:rPr lang="en-US" sz="2600" dirty="0"/>
              <a:t>between knowledge fragments</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Verifying</a:t>
            </a:r>
            <a:r>
              <a:rPr lang="en-US" sz="2600" dirty="0"/>
              <a:t> – that meaning has not been corrupted through summarizing</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Tree>
    <p:extLst>
      <p:ext uri="{BB962C8B-B14F-4D97-AF65-F5344CB8AC3E}">
        <p14:creationId xmlns:p14="http://schemas.microsoft.com/office/powerpoint/2010/main" val="258973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615183"/>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Synthesis or reconstruction</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Generalization of analyzed material</a:t>
            </a:r>
          </a:p>
          <a:p>
            <a:pPr marL="1257300" lvl="2" indent="-342900" algn="just">
              <a:lnSpc>
                <a:spcPct val="100000"/>
              </a:lnSpc>
              <a:spcBef>
                <a:spcPts val="1200"/>
              </a:spcBef>
              <a:buClr>
                <a:srgbClr val="973735"/>
              </a:buClr>
              <a:buSzPct val="50000"/>
              <a:buFont typeface="Wingdings" pitchFamily="2" charset="2"/>
              <a:buChar char="u"/>
              <a:defRPr/>
            </a:pPr>
            <a:r>
              <a:rPr lang="en-US" sz="2400" dirty="0"/>
              <a:t>To obtain broader principles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Generating hypotheses</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Establish conformance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Between new and existing knowledge</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Update knowledge pool</a:t>
            </a:r>
          </a:p>
          <a:p>
            <a:pPr marL="1257300" lvl="2" indent="-342900" algn="just">
              <a:lnSpc>
                <a:spcPct val="100000"/>
              </a:lnSpc>
              <a:spcBef>
                <a:spcPts val="1200"/>
              </a:spcBef>
              <a:buClr>
                <a:srgbClr val="973735"/>
              </a:buClr>
              <a:buSzPct val="50000"/>
              <a:buFont typeface="Wingdings" pitchFamily="2" charset="2"/>
              <a:buChar char="u"/>
              <a:defRPr/>
            </a:pPr>
            <a:r>
              <a:rPr lang="en-US" sz="2400" dirty="0"/>
              <a:t>Incorporate new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Tree>
    <p:extLst>
      <p:ext uri="{BB962C8B-B14F-4D97-AF65-F5344CB8AC3E}">
        <p14:creationId xmlns:p14="http://schemas.microsoft.com/office/powerpoint/2010/main" val="1954774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5300087"/>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Codifying and Modeling</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Accord with mental models</a:t>
            </a:r>
          </a:p>
          <a:p>
            <a:pPr marL="1257300" lvl="2" indent="-342900" algn="just">
              <a:lnSpc>
                <a:spcPct val="100000"/>
              </a:lnSpc>
              <a:spcBef>
                <a:spcPts val="600"/>
              </a:spcBef>
              <a:buClr>
                <a:srgbClr val="973735"/>
              </a:buClr>
              <a:buSzPct val="50000"/>
              <a:buFont typeface="Wingdings" pitchFamily="2" charset="2"/>
              <a:buChar char="u"/>
              <a:defRPr/>
            </a:pPr>
            <a:r>
              <a:rPr lang="en-US" sz="2400" dirty="0"/>
              <a:t>Knowledge should be codified in the way that it would be understandable by employees and will fit employees way of thinking, doing things and interpreting things</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How knowledge is assembled</a:t>
            </a:r>
          </a:p>
          <a:p>
            <a:pPr marL="800100" lvl="1" indent="-342900" algn="just">
              <a:lnSpc>
                <a:spcPct val="150000"/>
              </a:lnSpc>
              <a:spcBef>
                <a:spcPts val="600"/>
              </a:spcBef>
              <a:buClr>
                <a:srgbClr val="973735"/>
              </a:buClr>
              <a:buSzPct val="50000"/>
              <a:buFont typeface="Wingdings" pitchFamily="2" charset="2"/>
              <a:buChar char="u"/>
              <a:defRPr/>
            </a:pPr>
            <a:r>
              <a:rPr lang="en-US" sz="2600" b="1" dirty="0"/>
              <a:t>How knowledge is documented</a:t>
            </a:r>
          </a:p>
          <a:p>
            <a:pPr marL="1257300" lvl="2" indent="-342900" algn="just">
              <a:lnSpc>
                <a:spcPct val="150000"/>
              </a:lnSpc>
              <a:spcBef>
                <a:spcPts val="600"/>
              </a:spcBef>
              <a:buClr>
                <a:srgbClr val="973735"/>
              </a:buClr>
              <a:buSzPct val="50000"/>
              <a:buFont typeface="Wingdings" pitchFamily="2" charset="2"/>
              <a:buChar char="u"/>
              <a:defRPr/>
            </a:pPr>
            <a:endParaRPr lang="en-US" sz="1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Tree>
    <p:extLst>
      <p:ext uri="{BB962C8B-B14F-4D97-AF65-F5344CB8AC3E}">
        <p14:creationId xmlns:p14="http://schemas.microsoft.com/office/powerpoint/2010/main" val="1263481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615183"/>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Organization of knowledge </a:t>
            </a:r>
            <a:r>
              <a:rPr lang="en-US" dirty="0"/>
              <a:t>for specific uses and according to an established organizational framework</a:t>
            </a:r>
          </a:p>
          <a:p>
            <a:pPr marL="342900" indent="-342900" algn="just">
              <a:lnSpc>
                <a:spcPct val="100000"/>
              </a:lnSpc>
              <a:spcBef>
                <a:spcPts val="1200"/>
              </a:spcBef>
              <a:buClr>
                <a:srgbClr val="973735"/>
              </a:buClr>
              <a:buSzPct val="50000"/>
              <a:buFont typeface="Wingdings" pitchFamily="2" charset="2"/>
              <a:buChar char="u"/>
              <a:defRPr/>
            </a:pPr>
            <a:r>
              <a:rPr lang="en-US" b="1" dirty="0"/>
              <a:t>Holding</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Remembering: </a:t>
            </a:r>
            <a:r>
              <a:rPr lang="en-US" sz="2600" dirty="0"/>
              <a:t>knowledge has been internalized or understood</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Accumulating: </a:t>
            </a:r>
            <a:r>
              <a:rPr lang="en-US" sz="2600" dirty="0"/>
              <a:t>knowledge has been enclosed and stored in a knowledge base</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Embedding: </a:t>
            </a:r>
            <a:r>
              <a:rPr lang="en-US" sz="2600" dirty="0"/>
              <a:t>knowledge becomes part of procedure manual</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Archiving:</a:t>
            </a:r>
            <a:r>
              <a:rPr lang="en-US" sz="2600" dirty="0"/>
              <a:t> creating a library, systematically retiring out-of-date or not relevant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Tree>
    <p:extLst>
      <p:ext uri="{BB962C8B-B14F-4D97-AF65-F5344CB8AC3E}">
        <p14:creationId xmlns:p14="http://schemas.microsoft.com/office/powerpoint/2010/main" val="2329082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7193280" cy="4615183"/>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Pooling</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Coordination of knowledge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Formation of collaborative teams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“who knows what” network</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Assembly</a:t>
            </a:r>
          </a:p>
          <a:p>
            <a:pPr marL="1257300" lvl="2" indent="-342900" algn="just">
              <a:lnSpc>
                <a:spcPct val="100000"/>
              </a:lnSpc>
              <a:spcBef>
                <a:spcPts val="1200"/>
              </a:spcBef>
              <a:buClr>
                <a:srgbClr val="973735"/>
              </a:buClr>
              <a:buSzPct val="50000"/>
              <a:buFont typeface="Wingdings" pitchFamily="2" charset="2"/>
              <a:buChar char="u"/>
              <a:defRPr/>
            </a:pPr>
            <a:r>
              <a:rPr lang="en-US" sz="2400" dirty="0"/>
              <a:t>Into background references</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Access and retrieval</a:t>
            </a:r>
          </a:p>
          <a:p>
            <a:pPr marL="1257300" lvl="2" indent="-342900" algn="just">
              <a:lnSpc>
                <a:spcPct val="100000"/>
              </a:lnSpc>
              <a:spcBef>
                <a:spcPts val="1200"/>
              </a:spcBef>
              <a:buClr>
                <a:srgbClr val="973735"/>
              </a:buClr>
              <a:buSzPct val="50000"/>
              <a:buFont typeface="Wingdings" pitchFamily="2" charset="2"/>
              <a:buChar char="u"/>
              <a:defRPr/>
            </a:pPr>
            <a:r>
              <a:rPr lang="en-US" sz="2400" dirty="0"/>
              <a:t>Be able to consult with knowledgeable people or knowledge base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Wiig KM Cycle</a:t>
            </a:r>
            <a:endParaRPr lang="en-US" sz="4000" b="1" dirty="0"/>
          </a:p>
        </p:txBody>
      </p:sp>
      <p:sp>
        <p:nvSpPr>
          <p:cNvPr id="2" name="Content Placeholder 3">
            <a:extLst>
              <a:ext uri="{FF2B5EF4-FFF2-40B4-BE49-F238E27FC236}">
                <a16:creationId xmlns:a16="http://schemas.microsoft.com/office/drawing/2014/main" id="{0EFB46E5-016C-2C4A-9C44-6783C661D77B}"/>
              </a:ext>
            </a:extLst>
          </p:cNvPr>
          <p:cNvSpPr txBox="1">
            <a:spLocks/>
          </p:cNvSpPr>
          <p:nvPr/>
        </p:nvSpPr>
        <p:spPr>
          <a:xfrm>
            <a:off x="7577871" y="1674818"/>
            <a:ext cx="4192946" cy="46151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200"/>
              </a:spcBef>
              <a:buClr>
                <a:srgbClr val="973735"/>
              </a:buClr>
              <a:buSzPct val="50000"/>
              <a:buFont typeface="Wingdings" pitchFamily="2" charset="2"/>
              <a:buChar char="u"/>
              <a:defRPr/>
            </a:pPr>
            <a:r>
              <a:rPr lang="en-US" b="1" dirty="0"/>
              <a:t>Application: </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myriad ways in which knowledge can be applied and used are linked to decision-making sequences and individual characteristics</a:t>
            </a:r>
          </a:p>
        </p:txBody>
      </p:sp>
    </p:spTree>
    <p:extLst>
      <p:ext uri="{BB962C8B-B14F-4D97-AF65-F5344CB8AC3E}">
        <p14:creationId xmlns:p14="http://schemas.microsoft.com/office/powerpoint/2010/main" val="3567470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800" dirty="0"/>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Bukowitz</a:t>
            </a:r>
            <a:r>
              <a:rPr lang="en-US" sz="2800" dirty="0"/>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The </a:t>
            </a:r>
            <a:r>
              <a:rPr lang="en-US" sz="2800" b="1" dirty="0" err="1">
                <a:solidFill>
                  <a:srgbClr val="ED7D31"/>
                </a:solidFill>
              </a:rPr>
              <a:t>Carlile</a:t>
            </a:r>
            <a:r>
              <a:rPr lang="en-US" sz="2800" b="1" dirty="0">
                <a:solidFill>
                  <a:srgbClr val="ED7D31"/>
                </a:solidFill>
              </a:rPr>
              <a:t> and </a:t>
            </a:r>
            <a:r>
              <a:rPr lang="en-US" sz="2800" b="1" dirty="0" err="1">
                <a:solidFill>
                  <a:srgbClr val="ED7D31"/>
                </a:solidFill>
              </a:rPr>
              <a:t>Rebentisch</a:t>
            </a:r>
            <a:r>
              <a:rPr lang="en-US" sz="2800" b="1" dirty="0">
                <a:solidFill>
                  <a:srgbClr val="ED7D31"/>
                </a:solidFill>
              </a:rPr>
              <a:t> Knowledge Transformation Cycle</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Evans, </a:t>
            </a:r>
            <a:r>
              <a:rPr lang="en-US" sz="2800" dirty="0" err="1"/>
              <a:t>Dalkir</a:t>
            </a:r>
            <a:r>
              <a:rPr lang="en-US" sz="2800" dirty="0"/>
              <a:t>, and </a:t>
            </a:r>
            <a:r>
              <a:rPr lang="en-US" sz="2800" dirty="0" err="1"/>
              <a:t>Bidian</a:t>
            </a:r>
            <a:r>
              <a:rPr lang="en-US" sz="2800" dirty="0"/>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466488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20871"/>
            <a:ext cx="10515600" cy="709226"/>
          </a:xfrm>
        </p:spPr>
        <p:txBody>
          <a:bodyPr>
            <a:normAutofit fontScale="90000"/>
          </a:bodyPr>
          <a:lstStyle/>
          <a:p>
            <a:r>
              <a:rPr lang="en-US" sz="4000" b="1" dirty="0">
                <a:solidFill>
                  <a:srgbClr val="ED7D31"/>
                </a:solidFill>
              </a:rPr>
              <a:t>The </a:t>
            </a:r>
            <a:r>
              <a:rPr lang="en-US" sz="4000" b="1" dirty="0" err="1">
                <a:solidFill>
                  <a:srgbClr val="ED7D31"/>
                </a:solidFill>
              </a:rPr>
              <a:t>Carlile</a:t>
            </a:r>
            <a:r>
              <a:rPr lang="en-US" sz="4000" b="1" dirty="0">
                <a:solidFill>
                  <a:srgbClr val="ED7D31"/>
                </a:solidFill>
              </a:rPr>
              <a:t> and </a:t>
            </a:r>
            <a:r>
              <a:rPr lang="en-US" sz="4000" b="1" dirty="0" err="1">
                <a:solidFill>
                  <a:srgbClr val="ED7D31"/>
                </a:solidFill>
              </a:rPr>
              <a:t>Rebentisch</a:t>
            </a:r>
            <a:r>
              <a:rPr lang="en-US" sz="4000" b="1" dirty="0">
                <a:solidFill>
                  <a:srgbClr val="ED7D31"/>
                </a:solidFill>
              </a:rPr>
              <a:t> Knowledge Transformation Cycle</a:t>
            </a:r>
          </a:p>
        </p:txBody>
      </p:sp>
      <p:graphicFrame>
        <p:nvGraphicFramePr>
          <p:cNvPr id="5" name="Object 4">
            <a:extLst>
              <a:ext uri="{FF2B5EF4-FFF2-40B4-BE49-F238E27FC236}">
                <a16:creationId xmlns:a16="http://schemas.microsoft.com/office/drawing/2014/main" id="{03C189E1-5DEA-8A35-E46C-5227FD85A27A}"/>
              </a:ext>
            </a:extLst>
          </p:cNvPr>
          <p:cNvGraphicFramePr>
            <a:graphicFrameLocks noChangeAspect="1"/>
          </p:cNvGraphicFramePr>
          <p:nvPr>
            <p:extLst>
              <p:ext uri="{D42A27DB-BD31-4B8C-83A1-F6EECF244321}">
                <p14:modId xmlns:p14="http://schemas.microsoft.com/office/powerpoint/2010/main" val="3772007091"/>
              </p:ext>
            </p:extLst>
          </p:nvPr>
        </p:nvGraphicFramePr>
        <p:xfrm>
          <a:off x="2824195" y="1835596"/>
          <a:ext cx="5939211" cy="3186807"/>
        </p:xfrm>
        <a:graphic>
          <a:graphicData uri="http://schemas.openxmlformats.org/presentationml/2006/ole">
            <mc:AlternateContent xmlns:mc="http://schemas.openxmlformats.org/markup-compatibility/2006">
              <mc:Choice xmlns:v="urn:schemas-microsoft-com:vml" Requires="v">
                <p:oleObj name="Bitmap Image" r:id="rId3" imgW="5295960" imgH="2842200" progId="PBrush">
                  <p:embed/>
                </p:oleObj>
              </mc:Choice>
              <mc:Fallback>
                <p:oleObj name="Bitmap Image" r:id="rId3" imgW="5295960" imgH="2842200" progId="PBrush">
                  <p:embed/>
                  <p:pic>
                    <p:nvPicPr>
                      <p:cNvPr id="0" name=""/>
                      <p:cNvPicPr/>
                      <p:nvPr/>
                    </p:nvPicPr>
                    <p:blipFill>
                      <a:blip r:embed="rId4"/>
                      <a:stretch>
                        <a:fillRect/>
                      </a:stretch>
                    </p:blipFill>
                    <p:spPr>
                      <a:xfrm>
                        <a:off x="2824195" y="1835596"/>
                        <a:ext cx="5939211" cy="318680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BE10E17-9E09-3FFE-9222-C591CA4FE025}"/>
              </a:ext>
            </a:extLst>
          </p:cNvPr>
          <p:cNvGraphicFramePr>
            <a:graphicFrameLocks noChangeAspect="1"/>
          </p:cNvGraphicFramePr>
          <p:nvPr>
            <p:extLst>
              <p:ext uri="{D42A27DB-BD31-4B8C-83A1-F6EECF244321}">
                <p14:modId xmlns:p14="http://schemas.microsoft.com/office/powerpoint/2010/main" val="3965368745"/>
              </p:ext>
            </p:extLst>
          </p:nvPr>
        </p:nvGraphicFramePr>
        <p:xfrm>
          <a:off x="1330021" y="5268238"/>
          <a:ext cx="9959975" cy="434975"/>
        </p:xfrm>
        <a:graphic>
          <a:graphicData uri="http://schemas.openxmlformats.org/presentationml/2006/ole">
            <mc:AlternateContent xmlns:mc="http://schemas.openxmlformats.org/markup-compatibility/2006">
              <mc:Choice xmlns:v="urn:schemas-microsoft-com:vml" Requires="v">
                <p:oleObj name="Bitmap Image" r:id="rId5" imgW="9959400" imgH="434520" progId="PBrush">
                  <p:embed/>
                </p:oleObj>
              </mc:Choice>
              <mc:Fallback>
                <p:oleObj name="Bitmap Image" r:id="rId5" imgW="9959400" imgH="434520" progId="PBrush">
                  <p:embed/>
                  <p:pic>
                    <p:nvPicPr>
                      <p:cNvPr id="0" name=""/>
                      <p:cNvPicPr/>
                      <p:nvPr/>
                    </p:nvPicPr>
                    <p:blipFill>
                      <a:blip r:embed="rId6"/>
                      <a:stretch>
                        <a:fillRect/>
                      </a:stretch>
                    </p:blipFill>
                    <p:spPr>
                      <a:xfrm>
                        <a:off x="1330021" y="5268238"/>
                        <a:ext cx="9959975" cy="434975"/>
                      </a:xfrm>
                      <a:prstGeom prst="rect">
                        <a:avLst/>
                      </a:prstGeom>
                    </p:spPr>
                  </p:pic>
                </p:oleObj>
              </mc:Fallback>
            </mc:AlternateContent>
          </a:graphicData>
        </a:graphic>
      </p:graphicFrame>
    </p:spTree>
    <p:extLst>
      <p:ext uri="{BB962C8B-B14F-4D97-AF65-F5344CB8AC3E}">
        <p14:creationId xmlns:p14="http://schemas.microsoft.com/office/powerpoint/2010/main" val="934704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endParaRPr lang="en-US" b="1" dirty="0"/>
          </a:p>
          <a:p>
            <a:pPr marL="342900" indent="-342900" algn="just">
              <a:lnSpc>
                <a:spcPct val="100000"/>
              </a:lnSpc>
              <a:spcBef>
                <a:spcPts val="1800"/>
              </a:spcBef>
              <a:buClr>
                <a:srgbClr val="973735"/>
              </a:buClr>
              <a:buSzPct val="50000"/>
              <a:buFont typeface="Wingdings" pitchFamily="2" charset="2"/>
              <a:buChar char="u"/>
              <a:defRPr/>
            </a:pPr>
            <a:r>
              <a:rPr lang="en-US" b="1" dirty="0"/>
              <a:t>Storage</a:t>
            </a:r>
            <a:r>
              <a:rPr lang="en-US" dirty="0"/>
              <a:t>: adding new knowledge to existing knowledge</a:t>
            </a:r>
          </a:p>
          <a:p>
            <a:pPr marL="342900" indent="-342900" algn="just">
              <a:lnSpc>
                <a:spcPct val="100000"/>
              </a:lnSpc>
              <a:spcBef>
                <a:spcPts val="1800"/>
              </a:spcBef>
              <a:buClr>
                <a:srgbClr val="973735"/>
              </a:buClr>
              <a:buSzPct val="50000"/>
              <a:buFont typeface="Wingdings" pitchFamily="2" charset="2"/>
              <a:buChar char="u"/>
              <a:defRPr/>
            </a:pPr>
            <a:r>
              <a:rPr lang="en-US" b="1" dirty="0"/>
              <a:t>Retrieval</a:t>
            </a:r>
            <a:r>
              <a:rPr lang="en-US" dirty="0"/>
              <a:t>: from not only the storage but also from tacit knowledge from people. </a:t>
            </a:r>
          </a:p>
          <a:p>
            <a:pPr marL="342900" indent="-342900" algn="just">
              <a:lnSpc>
                <a:spcPct val="100000"/>
              </a:lnSpc>
              <a:spcBef>
                <a:spcPts val="1800"/>
              </a:spcBef>
              <a:buClr>
                <a:srgbClr val="973735"/>
              </a:buClr>
              <a:buSzPct val="50000"/>
              <a:buFont typeface="Wingdings" pitchFamily="2" charset="2"/>
              <a:buChar char="u"/>
              <a:defRPr/>
            </a:pPr>
            <a:r>
              <a:rPr lang="en-US" b="1" dirty="0"/>
              <a:t>Transformation</a:t>
            </a:r>
            <a:r>
              <a:rPr lang="en-US" dirty="0"/>
              <a:t>: the most reuse of knowledge does not consist of “as is” reuse: knowledge tends to be changed, at least updated, before it is reused.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20866"/>
            <a:ext cx="10515600" cy="709226"/>
          </a:xfrm>
        </p:spPr>
        <p:txBody>
          <a:bodyPr>
            <a:normAutofit fontScale="90000"/>
          </a:bodyPr>
          <a:lstStyle/>
          <a:p>
            <a:r>
              <a:rPr lang="en-US" sz="4000" b="1" dirty="0">
                <a:solidFill>
                  <a:srgbClr val="ED7D31"/>
                </a:solidFill>
              </a:rPr>
              <a:t>The </a:t>
            </a:r>
            <a:r>
              <a:rPr lang="en-US" sz="4000" b="1" dirty="0" err="1">
                <a:solidFill>
                  <a:srgbClr val="ED7D31"/>
                </a:solidFill>
              </a:rPr>
              <a:t>Carlile</a:t>
            </a:r>
            <a:r>
              <a:rPr lang="en-US" sz="4000" b="1" dirty="0">
                <a:solidFill>
                  <a:srgbClr val="ED7D31"/>
                </a:solidFill>
              </a:rPr>
              <a:t> and </a:t>
            </a:r>
            <a:r>
              <a:rPr lang="en-US" sz="4000" b="1" dirty="0" err="1">
                <a:solidFill>
                  <a:srgbClr val="ED7D31"/>
                </a:solidFill>
              </a:rPr>
              <a:t>Rebentisch</a:t>
            </a:r>
            <a:r>
              <a:rPr lang="en-US" sz="4000" b="1" dirty="0">
                <a:solidFill>
                  <a:srgbClr val="ED7D31"/>
                </a:solidFill>
              </a:rPr>
              <a:t> Knowledge Transformation Cycle</a:t>
            </a:r>
            <a:endParaRPr lang="en-US" sz="4000" b="1" dirty="0"/>
          </a:p>
        </p:txBody>
      </p:sp>
    </p:spTree>
    <p:extLst>
      <p:ext uri="{BB962C8B-B14F-4D97-AF65-F5344CB8AC3E}">
        <p14:creationId xmlns:p14="http://schemas.microsoft.com/office/powerpoint/2010/main" val="722821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800" dirty="0"/>
              <a:t>The Meyer and Zack KM Cycle (1996)</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Bukowitz</a:t>
            </a:r>
            <a:r>
              <a:rPr lang="en-US" sz="2800" dirty="0"/>
              <a:t> and Williams KM Cycle (2000)</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McElroy KM Cycle (1999)</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Wiig KM Cycle (1993)</a:t>
            </a:r>
          </a:p>
          <a:p>
            <a:pPr marL="800100" lvl="1" indent="-342900" algn="just">
              <a:lnSpc>
                <a:spcPct val="150000"/>
              </a:lnSpc>
              <a:spcBef>
                <a:spcPts val="600"/>
              </a:spcBef>
              <a:buClr>
                <a:srgbClr val="973735"/>
              </a:buClr>
              <a:buSzPct val="50000"/>
              <a:buFont typeface="Wingdings" pitchFamily="2" charset="2"/>
              <a:buChar char="u"/>
              <a:defRPr/>
            </a:pPr>
            <a:r>
              <a:rPr lang="en-US" sz="2800" dirty="0"/>
              <a:t>The </a:t>
            </a:r>
            <a:r>
              <a:rPr lang="en-US" sz="2800" dirty="0" err="1"/>
              <a:t>Carlile</a:t>
            </a:r>
            <a:r>
              <a:rPr lang="en-US" sz="2800" dirty="0"/>
              <a:t> and </a:t>
            </a:r>
            <a:r>
              <a:rPr lang="en-US" sz="2800" dirty="0" err="1"/>
              <a:t>Rebentisch</a:t>
            </a:r>
            <a:r>
              <a:rPr lang="en-US" sz="2800" dirty="0"/>
              <a:t> Knowledge Transformation Cycle (2003)</a:t>
            </a:r>
          </a:p>
          <a:p>
            <a:pPr marL="800100" lvl="1"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The Evans, </a:t>
            </a:r>
            <a:r>
              <a:rPr lang="en-US" sz="2800" b="1" dirty="0" err="1">
                <a:solidFill>
                  <a:srgbClr val="ED7D31"/>
                </a:solidFill>
              </a:rPr>
              <a:t>Dalkir</a:t>
            </a:r>
            <a:r>
              <a:rPr lang="en-US" sz="2800" b="1" dirty="0">
                <a:solidFill>
                  <a:srgbClr val="ED7D31"/>
                </a:solidFill>
              </a:rPr>
              <a:t>, and </a:t>
            </a:r>
            <a:r>
              <a:rPr lang="en-US" sz="2800" b="1" dirty="0" err="1">
                <a:solidFill>
                  <a:srgbClr val="ED7D31"/>
                </a:solidFill>
              </a:rPr>
              <a:t>Bidian</a:t>
            </a:r>
            <a:r>
              <a:rPr lang="en-US" sz="2800" b="1" dirty="0">
                <a:solidFill>
                  <a:srgbClr val="ED7D31"/>
                </a:solidFill>
              </a:rPr>
              <a:t> KM Cycle (2015)</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Approaches to the KM Cycle</a:t>
            </a:r>
          </a:p>
        </p:txBody>
      </p:sp>
    </p:spTree>
    <p:extLst>
      <p:ext uri="{BB962C8B-B14F-4D97-AF65-F5344CB8AC3E}">
        <p14:creationId xmlns:p14="http://schemas.microsoft.com/office/powerpoint/2010/main" val="4144116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solidFill>
                  <a:srgbClr val="ED7D31"/>
                </a:solidFill>
              </a:rPr>
              <a:t>The Evans, </a:t>
            </a:r>
            <a:r>
              <a:rPr lang="en-US" sz="4000" b="1" dirty="0" err="1">
                <a:solidFill>
                  <a:srgbClr val="ED7D31"/>
                </a:solidFill>
              </a:rPr>
              <a:t>Dalkir</a:t>
            </a:r>
            <a:r>
              <a:rPr lang="en-US" sz="4000" b="1" dirty="0">
                <a:solidFill>
                  <a:srgbClr val="ED7D31"/>
                </a:solidFill>
              </a:rPr>
              <a:t>, and </a:t>
            </a:r>
            <a:r>
              <a:rPr lang="en-US" sz="4000" b="1" dirty="0" err="1">
                <a:solidFill>
                  <a:srgbClr val="ED7D31"/>
                </a:solidFill>
              </a:rPr>
              <a:t>Bidian</a:t>
            </a:r>
            <a:r>
              <a:rPr lang="en-US" sz="4000" b="1" dirty="0">
                <a:solidFill>
                  <a:srgbClr val="ED7D31"/>
                </a:solidFill>
              </a:rPr>
              <a:t> KM Cycle (KMC)</a:t>
            </a:r>
          </a:p>
        </p:txBody>
      </p:sp>
      <p:graphicFrame>
        <p:nvGraphicFramePr>
          <p:cNvPr id="5" name="Object 4">
            <a:extLst>
              <a:ext uri="{FF2B5EF4-FFF2-40B4-BE49-F238E27FC236}">
                <a16:creationId xmlns:a16="http://schemas.microsoft.com/office/drawing/2014/main" id="{6F135A80-8972-5135-0511-4A248BECF797}"/>
              </a:ext>
            </a:extLst>
          </p:cNvPr>
          <p:cNvGraphicFramePr>
            <a:graphicFrameLocks noChangeAspect="1"/>
          </p:cNvGraphicFramePr>
          <p:nvPr>
            <p:extLst>
              <p:ext uri="{D42A27DB-BD31-4B8C-83A1-F6EECF244321}">
                <p14:modId xmlns:p14="http://schemas.microsoft.com/office/powerpoint/2010/main" val="3215680840"/>
              </p:ext>
            </p:extLst>
          </p:nvPr>
        </p:nvGraphicFramePr>
        <p:xfrm>
          <a:off x="2209800" y="6032802"/>
          <a:ext cx="7620000" cy="334963"/>
        </p:xfrm>
        <a:graphic>
          <a:graphicData uri="http://schemas.openxmlformats.org/presentationml/2006/ole">
            <mc:AlternateContent xmlns:mc="http://schemas.openxmlformats.org/markup-compatibility/2006">
              <mc:Choice xmlns:v="urn:schemas-microsoft-com:vml" Requires="v">
                <p:oleObj name="Bitmap Image" r:id="rId3" imgW="7620120" imgH="335160" progId="PBrush">
                  <p:embed/>
                </p:oleObj>
              </mc:Choice>
              <mc:Fallback>
                <p:oleObj name="Bitmap Image" r:id="rId3" imgW="7620120" imgH="335160" progId="PBrush">
                  <p:embed/>
                  <p:pic>
                    <p:nvPicPr>
                      <p:cNvPr id="0" name=""/>
                      <p:cNvPicPr/>
                      <p:nvPr/>
                    </p:nvPicPr>
                    <p:blipFill>
                      <a:blip r:embed="rId4"/>
                      <a:stretch>
                        <a:fillRect/>
                      </a:stretch>
                    </p:blipFill>
                    <p:spPr>
                      <a:xfrm>
                        <a:off x="2209800" y="6032802"/>
                        <a:ext cx="7620000" cy="3349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CA6FD22-2403-C2AA-C470-495C6AB29301}"/>
              </a:ext>
            </a:extLst>
          </p:cNvPr>
          <p:cNvGraphicFramePr>
            <a:graphicFrameLocks noChangeAspect="1"/>
          </p:cNvGraphicFramePr>
          <p:nvPr>
            <p:extLst>
              <p:ext uri="{D42A27DB-BD31-4B8C-83A1-F6EECF244321}">
                <p14:modId xmlns:p14="http://schemas.microsoft.com/office/powerpoint/2010/main" val="2277954493"/>
              </p:ext>
            </p:extLst>
          </p:nvPr>
        </p:nvGraphicFramePr>
        <p:xfrm>
          <a:off x="3363912" y="1586897"/>
          <a:ext cx="5464175" cy="4389437"/>
        </p:xfrm>
        <a:graphic>
          <a:graphicData uri="http://schemas.openxmlformats.org/presentationml/2006/ole">
            <mc:AlternateContent xmlns:mc="http://schemas.openxmlformats.org/markup-compatibility/2006">
              <mc:Choice xmlns:v="urn:schemas-microsoft-com:vml" Requires="v">
                <p:oleObj name="Bitmap Image" r:id="rId5" imgW="5463720" imgH="4389120" progId="PBrush">
                  <p:embed/>
                </p:oleObj>
              </mc:Choice>
              <mc:Fallback>
                <p:oleObj name="Bitmap Image" r:id="rId5" imgW="5463720" imgH="4389120" progId="PBrush">
                  <p:embed/>
                  <p:pic>
                    <p:nvPicPr>
                      <p:cNvPr id="0" name=""/>
                      <p:cNvPicPr/>
                      <p:nvPr/>
                    </p:nvPicPr>
                    <p:blipFill>
                      <a:blip r:embed="rId6"/>
                      <a:stretch>
                        <a:fillRect/>
                      </a:stretch>
                    </p:blipFill>
                    <p:spPr>
                      <a:xfrm>
                        <a:off x="3363912" y="1586897"/>
                        <a:ext cx="5464175" cy="4389437"/>
                      </a:xfrm>
                      <a:prstGeom prst="rect">
                        <a:avLst/>
                      </a:prstGeom>
                    </p:spPr>
                  </p:pic>
                </p:oleObj>
              </mc:Fallback>
            </mc:AlternateContent>
          </a:graphicData>
        </a:graphic>
      </p:graphicFrame>
    </p:spTree>
    <p:extLst>
      <p:ext uri="{BB962C8B-B14F-4D97-AF65-F5344CB8AC3E}">
        <p14:creationId xmlns:p14="http://schemas.microsoft.com/office/powerpoint/2010/main" val="13699286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Identify</a:t>
            </a:r>
            <a:r>
              <a:rPr lang="en-US" dirty="0"/>
              <a:t>: to determine whether the knowledge exists or needs to be created. </a:t>
            </a:r>
          </a:p>
          <a:p>
            <a:pPr marL="342900" indent="-342900" algn="just">
              <a:lnSpc>
                <a:spcPct val="100000"/>
              </a:lnSpc>
              <a:spcBef>
                <a:spcPts val="2400"/>
              </a:spcBef>
              <a:buClr>
                <a:srgbClr val="973735"/>
              </a:buClr>
              <a:buSzPct val="50000"/>
              <a:buFont typeface="Wingdings" pitchFamily="2" charset="2"/>
              <a:buChar char="u"/>
              <a:defRPr/>
            </a:pPr>
            <a:r>
              <a:rPr lang="en-US" b="1" dirty="0"/>
              <a:t>Store</a:t>
            </a:r>
            <a:r>
              <a:rPr lang="en-US" dirty="0"/>
              <a:t>: the knowledge should be stored in some type of organizational system</a:t>
            </a:r>
          </a:p>
          <a:p>
            <a:pPr marL="342900" indent="-342900" algn="just">
              <a:lnSpc>
                <a:spcPct val="100000"/>
              </a:lnSpc>
              <a:spcBef>
                <a:spcPts val="2400"/>
              </a:spcBef>
              <a:buClr>
                <a:srgbClr val="973735"/>
              </a:buClr>
              <a:buSzPct val="50000"/>
              <a:buFont typeface="Wingdings" pitchFamily="2" charset="2"/>
              <a:buChar char="u"/>
              <a:defRPr/>
            </a:pPr>
            <a:r>
              <a:rPr lang="en-US" b="1" dirty="0"/>
              <a:t>Share</a:t>
            </a:r>
            <a:r>
              <a:rPr lang="en-US" dirty="0"/>
              <a:t>: the knowledge should be shared both within the organization and, as appropriate, outside the organization (e.g., throughout a professional network).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solidFill>
                  <a:srgbClr val="ED7D31"/>
                </a:solidFill>
              </a:rPr>
              <a:t>The Evans, </a:t>
            </a:r>
            <a:r>
              <a:rPr lang="en-US" sz="4000" b="1" dirty="0" err="1">
                <a:solidFill>
                  <a:srgbClr val="ED7D31"/>
                </a:solidFill>
              </a:rPr>
              <a:t>Dalkir</a:t>
            </a:r>
            <a:r>
              <a:rPr lang="en-US" sz="4000" b="1" dirty="0">
                <a:solidFill>
                  <a:srgbClr val="ED7D31"/>
                </a:solidFill>
              </a:rPr>
              <a:t>, and </a:t>
            </a:r>
            <a:r>
              <a:rPr lang="en-US" sz="4000" b="1" dirty="0" err="1">
                <a:solidFill>
                  <a:srgbClr val="ED7D31"/>
                </a:solidFill>
              </a:rPr>
              <a:t>Bidian</a:t>
            </a:r>
            <a:r>
              <a:rPr lang="en-US" sz="4000" b="1" dirty="0">
                <a:solidFill>
                  <a:srgbClr val="ED7D31"/>
                </a:solidFill>
              </a:rPr>
              <a:t> KM Cycle (KMC)</a:t>
            </a:r>
            <a:endParaRPr lang="en-US" sz="4000" b="1" dirty="0"/>
          </a:p>
        </p:txBody>
      </p:sp>
    </p:spTree>
    <p:extLst>
      <p:ext uri="{BB962C8B-B14F-4D97-AF65-F5344CB8AC3E}">
        <p14:creationId xmlns:p14="http://schemas.microsoft.com/office/powerpoint/2010/main" val="2649848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664593"/>
            <a:ext cx="11971176" cy="4816106"/>
          </a:xfrm>
        </p:spPr>
        <p:txBody>
          <a:bodyPr>
            <a:normAutofit lnSpcReduction="10000"/>
          </a:bodyPr>
          <a:lstStyle/>
          <a:p>
            <a:pPr marL="342900" indent="-342900" algn="just">
              <a:lnSpc>
                <a:spcPct val="110000"/>
              </a:lnSpc>
              <a:spcBef>
                <a:spcPts val="2400"/>
              </a:spcBef>
              <a:buClr>
                <a:srgbClr val="973735"/>
              </a:buClr>
              <a:buSzPct val="50000"/>
              <a:buFont typeface="Wingdings" pitchFamily="2" charset="2"/>
              <a:buChar char="u"/>
              <a:defRPr/>
            </a:pPr>
            <a:r>
              <a:rPr lang="en-US" b="1" dirty="0"/>
              <a:t>Use</a:t>
            </a:r>
            <a:r>
              <a:rPr lang="en-US" dirty="0"/>
              <a:t>: the knowledge can be used to solve problems, make decisions, improve on products and services, innovate, and so on. </a:t>
            </a:r>
          </a:p>
          <a:p>
            <a:pPr marL="342900" indent="-342900" algn="just">
              <a:lnSpc>
                <a:spcPct val="110000"/>
              </a:lnSpc>
              <a:spcBef>
                <a:spcPts val="2400"/>
              </a:spcBef>
              <a:buClr>
                <a:srgbClr val="973735"/>
              </a:buClr>
              <a:buSzPct val="50000"/>
              <a:buFont typeface="Wingdings" pitchFamily="2" charset="2"/>
              <a:buChar char="u"/>
              <a:defRPr/>
            </a:pPr>
            <a:r>
              <a:rPr lang="en-US" b="1" dirty="0"/>
              <a:t>Learn</a:t>
            </a:r>
            <a:r>
              <a:rPr lang="en-US" dirty="0"/>
              <a:t>: is often overlooked. Single-loop learning refers to incremental improvements while double-loop learning is a much more holistic review of the knowledge, which serves not just to improve but recast the knowledge. </a:t>
            </a:r>
          </a:p>
          <a:p>
            <a:pPr marL="342900" indent="-342900" algn="just">
              <a:lnSpc>
                <a:spcPct val="110000"/>
              </a:lnSpc>
              <a:spcBef>
                <a:spcPts val="2400"/>
              </a:spcBef>
              <a:buClr>
                <a:srgbClr val="973735"/>
              </a:buClr>
              <a:buSzPct val="50000"/>
              <a:buFont typeface="Wingdings" pitchFamily="2" charset="2"/>
              <a:buChar char="u"/>
              <a:defRPr/>
            </a:pPr>
            <a:r>
              <a:rPr lang="en-US" b="1" dirty="0"/>
              <a:t>Improve</a:t>
            </a:r>
            <a:r>
              <a:rPr lang="en-US" dirty="0"/>
              <a:t>: serve to document metadata, to update, refine and, as needed, correct existing knowledge, add to it, and extend the knowledge.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solidFill>
                  <a:srgbClr val="ED7D31"/>
                </a:solidFill>
              </a:rPr>
              <a:t>The Evans, </a:t>
            </a:r>
            <a:r>
              <a:rPr lang="en-US" sz="4000" b="1" dirty="0" err="1">
                <a:solidFill>
                  <a:srgbClr val="ED7D31"/>
                </a:solidFill>
              </a:rPr>
              <a:t>Dalkir</a:t>
            </a:r>
            <a:r>
              <a:rPr lang="en-US" sz="4000" b="1" dirty="0">
                <a:solidFill>
                  <a:srgbClr val="ED7D31"/>
                </a:solidFill>
              </a:rPr>
              <a:t>, and </a:t>
            </a:r>
            <a:r>
              <a:rPr lang="en-US" sz="4000" b="1" dirty="0" err="1">
                <a:solidFill>
                  <a:srgbClr val="ED7D31"/>
                </a:solidFill>
              </a:rPr>
              <a:t>Bidian</a:t>
            </a:r>
            <a:r>
              <a:rPr lang="en-US" sz="4000" b="1" dirty="0">
                <a:solidFill>
                  <a:srgbClr val="ED7D31"/>
                </a:solidFill>
              </a:rPr>
              <a:t> KM Cycle (KMC)</a:t>
            </a:r>
            <a:endParaRPr lang="en-US" sz="4000" b="1" dirty="0"/>
          </a:p>
        </p:txBody>
      </p:sp>
    </p:spTree>
    <p:extLst>
      <p:ext uri="{BB962C8B-B14F-4D97-AF65-F5344CB8AC3E}">
        <p14:creationId xmlns:p14="http://schemas.microsoft.com/office/powerpoint/2010/main" val="4201830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40</a:t>
            </a:fld>
            <a:endParaRPr kumimoji="0" lang="en-US" dirty="0"/>
          </a:p>
        </p:txBody>
      </p:sp>
      <p:sp>
        <p:nvSpPr>
          <p:cNvPr id="4" name="Content Placeholder 3"/>
          <p:cNvSpPr>
            <a:spLocks noGrp="1"/>
          </p:cNvSpPr>
          <p:nvPr>
            <p:ph sz="quarter" idx="1"/>
          </p:nvPr>
        </p:nvSpPr>
        <p:spPr>
          <a:xfrm>
            <a:off x="0" y="1664593"/>
            <a:ext cx="11971176" cy="4745935"/>
          </a:xfrm>
        </p:spPr>
        <p:txBody>
          <a:bodyPr>
            <a:no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A synthesis of the preceding steps from the six approaches to a KM cycle, these approaches had in common. </a:t>
            </a:r>
          </a:p>
          <a:p>
            <a:pPr marL="342900" indent="-342900" algn="just">
              <a:lnSpc>
                <a:spcPct val="100000"/>
              </a:lnSpc>
              <a:spcBef>
                <a:spcPts val="1800"/>
              </a:spcBef>
              <a:buClr>
                <a:srgbClr val="973735"/>
              </a:buClr>
              <a:buSzPct val="50000"/>
              <a:buFont typeface="Wingdings" pitchFamily="2" charset="2"/>
              <a:buChar char="u"/>
              <a:defRPr/>
            </a:pPr>
            <a:r>
              <a:rPr lang="en-US" dirty="0"/>
              <a:t>The combined steps have been placed in a logical chronological order. The additional steps contributed by each of the four approaches were then added to this table, providing a comprehensive overview of knowledge processing throughout the organizational lifecycle of knowledge. </a:t>
            </a:r>
          </a:p>
          <a:p>
            <a:pPr marL="342900" indent="-342900" algn="just">
              <a:lnSpc>
                <a:spcPct val="100000"/>
              </a:lnSpc>
              <a:spcBef>
                <a:spcPts val="1800"/>
              </a:spcBef>
              <a:buClr>
                <a:srgbClr val="973735"/>
              </a:buClr>
              <a:buSzPct val="50000"/>
              <a:buFont typeface="Wingdings" pitchFamily="2" charset="2"/>
              <a:buChar char="u"/>
              <a:defRPr/>
            </a:pPr>
            <a:r>
              <a:rPr lang="en-US" dirty="0"/>
              <a:t>However, it is important to note that while the cycle is presented as a sequential progression of steps, knowledge management processes typically occur in parallel.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An Integrated KM Cycle</a:t>
            </a:r>
          </a:p>
        </p:txBody>
      </p:sp>
    </p:spTree>
    <p:extLst>
      <p:ext uri="{BB962C8B-B14F-4D97-AF65-F5344CB8AC3E}">
        <p14:creationId xmlns:p14="http://schemas.microsoft.com/office/powerpoint/2010/main" val="3446775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41</a:t>
            </a:fld>
            <a:endParaRPr kumimoji="0" lang="en-US" dirty="0"/>
          </a:p>
        </p:txBody>
      </p:sp>
      <p:sp>
        <p:nvSpPr>
          <p:cNvPr id="4" name="Content Placeholder 3"/>
          <p:cNvSpPr>
            <a:spLocks noGrp="1"/>
          </p:cNvSpPr>
          <p:nvPr>
            <p:ph sz="quarter" idx="1"/>
          </p:nvPr>
        </p:nvSpPr>
        <p:spPr>
          <a:xfrm>
            <a:off x="0" y="1664593"/>
            <a:ext cx="11971176" cy="4964807"/>
          </a:xfrm>
        </p:spPr>
        <p:txBody>
          <a:bodyPr>
            <a:normAutofit lnSpcReduction="10000"/>
          </a:bodyPr>
          <a:lstStyle/>
          <a:p>
            <a:pPr marL="342900" indent="-342900" algn="just">
              <a:lnSpc>
                <a:spcPct val="100000"/>
              </a:lnSpc>
              <a:spcBef>
                <a:spcPts val="2400"/>
              </a:spcBef>
              <a:buClr>
                <a:srgbClr val="973735"/>
              </a:buClr>
              <a:buSzPct val="50000"/>
              <a:buFont typeface="Wingdings" pitchFamily="2" charset="2"/>
              <a:buChar char="u"/>
              <a:defRPr/>
            </a:pPr>
            <a:r>
              <a:rPr lang="en-US" dirty="0"/>
              <a:t>A synthesis of the preceding steps from the six approaches to a KM cycle, these approaches had in common. </a:t>
            </a:r>
          </a:p>
          <a:p>
            <a:pPr marL="342900" indent="-342900" algn="just">
              <a:lnSpc>
                <a:spcPct val="100000"/>
              </a:lnSpc>
              <a:spcBef>
                <a:spcPts val="2400"/>
              </a:spcBef>
              <a:buClr>
                <a:srgbClr val="973735"/>
              </a:buClr>
              <a:buSzPct val="50000"/>
              <a:buFont typeface="Wingdings" pitchFamily="2" charset="2"/>
              <a:buChar char="u"/>
              <a:defRPr/>
            </a:pPr>
            <a:r>
              <a:rPr lang="en-US" dirty="0"/>
              <a:t>The combined steps have been placed in a logical chronological order. The additional steps contributed by each of the four approaches were then added to this table, providing a comprehensive overview of knowledge processing throughout the organizational lifecycle of knowledge. </a:t>
            </a:r>
          </a:p>
          <a:p>
            <a:pPr marL="342900" indent="-342900" algn="just">
              <a:lnSpc>
                <a:spcPct val="100000"/>
              </a:lnSpc>
              <a:spcBef>
                <a:spcPts val="2400"/>
              </a:spcBef>
              <a:buClr>
                <a:srgbClr val="973735"/>
              </a:buClr>
              <a:buSzPct val="50000"/>
              <a:buFont typeface="Wingdings" pitchFamily="2" charset="2"/>
              <a:buChar char="u"/>
              <a:defRPr/>
            </a:pPr>
            <a:r>
              <a:rPr lang="en-US" dirty="0"/>
              <a:t>However, it is important to note that while the cycle is presented as a sequential progression of steps, knowledge management processes typically occur in parallel.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An Integrated KM Cycle</a:t>
            </a:r>
          </a:p>
        </p:txBody>
      </p:sp>
    </p:spTree>
    <p:extLst>
      <p:ext uri="{BB962C8B-B14F-4D97-AF65-F5344CB8AC3E}">
        <p14:creationId xmlns:p14="http://schemas.microsoft.com/office/powerpoint/2010/main" val="3567033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42</a:t>
            </a:fld>
            <a:endParaRPr kumimoji="0" lang="en-US" dirty="0"/>
          </a:p>
        </p:txBody>
      </p:sp>
      <p:graphicFrame>
        <p:nvGraphicFramePr>
          <p:cNvPr id="5" name="Table 6">
            <a:extLst>
              <a:ext uri="{FF2B5EF4-FFF2-40B4-BE49-F238E27FC236}">
                <a16:creationId xmlns:a16="http://schemas.microsoft.com/office/drawing/2014/main" id="{6221D4F8-FEC4-6A41-98AB-DD455CE98E58}"/>
              </a:ext>
            </a:extLst>
          </p:cNvPr>
          <p:cNvGraphicFramePr>
            <a:graphicFrameLocks noGrp="1"/>
          </p:cNvGraphicFramePr>
          <p:nvPr>
            <p:ph sz="quarter" idx="1"/>
            <p:extLst>
              <p:ext uri="{D42A27DB-BD31-4B8C-83A1-F6EECF244321}">
                <p14:modId xmlns:p14="http://schemas.microsoft.com/office/powerpoint/2010/main" val="3997186576"/>
              </p:ext>
            </p:extLst>
          </p:nvPr>
        </p:nvGraphicFramePr>
        <p:xfrm>
          <a:off x="4270443" y="1463040"/>
          <a:ext cx="7921557" cy="5394960"/>
        </p:xfrm>
        <a:graphic>
          <a:graphicData uri="http://schemas.openxmlformats.org/drawingml/2006/table">
            <a:tbl>
              <a:tblPr firstRow="1" bandRow="1">
                <a:tableStyleId>{21E4AEA4-8DFA-4A89-87EB-49C32662AFE0}</a:tableStyleId>
              </a:tblPr>
              <a:tblGrid>
                <a:gridCol w="3910519">
                  <a:extLst>
                    <a:ext uri="{9D8B030D-6E8A-4147-A177-3AD203B41FA5}">
                      <a16:colId xmlns:a16="http://schemas.microsoft.com/office/drawing/2014/main" val="601607010"/>
                    </a:ext>
                  </a:extLst>
                </a:gridCol>
                <a:gridCol w="4011038">
                  <a:extLst>
                    <a:ext uri="{9D8B030D-6E8A-4147-A177-3AD203B41FA5}">
                      <a16:colId xmlns:a16="http://schemas.microsoft.com/office/drawing/2014/main" val="3496720285"/>
                    </a:ext>
                  </a:extLst>
                </a:gridCol>
              </a:tblGrid>
              <a:tr h="336952">
                <a:tc>
                  <a:txBody>
                    <a:bodyPr/>
                    <a:lstStyle/>
                    <a:p>
                      <a:pPr algn="ctr"/>
                      <a:r>
                        <a:rPr lang="en-US" dirty="0"/>
                        <a:t>Steps in Common</a:t>
                      </a:r>
                    </a:p>
                  </a:txBody>
                  <a:tcPr anchor="ctr"/>
                </a:tc>
                <a:tc>
                  <a:txBody>
                    <a:bodyPr/>
                    <a:lstStyle/>
                    <a:p>
                      <a:pPr algn="ctr"/>
                      <a:r>
                        <a:rPr lang="en-US" dirty="0"/>
                        <a:t>Step added by</a:t>
                      </a:r>
                    </a:p>
                  </a:txBody>
                  <a:tcPr anchor="ctr"/>
                </a:tc>
                <a:extLst>
                  <a:ext uri="{0D108BD9-81ED-4DB2-BD59-A6C34878D82A}">
                    <a16:rowId xmlns:a16="http://schemas.microsoft.com/office/drawing/2014/main" val="3595835066"/>
                  </a:ext>
                </a:extLst>
              </a:tr>
              <a:tr h="336952">
                <a:tc>
                  <a:txBody>
                    <a:bodyPr/>
                    <a:lstStyle/>
                    <a:p>
                      <a:r>
                        <a:rPr lang="en-US" dirty="0"/>
                        <a:t>1. Knowledge capture</a:t>
                      </a:r>
                    </a:p>
                  </a:txBody>
                  <a:tcPr anchor="ctr"/>
                </a:tc>
                <a:tc>
                  <a:txBody>
                    <a:bodyPr/>
                    <a:lstStyle/>
                    <a:p>
                      <a:r>
                        <a:rPr lang="en-US" dirty="0"/>
                        <a:t>Evans et al</a:t>
                      </a:r>
                    </a:p>
                  </a:txBody>
                  <a:tcPr anchor="ctr"/>
                </a:tc>
                <a:extLst>
                  <a:ext uri="{0D108BD9-81ED-4DB2-BD59-A6C34878D82A}">
                    <a16:rowId xmlns:a16="http://schemas.microsoft.com/office/drawing/2014/main" val="512806853"/>
                  </a:ext>
                </a:extLst>
              </a:tr>
              <a:tr h="336952">
                <a:tc>
                  <a:txBody>
                    <a:bodyPr/>
                    <a:lstStyle/>
                    <a:p>
                      <a:r>
                        <a:rPr lang="en-US" dirty="0"/>
                        <a:t>2. Knowledge creation</a:t>
                      </a:r>
                    </a:p>
                  </a:txBody>
                  <a:tcPr anchor="ctr"/>
                </a:tc>
                <a:tc>
                  <a:txBody>
                    <a:bodyPr/>
                    <a:lstStyle/>
                    <a:p>
                      <a:r>
                        <a:rPr lang="en-US" dirty="0"/>
                        <a:t>Evans et al</a:t>
                      </a:r>
                    </a:p>
                  </a:txBody>
                  <a:tcPr anchor="ctr"/>
                </a:tc>
                <a:extLst>
                  <a:ext uri="{0D108BD9-81ED-4DB2-BD59-A6C34878D82A}">
                    <a16:rowId xmlns:a16="http://schemas.microsoft.com/office/drawing/2014/main" val="995129656"/>
                  </a:ext>
                </a:extLst>
              </a:tr>
              <a:tr h="336952">
                <a:tc>
                  <a:txBody>
                    <a:bodyPr/>
                    <a:lstStyle/>
                    <a:p>
                      <a:r>
                        <a:rPr lang="en-US" dirty="0"/>
                        <a:t>2a. Knowledge contribution</a:t>
                      </a:r>
                    </a:p>
                  </a:txBody>
                  <a:tcPr anchor="ctr"/>
                </a:tc>
                <a:tc>
                  <a:txBody>
                    <a:bodyPr/>
                    <a:lstStyle/>
                    <a:p>
                      <a:r>
                        <a:rPr lang="en-US" dirty="0" err="1"/>
                        <a:t>Bukowitz</a:t>
                      </a:r>
                      <a:r>
                        <a:rPr lang="en-US" dirty="0"/>
                        <a:t> and Williams</a:t>
                      </a:r>
                    </a:p>
                  </a:txBody>
                  <a:tcPr anchor="ctr"/>
                </a:tc>
                <a:extLst>
                  <a:ext uri="{0D108BD9-81ED-4DB2-BD59-A6C34878D82A}">
                    <a16:rowId xmlns:a16="http://schemas.microsoft.com/office/drawing/2014/main" val="1243079803"/>
                  </a:ext>
                </a:extLst>
              </a:tr>
              <a:tr h="336952">
                <a:tc>
                  <a:txBody>
                    <a:bodyPr/>
                    <a:lstStyle/>
                    <a:p>
                      <a:r>
                        <a:rPr lang="en-US" dirty="0"/>
                        <a:t>2b. Knowledge filtering and selection</a:t>
                      </a:r>
                    </a:p>
                  </a:txBody>
                  <a:tcPr anchor="ctr"/>
                </a:tc>
                <a:tc>
                  <a:txBody>
                    <a:bodyPr/>
                    <a:lstStyle/>
                    <a:p>
                      <a:r>
                        <a:rPr lang="en-US" dirty="0" err="1"/>
                        <a:t>Bukowitz</a:t>
                      </a:r>
                      <a:r>
                        <a:rPr lang="en-US" dirty="0"/>
                        <a:t> and Williams</a:t>
                      </a:r>
                    </a:p>
                  </a:txBody>
                  <a:tcPr anchor="ctr"/>
                </a:tc>
                <a:extLst>
                  <a:ext uri="{0D108BD9-81ED-4DB2-BD59-A6C34878D82A}">
                    <a16:rowId xmlns:a16="http://schemas.microsoft.com/office/drawing/2014/main" val="283079575"/>
                  </a:ext>
                </a:extLst>
              </a:tr>
              <a:tr h="336952">
                <a:tc>
                  <a:txBody>
                    <a:bodyPr/>
                    <a:lstStyle/>
                    <a:p>
                      <a:r>
                        <a:rPr lang="en-US" dirty="0"/>
                        <a:t>3. Knowledge codification</a:t>
                      </a:r>
                    </a:p>
                  </a:txBody>
                  <a:tcPr anchor="ctr"/>
                </a:tc>
                <a:tc>
                  <a:txBody>
                    <a:bodyPr/>
                    <a:lstStyle/>
                    <a:p>
                      <a:endParaRPr lang="en-US" dirty="0"/>
                    </a:p>
                  </a:txBody>
                  <a:tcPr anchor="ctr"/>
                </a:tc>
                <a:extLst>
                  <a:ext uri="{0D108BD9-81ED-4DB2-BD59-A6C34878D82A}">
                    <a16:rowId xmlns:a16="http://schemas.microsoft.com/office/drawing/2014/main" val="565322268"/>
                  </a:ext>
                </a:extLst>
              </a:tr>
              <a:tr h="589666">
                <a:tc>
                  <a:txBody>
                    <a:bodyPr/>
                    <a:lstStyle/>
                    <a:p>
                      <a:r>
                        <a:rPr lang="en-US" dirty="0"/>
                        <a:t>3a. Knowledge refinement</a:t>
                      </a:r>
                    </a:p>
                  </a:txBody>
                  <a:tcPr anchor="ctr"/>
                </a:tc>
                <a:tc>
                  <a:txBody>
                    <a:bodyPr/>
                    <a:lstStyle/>
                    <a:p>
                      <a:r>
                        <a:rPr lang="en-US" dirty="0"/>
                        <a:t>Meyer and Zack; </a:t>
                      </a:r>
                      <a:r>
                        <a:rPr lang="en-US" dirty="0" err="1"/>
                        <a:t>Bukowitz</a:t>
                      </a:r>
                      <a:r>
                        <a:rPr lang="en-US" dirty="0"/>
                        <a:t> and Williams; </a:t>
                      </a:r>
                      <a:r>
                        <a:rPr lang="en-US" dirty="0" err="1"/>
                        <a:t>Carlile</a:t>
                      </a:r>
                      <a:r>
                        <a:rPr lang="en-US" dirty="0"/>
                        <a:t> and </a:t>
                      </a:r>
                      <a:r>
                        <a:rPr lang="en-US" dirty="0" err="1"/>
                        <a:t>Rebentisch</a:t>
                      </a:r>
                      <a:endParaRPr lang="en-US" dirty="0"/>
                    </a:p>
                  </a:txBody>
                  <a:tcPr anchor="ctr"/>
                </a:tc>
                <a:extLst>
                  <a:ext uri="{0D108BD9-81ED-4DB2-BD59-A6C34878D82A}">
                    <a16:rowId xmlns:a16="http://schemas.microsoft.com/office/drawing/2014/main" val="3941907837"/>
                  </a:ext>
                </a:extLst>
              </a:tr>
              <a:tr h="336952">
                <a:tc>
                  <a:txBody>
                    <a:bodyPr/>
                    <a:lstStyle/>
                    <a:p>
                      <a:r>
                        <a:rPr lang="en-US" dirty="0"/>
                        <a:t>4. Knowledge sharing</a:t>
                      </a:r>
                    </a:p>
                  </a:txBody>
                  <a:tcPr anchor="ctr"/>
                </a:tc>
                <a:tc>
                  <a:txBody>
                    <a:bodyPr/>
                    <a:lstStyle/>
                    <a:p>
                      <a:endParaRPr lang="en-US" dirty="0"/>
                    </a:p>
                  </a:txBody>
                  <a:tcPr anchor="ctr"/>
                </a:tc>
                <a:extLst>
                  <a:ext uri="{0D108BD9-81ED-4DB2-BD59-A6C34878D82A}">
                    <a16:rowId xmlns:a16="http://schemas.microsoft.com/office/drawing/2014/main" val="2828314720"/>
                  </a:ext>
                </a:extLst>
              </a:tr>
              <a:tr h="336952">
                <a:tc>
                  <a:txBody>
                    <a:bodyPr/>
                    <a:lstStyle/>
                    <a:p>
                      <a:r>
                        <a:rPr lang="en-US" dirty="0"/>
                        <a:t>5. Knowledge access</a:t>
                      </a:r>
                    </a:p>
                  </a:txBody>
                  <a:tcPr anchor="ctr"/>
                </a:tc>
                <a:tc>
                  <a:txBody>
                    <a:bodyPr/>
                    <a:lstStyle/>
                    <a:p>
                      <a:endParaRPr lang="en-US" dirty="0"/>
                    </a:p>
                  </a:txBody>
                  <a:tcPr anchor="ctr"/>
                </a:tc>
                <a:extLst>
                  <a:ext uri="{0D108BD9-81ED-4DB2-BD59-A6C34878D82A}">
                    <a16:rowId xmlns:a16="http://schemas.microsoft.com/office/drawing/2014/main" val="982035803"/>
                  </a:ext>
                </a:extLst>
              </a:tr>
              <a:tr h="336952">
                <a:tc>
                  <a:txBody>
                    <a:bodyPr/>
                    <a:lstStyle/>
                    <a:p>
                      <a:r>
                        <a:rPr lang="en-US" dirty="0"/>
                        <a:t>5a. Knowledge learning</a:t>
                      </a:r>
                    </a:p>
                  </a:txBody>
                  <a:tcPr anchor="ctr"/>
                </a:tc>
                <a:tc>
                  <a:txBody>
                    <a:bodyPr/>
                    <a:lstStyle/>
                    <a:p>
                      <a:r>
                        <a:rPr lang="en-US" dirty="0" err="1"/>
                        <a:t>Bukowitz</a:t>
                      </a:r>
                      <a:r>
                        <a:rPr lang="en-US" dirty="0"/>
                        <a:t> and Williams; Evans et al</a:t>
                      </a:r>
                    </a:p>
                  </a:txBody>
                  <a:tcPr anchor="ctr"/>
                </a:tc>
                <a:extLst>
                  <a:ext uri="{0D108BD9-81ED-4DB2-BD59-A6C34878D82A}">
                    <a16:rowId xmlns:a16="http://schemas.microsoft.com/office/drawing/2014/main" val="4221121545"/>
                  </a:ext>
                </a:extLst>
              </a:tr>
              <a:tr h="336952">
                <a:tc>
                  <a:txBody>
                    <a:bodyPr/>
                    <a:lstStyle/>
                    <a:p>
                      <a:r>
                        <a:rPr lang="en-US" dirty="0"/>
                        <a:t>6. Knowledge application</a:t>
                      </a:r>
                    </a:p>
                  </a:txBody>
                  <a:tcPr anchor="ctr"/>
                </a:tc>
                <a:tc>
                  <a:txBody>
                    <a:bodyPr/>
                    <a:lstStyle/>
                    <a:p>
                      <a:r>
                        <a:rPr lang="en-US" dirty="0"/>
                        <a:t>McElroy; </a:t>
                      </a:r>
                      <a:r>
                        <a:rPr lang="en-US" dirty="0" err="1"/>
                        <a:t>Bukowitz</a:t>
                      </a:r>
                      <a:r>
                        <a:rPr lang="en-US" dirty="0"/>
                        <a:t> and Williams</a:t>
                      </a:r>
                    </a:p>
                  </a:txBody>
                  <a:tcPr anchor="ctr"/>
                </a:tc>
                <a:extLst>
                  <a:ext uri="{0D108BD9-81ED-4DB2-BD59-A6C34878D82A}">
                    <a16:rowId xmlns:a16="http://schemas.microsoft.com/office/drawing/2014/main" val="1514263803"/>
                  </a:ext>
                </a:extLst>
              </a:tr>
              <a:tr h="336952">
                <a:tc>
                  <a:txBody>
                    <a:bodyPr/>
                    <a:lstStyle/>
                    <a:p>
                      <a:r>
                        <a:rPr lang="en-US" dirty="0"/>
                        <a:t>6a. Knowledge evaluation</a:t>
                      </a:r>
                    </a:p>
                  </a:txBody>
                  <a:tcPr anchor="ctr"/>
                </a:tc>
                <a:tc>
                  <a:txBody>
                    <a:bodyPr/>
                    <a:lstStyle/>
                    <a:p>
                      <a:endParaRPr lang="en-US" dirty="0"/>
                    </a:p>
                  </a:txBody>
                  <a:tcPr anchor="ctr"/>
                </a:tc>
                <a:extLst>
                  <a:ext uri="{0D108BD9-81ED-4DB2-BD59-A6C34878D82A}">
                    <a16:rowId xmlns:a16="http://schemas.microsoft.com/office/drawing/2014/main" val="2496109688"/>
                  </a:ext>
                </a:extLst>
              </a:tr>
              <a:tr h="336952">
                <a:tc>
                  <a:txBody>
                    <a:bodyPr/>
                    <a:lstStyle/>
                    <a:p>
                      <a:r>
                        <a:rPr lang="en-US" dirty="0"/>
                        <a:t>7. Knowledge reuse</a:t>
                      </a:r>
                    </a:p>
                  </a:txBody>
                  <a:tcPr anchor="ctr"/>
                </a:tc>
                <a:tc>
                  <a:txBody>
                    <a:bodyPr/>
                    <a:lstStyle/>
                    <a:p>
                      <a:endParaRPr lang="en-US" dirty="0"/>
                    </a:p>
                  </a:txBody>
                  <a:tcPr anchor="ctr"/>
                </a:tc>
                <a:extLst>
                  <a:ext uri="{0D108BD9-81ED-4DB2-BD59-A6C34878D82A}">
                    <a16:rowId xmlns:a16="http://schemas.microsoft.com/office/drawing/2014/main" val="903905135"/>
                  </a:ext>
                </a:extLst>
              </a:tr>
              <a:tr h="3369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7a. Knowledge reuse or divestment</a:t>
                      </a:r>
                    </a:p>
                  </a:txBody>
                  <a:tcPr anchor="ctr"/>
                </a:tc>
                <a:tc>
                  <a:txBody>
                    <a:bodyPr/>
                    <a:lstStyle/>
                    <a:p>
                      <a:r>
                        <a:rPr lang="en-US" dirty="0" err="1"/>
                        <a:t>Bukowitz</a:t>
                      </a:r>
                      <a:r>
                        <a:rPr lang="en-US" dirty="0"/>
                        <a:t> and Williams</a:t>
                      </a:r>
                    </a:p>
                  </a:txBody>
                  <a:tcPr anchor="ctr"/>
                </a:tc>
                <a:extLst>
                  <a:ext uri="{0D108BD9-81ED-4DB2-BD59-A6C34878D82A}">
                    <a16:rowId xmlns:a16="http://schemas.microsoft.com/office/drawing/2014/main" val="2231456090"/>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An Integrated KM Cycle</a:t>
            </a:r>
          </a:p>
        </p:txBody>
      </p:sp>
      <p:graphicFrame>
        <p:nvGraphicFramePr>
          <p:cNvPr id="8" name="Object 7">
            <a:extLst>
              <a:ext uri="{FF2B5EF4-FFF2-40B4-BE49-F238E27FC236}">
                <a16:creationId xmlns:a16="http://schemas.microsoft.com/office/drawing/2014/main" id="{60632BE9-0B5B-A8B6-21C1-400B10F76E8B}"/>
              </a:ext>
            </a:extLst>
          </p:cNvPr>
          <p:cNvGraphicFramePr>
            <a:graphicFrameLocks noChangeAspect="1"/>
          </p:cNvGraphicFramePr>
          <p:nvPr>
            <p:extLst>
              <p:ext uri="{D42A27DB-BD31-4B8C-83A1-F6EECF244321}">
                <p14:modId xmlns:p14="http://schemas.microsoft.com/office/powerpoint/2010/main" val="2877910055"/>
              </p:ext>
            </p:extLst>
          </p:nvPr>
        </p:nvGraphicFramePr>
        <p:xfrm>
          <a:off x="838200" y="2922072"/>
          <a:ext cx="2644302" cy="1646291"/>
        </p:xfrm>
        <a:graphic>
          <a:graphicData uri="http://schemas.openxmlformats.org/presentationml/2006/ole">
            <mc:AlternateContent xmlns:mc="http://schemas.openxmlformats.org/markup-compatibility/2006">
              <mc:Choice xmlns:v="urn:schemas-microsoft-com:vml" Requires="v">
                <p:oleObj name="Bitmap Image" r:id="rId3" imgW="2461320" imgH="1531800" progId="PBrush">
                  <p:embed/>
                </p:oleObj>
              </mc:Choice>
              <mc:Fallback>
                <p:oleObj name="Bitmap Image" r:id="rId3" imgW="2461320" imgH="1531800" progId="PBrush">
                  <p:embed/>
                  <p:pic>
                    <p:nvPicPr>
                      <p:cNvPr id="0" name=""/>
                      <p:cNvPicPr/>
                      <p:nvPr/>
                    </p:nvPicPr>
                    <p:blipFill>
                      <a:blip r:embed="rId4"/>
                      <a:stretch>
                        <a:fillRect/>
                      </a:stretch>
                    </p:blipFill>
                    <p:spPr>
                      <a:xfrm>
                        <a:off x="838200" y="2922072"/>
                        <a:ext cx="2644302" cy="1646291"/>
                      </a:xfrm>
                      <a:prstGeom prst="rect">
                        <a:avLst/>
                      </a:prstGeom>
                    </p:spPr>
                  </p:pic>
                </p:oleObj>
              </mc:Fallback>
            </mc:AlternateContent>
          </a:graphicData>
        </a:graphic>
      </p:graphicFrame>
    </p:spTree>
    <p:extLst>
      <p:ext uri="{BB962C8B-B14F-4D97-AF65-F5344CB8AC3E}">
        <p14:creationId xmlns:p14="http://schemas.microsoft.com/office/powerpoint/2010/main" val="1975606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8344184" y="1927774"/>
            <a:ext cx="384781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sz="2400" b="1" dirty="0">
              <a:solidFill>
                <a:srgbClr val="ED7D31"/>
              </a:solidFill>
            </a:endParaRPr>
          </a:p>
          <a:p>
            <a:pPr marL="0" indent="0">
              <a:lnSpc>
                <a:spcPct val="100000"/>
              </a:lnSpc>
              <a:spcBef>
                <a:spcPts val="2400"/>
              </a:spcBef>
              <a:buClr>
                <a:srgbClr val="973735"/>
              </a:buClr>
              <a:buSzPct val="50000"/>
              <a:buNone/>
              <a:defRPr/>
            </a:pPr>
            <a:r>
              <a:rPr lang="en-US" sz="2400" dirty="0"/>
              <a:t>1. Knowledge capture and/or creation</a:t>
            </a:r>
          </a:p>
          <a:p>
            <a:pPr marL="0" indent="0">
              <a:lnSpc>
                <a:spcPct val="100000"/>
              </a:lnSpc>
              <a:spcBef>
                <a:spcPts val="2400"/>
              </a:spcBef>
              <a:buClr>
                <a:srgbClr val="973735"/>
              </a:buClr>
              <a:buSzPct val="50000"/>
              <a:buNone/>
              <a:defRPr/>
            </a:pPr>
            <a:r>
              <a:rPr lang="en-US" sz="2400" dirty="0"/>
              <a:t>2. Knowledge sharing and dissemination</a:t>
            </a:r>
          </a:p>
          <a:p>
            <a:pPr marL="0" indent="0">
              <a:lnSpc>
                <a:spcPct val="100000"/>
              </a:lnSpc>
              <a:spcBef>
                <a:spcPts val="2400"/>
              </a:spcBef>
              <a:buClr>
                <a:srgbClr val="973735"/>
              </a:buClr>
              <a:buSzPct val="50000"/>
              <a:buNone/>
              <a:defRPr/>
            </a:pPr>
            <a:r>
              <a:rPr lang="en-US" sz="2400" dirty="0"/>
              <a:t>3. Knowledge acquisition and application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An Integrated KM Cycle</a:t>
            </a:r>
          </a:p>
        </p:txBody>
      </p:sp>
      <p:sp>
        <p:nvSpPr>
          <p:cNvPr id="5" name="Content Placeholder 3">
            <a:extLst>
              <a:ext uri="{FF2B5EF4-FFF2-40B4-BE49-F238E27FC236}">
                <a16:creationId xmlns:a16="http://schemas.microsoft.com/office/drawing/2014/main" id="{0D48406B-851F-E609-6869-9323AA825ABE}"/>
              </a:ext>
            </a:extLst>
          </p:cNvPr>
          <p:cNvSpPr txBox="1">
            <a:spLocks/>
          </p:cNvSpPr>
          <p:nvPr/>
        </p:nvSpPr>
        <p:spPr>
          <a:xfrm>
            <a:off x="483354" y="1765402"/>
            <a:ext cx="6237486" cy="5397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973735"/>
              </a:buClr>
              <a:buSzPct val="50000"/>
              <a:buNone/>
              <a:defRPr/>
            </a:pPr>
            <a:r>
              <a:rPr lang="en-US" sz="2400" dirty="0"/>
              <a:t>1. Knowledge capture/creation/contribution </a:t>
            </a:r>
          </a:p>
          <a:p>
            <a:pPr marL="0" indent="0">
              <a:lnSpc>
                <a:spcPct val="110000"/>
              </a:lnSpc>
              <a:spcBef>
                <a:spcPts val="600"/>
              </a:spcBef>
              <a:buClr>
                <a:srgbClr val="973735"/>
              </a:buClr>
              <a:buSzPct val="50000"/>
              <a:buNone/>
              <a:defRPr/>
            </a:pPr>
            <a:r>
              <a:rPr lang="en-US" sz="2400" dirty="0"/>
              <a:t>2. Knowledge filtering/selection </a:t>
            </a:r>
          </a:p>
          <a:p>
            <a:pPr marL="0" indent="0">
              <a:lnSpc>
                <a:spcPct val="110000"/>
              </a:lnSpc>
              <a:spcBef>
                <a:spcPts val="600"/>
              </a:spcBef>
              <a:buClr>
                <a:srgbClr val="973735"/>
              </a:buClr>
              <a:buSzPct val="50000"/>
              <a:buNone/>
              <a:defRPr/>
            </a:pPr>
            <a:r>
              <a:rPr lang="en-US" sz="2400" dirty="0"/>
              <a:t>3. Knowledge codification </a:t>
            </a:r>
          </a:p>
          <a:p>
            <a:pPr marL="0" indent="0">
              <a:lnSpc>
                <a:spcPct val="110000"/>
              </a:lnSpc>
              <a:spcBef>
                <a:spcPts val="600"/>
              </a:spcBef>
              <a:buClr>
                <a:srgbClr val="973735"/>
              </a:buClr>
              <a:buSzPct val="50000"/>
              <a:buNone/>
              <a:defRPr/>
            </a:pPr>
            <a:r>
              <a:rPr lang="en-US" sz="2400" dirty="0"/>
              <a:t>4. Knowledge refinement </a:t>
            </a:r>
          </a:p>
          <a:p>
            <a:pPr marL="0" indent="0">
              <a:lnSpc>
                <a:spcPct val="110000"/>
              </a:lnSpc>
              <a:spcBef>
                <a:spcPts val="600"/>
              </a:spcBef>
              <a:buClr>
                <a:srgbClr val="973735"/>
              </a:buClr>
              <a:buSzPct val="50000"/>
              <a:buNone/>
              <a:defRPr/>
            </a:pPr>
            <a:r>
              <a:rPr lang="en-US" sz="2400" dirty="0"/>
              <a:t>5. Knowledge sharing </a:t>
            </a:r>
          </a:p>
          <a:p>
            <a:pPr marL="0" indent="0">
              <a:lnSpc>
                <a:spcPct val="110000"/>
              </a:lnSpc>
              <a:spcBef>
                <a:spcPts val="600"/>
              </a:spcBef>
              <a:buClr>
                <a:srgbClr val="973735"/>
              </a:buClr>
              <a:buSzPct val="50000"/>
              <a:buNone/>
              <a:defRPr/>
            </a:pPr>
            <a:r>
              <a:rPr lang="en-US" sz="2400" dirty="0"/>
              <a:t>6. Knowledge access </a:t>
            </a:r>
          </a:p>
          <a:p>
            <a:pPr marL="0" indent="0">
              <a:lnSpc>
                <a:spcPct val="110000"/>
              </a:lnSpc>
              <a:spcBef>
                <a:spcPts val="600"/>
              </a:spcBef>
              <a:buClr>
                <a:srgbClr val="973735"/>
              </a:buClr>
              <a:buSzPct val="50000"/>
              <a:buNone/>
              <a:defRPr/>
            </a:pPr>
            <a:r>
              <a:rPr lang="en-US" sz="2400" dirty="0"/>
              <a:t>7. Knowledge learning </a:t>
            </a:r>
          </a:p>
          <a:p>
            <a:pPr marL="0" indent="0">
              <a:lnSpc>
                <a:spcPct val="110000"/>
              </a:lnSpc>
              <a:spcBef>
                <a:spcPts val="600"/>
              </a:spcBef>
              <a:buClr>
                <a:srgbClr val="973735"/>
              </a:buClr>
              <a:buSzPct val="50000"/>
              <a:buNone/>
              <a:defRPr/>
            </a:pPr>
            <a:r>
              <a:rPr lang="en-US" sz="2400" dirty="0"/>
              <a:t>8. Knowledge application </a:t>
            </a:r>
          </a:p>
          <a:p>
            <a:pPr marL="0" indent="0">
              <a:lnSpc>
                <a:spcPct val="110000"/>
              </a:lnSpc>
              <a:spcBef>
                <a:spcPts val="600"/>
              </a:spcBef>
              <a:buClr>
                <a:srgbClr val="973735"/>
              </a:buClr>
              <a:buSzPct val="50000"/>
              <a:buNone/>
              <a:defRPr/>
            </a:pPr>
            <a:r>
              <a:rPr lang="en-US" sz="2400" dirty="0"/>
              <a:t>9. Knowledge evaluation </a:t>
            </a:r>
          </a:p>
          <a:p>
            <a:pPr marL="0" indent="0">
              <a:lnSpc>
                <a:spcPct val="110000"/>
              </a:lnSpc>
              <a:spcBef>
                <a:spcPts val="600"/>
              </a:spcBef>
              <a:buClr>
                <a:srgbClr val="973735"/>
              </a:buClr>
              <a:buSzPct val="50000"/>
              <a:buNone/>
              <a:defRPr/>
            </a:pPr>
            <a:r>
              <a:rPr lang="en-US" sz="2400" dirty="0"/>
              <a:t>10. Knowledge reuse/divestment</a:t>
            </a:r>
            <a:endParaRPr lang="en-US" sz="2400" b="1" dirty="0">
              <a:solidFill>
                <a:srgbClr val="ED7D31"/>
              </a:solidFill>
            </a:endParaRPr>
          </a:p>
          <a:p>
            <a:pPr marL="800100" lvl="1" indent="-342900">
              <a:lnSpc>
                <a:spcPct val="110000"/>
              </a:lnSpc>
              <a:spcBef>
                <a:spcPts val="600"/>
              </a:spcBef>
              <a:buClr>
                <a:srgbClr val="973735"/>
              </a:buClr>
              <a:buSzPct val="50000"/>
              <a:buFont typeface="Wingdings" pitchFamily="2" charset="2"/>
              <a:buChar char="u"/>
              <a:defRPr/>
            </a:pPr>
            <a:endParaRPr lang="en-US" dirty="0"/>
          </a:p>
        </p:txBody>
      </p:sp>
      <p:sp>
        <p:nvSpPr>
          <p:cNvPr id="7" name="Arrow: Right 6">
            <a:extLst>
              <a:ext uri="{FF2B5EF4-FFF2-40B4-BE49-F238E27FC236}">
                <a16:creationId xmlns:a16="http://schemas.microsoft.com/office/drawing/2014/main" id="{C02EFE25-62CE-E3F3-ECCC-2F9824AC2FD7}"/>
              </a:ext>
            </a:extLst>
          </p:cNvPr>
          <p:cNvSpPr/>
          <p:nvPr/>
        </p:nvSpPr>
        <p:spPr>
          <a:xfrm>
            <a:off x="4945004" y="3574914"/>
            <a:ext cx="2851279" cy="139105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The integrated cycle </a:t>
            </a:r>
          </a:p>
        </p:txBody>
      </p:sp>
    </p:spTree>
    <p:extLst>
      <p:ext uri="{BB962C8B-B14F-4D97-AF65-F5344CB8AC3E}">
        <p14:creationId xmlns:p14="http://schemas.microsoft.com/office/powerpoint/2010/main" val="3370283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An Integrated KM Cycle</a:t>
            </a:r>
          </a:p>
        </p:txBody>
      </p:sp>
      <p:graphicFrame>
        <p:nvGraphicFramePr>
          <p:cNvPr id="2" name="Object 1">
            <a:extLst>
              <a:ext uri="{FF2B5EF4-FFF2-40B4-BE49-F238E27FC236}">
                <a16:creationId xmlns:a16="http://schemas.microsoft.com/office/drawing/2014/main" id="{F0A45DCB-A306-AB9D-CE8B-8649DD0F50DA}"/>
              </a:ext>
            </a:extLst>
          </p:cNvPr>
          <p:cNvGraphicFramePr>
            <a:graphicFrameLocks noChangeAspect="1"/>
          </p:cNvGraphicFramePr>
          <p:nvPr>
            <p:extLst>
              <p:ext uri="{D42A27DB-BD31-4B8C-83A1-F6EECF244321}">
                <p14:modId xmlns:p14="http://schemas.microsoft.com/office/powerpoint/2010/main" val="3313879125"/>
              </p:ext>
            </p:extLst>
          </p:nvPr>
        </p:nvGraphicFramePr>
        <p:xfrm>
          <a:off x="2947988" y="1598613"/>
          <a:ext cx="6294437" cy="3657600"/>
        </p:xfrm>
        <a:graphic>
          <a:graphicData uri="http://schemas.openxmlformats.org/presentationml/2006/ole">
            <mc:AlternateContent xmlns:mc="http://schemas.openxmlformats.org/markup-compatibility/2006">
              <mc:Choice xmlns:v="urn:schemas-microsoft-com:vml" Requires="v">
                <p:oleObj name="Bitmap Image" r:id="rId3" imgW="6294240" imgH="3657600" progId="PBrush">
                  <p:embed/>
                </p:oleObj>
              </mc:Choice>
              <mc:Fallback>
                <p:oleObj name="Bitmap Image" r:id="rId3" imgW="6294240" imgH="3657600" progId="PBrush">
                  <p:embed/>
                  <p:pic>
                    <p:nvPicPr>
                      <p:cNvPr id="0" name=""/>
                      <p:cNvPicPr/>
                      <p:nvPr/>
                    </p:nvPicPr>
                    <p:blipFill>
                      <a:blip r:embed="rId4"/>
                      <a:stretch>
                        <a:fillRect/>
                      </a:stretch>
                    </p:blipFill>
                    <p:spPr>
                      <a:xfrm>
                        <a:off x="2947988" y="1598613"/>
                        <a:ext cx="6294437" cy="36576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BE6A40C-CCFA-2C4F-A881-6F73456E4E13}"/>
              </a:ext>
            </a:extLst>
          </p:cNvPr>
          <p:cNvGraphicFramePr>
            <a:graphicFrameLocks noChangeAspect="1"/>
          </p:cNvGraphicFramePr>
          <p:nvPr>
            <p:extLst>
              <p:ext uri="{D42A27DB-BD31-4B8C-83A1-F6EECF244321}">
                <p14:modId xmlns:p14="http://schemas.microsoft.com/office/powerpoint/2010/main" val="4188077226"/>
              </p:ext>
            </p:extLst>
          </p:nvPr>
        </p:nvGraphicFramePr>
        <p:xfrm>
          <a:off x="4247356" y="5639875"/>
          <a:ext cx="3695700" cy="350837"/>
        </p:xfrm>
        <a:graphic>
          <a:graphicData uri="http://schemas.openxmlformats.org/presentationml/2006/ole">
            <mc:AlternateContent xmlns:mc="http://schemas.openxmlformats.org/markup-compatibility/2006">
              <mc:Choice xmlns:v="urn:schemas-microsoft-com:vml" Requires="v">
                <p:oleObj name="Bitmap Image" r:id="rId5" imgW="3695760" imgH="350640" progId="PBrush">
                  <p:embed/>
                </p:oleObj>
              </mc:Choice>
              <mc:Fallback>
                <p:oleObj name="Bitmap Image" r:id="rId5" imgW="3695760" imgH="350640" progId="PBrush">
                  <p:embed/>
                  <p:pic>
                    <p:nvPicPr>
                      <p:cNvPr id="0" name=""/>
                      <p:cNvPicPr/>
                      <p:nvPr/>
                    </p:nvPicPr>
                    <p:blipFill>
                      <a:blip r:embed="rId6"/>
                      <a:stretch>
                        <a:fillRect/>
                      </a:stretch>
                    </p:blipFill>
                    <p:spPr>
                      <a:xfrm>
                        <a:off x="4247356" y="5639875"/>
                        <a:ext cx="3695700" cy="350837"/>
                      </a:xfrm>
                      <a:prstGeom prst="rect">
                        <a:avLst/>
                      </a:prstGeom>
                    </p:spPr>
                  </p:pic>
                </p:oleObj>
              </mc:Fallback>
            </mc:AlternateContent>
          </a:graphicData>
        </a:graphic>
      </p:graphicFrame>
    </p:spTree>
    <p:extLst>
      <p:ext uri="{BB962C8B-B14F-4D97-AF65-F5344CB8AC3E}">
        <p14:creationId xmlns:p14="http://schemas.microsoft.com/office/powerpoint/2010/main" val="3185130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45</a:t>
            </a:fld>
            <a:endParaRPr kumimoji="0" lang="en-US" dirty="0"/>
          </a:p>
        </p:txBody>
      </p:sp>
      <p:sp>
        <p:nvSpPr>
          <p:cNvPr id="4" name="Content Placeholder 3"/>
          <p:cNvSpPr>
            <a:spLocks noGrp="1"/>
          </p:cNvSpPr>
          <p:nvPr>
            <p:ph sz="quarter" idx="1"/>
          </p:nvPr>
        </p:nvSpPr>
        <p:spPr>
          <a:xfrm>
            <a:off x="0" y="2120629"/>
            <a:ext cx="11770468" cy="4360069"/>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Knowledge represents the decisive basis for intelligent, competent behavior at the individual, group, and the organization. </a:t>
            </a:r>
          </a:p>
          <a:p>
            <a:pPr marL="342900" indent="-342900" algn="just">
              <a:lnSpc>
                <a:spcPct val="100000"/>
              </a:lnSpc>
              <a:spcBef>
                <a:spcPts val="2400"/>
              </a:spcBef>
              <a:buClr>
                <a:srgbClr val="973735"/>
              </a:buClr>
              <a:buSzPct val="50000"/>
              <a:buFont typeface="Wingdings" pitchFamily="2" charset="2"/>
              <a:buChar char="u"/>
              <a:defRPr/>
            </a:pPr>
            <a:r>
              <a:rPr lang="en-US" dirty="0"/>
              <a:t>Only a conscious and organized reflection of lessons learned and best practices discovered will allow companies to leverage their hard-won knowledge assets. </a:t>
            </a:r>
          </a:p>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Strategic Implications of the KM Cycle</a:t>
            </a:r>
          </a:p>
        </p:txBody>
      </p:sp>
    </p:spTree>
    <p:extLst>
      <p:ext uri="{BB962C8B-B14F-4D97-AF65-F5344CB8AC3E}">
        <p14:creationId xmlns:p14="http://schemas.microsoft.com/office/powerpoint/2010/main" val="948614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46</a:t>
            </a:fld>
            <a:endParaRPr kumimoji="0" lang="en-US" dirty="0"/>
          </a:p>
        </p:txBody>
      </p:sp>
      <p:sp>
        <p:nvSpPr>
          <p:cNvPr id="4" name="Content Placeholder 3"/>
          <p:cNvSpPr>
            <a:spLocks noGrp="1"/>
          </p:cNvSpPr>
          <p:nvPr>
            <p:ph sz="quarter" idx="1"/>
          </p:nvPr>
        </p:nvSpPr>
        <p:spPr>
          <a:xfrm>
            <a:off x="0" y="2256817"/>
            <a:ext cx="11721830" cy="4223882"/>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Understanding the different stages of managing knowledge throughout the KM cycle is important from a practical perspective: </a:t>
            </a:r>
          </a:p>
          <a:p>
            <a:pPr marL="800100" lvl="1" indent="-342900" algn="just">
              <a:lnSpc>
                <a:spcPct val="100000"/>
              </a:lnSpc>
              <a:spcBef>
                <a:spcPts val="2400"/>
              </a:spcBef>
              <a:buClr>
                <a:srgbClr val="973735"/>
              </a:buClr>
              <a:buSzPct val="50000"/>
              <a:buFont typeface="Wingdings" pitchFamily="2" charset="2"/>
              <a:buChar char="u"/>
              <a:defRPr/>
            </a:pPr>
            <a:r>
              <a:rPr lang="en-US" sz="2600" dirty="0"/>
              <a:t>Managing knowledge requires organizing principles (framework) that helps classify the different types of activities and functions need to deal with all knowledge-related work within and between organizations</a:t>
            </a:r>
          </a:p>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Strategic Implications of the KM Cycle</a:t>
            </a:r>
          </a:p>
        </p:txBody>
      </p:sp>
    </p:spTree>
    <p:extLst>
      <p:ext uri="{BB962C8B-B14F-4D97-AF65-F5344CB8AC3E}">
        <p14:creationId xmlns:p14="http://schemas.microsoft.com/office/powerpoint/2010/main" val="2530715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47</a:t>
            </a:fld>
            <a:endParaRPr kumimoji="0" lang="en-US" dirty="0"/>
          </a:p>
        </p:txBody>
      </p:sp>
      <p:sp>
        <p:nvSpPr>
          <p:cNvPr id="4" name="Content Placeholder 3"/>
          <p:cNvSpPr>
            <a:spLocks noGrp="1"/>
          </p:cNvSpPr>
          <p:nvPr>
            <p:ph sz="quarter" idx="1"/>
          </p:nvPr>
        </p:nvSpPr>
        <p:spPr>
          <a:xfrm>
            <a:off x="1051560" y="2217906"/>
            <a:ext cx="10226040" cy="3701962"/>
          </a:xfrm>
        </p:spPr>
        <p:txBody>
          <a:bodyPr>
            <a:normAutofit/>
          </a:bodyPr>
          <a:lstStyle/>
          <a:p>
            <a:pPr marL="0" indent="0" algn="just">
              <a:lnSpc>
                <a:spcPct val="100000"/>
              </a:lnSpc>
              <a:spcBef>
                <a:spcPts val="600"/>
              </a:spcBef>
              <a:buClr>
                <a:srgbClr val="973735"/>
              </a:buClr>
              <a:buSzPct val="50000"/>
              <a:buNone/>
              <a:defRPr/>
            </a:pPr>
            <a:r>
              <a:rPr lang="en-US" b="1" dirty="0"/>
              <a:t>Understand</a:t>
            </a:r>
            <a:r>
              <a:rPr lang="en-US" dirty="0"/>
              <a:t> the different stages of managing knowledge throughout the KM cycle. From a </a:t>
            </a:r>
            <a:r>
              <a:rPr lang="en-US" b="1" dirty="0"/>
              <a:t>practical perspective</a:t>
            </a:r>
            <a:r>
              <a:rPr lang="en-US" dirty="0"/>
              <a:t>, in order to manage knowledge it is also necessary to have an organizing principle - a framework - to classify the different types of activities and functions needed to deal with all knowledge-related work within and between organizations.</a:t>
            </a:r>
          </a:p>
          <a:p>
            <a:pPr marL="0" indent="0" algn="just">
              <a:lnSpc>
                <a:spcPct val="150000"/>
              </a:lnSpc>
              <a:spcBef>
                <a:spcPts val="6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t>Practical Considerations for Managing Knowledge</a:t>
            </a:r>
          </a:p>
        </p:txBody>
      </p:sp>
    </p:spTree>
    <p:extLst>
      <p:ext uri="{BB962C8B-B14F-4D97-AF65-F5344CB8AC3E}">
        <p14:creationId xmlns:p14="http://schemas.microsoft.com/office/powerpoint/2010/main" val="24499812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48</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The way to valuable individual, group, and organizational knowledge.</a:t>
            </a:r>
          </a:p>
          <a:p>
            <a:pPr marL="342900" indent="-342900" algn="just">
              <a:lnSpc>
                <a:spcPct val="100000"/>
              </a:lnSpc>
              <a:spcBef>
                <a:spcPts val="2400"/>
              </a:spcBef>
              <a:buClr>
                <a:srgbClr val="973735"/>
              </a:buClr>
              <a:buSzPct val="50000"/>
              <a:buFont typeface="Wingdings" pitchFamily="2" charset="2"/>
              <a:buChar char="u"/>
              <a:defRPr/>
            </a:pPr>
            <a:r>
              <a:rPr lang="en-US" dirty="0"/>
              <a:t>Compare and contrast major KM processes.</a:t>
            </a:r>
          </a:p>
          <a:p>
            <a:pPr marL="342900" indent="-342900" algn="just">
              <a:lnSpc>
                <a:spcPct val="100000"/>
              </a:lnSpc>
              <a:spcBef>
                <a:spcPts val="2400"/>
              </a:spcBef>
              <a:buClr>
                <a:srgbClr val="973735"/>
              </a:buClr>
              <a:buSzPct val="50000"/>
              <a:buFont typeface="Wingdings" pitchFamily="2" charset="2"/>
              <a:buChar char="u"/>
              <a:defRPr/>
            </a:pPr>
            <a:r>
              <a:rPr lang="en-US" dirty="0"/>
              <a:t>Define the major KM processes and examples of each.</a:t>
            </a:r>
          </a:p>
          <a:p>
            <a:pPr marL="342900" indent="-342900" algn="just">
              <a:lnSpc>
                <a:spcPct val="100000"/>
              </a:lnSpc>
              <a:spcBef>
                <a:spcPts val="2400"/>
              </a:spcBef>
              <a:buClr>
                <a:srgbClr val="973735"/>
              </a:buClr>
              <a:buSzPct val="50000"/>
              <a:buFont typeface="Wingdings" pitchFamily="2" charset="2"/>
              <a:buChar char="u"/>
              <a:defRPr/>
            </a:pPr>
            <a:r>
              <a:rPr lang="en-US" dirty="0"/>
              <a:t>Identify the major challenges and benefits of each KM process.</a:t>
            </a:r>
          </a:p>
          <a:p>
            <a:pPr marL="342900" indent="-342900" algn="just">
              <a:lnSpc>
                <a:spcPct val="100000"/>
              </a:lnSpc>
              <a:spcBef>
                <a:spcPts val="2400"/>
              </a:spcBef>
              <a:buClr>
                <a:srgbClr val="973735"/>
              </a:buClr>
              <a:buSzPct val="50000"/>
              <a:buFont typeface="Wingdings" pitchFamily="2" charset="2"/>
              <a:buChar char="u"/>
              <a:defRPr/>
            </a:pPr>
            <a:r>
              <a:rPr lang="en-US" dirty="0"/>
              <a:t>Describe the additional challenges posed by global or distributed KM processes.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Summary</a:t>
            </a:r>
          </a:p>
        </p:txBody>
      </p:sp>
    </p:spTree>
    <p:extLst>
      <p:ext uri="{BB962C8B-B14F-4D97-AF65-F5344CB8AC3E}">
        <p14:creationId xmlns:p14="http://schemas.microsoft.com/office/powerpoint/2010/main" val="30924627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49</a:t>
            </a:fld>
            <a:endParaRPr kumimoji="0" lang="en-US" dirty="0"/>
          </a:p>
        </p:txBody>
      </p:sp>
      <p:sp>
        <p:nvSpPr>
          <p:cNvPr id="4" name="Content Placeholder 3"/>
          <p:cNvSpPr>
            <a:spLocks noGrp="1"/>
          </p:cNvSpPr>
          <p:nvPr>
            <p:ph sz="quarter" idx="1"/>
          </p:nvPr>
        </p:nvSpPr>
        <p:spPr>
          <a:xfrm>
            <a:off x="0" y="1714726"/>
            <a:ext cx="11848289" cy="4765973"/>
          </a:xfrm>
        </p:spPr>
        <p:txBody>
          <a:bodyPr>
            <a:normAutofit fontScale="70000" lnSpcReduction="20000"/>
          </a:bodyPr>
          <a:lstStyle/>
          <a:p>
            <a:pPr marL="514350" indent="-514350" algn="just">
              <a:lnSpc>
                <a:spcPct val="120000"/>
              </a:lnSpc>
              <a:spcBef>
                <a:spcPts val="600"/>
              </a:spcBef>
              <a:buClr>
                <a:srgbClr val="973735"/>
              </a:buClr>
              <a:buSzPct val="100000"/>
              <a:buFont typeface="+mj-lt"/>
              <a:buAutoNum type="arabicPeriod"/>
              <a:defRPr/>
            </a:pPr>
            <a:r>
              <a:rPr lang="en-US" dirty="0"/>
              <a:t>Discuss the different KM cycles approaches and how they may be integrated into a comprehensive, integrated approach to the effective management of knowledge within an organization.</a:t>
            </a:r>
          </a:p>
          <a:p>
            <a:pPr marL="514350" indent="-514350" algn="just">
              <a:lnSpc>
                <a:spcPct val="120000"/>
              </a:lnSpc>
              <a:spcBef>
                <a:spcPts val="600"/>
              </a:spcBef>
              <a:buClr>
                <a:srgbClr val="973735"/>
              </a:buClr>
              <a:buSzPct val="100000"/>
              <a:buFont typeface="+mj-lt"/>
              <a:buAutoNum type="arabicPeriod"/>
              <a:defRPr/>
            </a:pPr>
            <a:r>
              <a:rPr lang="en-US" dirty="0"/>
              <a:t>Provide an example of how each of the major KM cycle stages listed below can add value to knowledge and increase the strategic worth of the knowledge asset:</a:t>
            </a:r>
          </a:p>
          <a:p>
            <a:pPr marL="914400" lvl="1" indent="-457200" algn="just">
              <a:lnSpc>
                <a:spcPct val="120000"/>
              </a:lnSpc>
              <a:spcBef>
                <a:spcPts val="600"/>
              </a:spcBef>
              <a:buClr>
                <a:srgbClr val="973735"/>
              </a:buClr>
              <a:buSzPct val="100000"/>
              <a:buFont typeface="+mj-lt"/>
              <a:buAutoNum type="alphaLcParenR"/>
              <a:defRPr/>
            </a:pPr>
            <a:r>
              <a:rPr lang="en-US" dirty="0"/>
              <a:t>Capture</a:t>
            </a:r>
          </a:p>
          <a:p>
            <a:pPr marL="914400" lvl="1" indent="-457200" algn="just">
              <a:lnSpc>
                <a:spcPct val="120000"/>
              </a:lnSpc>
              <a:spcBef>
                <a:spcPts val="600"/>
              </a:spcBef>
              <a:buClr>
                <a:srgbClr val="973735"/>
              </a:buClr>
              <a:buSzPct val="100000"/>
              <a:buFont typeface="+mj-lt"/>
              <a:buAutoNum type="alphaLcParenR"/>
              <a:defRPr/>
            </a:pPr>
            <a:r>
              <a:rPr lang="en-US" dirty="0"/>
              <a:t>Codify</a:t>
            </a:r>
          </a:p>
          <a:p>
            <a:pPr marL="914400" lvl="1" indent="-457200" algn="just">
              <a:lnSpc>
                <a:spcPct val="120000"/>
              </a:lnSpc>
              <a:spcBef>
                <a:spcPts val="600"/>
              </a:spcBef>
              <a:buClr>
                <a:srgbClr val="973735"/>
              </a:buClr>
              <a:buSzPct val="100000"/>
              <a:buFont typeface="+mj-lt"/>
              <a:buAutoNum type="alphaLcParenR"/>
              <a:defRPr/>
            </a:pPr>
            <a:r>
              <a:rPr lang="en-US" dirty="0"/>
              <a:t>Create</a:t>
            </a:r>
          </a:p>
          <a:p>
            <a:pPr marL="914400" lvl="1" indent="-457200" algn="just">
              <a:lnSpc>
                <a:spcPct val="120000"/>
              </a:lnSpc>
              <a:spcBef>
                <a:spcPts val="600"/>
              </a:spcBef>
              <a:buClr>
                <a:srgbClr val="973735"/>
              </a:buClr>
              <a:buSzPct val="100000"/>
              <a:buFont typeface="+mj-lt"/>
              <a:buAutoNum type="alphaLcParenR"/>
              <a:defRPr/>
            </a:pPr>
            <a:r>
              <a:rPr lang="en-US" dirty="0"/>
              <a:t>Share</a:t>
            </a:r>
          </a:p>
          <a:p>
            <a:pPr marL="914400" lvl="1" indent="-457200" algn="just">
              <a:lnSpc>
                <a:spcPct val="120000"/>
              </a:lnSpc>
              <a:spcBef>
                <a:spcPts val="600"/>
              </a:spcBef>
              <a:buClr>
                <a:srgbClr val="973735"/>
              </a:buClr>
              <a:buSzPct val="100000"/>
              <a:buFont typeface="+mj-lt"/>
              <a:buAutoNum type="alphaLcParenR"/>
              <a:defRPr/>
            </a:pPr>
            <a:r>
              <a:rPr lang="en-US" dirty="0"/>
              <a:t>Acquire</a:t>
            </a:r>
          </a:p>
          <a:p>
            <a:pPr marL="914400" lvl="1" indent="-457200" algn="just">
              <a:lnSpc>
                <a:spcPct val="120000"/>
              </a:lnSpc>
              <a:spcBef>
                <a:spcPts val="600"/>
              </a:spcBef>
              <a:buClr>
                <a:srgbClr val="973735"/>
              </a:buClr>
              <a:buSzPct val="100000"/>
              <a:buFont typeface="+mj-lt"/>
              <a:buAutoNum type="alphaLcParenR"/>
              <a:defRPr/>
            </a:pPr>
            <a:r>
              <a:rPr lang="en-US" dirty="0"/>
              <a:t>Apply</a:t>
            </a:r>
          </a:p>
          <a:p>
            <a:pPr marL="514350" indent="-514350" algn="just">
              <a:lnSpc>
                <a:spcPct val="120000"/>
              </a:lnSpc>
              <a:spcBef>
                <a:spcPts val="600"/>
              </a:spcBef>
              <a:buClr>
                <a:srgbClr val="973735"/>
              </a:buClr>
              <a:buSzPct val="100000"/>
              <a:buFont typeface="+mj-lt"/>
              <a:buAutoNum type="arabicPeriod"/>
              <a:defRPr/>
            </a:pPr>
            <a:r>
              <a:rPr lang="en-US" dirty="0"/>
              <a:t>Where are the go/no decisions in KM processes? What types of information would you require  in order to decide whether or not the knowledge content would continue on to the next step of the cycle?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pic>
        <p:nvPicPr>
          <p:cNvPr id="1028" name="Picture 4">
            <a:extLst>
              <a:ext uri="{FF2B5EF4-FFF2-40B4-BE49-F238E27FC236}">
                <a16:creationId xmlns:a16="http://schemas.microsoft.com/office/drawing/2014/main" id="{81EC1E0A-3428-B2A7-C4E0-67CBA31EA6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91472" y="62716"/>
            <a:ext cx="2511561" cy="1157045"/>
          </a:xfrm>
          <a:prstGeom prst="rect">
            <a:avLst/>
          </a:prstGeom>
          <a:noFill/>
          <a:extLst>
            <a:ext uri="{909E8E84-426E-40DD-AFC4-6F175D3DCCD1}">
              <a14:hiddenFill xmlns:a14="http://schemas.microsoft.com/office/drawing/2010/main">
                <a:solidFill>
                  <a:srgbClr val="FFFFFF"/>
                </a:solidFill>
              </a14:hiddenFill>
            </a:ext>
          </a:extLst>
        </p:spPr>
      </p:pic>
      <p:sp>
        <p:nvSpPr>
          <p:cNvPr id="9" name="Oval 8">
            <a:extLst>
              <a:ext uri="{FF2B5EF4-FFF2-40B4-BE49-F238E27FC236}">
                <a16:creationId xmlns:a16="http://schemas.microsoft.com/office/drawing/2014/main" id="{7F57283F-CBFF-0FFF-4765-6CC3D52135E0}"/>
              </a:ext>
            </a:extLst>
          </p:cNvPr>
          <p:cNvSpPr/>
          <p:nvPr/>
        </p:nvSpPr>
        <p:spPr>
          <a:xfrm>
            <a:off x="7104713" y="3905343"/>
            <a:ext cx="4631377"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i="1" dirty="0"/>
              <a:t>will be </a:t>
            </a:r>
            <a:r>
              <a:rPr lang="en-US" b="1" i="1" dirty="0"/>
              <a:t>asked again </a:t>
            </a:r>
            <a:r>
              <a:rPr lang="en-US" i="1" dirty="0"/>
              <a:t>before going through </a:t>
            </a:r>
            <a:r>
              <a:rPr lang="en-US" b="1" i="1" dirty="0"/>
              <a:t>new content</a:t>
            </a:r>
          </a:p>
        </p:txBody>
      </p:sp>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2308</TotalTime>
  <Words>2510</Words>
  <Application>Microsoft Office PowerPoint</Application>
  <PresentationFormat>Widescreen</PresentationFormat>
  <Paragraphs>439</Paragraphs>
  <Slides>49</Slides>
  <Notes>49</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4" baseType="lpstr">
      <vt:lpstr>Arial</vt:lpstr>
      <vt:lpstr>Calibri</vt:lpstr>
      <vt:lpstr>Wingdings</vt:lpstr>
      <vt:lpstr>Office Theme</vt:lpstr>
      <vt:lpstr>Bitmap Image</vt:lpstr>
      <vt:lpstr>Chapter 02  Knowledge Management Processes</vt:lpstr>
      <vt:lpstr>Objectives</vt:lpstr>
      <vt:lpstr>Major Approaches to the KM Cycle</vt:lpstr>
      <vt:lpstr>Major Approaches to the KM Cycle</vt:lpstr>
      <vt:lpstr>Major Approaches to the KM Cycle</vt:lpstr>
      <vt:lpstr>The Meyer and Zack KM Cycle</vt:lpstr>
      <vt:lpstr>The Meyer and Zack KM Cycle</vt:lpstr>
      <vt:lpstr>The Meyer and Zack KM Cycle</vt:lpstr>
      <vt:lpstr>The Meyer and Zack KM Cycle</vt:lpstr>
      <vt:lpstr>Major Approaches to the KM Cycle</vt:lpstr>
      <vt:lpstr>The Bukowitz and Williams KM Cycle</vt:lpstr>
      <vt:lpstr>The Bukowitz and Williams KM Cycle</vt:lpstr>
      <vt:lpstr>The Bukowitz and Williams KM Cycle</vt:lpstr>
      <vt:lpstr>The Bukowitz and Williams KM Cycle</vt:lpstr>
      <vt:lpstr>The Bukowitz and Williams KM Cycle</vt:lpstr>
      <vt:lpstr>Major Approaches to the KM Cycle</vt:lpstr>
      <vt:lpstr>The McElroy KM Cycle</vt:lpstr>
      <vt:lpstr>The McElroy KM Cycle</vt:lpstr>
      <vt:lpstr>The McElroy KM Cycle</vt:lpstr>
      <vt:lpstr>The McElroy KM Cycle</vt:lpstr>
      <vt:lpstr>The McElroy KM Cycle</vt:lpstr>
      <vt:lpstr>Major Approaches to the KM Cycle</vt:lpstr>
      <vt:lpstr>The Wiig KM Cycle</vt:lpstr>
      <vt:lpstr>The Wiig KM Cycle</vt:lpstr>
      <vt:lpstr>The Wiig KM Cycle</vt:lpstr>
      <vt:lpstr>The Wiig KM Cycle</vt:lpstr>
      <vt:lpstr>The Wiig KM Cycle</vt:lpstr>
      <vt:lpstr>The Wiig KM Cycle</vt:lpstr>
      <vt:lpstr>The Wiig KM Cycle</vt:lpstr>
      <vt:lpstr>The Wiig KM Cycle</vt:lpstr>
      <vt:lpstr>The Wiig KM Cycle</vt:lpstr>
      <vt:lpstr>The Wiig KM Cycle</vt:lpstr>
      <vt:lpstr>Major Approaches to the KM Cycle</vt:lpstr>
      <vt:lpstr>The Carlile and Rebentisch Knowledge Transformation Cycle</vt:lpstr>
      <vt:lpstr>The Carlile and Rebentisch Knowledge Transformation Cycle</vt:lpstr>
      <vt:lpstr>Major Approaches to the KM Cycle</vt:lpstr>
      <vt:lpstr>The Evans, Dalkir, and Bidian KM Cycle (KMC)</vt:lpstr>
      <vt:lpstr>The Evans, Dalkir, and Bidian KM Cycle (KMC)</vt:lpstr>
      <vt:lpstr>The Evans, Dalkir, and Bidian KM Cycle (KMC)</vt:lpstr>
      <vt:lpstr>An Integrated KM Cycle</vt:lpstr>
      <vt:lpstr>An Integrated KM Cycle</vt:lpstr>
      <vt:lpstr>An Integrated KM Cycle</vt:lpstr>
      <vt:lpstr>An Integrated KM Cycle</vt:lpstr>
      <vt:lpstr>An Integrated KM Cycle</vt:lpstr>
      <vt:lpstr>Strategic Implications of the KM Cycle</vt:lpstr>
      <vt:lpstr>Strategic Implications of the KM Cycle</vt:lpstr>
      <vt:lpstr>Practical Considerations for Managing Knowledge</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128</cp:revision>
  <dcterms:created xsi:type="dcterms:W3CDTF">2021-01-25T08:25:31Z</dcterms:created>
  <dcterms:modified xsi:type="dcterms:W3CDTF">2023-09-20T21:04:57Z</dcterms:modified>
</cp:coreProperties>
</file>