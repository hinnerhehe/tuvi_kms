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handoutMasterIdLst>
    <p:handoutMasterId r:id="rId16"/>
  </p:handoutMasterIdLst>
  <p:sldIdLst>
    <p:sldId id="256" r:id="rId2"/>
    <p:sldId id="278" r:id="rId3"/>
    <p:sldId id="313" r:id="rId4"/>
    <p:sldId id="266" r:id="rId5"/>
    <p:sldId id="315" r:id="rId6"/>
    <p:sldId id="268" r:id="rId7"/>
    <p:sldId id="269" r:id="rId8"/>
    <p:sldId id="316" r:id="rId9"/>
    <p:sldId id="271" r:id="rId10"/>
    <p:sldId id="272" r:id="rId11"/>
    <p:sldId id="273" r:id="rId12"/>
    <p:sldId id="274" r:id="rId13"/>
    <p:sldId id="276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ED7D31"/>
    <a:srgbClr val="F4AF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31870" autoAdjust="0"/>
    <p:restoredTop sz="64395" autoAdjust="0"/>
  </p:normalViewPr>
  <p:slideViewPr>
    <p:cSldViewPr snapToGrid="0">
      <p:cViewPr varScale="1">
        <p:scale>
          <a:sx n="79" d="100"/>
          <a:sy n="79" d="100"/>
        </p:scale>
        <p:origin x="72" y="269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949DFF5-E44F-48DD-8FAD-EF15CFF7F474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9431253-AA71-4F4F-9BF6-D6DC574A3AA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680544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917A13E-60FF-453F-B712-D9BBD0C85FA1}" type="datetimeFigureOut">
              <a:rPr lang="en-US" smtClean="0"/>
              <a:t>9/21/2023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D46C0E5-5FD0-48D4-A8DC-2438934292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1298284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986068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968809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b="1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31630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510795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1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741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025743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1945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261761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4933914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048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737425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2531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5024632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54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3555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5766714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79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9421463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5603" name="Rectangle 3"/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4817314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D46C0E5-5FD0-48D4-A8DC-243893429241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52255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712068"/>
            <a:ext cx="9144000" cy="1797894"/>
          </a:xfrm>
          <a:solidFill>
            <a:schemeClr val="accent2"/>
          </a:solidFill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227414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10" name="TextBox 9"/>
          <p:cNvSpPr txBox="1"/>
          <p:nvPr userDrawn="1"/>
        </p:nvSpPr>
        <p:spPr>
          <a:xfrm>
            <a:off x="0" y="6548843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pic>
        <p:nvPicPr>
          <p:cNvPr id="11" name="Picture 1">
            <a:extLst>
              <a:ext uri="{FF2B5EF4-FFF2-40B4-BE49-F238E27FC236}">
                <a16:creationId xmlns:a16="http://schemas.microsoft.com/office/drawing/2014/main" id="{7B940385-AA87-4844-88A2-440B6F604A02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182835" cy="57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120955161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/>
          <p:cNvSpPr txBox="1"/>
          <p:nvPr userDrawn="1"/>
        </p:nvSpPr>
        <p:spPr>
          <a:xfrm>
            <a:off x="0" y="6461294"/>
            <a:ext cx="12192000" cy="403934"/>
          </a:xfrm>
          <a:prstGeom prst="rect">
            <a:avLst/>
          </a:prstGeom>
          <a:solidFill>
            <a:schemeClr val="accent2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solidFill>
            <a:schemeClr val="bg1"/>
          </a:solidFill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64093" y="1900322"/>
            <a:ext cx="10515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8686060" y="6480700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CC0149FD-98BB-4821-915B-09C9BFE4B727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3" name="TextBox 12"/>
          <p:cNvSpPr txBox="1"/>
          <p:nvPr userDrawn="1"/>
        </p:nvSpPr>
        <p:spPr>
          <a:xfrm>
            <a:off x="1" y="600803"/>
            <a:ext cx="207390" cy="973473"/>
          </a:xfrm>
          <a:prstGeom prst="rect">
            <a:avLst/>
          </a:prstGeom>
          <a:solidFill>
            <a:srgbClr val="F4AF80"/>
          </a:solidFill>
        </p:spPr>
        <p:txBody>
          <a:bodyPr wrap="square" rtlCol="0">
            <a:spAutoFit/>
          </a:bodyPr>
          <a:lstStyle/>
          <a:p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38200" y="6480699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17256740-3DC7-40BE-968F-29F94186F3AD}" type="datetime1">
              <a:rPr lang="vi-VN" smtClean="0"/>
              <a:t>21/09/2023</a:t>
            </a:fld>
            <a:endParaRPr lang="en-US"/>
          </a:p>
        </p:txBody>
      </p:sp>
      <p:pic>
        <p:nvPicPr>
          <p:cNvPr id="5" name="Picture 1">
            <a:extLst>
              <a:ext uri="{FF2B5EF4-FFF2-40B4-BE49-F238E27FC236}">
                <a16:creationId xmlns:a16="http://schemas.microsoft.com/office/drawing/2014/main" id="{D22FAF35-52A8-2DA2-31D9-2A3BCB165188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0" y="0"/>
            <a:ext cx="1182835" cy="5754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</p:spTree>
    <p:extLst>
      <p:ext uri="{BB962C8B-B14F-4D97-AF65-F5344CB8AC3E}">
        <p14:creationId xmlns:p14="http://schemas.microsoft.com/office/powerpoint/2010/main" val="23622277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0848059-8CC8-4876-B763-1BEA3FA0F124}" type="datetime1">
              <a:rPr lang="vi-VN" smtClean="0"/>
              <a:t>21/09/2023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90805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B3963C-A6AA-4DDF-B85B-BE123D65B285}" type="datetime1">
              <a:rPr lang="vi-VN" smtClean="0"/>
              <a:t>21/09/2023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011258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F11605-F8CD-44C6-A79B-BEBA9358497C}" type="datetime1">
              <a:rPr lang="vi-VN" smtClean="0"/>
              <a:t>21/09/2023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05491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73410B-B6B3-4AF4-A9DB-DC0340309754}" type="datetime1">
              <a:rPr lang="vi-VN" smtClean="0"/>
              <a:t>21/09/2023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1305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75606E5-9CA3-4971-89BF-F965F9043882}" type="datetime1">
              <a:rPr lang="vi-VN" smtClean="0"/>
              <a:t>21/09/2023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044466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4316FA-E3CF-4C73-A815-C13A824B339A}" type="datetime1">
              <a:rPr lang="vi-VN" smtClean="0"/>
              <a:t>21/09/2023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07580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C6D87B-52FF-4B7F-A538-F746ED572E26}" type="datetime1">
              <a:rPr lang="vi-VN" smtClean="0"/>
              <a:t>21/09/2023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4117770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01C2434-2AF2-4BF2-BD0B-95CBD5EB0128}" type="datetime1">
              <a:rPr lang="vi-VN" smtClean="0"/>
              <a:t>21/09/2023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04434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576082-5D4E-4969-8016-69F376C871AD}" type="datetime1">
              <a:rPr lang="vi-VN" smtClean="0"/>
              <a:t>21/09/2023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2559533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E8BA729-DBE2-49EE-91FE-3D8B2D9BF9AB}" type="datetime1">
              <a:rPr lang="vi-VN" smtClean="0"/>
              <a:t>21/09/2023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Course Introduction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B691216-F62E-4FB8-B968-3BF60F6CBEA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7846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59837" y="2241457"/>
            <a:ext cx="11094098" cy="1789121"/>
          </a:xfr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</p:spPr>
        <p:txBody>
          <a:bodyPr anchor="ctr">
            <a:normAutofit/>
          </a:bodyPr>
          <a:lstStyle/>
          <a:p>
            <a:r>
              <a:rPr lang="en-US" altLang="ko-KR" sz="4400" b="1" dirty="0">
                <a:solidFill>
                  <a:schemeClr val="accent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Knowledge Management System</a:t>
            </a:r>
            <a:endParaRPr lang="en-US" sz="4400" b="1" dirty="0">
              <a:solidFill>
                <a:schemeClr val="accent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753910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2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714726"/>
            <a:ext cx="12002308" cy="4322181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>
                <a:solidFill>
                  <a:srgbClr val="ED7D31"/>
                </a:solidFill>
              </a:rPr>
              <a:t>KMS301	Knowledge management system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DSS301	Decision Support Systems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BPS301	Business Process Management Systems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SCT301	Supply Chain Management Technologies</a:t>
            </a:r>
          </a:p>
          <a:p>
            <a:pPr marL="342900" indent="-342900" algn="just">
              <a:lnSpc>
                <a:spcPct val="15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dirty="0"/>
              <a:t>FIN202	Principles of Corporate Finance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25307F-F5C2-45A6-A2FA-3E172454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/>
          </a:bodyPr>
          <a:lstStyle/>
          <a:p>
            <a:r>
              <a:rPr lang="en-US" sz="4000" b="1" dirty="0"/>
              <a:t>Enterprise information system (Combo)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lide Number Placeholder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3</a:t>
            </a:fld>
            <a:endParaRPr kumimoji="0"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"/>
          </p:nvPr>
        </p:nvSpPr>
        <p:spPr>
          <a:xfrm>
            <a:off x="0" y="1714726"/>
            <a:ext cx="12002308" cy="4322181"/>
          </a:xfrm>
        </p:spPr>
        <p:txBody>
          <a:bodyPr>
            <a:normAutofit/>
          </a:bodyPr>
          <a:lstStyle/>
          <a:p>
            <a:pPr marL="0" indent="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None/>
              <a:defRPr/>
            </a:pPr>
            <a:r>
              <a:rPr lang="en-US" dirty="0"/>
              <a:t>This course will focus on two main contents </a:t>
            </a:r>
          </a:p>
          <a:p>
            <a:pPr marL="342900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b="1" dirty="0"/>
              <a:t>Knowledge management: </a:t>
            </a:r>
            <a:r>
              <a:rPr lang="en-US" dirty="0"/>
              <a:t>content provides students with knowledge of concepts, processes, techniques, and issues related to knowledge management. </a:t>
            </a:r>
          </a:p>
          <a:p>
            <a:pPr marL="342900" indent="-342900" algn="just">
              <a:lnSpc>
                <a:spcPct val="100000"/>
              </a:lnSpc>
              <a:spcBef>
                <a:spcPts val="24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b="1" dirty="0"/>
              <a:t>Enterprise knowledge management system: </a:t>
            </a:r>
            <a:r>
              <a:rPr lang="en-US" dirty="0"/>
              <a:t>content provide students with the concepts, structure, how to build and manage knowledge management system in the enterprise. </a:t>
            </a:r>
          </a:p>
        </p:txBody>
      </p:sp>
      <p:sp>
        <p:nvSpPr>
          <p:cNvPr id="6" name="Date Placeholder 5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43E35A-32B4-4028-AAD8-94CFE64C1CBA}" type="datetime1">
              <a:rPr lang="vi-VN" smtClean="0"/>
              <a:t>21/09/2023</a:t>
            </a:fld>
            <a:endParaRPr lang="en-US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F425307F-F5C2-45A6-A2FA-3E17245429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517" y="674951"/>
            <a:ext cx="10515600" cy="709226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KMS301	- Knowledge management system</a:t>
            </a:r>
          </a:p>
        </p:txBody>
      </p:sp>
    </p:spTree>
    <p:extLst>
      <p:ext uri="{BB962C8B-B14F-4D97-AF65-F5344CB8AC3E}">
        <p14:creationId xmlns:p14="http://schemas.microsoft.com/office/powerpoint/2010/main" val="11730215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49934" y="677471"/>
            <a:ext cx="10806720" cy="748017"/>
          </a:xfrm>
        </p:spPr>
        <p:txBody>
          <a:bodyPr>
            <a:normAutofit/>
          </a:bodyPr>
          <a:lstStyle/>
          <a:p>
            <a:r>
              <a:rPr lang="en-US" sz="4000" b="1" dirty="0"/>
              <a:t>Course Objectives 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-27990" y="1748118"/>
            <a:ext cx="12092473" cy="4816557"/>
          </a:xfrm>
        </p:spPr>
        <p:txBody>
          <a:bodyPr>
            <a:normAutofit/>
          </a:bodyPr>
          <a:lstStyle/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/>
              <a:defRPr/>
            </a:pPr>
            <a:r>
              <a:rPr lang="en-US" sz="2400" dirty="0">
                <a:latin typeface="+mj-lt"/>
              </a:rPr>
              <a:t>Introduction to Knowledge Management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/>
              <a:defRPr/>
            </a:pPr>
            <a:r>
              <a:rPr lang="en-US" sz="2400" dirty="0">
                <a:latin typeface="+mj-lt"/>
              </a:rPr>
              <a:t>Knowledge Management Processes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/>
              <a:defRPr/>
            </a:pPr>
            <a:r>
              <a:rPr lang="en-US" sz="2400" dirty="0">
                <a:latin typeface="+mj-lt"/>
              </a:rPr>
              <a:t>Knowledge Management Models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/>
              <a:defRPr/>
            </a:pPr>
            <a:r>
              <a:rPr lang="en-US" sz="2400" dirty="0">
                <a:latin typeface="+mj-lt"/>
              </a:rPr>
              <a:t>Knowledge Capture and Codification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/>
              <a:defRPr/>
            </a:pPr>
            <a:r>
              <a:rPr lang="en-US" sz="2400" dirty="0">
                <a:latin typeface="+mj-lt"/>
              </a:rPr>
              <a:t>Knowledge Sharing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/>
              <a:defRPr/>
            </a:pPr>
            <a:r>
              <a:rPr lang="en-US" sz="2400" dirty="0">
                <a:latin typeface="+mj-lt"/>
              </a:rPr>
              <a:t>Finding Knowledge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/>
              <a:defRPr/>
            </a:pPr>
            <a:r>
              <a:rPr lang="en-US" sz="2400" dirty="0">
                <a:latin typeface="+mj-lt"/>
              </a:rPr>
              <a:t>Organizational Culture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endParaRPr lang="en-US" sz="2600" dirty="0">
              <a:latin typeface="+mj-lt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4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25C5-B2EF-4E6F-A1DB-F1803A7D3906}" type="datetime1">
              <a:rPr lang="vi-VN" smtClean="0"/>
              <a:t>21/09/2023</a:t>
            </a:fld>
            <a:endParaRPr lang="en-US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/>
          </p:cNvSpPr>
          <p:nvPr>
            <p:ph type="title"/>
          </p:nvPr>
        </p:nvSpPr>
        <p:spPr>
          <a:xfrm>
            <a:off x="349934" y="677471"/>
            <a:ext cx="10806720" cy="748017"/>
          </a:xfrm>
        </p:spPr>
        <p:txBody>
          <a:bodyPr>
            <a:normAutofit/>
          </a:bodyPr>
          <a:lstStyle/>
          <a:p>
            <a:r>
              <a:rPr lang="en-US" sz="4000" b="1" dirty="0"/>
              <a:t>Course Objectives </a:t>
            </a:r>
          </a:p>
        </p:txBody>
      </p:sp>
      <p:sp>
        <p:nvSpPr>
          <p:cNvPr id="18435" name="Rectangle 3"/>
          <p:cNvSpPr>
            <a:spLocks noGrp="1"/>
          </p:cNvSpPr>
          <p:nvPr>
            <p:ph idx="1"/>
          </p:nvPr>
        </p:nvSpPr>
        <p:spPr>
          <a:xfrm>
            <a:off x="-27990" y="1721223"/>
            <a:ext cx="12092473" cy="4924134"/>
          </a:xfrm>
        </p:spPr>
        <p:txBody>
          <a:bodyPr>
            <a:normAutofit/>
          </a:bodyPr>
          <a:lstStyle/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 startAt="8"/>
              <a:defRPr/>
            </a:pPr>
            <a:r>
              <a:rPr lang="en-US" sz="2400" dirty="0">
                <a:latin typeface="+mj-lt"/>
              </a:rPr>
              <a:t>Knowledge Management Tools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 startAt="8"/>
              <a:defRPr/>
            </a:pPr>
            <a:r>
              <a:rPr lang="en-US" sz="2400" dirty="0">
                <a:latin typeface="+mj-lt"/>
              </a:rPr>
              <a:t>Knowledge Management Strategy and Planning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 startAt="8"/>
              <a:defRPr/>
            </a:pPr>
            <a:r>
              <a:rPr lang="en-US" sz="2400" dirty="0">
                <a:latin typeface="+mj-lt"/>
              </a:rPr>
              <a:t>Evaluating Knowledge Management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 startAt="8"/>
              <a:defRPr/>
            </a:pPr>
            <a:r>
              <a:rPr lang="en-US" sz="2400" dirty="0">
                <a:latin typeface="+mj-lt"/>
              </a:rPr>
              <a:t>Organizational Learning and Organizational Memory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 startAt="8"/>
              <a:defRPr/>
            </a:pPr>
            <a:r>
              <a:rPr lang="en-US" sz="2400" dirty="0">
                <a:latin typeface="+mj-lt"/>
              </a:rPr>
              <a:t>Knowledge Continuity Management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 startAt="8"/>
              <a:defRPr/>
            </a:pPr>
            <a:r>
              <a:rPr lang="en-US" sz="2400" dirty="0">
                <a:latin typeface="+mj-lt"/>
              </a:rPr>
              <a:t>The Knowledge Management Team</a:t>
            </a:r>
          </a:p>
          <a:p>
            <a:pPr marL="1428750" lvl="2" indent="-514350" algn="just">
              <a:lnSpc>
                <a:spcPct val="100000"/>
              </a:lnSpc>
              <a:spcBef>
                <a:spcPts val="1800"/>
              </a:spcBef>
              <a:spcAft>
                <a:spcPts val="600"/>
              </a:spcAft>
              <a:buClr>
                <a:srgbClr val="973735"/>
              </a:buClr>
              <a:buSzPct val="100000"/>
              <a:buFont typeface="+mj-lt"/>
              <a:buAutoNum type="arabicPeriod" startAt="8"/>
              <a:defRPr/>
            </a:pPr>
            <a:r>
              <a:rPr lang="en-US" sz="2400" dirty="0">
                <a:latin typeface="+mj-lt"/>
              </a:rPr>
              <a:t>Future Challenges for Knowledge Management</a:t>
            </a:r>
          </a:p>
          <a:p>
            <a:pPr marL="342900" indent="-342900" algn="just">
              <a:lnSpc>
                <a:spcPct val="110000"/>
              </a:lnSpc>
              <a:spcBef>
                <a:spcPts val="600"/>
              </a:spcBef>
              <a:spcAft>
                <a:spcPts val="600"/>
              </a:spcAft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endParaRPr lang="en-US" sz="2600" dirty="0">
              <a:latin typeface="+mj-lt"/>
              <a:cs typeface="Times New Roman" pitchFamily="18" charset="0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5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F7325C5-B2EF-4E6F-A1DB-F1803A7D3906}" type="datetime1">
              <a:rPr lang="vi-VN" smtClean="0"/>
              <a:t>21/09/2023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826723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7" dur="500"/>
                                        <p:tgtEl>
                                          <p:spTgt spid="1843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0" dur="500"/>
                                        <p:tgtEl>
                                          <p:spTgt spid="18435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3" dur="500"/>
                                        <p:tgtEl>
                                          <p:spTgt spid="1843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6" dur="500"/>
                                        <p:tgtEl>
                                          <p:spTgt spid="1843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19" dur="500"/>
                                        <p:tgtEl>
                                          <p:spTgt spid="1843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2" dur="500"/>
                                        <p:tgtEl>
                                          <p:spTgt spid="1843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4" presetClass="entr" presetSubtype="16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ox(in)">
                                      <p:cBhvr>
                                        <p:cTn id="25" dur="500"/>
                                        <p:tgtEl>
                                          <p:spTgt spid="1843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/>
          <p:cNvSpPr>
            <a:spLocks noGrp="1"/>
          </p:cNvSpPr>
          <p:nvPr>
            <p:ph type="title"/>
          </p:nvPr>
        </p:nvSpPr>
        <p:spPr>
          <a:xfrm>
            <a:off x="384345" y="701020"/>
            <a:ext cx="10515600" cy="859993"/>
          </a:xfrm>
        </p:spPr>
        <p:txBody>
          <a:bodyPr>
            <a:normAutofit/>
          </a:bodyPr>
          <a:lstStyle/>
          <a:p>
            <a:r>
              <a:rPr lang="en-US" sz="4000" b="1" dirty="0"/>
              <a:t>Course Plan</a:t>
            </a:r>
          </a:p>
        </p:txBody>
      </p:sp>
      <p:sp>
        <p:nvSpPr>
          <p:cNvPr id="6147" name="Rectangle 3"/>
          <p:cNvSpPr>
            <a:spLocks noGrp="1"/>
          </p:cNvSpPr>
          <p:nvPr>
            <p:ph idx="1"/>
          </p:nvPr>
        </p:nvSpPr>
        <p:spPr>
          <a:xfrm>
            <a:off x="838200" y="2930317"/>
            <a:ext cx="10515600" cy="859993"/>
          </a:xfrm>
        </p:spPr>
        <p:txBody>
          <a:bodyPr/>
          <a:lstStyle/>
          <a:p>
            <a:pPr algn="ctr" eaLnBrk="1" hangingPunct="1">
              <a:lnSpc>
                <a:spcPct val="125000"/>
              </a:lnSpc>
              <a:spcBef>
                <a:spcPct val="40000"/>
              </a:spcBef>
              <a:buFont typeface="Wingdings" pitchFamily="2" charset="2"/>
              <a:buNone/>
            </a:pPr>
            <a:r>
              <a:rPr lang="en-US" sz="4000" b="1" dirty="0">
                <a:solidFill>
                  <a:srgbClr val="ED7D31"/>
                </a:solidFill>
                <a:latin typeface="+mj-lt"/>
                <a:ea typeface="+mj-ea"/>
                <a:cs typeface="+mj-cs"/>
              </a:rPr>
              <a:t>See course plan on flm.fpt.edu.vn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6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D186F14-D1B8-4E91-9B55-814C132BACE7}" type="datetime1">
              <a:rPr lang="vi-VN" smtClean="0"/>
              <a:t>21/09/2023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286325" y="638360"/>
            <a:ext cx="10515600" cy="833360"/>
          </a:xfrm>
        </p:spPr>
        <p:txBody>
          <a:bodyPr>
            <a:normAutofit/>
          </a:bodyPr>
          <a:lstStyle/>
          <a:p>
            <a:r>
              <a:rPr lang="en-US" sz="4000" b="1" dirty="0"/>
              <a:t>Materials/ References</a:t>
            </a: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640888" y="1805430"/>
            <a:ext cx="10651431" cy="4414209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600" b="1" dirty="0">
                <a:solidFill>
                  <a:srgbClr val="ED7D31"/>
                </a:solidFill>
                <a:latin typeface="+mj-lt"/>
              </a:rPr>
              <a:t>Document</a:t>
            </a:r>
          </a:p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600" b="1" dirty="0">
                <a:latin typeface="+mj-lt"/>
              </a:rPr>
              <a:t>Knowledge Management in Theory and Practice </a:t>
            </a:r>
            <a:r>
              <a:rPr lang="en-US" sz="2600" dirty="0">
                <a:solidFill>
                  <a:srgbClr val="ED7D31"/>
                </a:solidFill>
                <a:latin typeface="+mj-lt"/>
              </a:rPr>
              <a:t>(main)</a:t>
            </a:r>
          </a:p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600" dirty="0">
                <a:latin typeface="+mj-lt"/>
              </a:rPr>
              <a:t>ISBN: 978-0262036870</a:t>
            </a:r>
          </a:p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endParaRPr lang="en-US" sz="2600" dirty="0">
              <a:latin typeface="+mj-lt"/>
            </a:endParaRPr>
          </a:p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600" b="1" dirty="0">
                <a:latin typeface="+mj-lt"/>
              </a:rPr>
              <a:t>Knowledge Management Systems and Processes</a:t>
            </a:r>
          </a:p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600" dirty="0">
                <a:latin typeface="+mj-lt"/>
              </a:rPr>
              <a:t>ISBN: 978-0765639158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7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1C4B-080F-4B30-AF8C-8D3C18E4401C}" type="datetime1">
              <a:rPr lang="vi-VN" smtClean="0"/>
              <a:t>21/09/2023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/>
          </p:cNvSpPr>
          <p:nvPr>
            <p:ph type="title"/>
          </p:nvPr>
        </p:nvSpPr>
        <p:spPr>
          <a:xfrm>
            <a:off x="286325" y="638360"/>
            <a:ext cx="10515600" cy="833360"/>
          </a:xfrm>
        </p:spPr>
        <p:txBody>
          <a:bodyPr>
            <a:normAutofit/>
          </a:bodyPr>
          <a:lstStyle/>
          <a:p>
            <a:r>
              <a:rPr lang="en-US" sz="4000" b="1" dirty="0"/>
              <a:t>Materials/ References</a:t>
            </a:r>
          </a:p>
        </p:txBody>
      </p:sp>
      <p:sp>
        <p:nvSpPr>
          <p:cNvPr id="7171" name="Rectangle 3"/>
          <p:cNvSpPr>
            <a:spLocks noGrp="1"/>
          </p:cNvSpPr>
          <p:nvPr>
            <p:ph idx="1"/>
          </p:nvPr>
        </p:nvSpPr>
        <p:spPr>
          <a:xfrm>
            <a:off x="640888" y="1805430"/>
            <a:ext cx="10651431" cy="4414209"/>
          </a:xfrm>
        </p:spPr>
        <p:txBody>
          <a:bodyPr>
            <a:noAutofit/>
          </a:bodyPr>
          <a:lstStyle/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600" b="1" dirty="0">
                <a:solidFill>
                  <a:srgbClr val="ED7D31"/>
                </a:solidFill>
                <a:latin typeface="+mj-lt"/>
              </a:rPr>
              <a:t>Tools</a:t>
            </a:r>
          </a:p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600" dirty="0">
                <a:latin typeface="+mj-lt"/>
              </a:rPr>
              <a:t>Microsoft office for documents and presentation.</a:t>
            </a:r>
          </a:p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600" dirty="0" err="1">
                <a:latin typeface="+mj-lt"/>
              </a:rPr>
              <a:t>Mindmapping</a:t>
            </a:r>
            <a:r>
              <a:rPr lang="en-US" sz="2600" dirty="0">
                <a:latin typeface="+mj-lt"/>
              </a:rPr>
              <a:t> tool, visual mapping tools.</a:t>
            </a:r>
          </a:p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r>
              <a:rPr lang="en-US" sz="2600" dirty="0">
                <a:latin typeface="+mj-lt"/>
              </a:rPr>
              <a:t>Weka software</a:t>
            </a:r>
          </a:p>
          <a:p>
            <a:pPr marL="0" indent="0" algn="just" eaLnBrk="1" hangingPunct="1">
              <a:lnSpc>
                <a:spcPct val="100000"/>
              </a:lnSpc>
              <a:spcBef>
                <a:spcPts val="600"/>
              </a:spcBef>
              <a:buNone/>
              <a:defRPr/>
            </a:pPr>
            <a:endParaRPr lang="en-US" sz="2600" dirty="0">
              <a:latin typeface="+mj-lt"/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8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2D1C4B-080F-4B30-AF8C-8D3C18E4401C}" type="datetime1">
              <a:rPr lang="vi-VN" smtClean="0"/>
              <a:t>21/09/2023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609232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/>
          <p:cNvSpPr>
            <a:spLocks noGrp="1"/>
          </p:cNvSpPr>
          <p:nvPr>
            <p:ph type="title"/>
          </p:nvPr>
        </p:nvSpPr>
        <p:spPr>
          <a:xfrm>
            <a:off x="315508" y="782374"/>
            <a:ext cx="10515600" cy="477257"/>
          </a:xfrm>
        </p:spPr>
        <p:txBody>
          <a:bodyPr>
            <a:normAutofit fontScale="90000"/>
          </a:bodyPr>
          <a:lstStyle/>
          <a:p>
            <a:r>
              <a:rPr lang="en-US" sz="4000" b="1" dirty="0"/>
              <a:t>Course Rules</a:t>
            </a:r>
          </a:p>
        </p:txBody>
      </p:sp>
      <p:sp>
        <p:nvSpPr>
          <p:cNvPr id="9219" name="Rectangle 3"/>
          <p:cNvSpPr>
            <a:spLocks noGrp="1"/>
          </p:cNvSpPr>
          <p:nvPr>
            <p:ph idx="1"/>
          </p:nvPr>
        </p:nvSpPr>
        <p:spPr>
          <a:xfrm>
            <a:off x="726055" y="1397553"/>
            <a:ext cx="11142484" cy="4945225"/>
          </a:xfrm>
        </p:spPr>
        <p:txBody>
          <a:bodyPr>
            <a:normAutofit fontScale="70000" lnSpcReduction="20000"/>
          </a:bodyPr>
          <a:lstStyle/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4000" b="1" dirty="0">
                <a:latin typeface="+mj-lt"/>
                <a:cs typeface="Times New Roman" pitchFamily="18" charset="0"/>
              </a:rPr>
              <a:t>How to conduct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Prepare contents of the next session at home 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Present lessons in classroom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Completing chapter assessments in time and Quizzes (via FAP)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b="1" i="1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Write reports</a:t>
            </a:r>
            <a:r>
              <a:rPr lang="en-US" sz="3200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 </a:t>
            </a:r>
            <a:r>
              <a:rPr lang="en-US" sz="3200" dirty="0">
                <a:latin typeface="+mj-lt"/>
                <a:cs typeface="Times New Roman" pitchFamily="18" charset="0"/>
              </a:rPr>
              <a:t>of all assignments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4000" b="1" dirty="0">
                <a:latin typeface="+mj-lt"/>
                <a:cs typeface="Times New Roman" pitchFamily="18" charset="0"/>
              </a:rPr>
              <a:t>Communication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Class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Discussing actively in your team and classroom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Free to question and answer</a:t>
            </a:r>
          </a:p>
          <a:p>
            <a:pPr marL="342900" indent="-342900">
              <a:lnSpc>
                <a:spcPct val="12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4000" b="1" dirty="0">
                <a:latin typeface="+mj-lt"/>
                <a:cs typeface="Times New Roman" pitchFamily="18" charset="0"/>
              </a:rPr>
              <a:t>Others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Off phone, no game, no chat in class</a:t>
            </a:r>
          </a:p>
          <a:p>
            <a:pPr lvl="1" algn="just">
              <a:lnSpc>
                <a:spcPct val="11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3200" dirty="0">
                <a:latin typeface="+mj-lt"/>
                <a:cs typeface="Times New Roman" pitchFamily="18" charset="0"/>
              </a:rPr>
              <a:t>Use laptop under teacher’s instruction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9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3CB313-35E1-4FDC-A14F-8C7B2ECA302E}" type="datetime1">
              <a:rPr lang="vi-VN" smtClean="0"/>
              <a:t>21/09/2023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/>
          </p:cNvSpPr>
          <p:nvPr>
            <p:ph type="title"/>
          </p:nvPr>
        </p:nvSpPr>
        <p:spPr>
          <a:xfrm>
            <a:off x="274668" y="703819"/>
            <a:ext cx="10515600" cy="611418"/>
          </a:xfrm>
        </p:spPr>
        <p:txBody>
          <a:bodyPr>
            <a:noAutofit/>
          </a:bodyPr>
          <a:lstStyle/>
          <a:p>
            <a:r>
              <a:rPr lang="en-US" sz="4000" b="1" dirty="0"/>
              <a:t>Evaluation Strategy </a:t>
            </a:r>
          </a:p>
        </p:txBody>
      </p:sp>
      <p:sp>
        <p:nvSpPr>
          <p:cNvPr id="10243" name="Rectangle 3"/>
          <p:cNvSpPr>
            <a:spLocks noGrp="1"/>
          </p:cNvSpPr>
          <p:nvPr>
            <p:ph idx="1"/>
          </p:nvPr>
        </p:nvSpPr>
        <p:spPr>
          <a:xfrm>
            <a:off x="406121" y="1610294"/>
            <a:ext cx="11575210" cy="5018322"/>
          </a:xfrm>
        </p:spPr>
        <p:txBody>
          <a:bodyPr>
            <a:no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400" dirty="0">
                <a:latin typeface="+mj-lt"/>
                <a:cs typeface="Times New Roman" pitchFamily="18" charset="0"/>
              </a:rPr>
              <a:t>Must attend more than 80% of contact hours (if not, not allow to take exam).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400" b="1" dirty="0">
                <a:latin typeface="+mj-lt"/>
                <a:cs typeface="Times New Roman" pitchFamily="18" charset="0"/>
              </a:rPr>
              <a:t>Evaluating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cs typeface="Times New Roman" pitchFamily="18" charset="0"/>
              </a:rPr>
              <a:t>Progress Test 1 </a:t>
            </a:r>
            <a:r>
              <a:rPr lang="en-US" b="1" dirty="0">
                <a:latin typeface="+mj-lt"/>
                <a:cs typeface="Times New Roman" pitchFamily="18" charset="0"/>
              </a:rPr>
              <a:t> 	(10%)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cs typeface="Times New Roman" pitchFamily="18" charset="0"/>
              </a:rPr>
              <a:t>Assignment 1 		(</a:t>
            </a:r>
            <a:r>
              <a:rPr lang="en-US" b="1" dirty="0">
                <a:latin typeface="+mj-lt"/>
                <a:cs typeface="Times New Roman" pitchFamily="18" charset="0"/>
              </a:rPr>
              <a:t>20%)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cs typeface="Times New Roman" pitchFamily="18" charset="0"/>
              </a:rPr>
              <a:t>Progress Test 2 </a:t>
            </a:r>
            <a:r>
              <a:rPr lang="en-US" b="1" dirty="0">
                <a:latin typeface="+mj-lt"/>
                <a:cs typeface="Times New Roman" pitchFamily="18" charset="0"/>
              </a:rPr>
              <a:t> 	(10%)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cs typeface="Times New Roman" pitchFamily="18" charset="0"/>
              </a:rPr>
              <a:t>Assignment 2 		(</a:t>
            </a:r>
            <a:r>
              <a:rPr lang="en-US" b="1" dirty="0">
                <a:latin typeface="+mj-lt"/>
                <a:cs typeface="Times New Roman" pitchFamily="18" charset="0"/>
              </a:rPr>
              <a:t>20%)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latin typeface="+mj-lt"/>
                <a:cs typeface="Times New Roman" pitchFamily="18" charset="0"/>
              </a:rPr>
              <a:t>Final Exam 		</a:t>
            </a:r>
            <a:r>
              <a:rPr lang="en-US" b="1" dirty="0">
                <a:latin typeface="+mj-lt"/>
                <a:cs typeface="Times New Roman" pitchFamily="18" charset="0"/>
              </a:rPr>
              <a:t>(FE, 40%)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400" b="1" dirty="0">
                <a:latin typeface="+mj-lt"/>
                <a:cs typeface="Times New Roman" pitchFamily="18" charset="0"/>
              </a:rPr>
              <a:t>Pass: 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Every on-going assessment component &gt; 0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FF0000"/>
                </a:solidFill>
                <a:latin typeface="+mj-lt"/>
                <a:cs typeface="Times New Roman" pitchFamily="18" charset="0"/>
              </a:rPr>
              <a:t>Final Exam Score &gt;= 4 and Final Result  &gt;= 5 </a:t>
            </a:r>
          </a:p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400" b="1" dirty="0">
                <a:latin typeface="+mj-lt"/>
                <a:cs typeface="Times New Roman" pitchFamily="18" charset="0"/>
              </a:rPr>
              <a:t>Final exam retake only when not passed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10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16FB9-B064-4103-8E70-18B9FA4E7E15}" type="datetime1">
              <a:rPr lang="vi-VN" smtClean="0"/>
              <a:t>21/09/2023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/>
          <p:cNvSpPr>
            <a:spLocks noGrp="1"/>
          </p:cNvSpPr>
          <p:nvPr>
            <p:ph type="title"/>
          </p:nvPr>
        </p:nvSpPr>
        <p:spPr>
          <a:xfrm>
            <a:off x="305300" y="733137"/>
            <a:ext cx="10515600" cy="477118"/>
          </a:xfrm>
        </p:spPr>
        <p:txBody>
          <a:bodyPr>
            <a:noAutofit/>
          </a:bodyPr>
          <a:lstStyle/>
          <a:p>
            <a:r>
              <a:rPr lang="en-US" sz="4000" b="1" dirty="0"/>
              <a:t>How to study</a:t>
            </a:r>
          </a:p>
        </p:txBody>
      </p:sp>
      <p:sp>
        <p:nvSpPr>
          <p:cNvPr id="11267" name="Rectangle 3"/>
          <p:cNvSpPr>
            <a:spLocks noGrp="1"/>
          </p:cNvSpPr>
          <p:nvPr>
            <p:ph idx="1"/>
          </p:nvPr>
        </p:nvSpPr>
        <p:spPr>
          <a:xfrm>
            <a:off x="94129" y="1485189"/>
            <a:ext cx="11954436" cy="4995510"/>
          </a:xfrm>
        </p:spPr>
        <p:txBody>
          <a:bodyPr>
            <a:noAutofit/>
          </a:bodyPr>
          <a:lstStyle/>
          <a:p>
            <a:pPr lvl="1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j-lt"/>
                <a:cs typeface="Times New Roman" pitchFamily="18" charset="0"/>
              </a:rPr>
              <a:t>Read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On the books to get the general concept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Reference, study, collection from anywhere else (internet, your classmate, forum …)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j-lt"/>
                <a:cs typeface="Times New Roman" pitchFamily="18" charset="0"/>
              </a:rPr>
              <a:t>Attend lectures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Listen, understand, then make your notes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Give your explanation about some topic in lectures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Ask questions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Give some examples that do not exist in your book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en-US" dirty="0">
                <a:latin typeface="+mj-lt"/>
                <a:cs typeface="Times New Roman" pitchFamily="18" charset="0"/>
              </a:rPr>
              <a:t>Practice all the exercises, demo to make your sense 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sz="2000" b="1" dirty="0">
                <a:latin typeface="+mj-lt"/>
                <a:cs typeface="Times New Roman" pitchFamily="18" charset="0"/>
              </a:rPr>
              <a:t>After classes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  <a:tabLst>
                <a:tab pos="1371600" algn="l"/>
              </a:tabLst>
            </a:pPr>
            <a:r>
              <a:rPr lang="en-US" dirty="0">
                <a:latin typeface="+mj-lt"/>
                <a:cs typeface="Times New Roman" pitchFamily="18" charset="0"/>
              </a:rPr>
              <a:t>Discuss your classmate indirectly, on the forum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  <a:tabLst>
                <a:tab pos="1371600" algn="l"/>
              </a:tabLst>
            </a:pPr>
            <a:r>
              <a:rPr lang="en-US" dirty="0">
                <a:latin typeface="+mj-lt"/>
                <a:cs typeface="Times New Roman" pitchFamily="18" charset="0"/>
              </a:rPr>
              <a:t>Analyze, design, and implement workshops and assignments. </a:t>
            </a:r>
            <a:r>
              <a:rPr lang="en-US" b="1" dirty="0">
                <a:latin typeface="+mj-lt"/>
                <a:cs typeface="Times New Roman" pitchFamily="18" charset="0"/>
              </a:rPr>
              <a:t>Write reports </a:t>
            </a:r>
            <a:r>
              <a:rPr lang="en-US" dirty="0">
                <a:latin typeface="+mj-lt"/>
                <a:cs typeface="Times New Roman" pitchFamily="18" charset="0"/>
              </a:rPr>
              <a:t>in your notebook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  <a:tabLst>
                <a:tab pos="1371600" algn="l"/>
              </a:tabLst>
            </a:pPr>
            <a:r>
              <a:rPr lang="en-US" dirty="0">
                <a:latin typeface="+mj-lt"/>
                <a:cs typeface="Times New Roman" pitchFamily="18" charset="0"/>
              </a:rPr>
              <a:t>Build your team in yourselves to support together in studying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11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96652C-E61D-49B9-9CB8-B64C03F84258}" type="datetime1">
              <a:rPr lang="vi-VN" smtClean="0"/>
              <a:t>21/09/2023</a:t>
            </a:fld>
            <a:endParaRPr lang="en-US"/>
          </a:p>
        </p:txBody>
      </p:sp>
      <p:sp>
        <p:nvSpPr>
          <p:cNvPr id="3" name="Rectangle 3">
            <a:extLst>
              <a:ext uri="{FF2B5EF4-FFF2-40B4-BE49-F238E27FC236}">
                <a16:creationId xmlns:a16="http://schemas.microsoft.com/office/drawing/2014/main" id="{FBC2FCC8-D5F8-0415-4B0A-DBAACB4BB640}"/>
              </a:ext>
            </a:extLst>
          </p:cNvPr>
          <p:cNvSpPr txBox="1">
            <a:spLocks/>
          </p:cNvSpPr>
          <p:nvPr/>
        </p:nvSpPr>
        <p:spPr>
          <a:xfrm>
            <a:off x="5257800" y="464979"/>
            <a:ext cx="6790765" cy="959453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lnSpc>
                <a:spcPct val="120000"/>
              </a:lnSpc>
              <a:spcBef>
                <a:spcPts val="600"/>
              </a:spcBef>
              <a:buClr>
                <a:srgbClr val="973735"/>
              </a:buClr>
              <a:buSzPct val="50000"/>
              <a:buNone/>
              <a:defRPr/>
            </a:pPr>
            <a:r>
              <a:rPr lang="en-US" sz="2000" i="1" dirty="0">
                <a:solidFill>
                  <a:srgbClr val="ED7D31"/>
                </a:solidFill>
                <a:latin typeface="+mj-lt"/>
                <a:cs typeface="Times New Roman" pitchFamily="18" charset="0"/>
              </a:rPr>
              <a:t>This course is complex knowledge (however, it’s attractive and exciting), so you need to keep a tight grip on it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/>
          <p:cNvSpPr>
            <a:spLocks noGrp="1"/>
          </p:cNvSpPr>
          <p:nvPr>
            <p:ph type="title"/>
          </p:nvPr>
        </p:nvSpPr>
        <p:spPr>
          <a:xfrm>
            <a:off x="267272" y="727788"/>
            <a:ext cx="10515600" cy="530002"/>
          </a:xfrm>
        </p:spPr>
        <p:txBody>
          <a:bodyPr>
            <a:noAutofit/>
          </a:bodyPr>
          <a:lstStyle/>
          <a:p>
            <a:r>
              <a:rPr lang="en-US" sz="4000" b="1" dirty="0"/>
              <a:t>Academic policy</a:t>
            </a:r>
          </a:p>
        </p:txBody>
      </p:sp>
      <p:sp>
        <p:nvSpPr>
          <p:cNvPr id="12291" name="Rectangle 3"/>
          <p:cNvSpPr>
            <a:spLocks noGrp="1"/>
          </p:cNvSpPr>
          <p:nvPr>
            <p:ph idx="1"/>
          </p:nvPr>
        </p:nvSpPr>
        <p:spPr>
          <a:xfrm>
            <a:off x="570781" y="1593205"/>
            <a:ext cx="11126638" cy="4537007"/>
          </a:xfrm>
        </p:spPr>
        <p:txBody>
          <a:bodyPr>
            <a:normAutofit/>
          </a:bodyPr>
          <a:lstStyle/>
          <a:p>
            <a:pPr marL="342900" indent="-342900">
              <a:lnSpc>
                <a:spcPct val="100000"/>
              </a:lnSpc>
              <a:spcBef>
                <a:spcPts val="600"/>
              </a:spcBef>
              <a:buClr>
                <a:srgbClr val="973735"/>
              </a:buClr>
              <a:buSzPct val="50000"/>
              <a:buFont typeface="Wingdings" pitchFamily="2" charset="2"/>
              <a:buChar char="u"/>
              <a:defRPr/>
            </a:pPr>
            <a:r>
              <a:rPr lang="en-US" sz="2600" dirty="0">
                <a:latin typeface="+mj-lt"/>
                <a:cs typeface="Times New Roman" pitchFamily="18" charset="0"/>
              </a:rPr>
              <a:t>Cheating, plagiarism and breach of copyright are serious offenses under this Policy.</a:t>
            </a:r>
          </a:p>
          <a:p>
            <a:pPr lvl="1" algn="just"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  <a:cs typeface="Times New Roman" pitchFamily="18" charset="0"/>
              </a:rPr>
              <a:t>Cheating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en-US" sz="2100" dirty="0">
                <a:latin typeface="+mj-lt"/>
                <a:cs typeface="Times New Roman" pitchFamily="18" charset="0"/>
              </a:rPr>
              <a:t>Cheating during a test or exam is construed as talking, peeking at another student’s paper or any other clandestine method of transmitting information.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  <a:cs typeface="Times New Roman" pitchFamily="18" charset="0"/>
              </a:rPr>
              <a:t>Plagiarism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en-US" sz="2100" dirty="0">
                <a:latin typeface="+mj-lt"/>
                <a:cs typeface="Times New Roman" pitchFamily="18" charset="0"/>
              </a:rPr>
              <a:t>Plagiarism is using the work of others without citing it; that is, holding the work of others out as your own work. </a:t>
            </a:r>
          </a:p>
          <a:p>
            <a:pPr lvl="1" algn="just">
              <a:lnSpc>
                <a:spcPct val="100000"/>
              </a:lnSpc>
              <a:spcBef>
                <a:spcPts val="600"/>
              </a:spcBef>
              <a:buClr>
                <a:schemeClr val="accent2"/>
              </a:buClr>
              <a:buFont typeface="Wingdings" panose="05000000000000000000" pitchFamily="2" charset="2"/>
              <a:buChar char="§"/>
            </a:pPr>
            <a:r>
              <a:rPr lang="en-US" b="1" dirty="0">
                <a:latin typeface="+mj-lt"/>
                <a:cs typeface="Times New Roman" pitchFamily="18" charset="0"/>
              </a:rPr>
              <a:t>Breach of Copyright</a:t>
            </a:r>
          </a:p>
          <a:p>
            <a:pPr lvl="2" algn="just">
              <a:lnSpc>
                <a:spcPct val="100000"/>
              </a:lnSpc>
              <a:spcBef>
                <a:spcPts val="600"/>
              </a:spcBef>
            </a:pPr>
            <a:r>
              <a:rPr lang="en-US" sz="2100" dirty="0">
                <a:latin typeface="+mj-lt"/>
                <a:cs typeface="Times New Roman" pitchFamily="18" charset="0"/>
              </a:rPr>
              <a:t>If you photocopy a textbook without the copyright holder's permission, you violate copyright law. 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12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25BC896-7ECF-48BC-98EE-66A4C806647D}" type="datetime1">
              <a:rPr lang="vi-VN" smtClean="0"/>
              <a:t>21/09/2023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/>
          </p:cNvSpPr>
          <p:nvPr>
            <p:ph type="title"/>
          </p:nvPr>
        </p:nvSpPr>
        <p:spPr>
          <a:xfrm>
            <a:off x="673080" y="886356"/>
            <a:ext cx="9739883" cy="685800"/>
          </a:xfrm>
        </p:spPr>
        <p:txBody>
          <a:bodyPr>
            <a:noAutofit/>
          </a:bodyPr>
          <a:lstStyle/>
          <a:p>
            <a:endParaRPr lang="en-US" sz="4000" b="1" dirty="0"/>
          </a:p>
        </p:txBody>
      </p:sp>
      <p:sp>
        <p:nvSpPr>
          <p:cNvPr id="14340" name="Text Box 4"/>
          <p:cNvSpPr txBox="1">
            <a:spLocks noChangeArrowheads="1"/>
          </p:cNvSpPr>
          <p:nvPr/>
        </p:nvSpPr>
        <p:spPr bwMode="auto">
          <a:xfrm>
            <a:off x="2488463" y="2810145"/>
            <a:ext cx="6629400" cy="13239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sz="8000" dirty="0">
                <a:latin typeface="Times New Roman" pitchFamily="18" charset="0"/>
                <a:cs typeface="Times New Roman" pitchFamily="18" charset="0"/>
              </a:rPr>
              <a:t>Q&amp;A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15C064-DD44-4CAC-873E-2D1F54821676}" type="slidenum">
              <a:rPr kumimoji="0" lang="en-US" smtClean="0"/>
              <a:pPr/>
              <a:t>13</a:t>
            </a:fld>
            <a:endParaRPr kumimoji="0" lang="en-US" dirty="0"/>
          </a:p>
        </p:txBody>
      </p:sp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B14A337-D721-489A-94FD-8946F3A21BBF}" type="datetime1">
              <a:rPr lang="vi-VN" smtClean="0"/>
              <a:t>21/09/2023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Arial">
      <a:maj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 panose="020B0604020202020204"/>
        <a:ea typeface=""/>
        <a:cs typeface=""/>
        <a:font script="Jpan" typeface="ＭＳ Ｐゴシック"/>
        <a:font script="Hang" typeface="굴림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1933</TotalTime>
  <Words>599</Words>
  <Application>Microsoft Office PowerPoint</Application>
  <PresentationFormat>Widescreen</PresentationFormat>
  <Paragraphs>118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Calibri</vt:lpstr>
      <vt:lpstr>Times New Roman</vt:lpstr>
      <vt:lpstr>Wingdings</vt:lpstr>
      <vt:lpstr>Office Theme</vt:lpstr>
      <vt:lpstr>Knowledge Management System</vt:lpstr>
      <vt:lpstr>Enterprise information system (Combo)</vt:lpstr>
      <vt:lpstr>KMS301 - Knowledge management system</vt:lpstr>
      <vt:lpstr>Course Objectives </vt:lpstr>
      <vt:lpstr>Course Objectives </vt:lpstr>
      <vt:lpstr>Course Plan</vt:lpstr>
      <vt:lpstr>Materials/ References</vt:lpstr>
      <vt:lpstr>Materials/ References</vt:lpstr>
      <vt:lpstr>Course Rules</vt:lpstr>
      <vt:lpstr>Evaluation Strategy </vt:lpstr>
      <vt:lpstr>How to study</vt:lpstr>
      <vt:lpstr>Academic policy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ADMIN</dc:creator>
  <cp:lastModifiedBy>Chu Dinh Phu 2 (FE Ban NCPT)</cp:lastModifiedBy>
  <cp:revision>111</cp:revision>
  <dcterms:created xsi:type="dcterms:W3CDTF">2021-01-25T08:25:31Z</dcterms:created>
  <dcterms:modified xsi:type="dcterms:W3CDTF">2023-09-20T21:03:26Z</dcterms:modified>
</cp:coreProperties>
</file>