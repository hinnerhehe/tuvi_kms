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56" r:id="rId2"/>
    <p:sldId id="278" r:id="rId3"/>
    <p:sldId id="279" r:id="rId4"/>
    <p:sldId id="407" r:id="rId5"/>
    <p:sldId id="313" r:id="rId6"/>
    <p:sldId id="408" r:id="rId7"/>
    <p:sldId id="409" r:id="rId8"/>
    <p:sldId id="413" r:id="rId9"/>
    <p:sldId id="410" r:id="rId10"/>
    <p:sldId id="324" r:id="rId11"/>
    <p:sldId id="414" r:id="rId12"/>
    <p:sldId id="422" r:id="rId13"/>
    <p:sldId id="415" r:id="rId14"/>
    <p:sldId id="421" r:id="rId15"/>
    <p:sldId id="420" r:id="rId16"/>
    <p:sldId id="325" r:id="rId17"/>
    <p:sldId id="416" r:id="rId18"/>
    <p:sldId id="417" r:id="rId19"/>
    <p:sldId id="418" r:id="rId20"/>
    <p:sldId id="419" r:id="rId21"/>
    <p:sldId id="426" r:id="rId22"/>
    <p:sldId id="429" r:id="rId23"/>
    <p:sldId id="430" r:id="rId24"/>
    <p:sldId id="424" r:id="rId25"/>
    <p:sldId id="425" r:id="rId26"/>
    <p:sldId id="433" r:id="rId27"/>
    <p:sldId id="431" r:id="rId28"/>
    <p:sldId id="434" r:id="rId29"/>
    <p:sldId id="435" r:id="rId30"/>
    <p:sldId id="432" r:id="rId31"/>
    <p:sldId id="436" r:id="rId32"/>
    <p:sldId id="322" r:id="rId33"/>
    <p:sldId id="439" r:id="rId34"/>
    <p:sldId id="440" r:id="rId35"/>
    <p:sldId id="444" r:id="rId36"/>
    <p:sldId id="445" r:id="rId37"/>
    <p:sldId id="326" r:id="rId38"/>
    <p:sldId id="452" r:id="rId39"/>
    <p:sldId id="40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353" autoAdjust="0"/>
    <p:restoredTop sz="64395" autoAdjust="0"/>
  </p:normalViewPr>
  <p:slideViewPr>
    <p:cSldViewPr snapToGrid="0">
      <p:cViewPr varScale="1">
        <p:scale>
          <a:sx n="88" d="100"/>
          <a:sy n="88" d="100"/>
        </p:scale>
        <p:origin x="432" y="72"/>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439972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1308762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1856325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1737804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701347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4043795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4162945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3146767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1455018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484877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3281658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3326991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1707324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4095946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31799655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1621014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4220951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1203344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33765818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34167285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1333659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712524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40264141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19759376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18189182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40706227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26363782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12361372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7916440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8394803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18522694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19624753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00322"/>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fontScale="90000"/>
          </a:bodyPr>
          <a:lstStyle/>
          <a:p>
            <a:r>
              <a:rPr lang="en-US" sz="3600" b="1" dirty="0">
                <a:solidFill>
                  <a:schemeClr val="bg2">
                    <a:lumMod val="50000"/>
                  </a:schemeClr>
                </a:solidFill>
                <a:latin typeface="Arial" panose="020B0604020202020204" pitchFamily="34" charset="0"/>
                <a:cs typeface="Arial" panose="020B0604020202020204" pitchFamily="34" charset="0"/>
              </a:rPr>
              <a:t>Chapter 11</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Organizational Learning and </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Organizational Memory</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How Do Organizations Learn and Remember?</a:t>
            </a:r>
          </a:p>
          <a:p>
            <a:pPr marL="342900" indent="-342900" algn="just">
              <a:lnSpc>
                <a:spcPct val="150000"/>
              </a:lnSpc>
              <a:spcBef>
                <a:spcPts val="600"/>
              </a:spcBef>
              <a:buClr>
                <a:srgbClr val="973735"/>
              </a:buClr>
              <a:buSzPct val="50000"/>
              <a:buFont typeface="Wingdings" pitchFamily="2" charset="2"/>
              <a:buChar char="u"/>
              <a:defRPr/>
            </a:pPr>
            <a:r>
              <a:rPr lang="en-US" dirty="0"/>
              <a:t>The Management of Organizational Memory</a:t>
            </a:r>
          </a:p>
          <a:p>
            <a:pPr marL="342900" indent="-342900" algn="just">
              <a:lnSpc>
                <a:spcPct val="150000"/>
              </a:lnSpc>
              <a:spcBef>
                <a:spcPts val="600"/>
              </a:spcBef>
              <a:buClr>
                <a:srgbClr val="973735"/>
              </a:buClr>
              <a:buSzPct val="50000"/>
              <a:buFont typeface="Wingdings" pitchFamily="2" charset="2"/>
              <a:buChar char="u"/>
              <a:defRPr/>
            </a:pPr>
            <a:r>
              <a:rPr lang="en-US" dirty="0"/>
              <a:t>Organizational Learning</a:t>
            </a:r>
          </a:p>
          <a:p>
            <a:pPr marL="342900" indent="-342900" algn="just">
              <a:lnSpc>
                <a:spcPct val="150000"/>
              </a:lnSpc>
              <a:spcBef>
                <a:spcPts val="600"/>
              </a:spcBef>
              <a:buClr>
                <a:srgbClr val="973735"/>
              </a:buClr>
              <a:buSzPct val="50000"/>
              <a:buFont typeface="Wingdings" pitchFamily="2" charset="2"/>
              <a:buChar char="u"/>
              <a:defRPr/>
            </a:pPr>
            <a:r>
              <a:rPr lang="en-US" dirty="0"/>
              <a:t>Organizational Learning and Organizational Memory Models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2232212"/>
            <a:ext cx="11712388" cy="368765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dirty="0"/>
              <a:t>Organizational knowledge is being lost at an alarming rate as businesses continue to downsize, to outsource, and to draw from a pool of increasingly mobile knowledge workers. Tacit knowledge has often been referred to as “the knowledge that leaves at the end of the day” and companies are said to “lease” knowledge but not own it. In an era of knowledge workers, individuals are increasingly responsible for value creation.</a:t>
            </a:r>
          </a:p>
          <a:p>
            <a:pPr marL="342900" indent="-342900" algn="just">
              <a:lnSpc>
                <a:spcPct val="12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199138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2259107"/>
            <a:ext cx="11779624" cy="3418715"/>
          </a:xfrm>
        </p:spPr>
        <p:txBody>
          <a:bodyPr>
            <a:normAutofit lnSpcReduction="10000"/>
          </a:bodyPr>
          <a:lstStyle/>
          <a:p>
            <a:pPr marL="342900" indent="-342900" algn="just">
              <a:lnSpc>
                <a:spcPct val="100000"/>
              </a:lnSpc>
              <a:spcBef>
                <a:spcPts val="1200"/>
              </a:spcBef>
              <a:buClr>
                <a:srgbClr val="973735"/>
              </a:buClr>
              <a:buSzPct val="50000"/>
              <a:buFont typeface="Wingdings" pitchFamily="2" charset="2"/>
              <a:buChar char="u"/>
              <a:defRPr/>
            </a:pPr>
            <a:r>
              <a:rPr lang="en-US" dirty="0"/>
              <a:t>Although many organizations have succession plans in place, the process usually involves transferring know-how from the departing employee to their successor, but the whole process has to be repeated again for the next departure. Organizations need to “capture” this know-how and transfer it to a stable, easily accessible, cumulative knowledge base — an organizational memory — to retain and make accessible valuable knowledge gained through the experiences of all knowledge in a continuous and uninterrupted manner.</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2923511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Organizational learning (OL) can be defined as learning what worked and what did not work from the past and effectively transferring this experientially learned knowledge to present-day and future knowledge workers. </a:t>
            </a:r>
          </a:p>
          <a:p>
            <a:pPr marL="342900" indent="-342900" algn="just">
              <a:lnSpc>
                <a:spcPct val="100000"/>
              </a:lnSpc>
              <a:spcBef>
                <a:spcPts val="1800"/>
              </a:spcBef>
              <a:buClr>
                <a:srgbClr val="973735"/>
              </a:buClr>
              <a:buSzPct val="50000"/>
              <a:buFont typeface="Wingdings" pitchFamily="2" charset="2"/>
              <a:buChar char="u"/>
              <a:defRPr/>
            </a:pPr>
            <a:r>
              <a:rPr lang="en-US" sz="2600" dirty="0"/>
              <a:t>The organizational memory (OM) is a centralized technological system (often an intranet) where we can find all the by-products of OL: primarily the best practices and the lessons learned. </a:t>
            </a:r>
          </a:p>
          <a:p>
            <a:pPr marL="342900" indent="-342900" algn="just">
              <a:lnSpc>
                <a:spcPct val="100000"/>
              </a:lnSpc>
              <a:spcBef>
                <a:spcPts val="1800"/>
              </a:spcBef>
              <a:buClr>
                <a:srgbClr val="973735"/>
              </a:buClr>
              <a:buSzPct val="50000"/>
              <a:buFont typeface="Wingdings" pitchFamily="2" charset="2"/>
              <a:buChar char="u"/>
              <a:defRPr/>
            </a:pPr>
            <a:r>
              <a:rPr lang="en-US" sz="2600" dirty="0"/>
              <a:t>A learning organization (LO) is a type of organization that has successfully implemented the processes of organizational learning.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How Do Organizations Learn and Remember?</a:t>
            </a:r>
          </a:p>
        </p:txBody>
      </p:sp>
    </p:spTree>
    <p:extLst>
      <p:ext uri="{BB962C8B-B14F-4D97-AF65-F5344CB8AC3E}">
        <p14:creationId xmlns:p14="http://schemas.microsoft.com/office/powerpoint/2010/main" val="948614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971176" cy="4911019"/>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Senge (1990) lists five key attributes that a learning organization should have. His book, The Fifth Discipline, was one of the first to identify the core competencies a learning organization should have as:</a:t>
            </a:r>
          </a:p>
          <a:p>
            <a:pPr marL="914400" lvl="2" indent="0" algn="just">
              <a:lnSpc>
                <a:spcPct val="100000"/>
              </a:lnSpc>
              <a:spcBef>
                <a:spcPts val="1800"/>
              </a:spcBef>
              <a:buClr>
                <a:srgbClr val="973735"/>
              </a:buClr>
              <a:buSzPct val="50000"/>
              <a:buNone/>
              <a:defRPr/>
            </a:pPr>
            <a:r>
              <a:rPr lang="en-US" sz="2400" dirty="0"/>
              <a:t>1. Mental models</a:t>
            </a:r>
          </a:p>
          <a:p>
            <a:pPr marL="914400" lvl="2" indent="0" algn="just">
              <a:lnSpc>
                <a:spcPct val="100000"/>
              </a:lnSpc>
              <a:spcBef>
                <a:spcPts val="1800"/>
              </a:spcBef>
              <a:buClr>
                <a:srgbClr val="973735"/>
              </a:buClr>
              <a:buSzPct val="50000"/>
              <a:buNone/>
              <a:defRPr/>
            </a:pPr>
            <a:r>
              <a:rPr lang="en-US" sz="2400" dirty="0"/>
              <a:t>2. Shared vision</a:t>
            </a:r>
          </a:p>
          <a:p>
            <a:pPr marL="914400" lvl="2" indent="0" algn="just">
              <a:lnSpc>
                <a:spcPct val="100000"/>
              </a:lnSpc>
              <a:spcBef>
                <a:spcPts val="1800"/>
              </a:spcBef>
              <a:buClr>
                <a:srgbClr val="973735"/>
              </a:buClr>
              <a:buSzPct val="50000"/>
              <a:buNone/>
              <a:defRPr/>
            </a:pPr>
            <a:r>
              <a:rPr lang="en-US" sz="2400" dirty="0"/>
              <a:t>3. Personal mastery</a:t>
            </a:r>
          </a:p>
          <a:p>
            <a:pPr marL="914400" lvl="2" indent="0" algn="just">
              <a:lnSpc>
                <a:spcPct val="100000"/>
              </a:lnSpc>
              <a:spcBef>
                <a:spcPts val="1800"/>
              </a:spcBef>
              <a:buClr>
                <a:srgbClr val="973735"/>
              </a:buClr>
              <a:buSzPct val="50000"/>
              <a:buNone/>
              <a:defRPr/>
            </a:pPr>
            <a:r>
              <a:rPr lang="en-US" sz="2400" dirty="0"/>
              <a:t>4. Team learning</a:t>
            </a:r>
          </a:p>
          <a:p>
            <a:pPr marL="914400" lvl="2" indent="0" algn="just">
              <a:lnSpc>
                <a:spcPct val="100000"/>
              </a:lnSpc>
              <a:spcBef>
                <a:spcPts val="1800"/>
              </a:spcBef>
              <a:buClr>
                <a:srgbClr val="973735"/>
              </a:buClr>
              <a:buSzPct val="50000"/>
              <a:buNone/>
              <a:defRPr/>
            </a:pPr>
            <a:r>
              <a:rPr lang="en-US" sz="2400" dirty="0"/>
              <a:t>5. Systems thinking</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How Do Organizations Learn and Remember?</a:t>
            </a:r>
          </a:p>
        </p:txBody>
      </p:sp>
    </p:spTree>
    <p:extLst>
      <p:ext uri="{BB962C8B-B14F-4D97-AF65-F5344CB8AC3E}">
        <p14:creationId xmlns:p14="http://schemas.microsoft.com/office/powerpoint/2010/main" val="52365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10000"/>
              </a:lnSpc>
              <a:spcBef>
                <a:spcPts val="1200"/>
              </a:spcBef>
              <a:buClr>
                <a:srgbClr val="973735"/>
              </a:buClr>
              <a:buSzPct val="50000"/>
              <a:buFont typeface="Wingdings" pitchFamily="2" charset="2"/>
              <a:buChar char="u"/>
              <a:defRPr/>
            </a:pPr>
            <a:r>
              <a:rPr lang="en-US" sz="2600" b="1" dirty="0"/>
              <a:t>Mental models: </a:t>
            </a:r>
            <a:r>
              <a:rPr lang="en-US" sz="2600" dirty="0"/>
              <a:t>are the coherent set of understandings or models that allow individuals to make sense of their world and to make decisions accordingly. A mental model can consist of experiential learning, things learned “the hard way,” perceptions, values, beliefs</a:t>
            </a:r>
          </a:p>
          <a:p>
            <a:pPr marL="342900" indent="-342900" algn="just">
              <a:lnSpc>
                <a:spcPct val="110000"/>
              </a:lnSpc>
              <a:spcBef>
                <a:spcPts val="1200"/>
              </a:spcBef>
              <a:buClr>
                <a:srgbClr val="973735"/>
              </a:buClr>
              <a:buSzPct val="50000"/>
              <a:buFont typeface="Wingdings" pitchFamily="2" charset="2"/>
              <a:buChar char="u"/>
              <a:defRPr/>
            </a:pPr>
            <a:r>
              <a:rPr lang="en-US" sz="2600" b="1" dirty="0"/>
              <a:t>The process of sharing </a:t>
            </a:r>
            <a:r>
              <a:rPr lang="en-US" sz="2600" dirty="0"/>
              <a:t>can and often does lead to a modification of existing models so that the individuals involved can come closer together with respect to a shared mental model of their organization. </a:t>
            </a:r>
          </a:p>
          <a:p>
            <a:pPr marL="342900" indent="-342900" algn="just">
              <a:lnSpc>
                <a:spcPct val="110000"/>
              </a:lnSpc>
              <a:spcBef>
                <a:spcPts val="1200"/>
              </a:spcBef>
              <a:buClr>
                <a:srgbClr val="973735"/>
              </a:buClr>
              <a:buSzPct val="50000"/>
              <a:buFont typeface="Wingdings" pitchFamily="2" charset="2"/>
              <a:buChar char="u"/>
              <a:defRPr/>
            </a:pPr>
            <a:r>
              <a:rPr lang="en-US" sz="2600" b="1" dirty="0"/>
              <a:t>Personal mastery</a:t>
            </a:r>
            <a:r>
              <a:rPr lang="en-US" sz="2600" dirty="0"/>
              <a:t>: refers to a set of values and attitudes such that individuals are committed to lifelong learning—which in turn enables the organization to engage in lifelong learning.</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How Do Organizations Learn and Remember?</a:t>
            </a:r>
          </a:p>
        </p:txBody>
      </p:sp>
    </p:spTree>
    <p:extLst>
      <p:ext uri="{BB962C8B-B14F-4D97-AF65-F5344CB8AC3E}">
        <p14:creationId xmlns:p14="http://schemas.microsoft.com/office/powerpoint/2010/main" val="905005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b="1" dirty="0"/>
              <a:t>Team learning </a:t>
            </a:r>
            <a:r>
              <a:rPr lang="en-US" sz="2600" dirty="0"/>
              <a:t>is the organizational values and attitudes that actively foster individual learning such as investment in training. An organization that supports individual learning is much more likely to be capable of organizational learning. </a:t>
            </a:r>
          </a:p>
          <a:p>
            <a:pPr marL="342900" indent="-342900" algn="just">
              <a:lnSpc>
                <a:spcPct val="100000"/>
              </a:lnSpc>
              <a:spcBef>
                <a:spcPts val="1800"/>
              </a:spcBef>
              <a:buClr>
                <a:srgbClr val="973735"/>
              </a:buClr>
              <a:buSzPct val="50000"/>
              <a:buFont typeface="Wingdings" pitchFamily="2" charset="2"/>
              <a:buChar char="u"/>
              <a:defRPr/>
            </a:pPr>
            <a:r>
              <a:rPr lang="en-US" sz="2600" b="1" dirty="0"/>
              <a:t>Systems thinking </a:t>
            </a:r>
            <a:r>
              <a:rPr lang="en-US" sz="2600" dirty="0"/>
              <a:t>refers to the perception or definition of an organization as a gestalt, an integral entity that cannot be reduced to a series of components. Systems thinking is also an excellent way of viewing KM: as an intact system made up of processes, people, culture, technology, and so forth.</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How Do Organizations Learn and Remember?</a:t>
            </a:r>
          </a:p>
        </p:txBody>
      </p:sp>
    </p:spTree>
    <p:extLst>
      <p:ext uri="{BB962C8B-B14F-4D97-AF65-F5344CB8AC3E}">
        <p14:creationId xmlns:p14="http://schemas.microsoft.com/office/powerpoint/2010/main" val="524187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2312894"/>
            <a:ext cx="11971176" cy="3606974"/>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For organizational learning to occur, the individual would have to </a:t>
            </a:r>
            <a:r>
              <a:rPr lang="en-US" sz="2600" b="1" dirty="0"/>
              <a:t>embed the knowledge in a repository</a:t>
            </a:r>
            <a:r>
              <a:rPr lang="en-US" sz="2600" dirty="0"/>
              <a:t> such as a database, routine, or transactive memory system. </a:t>
            </a:r>
          </a:p>
          <a:p>
            <a:pPr marL="342900" indent="-342900" algn="just">
              <a:lnSpc>
                <a:spcPct val="100000"/>
              </a:lnSpc>
              <a:spcBef>
                <a:spcPts val="1800"/>
              </a:spcBef>
              <a:buClr>
                <a:srgbClr val="973735"/>
              </a:buClr>
              <a:buSzPct val="50000"/>
              <a:buFont typeface="Wingdings" pitchFamily="2" charset="2"/>
              <a:buChar char="u"/>
              <a:defRPr/>
            </a:pPr>
            <a:r>
              <a:rPr lang="en-US" sz="2600" dirty="0"/>
              <a:t>By embedding the knowledge in a supra-individual routine, the </a:t>
            </a:r>
            <a:r>
              <a:rPr lang="en-US" sz="2600" b="1" dirty="0"/>
              <a:t>knowledge would persist</a:t>
            </a:r>
            <a:r>
              <a:rPr lang="en-US" sz="2600" dirty="0"/>
              <a:t> even if the member who acquired the knowledge left the organization and other members could access the knowledge.</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How Do Organizations Learn and Remember?</a:t>
            </a:r>
          </a:p>
        </p:txBody>
      </p:sp>
    </p:spTree>
    <p:extLst>
      <p:ext uri="{BB962C8B-B14F-4D97-AF65-F5344CB8AC3E}">
        <p14:creationId xmlns:p14="http://schemas.microsoft.com/office/powerpoint/2010/main" val="4287213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2164976"/>
            <a:ext cx="11971176" cy="3754892"/>
          </a:xfrm>
        </p:spPr>
        <p:txBody>
          <a:bodyPr>
            <a:normAutofit/>
          </a:bodyPr>
          <a:lstStyle/>
          <a:p>
            <a:pPr marL="0" indent="0" algn="just">
              <a:lnSpc>
                <a:spcPct val="100000"/>
              </a:lnSpc>
              <a:spcBef>
                <a:spcPts val="1200"/>
              </a:spcBef>
              <a:buClr>
                <a:srgbClr val="973735"/>
              </a:buClr>
              <a:buSzPct val="50000"/>
              <a:buNone/>
              <a:defRPr/>
            </a:pPr>
            <a:r>
              <a:rPr lang="en-US" dirty="0"/>
              <a:t>There are good reasons to pursue the creation of organizational memory.</a:t>
            </a:r>
          </a:p>
          <a:p>
            <a:pPr marL="342900" indent="-342900" algn="just">
              <a:lnSpc>
                <a:spcPct val="100000"/>
              </a:lnSpc>
              <a:spcBef>
                <a:spcPts val="2400"/>
              </a:spcBef>
              <a:buClr>
                <a:srgbClr val="973735"/>
              </a:buClr>
              <a:buSzPct val="50000"/>
              <a:buFont typeface="Wingdings" pitchFamily="2" charset="2"/>
              <a:buChar char="u"/>
              <a:defRPr/>
            </a:pPr>
            <a:r>
              <a:rPr lang="en-US" sz="2600" dirty="0"/>
              <a:t>Organizations routinely forget what they have done in the past and why they have done it. These organizations have an impaired capacity to learn, due to an inability to represent critical aspects of what they know.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The Management of Organizational Memory</a:t>
            </a:r>
          </a:p>
        </p:txBody>
      </p:sp>
    </p:spTree>
    <p:extLst>
      <p:ext uri="{BB962C8B-B14F-4D97-AF65-F5344CB8AC3E}">
        <p14:creationId xmlns:p14="http://schemas.microsoft.com/office/powerpoint/2010/main" val="2277507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Organizational memory is not just a facility for accumulating and preserving but also for sharing knowledge. </a:t>
            </a:r>
          </a:p>
          <a:p>
            <a:pPr marL="342900" indent="-342900" algn="just">
              <a:lnSpc>
                <a:spcPct val="100000"/>
              </a:lnSpc>
              <a:spcBef>
                <a:spcPts val="1800"/>
              </a:spcBef>
              <a:buClr>
                <a:srgbClr val="973735"/>
              </a:buClr>
              <a:buSzPct val="50000"/>
              <a:buFont typeface="Wingdings" pitchFamily="2" charset="2"/>
              <a:buChar char="u"/>
              <a:defRPr/>
            </a:pPr>
            <a:r>
              <a:rPr lang="en-US" sz="2600" dirty="0"/>
              <a:t>As knowledge is made explicit and managed, it augments the organizational intellect, becoming a basis for communication and learning. </a:t>
            </a:r>
          </a:p>
          <a:p>
            <a:pPr marL="342900" indent="-342900" algn="just">
              <a:lnSpc>
                <a:spcPct val="100000"/>
              </a:lnSpc>
              <a:spcBef>
                <a:spcPts val="1800"/>
              </a:spcBef>
              <a:buClr>
                <a:srgbClr val="973735"/>
              </a:buClr>
              <a:buSzPct val="50000"/>
              <a:buFont typeface="Wingdings" pitchFamily="2" charset="2"/>
              <a:buChar char="u"/>
              <a:defRPr/>
            </a:pPr>
            <a:r>
              <a:rPr lang="en-US" sz="2600" dirty="0"/>
              <a:t>Organizational memory contributes to the overall governance and compliance with regulatory guidelines. </a:t>
            </a:r>
          </a:p>
          <a:p>
            <a:pPr marL="342900" indent="-342900" algn="just">
              <a:lnSpc>
                <a:spcPct val="100000"/>
              </a:lnSpc>
              <a:spcBef>
                <a:spcPts val="1800"/>
              </a:spcBef>
              <a:buClr>
                <a:srgbClr val="973735"/>
              </a:buClr>
              <a:buSzPct val="50000"/>
              <a:buFont typeface="Wingdings" pitchFamily="2" charset="2"/>
              <a:buChar char="u"/>
              <a:defRPr/>
            </a:pPr>
            <a:r>
              <a:rPr lang="en-US" sz="2600" dirty="0"/>
              <a:t>An organizational memory can also help increase the transparency of the organization as well as how knowledge workers perceive this transparency. </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The Management of Organizational Memory</a:t>
            </a:r>
          </a:p>
        </p:txBody>
      </p:sp>
    </p:spTree>
    <p:extLst>
      <p:ext uri="{BB962C8B-B14F-4D97-AF65-F5344CB8AC3E}">
        <p14:creationId xmlns:p14="http://schemas.microsoft.com/office/powerpoint/2010/main" val="3299578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Once valuable knowledge content has been entered into organizational memory, it can be shared among individuals working alone, by teams needing a project memory, and by the organization as a whole for “between-team” coordination and communication. </a:t>
            </a:r>
          </a:p>
          <a:p>
            <a:pPr marL="342900" indent="-342900" algn="just">
              <a:lnSpc>
                <a:spcPct val="100000"/>
              </a:lnSpc>
              <a:spcBef>
                <a:spcPts val="1800"/>
              </a:spcBef>
              <a:buClr>
                <a:srgbClr val="973735"/>
              </a:buClr>
              <a:buSzPct val="50000"/>
              <a:buFont typeface="Wingdings" pitchFamily="2" charset="2"/>
              <a:buChar char="u"/>
              <a:defRPr/>
            </a:pPr>
            <a:r>
              <a:rPr lang="en-US" sz="2600" dirty="0"/>
              <a:t>Given the nature of organizations and the competitive environment within which they exist, organizational learning and the accumulation of knowledge will be source of immediate health as well as long-term survival</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The Management of Organizational Memory</a:t>
            </a:r>
          </a:p>
        </p:txBody>
      </p:sp>
    </p:spTree>
    <p:extLst>
      <p:ext uri="{BB962C8B-B14F-4D97-AF65-F5344CB8AC3E}">
        <p14:creationId xmlns:p14="http://schemas.microsoft.com/office/powerpoint/2010/main" val="3273035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dirty="0"/>
              <a:t>The obstacles to an effective organizational memory system: cultural and technical. </a:t>
            </a:r>
          </a:p>
          <a:p>
            <a:pPr marL="0" indent="0" algn="just">
              <a:lnSpc>
                <a:spcPct val="100000"/>
              </a:lnSpc>
              <a:spcBef>
                <a:spcPts val="1800"/>
              </a:spcBef>
              <a:buClr>
                <a:srgbClr val="973735"/>
              </a:buClr>
              <a:buSzPct val="50000"/>
              <a:buNone/>
              <a:defRPr/>
            </a:pPr>
            <a:r>
              <a:rPr lang="en-US" b="1" dirty="0"/>
              <a:t>The cultural barriers include the following:</a:t>
            </a:r>
          </a:p>
          <a:p>
            <a:pPr marL="342900" indent="-342900" algn="just">
              <a:lnSpc>
                <a:spcPct val="100000"/>
              </a:lnSpc>
              <a:spcBef>
                <a:spcPts val="1800"/>
              </a:spcBef>
              <a:buClr>
                <a:srgbClr val="973735"/>
              </a:buClr>
              <a:buSzPct val="50000"/>
              <a:buFont typeface="Wingdings" pitchFamily="2" charset="2"/>
              <a:buChar char="u"/>
              <a:defRPr/>
            </a:pPr>
            <a:r>
              <a:rPr lang="en-US" sz="2600" dirty="0"/>
              <a:t>A cultural emphasis on artifacts and results to the exclusion of process </a:t>
            </a:r>
          </a:p>
          <a:p>
            <a:pPr marL="342900" indent="-342900" algn="just">
              <a:lnSpc>
                <a:spcPct val="100000"/>
              </a:lnSpc>
              <a:spcBef>
                <a:spcPts val="1800"/>
              </a:spcBef>
              <a:buClr>
                <a:srgbClr val="973735"/>
              </a:buClr>
              <a:buSzPct val="50000"/>
              <a:buFont typeface="Wingdings" pitchFamily="2" charset="2"/>
              <a:buChar char="u"/>
              <a:defRPr/>
            </a:pPr>
            <a:r>
              <a:rPr lang="en-US" sz="2600" dirty="0"/>
              <a:t>Resistance to knowledge capture because of the effort required, the fear of litigation, and the fear of loss of job security</a:t>
            </a:r>
          </a:p>
          <a:p>
            <a:pPr marL="342900" indent="-342900" algn="just">
              <a:lnSpc>
                <a:spcPct val="100000"/>
              </a:lnSpc>
              <a:spcBef>
                <a:spcPts val="1800"/>
              </a:spcBef>
              <a:buClr>
                <a:srgbClr val="973735"/>
              </a:buClr>
              <a:buSzPct val="50000"/>
              <a:buFont typeface="Wingdings" pitchFamily="2" charset="2"/>
              <a:buChar char="u"/>
              <a:defRPr/>
            </a:pPr>
            <a:r>
              <a:rPr lang="en-US" sz="2600" dirty="0"/>
              <a:t>Resistance to knowledge reuse because of the effort required, and the low likelihood of finding relevant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The Management of Organizational Memory</a:t>
            </a:r>
          </a:p>
        </p:txBody>
      </p:sp>
    </p:spTree>
    <p:extLst>
      <p:ext uri="{BB962C8B-B14F-4D97-AF65-F5344CB8AC3E}">
        <p14:creationId xmlns:p14="http://schemas.microsoft.com/office/powerpoint/2010/main" val="626040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800"/>
              </a:spcBef>
              <a:buClr>
                <a:srgbClr val="973735"/>
              </a:buClr>
              <a:buSzPct val="50000"/>
              <a:buNone/>
              <a:defRPr/>
            </a:pPr>
            <a:r>
              <a:rPr lang="en-US" dirty="0"/>
              <a:t>The obstacles to an effective organizational memory system: cultural and technical. </a:t>
            </a:r>
          </a:p>
          <a:p>
            <a:pPr marL="0" indent="0" algn="just">
              <a:lnSpc>
                <a:spcPct val="100000"/>
              </a:lnSpc>
              <a:spcBef>
                <a:spcPts val="1800"/>
              </a:spcBef>
              <a:buClr>
                <a:srgbClr val="973735"/>
              </a:buClr>
              <a:buSzPct val="50000"/>
              <a:buNone/>
              <a:defRPr/>
            </a:pPr>
            <a:r>
              <a:rPr lang="en-US" b="1" dirty="0"/>
              <a:t>The technical barriers include:</a:t>
            </a:r>
          </a:p>
          <a:p>
            <a:pPr marL="342900" indent="-342900" algn="just">
              <a:lnSpc>
                <a:spcPct val="100000"/>
              </a:lnSpc>
              <a:spcBef>
                <a:spcPts val="1800"/>
              </a:spcBef>
              <a:buClr>
                <a:srgbClr val="973735"/>
              </a:buClr>
              <a:buSzPct val="50000"/>
              <a:buFont typeface="Wingdings" pitchFamily="2" charset="2"/>
              <a:buChar char="u"/>
              <a:defRPr/>
            </a:pPr>
            <a:r>
              <a:rPr lang="en-US" dirty="0"/>
              <a:t>How to make the knowledge capture process easy or even transparent</a:t>
            </a:r>
          </a:p>
          <a:p>
            <a:pPr marL="342900" indent="-342900" algn="just">
              <a:lnSpc>
                <a:spcPct val="100000"/>
              </a:lnSpc>
              <a:spcBef>
                <a:spcPts val="1800"/>
              </a:spcBef>
              <a:buClr>
                <a:srgbClr val="973735"/>
              </a:buClr>
              <a:buSzPct val="50000"/>
              <a:buFont typeface="Wingdings" pitchFamily="2" charset="2"/>
              <a:buChar char="u"/>
              <a:defRPr/>
            </a:pPr>
            <a:r>
              <a:rPr lang="en-US" dirty="0"/>
              <a:t>How to make retrieval and reuse easy or even transparent</a:t>
            </a:r>
          </a:p>
          <a:p>
            <a:pPr marL="342900" indent="-342900" algn="just">
              <a:lnSpc>
                <a:spcPct val="100000"/>
              </a:lnSpc>
              <a:spcBef>
                <a:spcPts val="1800"/>
              </a:spcBef>
              <a:buClr>
                <a:srgbClr val="973735"/>
              </a:buClr>
              <a:buSzPct val="50000"/>
              <a:buFont typeface="Wingdings" pitchFamily="2" charset="2"/>
              <a:buChar char="u"/>
              <a:defRPr/>
            </a:pPr>
            <a:r>
              <a:rPr lang="en-US" dirty="0"/>
              <a:t>How to ensure relevance and intelligibility (i.e., through sufficient context) of retrieved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The Management of Organizational Memory</a:t>
            </a:r>
          </a:p>
        </p:txBody>
      </p:sp>
    </p:spTree>
    <p:extLst>
      <p:ext uri="{BB962C8B-B14F-4D97-AF65-F5344CB8AC3E}">
        <p14:creationId xmlns:p14="http://schemas.microsoft.com/office/powerpoint/2010/main" val="4163982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2608729"/>
            <a:ext cx="11971176" cy="3311139"/>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An organizational lesson learned or best practice is one that has broader applicability—it is not limited to a particular context or particular event and offers reuse potential to an organization-wide audience.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2468191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These diverse definitions highlight some key attributes of lessons learned:</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They can be learned from both successful and unsuccessful events.</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They can be at the operational, tactical, and/or strategic levels.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They need to be validated in some way.</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They need to be applied by people other than those involved in the original event.</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They must be significant enough to pass a cost–benefit analysis.</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2422790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In general two types of learning occur in organizations (O’Dell and Grayson, 2001):</a:t>
            </a:r>
          </a:p>
          <a:p>
            <a:pPr marL="457200" lvl="1" indent="0" algn="just">
              <a:lnSpc>
                <a:spcPct val="100000"/>
              </a:lnSpc>
              <a:spcBef>
                <a:spcPts val="1800"/>
              </a:spcBef>
              <a:buClr>
                <a:srgbClr val="973735"/>
              </a:buClr>
              <a:buSzPct val="50000"/>
              <a:buNone/>
              <a:defRPr/>
            </a:pPr>
            <a:r>
              <a:rPr lang="en-US" sz="2600" dirty="0"/>
              <a:t>1. Top-down learning is a strategic learning method whereby management, at any given level, decides that a certain piece of knowledge is vital to the organization and must be learned by its employees.</a:t>
            </a:r>
          </a:p>
          <a:p>
            <a:pPr marL="457200" lvl="1" indent="0" algn="just">
              <a:lnSpc>
                <a:spcPct val="100000"/>
              </a:lnSpc>
              <a:spcBef>
                <a:spcPts val="1800"/>
              </a:spcBef>
              <a:buClr>
                <a:srgbClr val="973735"/>
              </a:buClr>
              <a:buSzPct val="50000"/>
              <a:buNone/>
              <a:defRPr/>
            </a:pPr>
            <a:r>
              <a:rPr lang="en-US" sz="2600" dirty="0"/>
              <a:t>2. Bottom-up learning happens in the actual “doing” of tasks; it is experiential learning and results from both positive and negative events.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3182269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50000"/>
              </a:lnSpc>
              <a:spcBef>
                <a:spcPts val="600"/>
              </a:spcBef>
              <a:buClr>
                <a:srgbClr val="973735"/>
              </a:buClr>
              <a:buSzPct val="50000"/>
              <a:buNone/>
              <a:defRPr/>
            </a:pPr>
            <a:r>
              <a:rPr lang="en-US" b="1" dirty="0"/>
              <a:t>The Lessons Learned Process</a:t>
            </a:r>
          </a:p>
          <a:p>
            <a:pPr marL="800100" lvl="1" indent="-342900" algn="just">
              <a:lnSpc>
                <a:spcPct val="100000"/>
              </a:lnSpc>
              <a:spcBef>
                <a:spcPts val="2400"/>
              </a:spcBef>
              <a:buClr>
                <a:srgbClr val="973735"/>
              </a:buClr>
              <a:buSzPct val="50000"/>
              <a:buFont typeface="Wingdings" pitchFamily="2" charset="2"/>
              <a:buChar char="u"/>
              <a:defRPr/>
            </a:pPr>
            <a:r>
              <a:rPr lang="en-US" dirty="0"/>
              <a:t>Effective knowledge management processes involves the identification, creation, acquisition, dissemination, and reuse of knowledge assets to provide a strategic advantage. </a:t>
            </a:r>
          </a:p>
          <a:p>
            <a:pPr marL="800100" lvl="1" indent="-342900" algn="just">
              <a:lnSpc>
                <a:spcPct val="100000"/>
              </a:lnSpc>
              <a:spcBef>
                <a:spcPts val="2400"/>
              </a:spcBef>
              <a:buClr>
                <a:srgbClr val="973735"/>
              </a:buClr>
              <a:buSzPct val="50000"/>
              <a:buFont typeface="Wingdings" pitchFamily="2" charset="2"/>
              <a:buChar char="u"/>
              <a:defRPr/>
            </a:pPr>
            <a:r>
              <a:rPr lang="en-US" dirty="0"/>
              <a:t>The lessons learned process has a similar cycle of activities, although there is less agreement on what these specific stages should be.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19753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graphicFrame>
        <p:nvGraphicFramePr>
          <p:cNvPr id="5" name="Object 4">
            <a:extLst>
              <a:ext uri="{FF2B5EF4-FFF2-40B4-BE49-F238E27FC236}">
                <a16:creationId xmlns:a16="http://schemas.microsoft.com/office/drawing/2014/main" id="{98D18E0D-7F46-BB4F-589C-41AD3ABBDD2C}"/>
              </a:ext>
            </a:extLst>
          </p:cNvPr>
          <p:cNvGraphicFramePr>
            <a:graphicFrameLocks noChangeAspect="1"/>
          </p:cNvGraphicFramePr>
          <p:nvPr>
            <p:extLst>
              <p:ext uri="{D42A27DB-BD31-4B8C-83A1-F6EECF244321}">
                <p14:modId xmlns:p14="http://schemas.microsoft.com/office/powerpoint/2010/main" val="2539586805"/>
              </p:ext>
            </p:extLst>
          </p:nvPr>
        </p:nvGraphicFramePr>
        <p:xfrm>
          <a:off x="2666729" y="1580601"/>
          <a:ext cx="6184600" cy="4400031"/>
        </p:xfrm>
        <a:graphic>
          <a:graphicData uri="http://schemas.openxmlformats.org/presentationml/2006/ole">
            <mc:AlternateContent xmlns:mc="http://schemas.openxmlformats.org/markup-compatibility/2006">
              <mc:Choice xmlns:v="urn:schemas-microsoft-com:vml" Requires="v">
                <p:oleObj name="Bitmap Image" r:id="rId3" imgW="5837040" imgH="4152960" progId="PBrush">
                  <p:embed/>
                </p:oleObj>
              </mc:Choice>
              <mc:Fallback>
                <p:oleObj name="Bitmap Image" r:id="rId3" imgW="5837040" imgH="4152960" progId="PBrush">
                  <p:embed/>
                  <p:pic>
                    <p:nvPicPr>
                      <p:cNvPr id="0" name=""/>
                      <p:cNvPicPr/>
                      <p:nvPr/>
                    </p:nvPicPr>
                    <p:blipFill>
                      <a:blip r:embed="rId4"/>
                      <a:stretch>
                        <a:fillRect/>
                      </a:stretch>
                    </p:blipFill>
                    <p:spPr>
                      <a:xfrm>
                        <a:off x="2666729" y="1580601"/>
                        <a:ext cx="6184600" cy="4400031"/>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86A0E75-A765-D20F-F967-6A59E79365F0}"/>
              </a:ext>
            </a:extLst>
          </p:cNvPr>
          <p:cNvGraphicFramePr>
            <a:graphicFrameLocks noChangeAspect="1"/>
          </p:cNvGraphicFramePr>
          <p:nvPr>
            <p:extLst>
              <p:ext uri="{D42A27DB-BD31-4B8C-83A1-F6EECF244321}">
                <p14:modId xmlns:p14="http://schemas.microsoft.com/office/powerpoint/2010/main" val="2652932735"/>
              </p:ext>
            </p:extLst>
          </p:nvPr>
        </p:nvGraphicFramePr>
        <p:xfrm>
          <a:off x="4032623" y="6116292"/>
          <a:ext cx="3452813" cy="312737"/>
        </p:xfrm>
        <a:graphic>
          <a:graphicData uri="http://schemas.openxmlformats.org/presentationml/2006/ole">
            <mc:AlternateContent xmlns:mc="http://schemas.openxmlformats.org/markup-compatibility/2006">
              <mc:Choice xmlns:v="urn:schemas-microsoft-com:vml" Requires="v">
                <p:oleObj name="Bitmap Image" r:id="rId5" imgW="3452040" imgH="312480" progId="PBrush">
                  <p:embed/>
                </p:oleObj>
              </mc:Choice>
              <mc:Fallback>
                <p:oleObj name="Bitmap Image" r:id="rId5" imgW="3452040" imgH="312480" progId="PBrush">
                  <p:embed/>
                  <p:pic>
                    <p:nvPicPr>
                      <p:cNvPr id="0" name=""/>
                      <p:cNvPicPr/>
                      <p:nvPr/>
                    </p:nvPicPr>
                    <p:blipFill>
                      <a:blip r:embed="rId6"/>
                      <a:stretch>
                        <a:fillRect/>
                      </a:stretch>
                    </p:blipFill>
                    <p:spPr>
                      <a:xfrm>
                        <a:off x="4032623" y="6116292"/>
                        <a:ext cx="3452813" cy="312737"/>
                      </a:xfrm>
                      <a:prstGeom prst="rect">
                        <a:avLst/>
                      </a:prstGeom>
                    </p:spPr>
                  </p:pic>
                </p:oleObj>
              </mc:Fallback>
            </mc:AlternateContent>
          </a:graphicData>
        </a:graphic>
      </p:graphicFrame>
    </p:spTree>
    <p:extLst>
      <p:ext uri="{BB962C8B-B14F-4D97-AF65-F5344CB8AC3E}">
        <p14:creationId xmlns:p14="http://schemas.microsoft.com/office/powerpoint/2010/main" val="728034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457200" lvl="1" indent="0" algn="just">
              <a:lnSpc>
                <a:spcPct val="100000"/>
              </a:lnSpc>
              <a:spcBef>
                <a:spcPts val="1800"/>
              </a:spcBef>
              <a:buClr>
                <a:srgbClr val="973735"/>
              </a:buClr>
              <a:buSzPct val="50000"/>
              <a:buNone/>
              <a:defRPr/>
            </a:pPr>
            <a:r>
              <a:rPr lang="en-US" sz="2800" b="1" dirty="0"/>
              <a:t>The Lessons Learned Process</a:t>
            </a:r>
          </a:p>
          <a:p>
            <a:pPr marL="457200" lvl="1" indent="0" algn="just">
              <a:lnSpc>
                <a:spcPct val="100000"/>
              </a:lnSpc>
              <a:spcBef>
                <a:spcPts val="1800"/>
              </a:spcBef>
              <a:buClr>
                <a:srgbClr val="973735"/>
              </a:buClr>
              <a:buSzPct val="50000"/>
              <a:buNone/>
              <a:defRPr/>
            </a:pPr>
            <a:r>
              <a:rPr lang="en-US" sz="2600" b="1" dirty="0"/>
              <a:t>1. Collection: </a:t>
            </a:r>
            <a:r>
              <a:rPr lang="en-US" sz="2600" dirty="0"/>
              <a:t>Capture of lessons through structured or unstructured processes, such as after-action or project reviews, meetings, training evaluations, etc. Capture may be done at all levels: individual, community, and organization.</a:t>
            </a:r>
          </a:p>
          <a:p>
            <a:pPr marL="457200" lvl="1" indent="0" algn="just">
              <a:lnSpc>
                <a:spcPct val="100000"/>
              </a:lnSpc>
              <a:spcBef>
                <a:spcPts val="1800"/>
              </a:spcBef>
              <a:buClr>
                <a:srgbClr val="973735"/>
              </a:buClr>
              <a:buSzPct val="50000"/>
              <a:buNone/>
              <a:defRPr/>
            </a:pPr>
            <a:r>
              <a:rPr lang="en-US" sz="2600" b="1" dirty="0"/>
              <a:t>2. Verification: </a:t>
            </a:r>
            <a:r>
              <a:rPr lang="en-US" sz="2600" dirty="0"/>
              <a:t>Lessons are verified before dissemination to ensure that they are valid and applicable. This process may involve subject-matter experts or additional research, and the lessons are typically verified to ensure that they meet or exceed a set of defined criteria outlined in established standards.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2170943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64593"/>
            <a:ext cx="11971176" cy="4816106"/>
          </a:xfrm>
        </p:spPr>
        <p:txBody>
          <a:bodyPr>
            <a:noAutofit/>
          </a:bodyPr>
          <a:lstStyle/>
          <a:p>
            <a:pPr marL="457200" lvl="1" indent="0" algn="just">
              <a:lnSpc>
                <a:spcPct val="100000"/>
              </a:lnSpc>
              <a:spcBef>
                <a:spcPts val="1800"/>
              </a:spcBef>
              <a:buClr>
                <a:srgbClr val="973735"/>
              </a:buClr>
              <a:buSzPct val="50000"/>
              <a:buNone/>
              <a:defRPr/>
            </a:pPr>
            <a:r>
              <a:rPr lang="en-US" sz="2800" b="1" dirty="0"/>
              <a:t>The Lessons Learned Process</a:t>
            </a:r>
          </a:p>
          <a:p>
            <a:pPr marL="457200" lvl="1" indent="0" algn="just">
              <a:lnSpc>
                <a:spcPct val="100000"/>
              </a:lnSpc>
              <a:spcBef>
                <a:spcPts val="1800"/>
              </a:spcBef>
              <a:buClr>
                <a:srgbClr val="973735"/>
              </a:buClr>
              <a:buSzPct val="50000"/>
              <a:buNone/>
              <a:defRPr/>
            </a:pPr>
            <a:r>
              <a:rPr lang="en-US" sz="2600" b="1" dirty="0"/>
              <a:t>3. Storage: </a:t>
            </a:r>
            <a:r>
              <a:rPr lang="en-US" sz="2600" dirty="0"/>
              <a:t>Once approved, lessons are stored in an accessible database in a format that allows for easy search and retrieval of information. Some storage issues include categorization, indexing, formatting, and structure.</a:t>
            </a:r>
          </a:p>
          <a:p>
            <a:pPr marL="457200" lvl="1" indent="0" algn="just">
              <a:lnSpc>
                <a:spcPct val="100000"/>
              </a:lnSpc>
              <a:spcBef>
                <a:spcPts val="1800"/>
              </a:spcBef>
              <a:buClr>
                <a:srgbClr val="973735"/>
              </a:buClr>
              <a:buSzPct val="50000"/>
              <a:buNone/>
              <a:defRPr/>
            </a:pPr>
            <a:r>
              <a:rPr lang="en-US" sz="2600" b="1" dirty="0"/>
              <a:t>4. Dissemination: </a:t>
            </a:r>
            <a:r>
              <a:rPr lang="en-US" sz="2600" dirty="0"/>
              <a:t>Active dissemination of lessons is essential for getting value out of a lessons learned program; lessons are of little benefit unless they are accessed and reused. Dissemination can be active (lessons are pushed to potential users) or passive (users access a repository to retrieve lessons).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3166063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752729"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t>Methods for Managing Lessons Learned</a:t>
            </a:r>
          </a:p>
          <a:p>
            <a:pPr marL="800100" lvl="1" indent="-342900" algn="just">
              <a:lnSpc>
                <a:spcPct val="100000"/>
              </a:lnSpc>
              <a:spcBef>
                <a:spcPts val="1800"/>
              </a:spcBef>
              <a:buClr>
                <a:srgbClr val="973735"/>
              </a:buClr>
              <a:buSzPct val="50000"/>
              <a:buFont typeface="Wingdings" pitchFamily="2" charset="2"/>
              <a:buChar char="u"/>
              <a:defRPr/>
            </a:pPr>
            <a:r>
              <a:rPr lang="en-US" sz="2600" dirty="0" err="1"/>
              <a:t>Kitimbo</a:t>
            </a:r>
            <a:r>
              <a:rPr lang="en-US" sz="2600" dirty="0"/>
              <a:t> (2015) outlines a number of approaches that can be used to complete the steps in the LL processing lifecycle. Major types include after action reviews, project post mortems, and reporting systems. </a:t>
            </a:r>
          </a:p>
          <a:p>
            <a:pPr marL="800100" lvl="1" indent="-342900" algn="just">
              <a:lnSpc>
                <a:spcPct val="12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3622423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64592"/>
            <a:ext cx="11971176" cy="5300983"/>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Methods for Managing Lessons Learned</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basic questions to be answered in all approaches: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What was planned?  What actually occurred?</a:t>
            </a:r>
          </a:p>
          <a:p>
            <a:pPr marL="1257300" lvl="2" indent="-342900" algn="just">
              <a:lnSpc>
                <a:spcPct val="100000"/>
              </a:lnSpc>
              <a:spcBef>
                <a:spcPts val="1800"/>
              </a:spcBef>
              <a:buClr>
                <a:srgbClr val="973735"/>
              </a:buClr>
              <a:buSzPct val="50000"/>
              <a:buFont typeface="Wingdings" pitchFamily="2" charset="2"/>
              <a:buChar char="u"/>
              <a:defRPr/>
            </a:pPr>
            <a:r>
              <a:rPr lang="en-US" sz="2400" dirty="0"/>
              <a:t>In cases where the two differed, did we do better or worse than expected? What are some possible reasons why?</a:t>
            </a:r>
          </a:p>
          <a:p>
            <a:pPr marL="1257300" lvl="2" indent="-342900" algn="just">
              <a:lnSpc>
                <a:spcPct val="100000"/>
              </a:lnSpc>
              <a:spcBef>
                <a:spcPts val="1800"/>
              </a:spcBef>
              <a:buClr>
                <a:srgbClr val="973735"/>
              </a:buClr>
              <a:buSzPct val="50000"/>
              <a:buFont typeface="Wingdings" pitchFamily="2" charset="2"/>
              <a:buChar char="u"/>
              <a:defRPr/>
            </a:pPr>
            <a:r>
              <a:rPr lang="en-US" sz="2400" dirty="0"/>
              <a:t>What would we do differently based on this experience? What should we keep doing?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What should we avoid repeating in the future?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3782646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Lessons Learned Systems</a:t>
            </a:r>
          </a:p>
          <a:p>
            <a:pPr marL="800100" lvl="1" indent="-342900" algn="just">
              <a:lnSpc>
                <a:spcPct val="100000"/>
              </a:lnSpc>
              <a:spcBef>
                <a:spcPts val="1800"/>
              </a:spcBef>
              <a:buClr>
                <a:srgbClr val="973735"/>
              </a:buClr>
              <a:buSzPct val="50000"/>
              <a:buFont typeface="Wingdings" pitchFamily="2" charset="2"/>
              <a:buChar char="u"/>
              <a:defRPr/>
            </a:pPr>
            <a:r>
              <a:rPr lang="en-US" sz="2600" dirty="0"/>
              <a:t>Schindler and Eppler (2003) note that experiential learning is necessarily a personal experience by the individual who was involved in the event or project. </a:t>
            </a:r>
          </a:p>
          <a:p>
            <a:pPr marL="800100" lvl="1" indent="-342900" algn="just">
              <a:lnSpc>
                <a:spcPct val="100000"/>
              </a:lnSpc>
              <a:spcBef>
                <a:spcPts val="1800"/>
              </a:spcBef>
              <a:buClr>
                <a:srgbClr val="973735"/>
              </a:buClr>
              <a:buSzPct val="50000"/>
              <a:buFont typeface="Wingdings" pitchFamily="2" charset="2"/>
              <a:buChar char="u"/>
              <a:defRPr/>
            </a:pPr>
            <a:r>
              <a:rPr lang="en-US" sz="2600" dirty="0"/>
              <a:t>People solve problems during the course of their work. </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676314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0" y="1664593"/>
            <a:ext cx="11846859"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Benefits of Lessons Learned</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There is a benefit in making the time (and space) for reflective thinking. Most organizations are too busy doing to think about what they are doing. </a:t>
            </a:r>
          </a:p>
          <a:p>
            <a:pPr marL="800100" lvl="1" indent="-342900" algn="just">
              <a:lnSpc>
                <a:spcPct val="100000"/>
              </a:lnSpc>
              <a:spcBef>
                <a:spcPts val="1800"/>
              </a:spcBef>
              <a:buClr>
                <a:srgbClr val="973735"/>
              </a:buClr>
              <a:buSzPct val="50000"/>
              <a:buFont typeface="Wingdings" pitchFamily="2" charset="2"/>
              <a:buChar char="u"/>
              <a:defRPr/>
            </a:pPr>
            <a:r>
              <a:rPr lang="en-US" sz="2600" dirty="0"/>
              <a:t>Reflective observation is an excellent practice to be able to evaluate the efficiency and effectiveness of all organizational activities, whether they be mundane or routine operational tasks or a five-year strategic planning exercise.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355609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11685494" cy="5058936"/>
          </a:xfrm>
        </p:spPr>
        <p:txBody>
          <a:bodyPr>
            <a:normAutofit fontScale="92500" lnSpcReduction="20000"/>
          </a:bodyPr>
          <a:lstStyle/>
          <a:p>
            <a:pPr marL="342900" indent="-342900" algn="just">
              <a:lnSpc>
                <a:spcPct val="120000"/>
              </a:lnSpc>
              <a:spcBef>
                <a:spcPts val="1200"/>
              </a:spcBef>
              <a:buClr>
                <a:srgbClr val="973735"/>
              </a:buClr>
              <a:buSzPct val="50000"/>
              <a:buFont typeface="Wingdings" pitchFamily="2" charset="2"/>
              <a:buChar char="u"/>
              <a:defRPr/>
            </a:pPr>
            <a:r>
              <a:rPr lang="en-US" sz="3000" b="1" dirty="0"/>
              <a:t>Benefits of Lessons Learned</a:t>
            </a:r>
          </a:p>
          <a:p>
            <a:pPr marL="457200" lvl="1" indent="0" algn="just">
              <a:lnSpc>
                <a:spcPct val="120000"/>
              </a:lnSpc>
              <a:spcBef>
                <a:spcPts val="1200"/>
              </a:spcBef>
              <a:buClr>
                <a:srgbClr val="973735"/>
              </a:buClr>
              <a:buSzPct val="50000"/>
              <a:buNone/>
              <a:defRPr/>
            </a:pPr>
            <a:r>
              <a:rPr lang="en-US" sz="2600" dirty="0"/>
              <a:t>1. Project managers learn how to manage experientially as they learn to reflect on their projects and consult other projects’ lessons learned that are relevant.</a:t>
            </a:r>
          </a:p>
          <a:p>
            <a:pPr marL="457200" lvl="1" indent="0" algn="just">
              <a:lnSpc>
                <a:spcPct val="120000"/>
              </a:lnSpc>
              <a:spcBef>
                <a:spcPts val="1200"/>
              </a:spcBef>
              <a:buClr>
                <a:srgbClr val="973735"/>
              </a:buClr>
              <a:buSzPct val="50000"/>
              <a:buNone/>
              <a:defRPr/>
            </a:pPr>
            <a:r>
              <a:rPr lang="en-US" sz="2600" dirty="0"/>
              <a:t>2. Lessons learned can contribute to the feasibility and risk assessment of other projects and help managers plan them better.</a:t>
            </a:r>
          </a:p>
          <a:p>
            <a:pPr marL="457200" lvl="1" indent="0" algn="just">
              <a:lnSpc>
                <a:spcPct val="120000"/>
              </a:lnSpc>
              <a:spcBef>
                <a:spcPts val="1200"/>
              </a:spcBef>
              <a:buClr>
                <a:srgbClr val="973735"/>
              </a:buClr>
              <a:buSzPct val="50000"/>
              <a:buNone/>
              <a:defRPr/>
            </a:pPr>
            <a:r>
              <a:rPr lang="en-US" sz="2600" dirty="0"/>
              <a:t>3. The project management process is improved.</a:t>
            </a:r>
          </a:p>
          <a:p>
            <a:pPr marL="457200" lvl="1" indent="0" algn="just">
              <a:lnSpc>
                <a:spcPct val="120000"/>
              </a:lnSpc>
              <a:spcBef>
                <a:spcPts val="1200"/>
              </a:spcBef>
              <a:buClr>
                <a:srgbClr val="973735"/>
              </a:buClr>
              <a:buSzPct val="50000"/>
              <a:buNone/>
              <a:defRPr/>
            </a:pPr>
            <a:r>
              <a:rPr lang="en-US" sz="2600" dirty="0"/>
              <a:t>4. Management decision making is improved.</a:t>
            </a:r>
          </a:p>
          <a:p>
            <a:pPr marL="457200" lvl="1" indent="0" algn="just">
              <a:lnSpc>
                <a:spcPct val="120000"/>
              </a:lnSpc>
              <a:spcBef>
                <a:spcPts val="1200"/>
              </a:spcBef>
              <a:buClr>
                <a:srgbClr val="973735"/>
              </a:buClr>
              <a:buSzPct val="50000"/>
              <a:buNone/>
              <a:defRPr/>
            </a:pPr>
            <a:r>
              <a:rPr lang="en-US" sz="2600" dirty="0"/>
              <a:t>5. Lessons learned can be used for benchmarking.</a:t>
            </a:r>
          </a:p>
          <a:p>
            <a:pPr marL="457200" lvl="1" indent="0" algn="just">
              <a:lnSpc>
                <a:spcPct val="120000"/>
              </a:lnSpc>
              <a:spcBef>
                <a:spcPts val="1200"/>
              </a:spcBef>
              <a:buClr>
                <a:srgbClr val="973735"/>
              </a:buClr>
              <a:buSzPct val="50000"/>
              <a:buNone/>
              <a:defRPr/>
            </a:pPr>
            <a:r>
              <a:rPr lang="en-US" sz="2600" dirty="0"/>
              <a:t>6. Lessons learned can lead to innovations such as new products and services.</a:t>
            </a:r>
          </a:p>
          <a:p>
            <a:pPr marL="457200" lvl="1" indent="0" algn="just">
              <a:lnSpc>
                <a:spcPct val="120000"/>
              </a:lnSpc>
              <a:spcBef>
                <a:spcPts val="1200"/>
              </a:spcBef>
              <a:buClr>
                <a:srgbClr val="973735"/>
              </a:buClr>
              <a:buSzPct val="50000"/>
              <a:buNone/>
              <a:defRPr/>
            </a:pPr>
            <a:r>
              <a:rPr lang="en-US" sz="2600" dirty="0"/>
              <a:t>7. The organization’s strategic focus may be adjusted.</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1930434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873753"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b="1" dirty="0"/>
              <a:t>Some Challenges</a:t>
            </a:r>
          </a:p>
          <a:p>
            <a:pPr marL="800100" lvl="1" indent="-342900" algn="just">
              <a:lnSpc>
                <a:spcPct val="100000"/>
              </a:lnSpc>
              <a:spcBef>
                <a:spcPts val="2400"/>
              </a:spcBef>
              <a:buClr>
                <a:srgbClr val="973735"/>
              </a:buClr>
              <a:buSzPct val="50000"/>
              <a:buFont typeface="Wingdings" pitchFamily="2" charset="2"/>
              <a:buChar char="u"/>
              <a:defRPr/>
            </a:pPr>
            <a:r>
              <a:rPr lang="en-US" sz="2600" dirty="0"/>
              <a:t>One of the first barriers to be encountered is at the lesson learned elicitation stage. </a:t>
            </a:r>
          </a:p>
          <a:p>
            <a:pPr marL="800100" lvl="1" indent="-342900" algn="just">
              <a:lnSpc>
                <a:spcPct val="100000"/>
              </a:lnSpc>
              <a:spcBef>
                <a:spcPts val="2400"/>
              </a:spcBef>
              <a:buClr>
                <a:srgbClr val="973735"/>
              </a:buClr>
              <a:buSzPct val="50000"/>
              <a:buFont typeface="Wingdings" pitchFamily="2" charset="2"/>
              <a:buChar char="u"/>
              <a:defRPr/>
            </a:pPr>
            <a:r>
              <a:rPr lang="en-US" sz="2600" dirty="0"/>
              <a:t>Asking people to publicly admit that everything did not go perfectly according to plan. </a:t>
            </a:r>
          </a:p>
          <a:p>
            <a:pPr marL="800100" lvl="1" indent="-342900" algn="just">
              <a:lnSpc>
                <a:spcPct val="100000"/>
              </a:lnSpc>
              <a:spcBef>
                <a:spcPts val="2400"/>
              </a:spcBef>
              <a:buClr>
                <a:srgbClr val="973735"/>
              </a:buClr>
              <a:buSzPct val="50000"/>
              <a:buFont typeface="Wingdings" pitchFamily="2" charset="2"/>
              <a:buChar char="u"/>
              <a:defRPr/>
            </a:pPr>
            <a:r>
              <a:rPr lang="en-US" sz="2600" dirty="0"/>
              <a:t>Participants are very defensive, lacking in trust, and expecting to be judged in some manner. </a:t>
            </a:r>
          </a:p>
          <a:p>
            <a:pPr marL="342900" indent="-342900" algn="just">
              <a:lnSpc>
                <a:spcPct val="10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246096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Some Challenges</a:t>
            </a:r>
          </a:p>
          <a:p>
            <a:pPr marL="800100" lvl="1" indent="-342900" algn="just">
              <a:lnSpc>
                <a:spcPct val="100000"/>
              </a:lnSpc>
              <a:spcBef>
                <a:spcPts val="1200"/>
              </a:spcBef>
              <a:buClr>
                <a:srgbClr val="973735"/>
              </a:buClr>
              <a:buSzPct val="50000"/>
              <a:buFont typeface="Wingdings" pitchFamily="2" charset="2"/>
              <a:buChar char="u"/>
              <a:defRPr/>
            </a:pPr>
            <a:r>
              <a:rPr lang="en-US" sz="2600" dirty="0"/>
              <a:t>A good idea to start with the positive—what went well, what went better than expected. </a:t>
            </a:r>
          </a:p>
          <a:p>
            <a:pPr marL="800100" lvl="1" indent="-342900" algn="just">
              <a:lnSpc>
                <a:spcPct val="100000"/>
              </a:lnSpc>
              <a:spcBef>
                <a:spcPts val="1200"/>
              </a:spcBef>
              <a:buClr>
                <a:srgbClr val="973735"/>
              </a:buClr>
              <a:buSzPct val="50000"/>
              <a:buFont typeface="Wingdings" pitchFamily="2" charset="2"/>
              <a:buChar char="u"/>
              <a:defRPr/>
            </a:pPr>
            <a:r>
              <a:rPr lang="en-US" sz="2600" dirty="0"/>
              <a:t>When addressing what went wrong, the tone must again be positive even though we are discussing something negative. </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goal is to improve, to avoid costly mistakes, and to change how things are done.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1669751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lnSpcReduction="10000"/>
          </a:bodyPr>
          <a:lstStyle/>
          <a:p>
            <a:pPr marL="342900" indent="-342900" algn="just">
              <a:lnSpc>
                <a:spcPct val="100000"/>
              </a:lnSpc>
              <a:spcBef>
                <a:spcPts val="2400"/>
              </a:spcBef>
              <a:buClr>
                <a:srgbClr val="973735"/>
              </a:buClr>
              <a:buSzPct val="50000"/>
              <a:buFont typeface="Wingdings" pitchFamily="2" charset="2"/>
              <a:buChar char="u"/>
              <a:defRPr/>
            </a:pPr>
            <a:r>
              <a:rPr lang="en-US" b="1" dirty="0"/>
              <a:t>Some Challenges</a:t>
            </a:r>
          </a:p>
          <a:p>
            <a:pPr marL="800100" lvl="1" indent="-342900" algn="just">
              <a:lnSpc>
                <a:spcPct val="100000"/>
              </a:lnSpc>
              <a:spcBef>
                <a:spcPts val="2400"/>
              </a:spcBef>
              <a:buClr>
                <a:srgbClr val="973735"/>
              </a:buClr>
              <a:buSzPct val="50000"/>
              <a:buFont typeface="Wingdings" pitchFamily="2" charset="2"/>
              <a:buChar char="u"/>
              <a:defRPr/>
            </a:pPr>
            <a:r>
              <a:rPr lang="en-US" sz="2600" dirty="0" err="1"/>
              <a:t>Zedtwitz</a:t>
            </a:r>
            <a:r>
              <a:rPr lang="en-US" sz="2600" dirty="0"/>
              <a:t> (2002) identified four main categories of obstacles to successfully implementing lessons learned:</a:t>
            </a:r>
          </a:p>
          <a:p>
            <a:pPr marL="1371600" lvl="3" indent="0" algn="just">
              <a:lnSpc>
                <a:spcPct val="100000"/>
              </a:lnSpc>
              <a:spcBef>
                <a:spcPts val="2400"/>
              </a:spcBef>
              <a:buClr>
                <a:srgbClr val="973735"/>
              </a:buClr>
              <a:buSzPct val="50000"/>
              <a:buNone/>
              <a:defRPr/>
            </a:pPr>
            <a:r>
              <a:rPr lang="en-US" sz="2400" dirty="0"/>
              <a:t>1. Psychological barriers</a:t>
            </a:r>
          </a:p>
          <a:p>
            <a:pPr marL="1371600" lvl="3" indent="0" algn="just">
              <a:lnSpc>
                <a:spcPct val="100000"/>
              </a:lnSpc>
              <a:spcBef>
                <a:spcPts val="2400"/>
              </a:spcBef>
              <a:buClr>
                <a:srgbClr val="973735"/>
              </a:buClr>
              <a:buSzPct val="50000"/>
              <a:buNone/>
              <a:defRPr/>
            </a:pPr>
            <a:r>
              <a:rPr lang="en-US" sz="2400" dirty="0"/>
              <a:t>2. Team-based shortcomings</a:t>
            </a:r>
          </a:p>
          <a:p>
            <a:pPr marL="1371600" lvl="3" indent="0" algn="just">
              <a:lnSpc>
                <a:spcPct val="100000"/>
              </a:lnSpc>
              <a:spcBef>
                <a:spcPts val="2400"/>
              </a:spcBef>
              <a:buClr>
                <a:srgbClr val="973735"/>
              </a:buClr>
              <a:buSzPct val="50000"/>
              <a:buNone/>
              <a:defRPr/>
            </a:pPr>
            <a:r>
              <a:rPr lang="en-US" sz="2400" dirty="0"/>
              <a:t>3. Epistemological constraints</a:t>
            </a:r>
          </a:p>
          <a:p>
            <a:pPr marL="1371600" lvl="3" indent="0" algn="just">
              <a:lnSpc>
                <a:spcPct val="100000"/>
              </a:lnSpc>
              <a:spcBef>
                <a:spcPts val="2400"/>
              </a:spcBef>
              <a:buClr>
                <a:srgbClr val="973735"/>
              </a:buClr>
              <a:buSzPct val="50000"/>
              <a:buNone/>
              <a:defRPr/>
            </a:pPr>
            <a:r>
              <a:rPr lang="en-US" sz="2400" dirty="0"/>
              <a:t>4. Managerial problems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2617789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Benefits of Lessons Learned</a:t>
            </a:r>
          </a:p>
          <a:p>
            <a:pPr marL="800100" lvl="1" indent="-342900" algn="just">
              <a:lnSpc>
                <a:spcPct val="100000"/>
              </a:lnSpc>
              <a:spcBef>
                <a:spcPts val="1800"/>
              </a:spcBef>
              <a:buClr>
                <a:srgbClr val="973735"/>
              </a:buClr>
              <a:buSzPct val="50000"/>
              <a:buFont typeface="Wingdings" pitchFamily="2" charset="2"/>
              <a:buChar char="u"/>
              <a:defRPr/>
            </a:pPr>
            <a:r>
              <a:rPr lang="en-US" sz="2600" dirty="0"/>
              <a:t>Psychological </a:t>
            </a:r>
            <a:r>
              <a:rPr lang="en-US" sz="2600" b="1" dirty="0"/>
              <a:t>barriers</a:t>
            </a:r>
            <a:r>
              <a:rPr lang="en-US" sz="2600" dirty="0"/>
              <a:t> refer to reluctance to look back into what happened in the past. Employees may not be motivated to talk about a project failure, especially if they were at all involved in the reason it failed. </a:t>
            </a:r>
          </a:p>
          <a:p>
            <a:pPr marL="800100" lvl="1" indent="-342900" algn="just">
              <a:lnSpc>
                <a:spcPct val="100000"/>
              </a:lnSpc>
              <a:spcBef>
                <a:spcPts val="1800"/>
              </a:spcBef>
              <a:buClr>
                <a:srgbClr val="973735"/>
              </a:buClr>
              <a:buSzPct val="50000"/>
              <a:buFont typeface="Wingdings" pitchFamily="2" charset="2"/>
              <a:buChar char="u"/>
              <a:defRPr/>
            </a:pPr>
            <a:r>
              <a:rPr lang="en-US" sz="2600" b="1" dirty="0"/>
              <a:t>Team-based </a:t>
            </a:r>
            <a:r>
              <a:rPr lang="en-US" sz="2600" dirty="0"/>
              <a:t>shortcomings refer to how well the team worked together. Team members may not have necessarily gotten along well, they may have had incompatible working styles, communication may have been poor or roles not clearly defined.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2573830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b="1" dirty="0"/>
              <a:t>Benefits of Lessons Learned</a:t>
            </a:r>
          </a:p>
          <a:p>
            <a:pPr marL="800100" lvl="1" indent="-342900" algn="just">
              <a:lnSpc>
                <a:spcPct val="100000"/>
              </a:lnSpc>
              <a:spcBef>
                <a:spcPts val="2400"/>
              </a:spcBef>
              <a:buClr>
                <a:srgbClr val="973735"/>
              </a:buClr>
              <a:buSzPct val="50000"/>
              <a:buFont typeface="Wingdings" pitchFamily="2" charset="2"/>
              <a:buChar char="u"/>
              <a:defRPr/>
            </a:pPr>
            <a:r>
              <a:rPr lang="en-US" sz="2600" b="1" dirty="0"/>
              <a:t>Epistemological constraints </a:t>
            </a:r>
            <a:r>
              <a:rPr lang="en-US" sz="2600" dirty="0"/>
              <a:t>refer to cognitive challenges such as difficulty in trying to abstract or generalize from a specific incident to a broader scope lesson to be learned. </a:t>
            </a:r>
          </a:p>
          <a:p>
            <a:pPr marL="800100" lvl="1" indent="-342900" algn="just">
              <a:lnSpc>
                <a:spcPct val="100000"/>
              </a:lnSpc>
              <a:spcBef>
                <a:spcPts val="2400"/>
              </a:spcBef>
              <a:buClr>
                <a:srgbClr val="973735"/>
              </a:buClr>
              <a:buSzPct val="50000"/>
              <a:buFont typeface="Wingdings" pitchFamily="2" charset="2"/>
              <a:buChar char="u"/>
              <a:defRPr/>
            </a:pPr>
            <a:r>
              <a:rPr lang="en-US" sz="2600" b="1" dirty="0"/>
              <a:t>Managerial problems </a:t>
            </a:r>
            <a:r>
              <a:rPr lang="en-US" sz="2600" dirty="0"/>
              <a:t>have already been mentioned and they are mostly related to lack of time to reflect, lack of lessons learned guidelines, failure to comply with guidelines, and lack of managerial support.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a:t>
            </a:r>
          </a:p>
        </p:txBody>
      </p:sp>
    </p:spTree>
    <p:extLst>
      <p:ext uri="{BB962C8B-B14F-4D97-AF65-F5344CB8AC3E}">
        <p14:creationId xmlns:p14="http://schemas.microsoft.com/office/powerpoint/2010/main" val="2681064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3"/>
            <a:ext cx="11779624"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endParaRPr lang="en-US" dirty="0"/>
          </a:p>
          <a:p>
            <a:pPr marL="342900" indent="-342900" algn="just">
              <a:lnSpc>
                <a:spcPct val="100000"/>
              </a:lnSpc>
              <a:spcBef>
                <a:spcPts val="1200"/>
              </a:spcBef>
              <a:buClr>
                <a:srgbClr val="973735"/>
              </a:buClr>
              <a:buSzPct val="50000"/>
              <a:buFont typeface="Wingdings" pitchFamily="2" charset="2"/>
              <a:buChar char="u"/>
              <a:defRPr/>
            </a:pPr>
            <a:r>
              <a:rPr lang="en-US" dirty="0" err="1"/>
              <a:t>Huysman</a:t>
            </a:r>
            <a:r>
              <a:rPr lang="en-US" dirty="0"/>
              <a:t> and de Wit (2002) identify three fundamental stages in knowledge processing: </a:t>
            </a:r>
          </a:p>
          <a:p>
            <a:pPr marL="457200" lvl="1" indent="0" algn="just">
              <a:lnSpc>
                <a:spcPct val="100000"/>
              </a:lnSpc>
              <a:spcBef>
                <a:spcPts val="1200"/>
              </a:spcBef>
              <a:buClr>
                <a:srgbClr val="973735"/>
              </a:buClr>
              <a:buSzPct val="50000"/>
              <a:buNone/>
              <a:defRPr/>
            </a:pPr>
            <a:r>
              <a:rPr lang="en-US" sz="2600" dirty="0"/>
              <a:t>(1) Internalization, where knowledge is learned and understood by the knowledge sharers; </a:t>
            </a:r>
          </a:p>
          <a:p>
            <a:pPr marL="457200" lvl="1" indent="0" algn="just">
              <a:lnSpc>
                <a:spcPct val="100000"/>
              </a:lnSpc>
              <a:spcBef>
                <a:spcPts val="1200"/>
              </a:spcBef>
              <a:buClr>
                <a:srgbClr val="973735"/>
              </a:buClr>
              <a:buSzPct val="50000"/>
              <a:buNone/>
              <a:defRPr/>
            </a:pPr>
            <a:r>
              <a:rPr lang="en-US" sz="2600" dirty="0"/>
              <a:t>(2) Externalization, where knowledge is exchanged or reused and new knowledge can be derived from the shared knowledge; </a:t>
            </a:r>
          </a:p>
          <a:p>
            <a:pPr marL="457200" lvl="1" indent="0" algn="just">
              <a:lnSpc>
                <a:spcPct val="100000"/>
              </a:lnSpc>
              <a:spcBef>
                <a:spcPts val="1200"/>
              </a:spcBef>
              <a:buClr>
                <a:srgbClr val="973735"/>
              </a:buClr>
              <a:buSzPct val="50000"/>
              <a:buNone/>
              <a:defRPr/>
            </a:pPr>
            <a:r>
              <a:rPr lang="en-US" sz="2600" dirty="0"/>
              <a:t>(3) Objectification, where shared knowledge is accepted and institutionalized as organizational knowledge.</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9335"/>
            <a:ext cx="10613094" cy="709226"/>
          </a:xfrm>
        </p:spPr>
        <p:txBody>
          <a:bodyPr>
            <a:normAutofit fontScale="90000"/>
          </a:bodyPr>
          <a:lstStyle/>
          <a:p>
            <a:r>
              <a:rPr lang="en-US" sz="4000" b="1" dirty="0"/>
              <a:t>Organizational Learning and Organizational Memory Models</a:t>
            </a:r>
          </a:p>
        </p:txBody>
      </p:sp>
    </p:spTree>
    <p:extLst>
      <p:ext uri="{BB962C8B-B14F-4D97-AF65-F5344CB8AC3E}">
        <p14:creationId xmlns:p14="http://schemas.microsoft.com/office/powerpoint/2010/main" val="2011923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551024"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Assessment Frameworks</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organizational learning frameworks serve to evaluate the organizational readiness or baseline state of a given organization with respect to organizational learning processes, organizational memory containers, and enablers of these, such as technology and culture.</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9335"/>
            <a:ext cx="10613094" cy="709226"/>
          </a:xfrm>
        </p:spPr>
        <p:txBody>
          <a:bodyPr>
            <a:normAutofit fontScale="90000"/>
          </a:bodyPr>
          <a:lstStyle/>
          <a:p>
            <a:r>
              <a:rPr lang="en-US" sz="4000" b="1" dirty="0"/>
              <a:t>Organizational Learning and Organizational Memory Models</a:t>
            </a:r>
          </a:p>
        </p:txBody>
      </p:sp>
    </p:spTree>
    <p:extLst>
      <p:ext uri="{BB962C8B-B14F-4D97-AF65-F5344CB8AC3E}">
        <p14:creationId xmlns:p14="http://schemas.microsoft.com/office/powerpoint/2010/main" val="1035785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b="1" dirty="0"/>
              <a:t>Assessment Frameworks</a:t>
            </a:r>
          </a:p>
          <a:p>
            <a:pPr marL="800100" lvl="1" indent="-342900" algn="just">
              <a:lnSpc>
                <a:spcPct val="100000"/>
              </a:lnSpc>
              <a:spcBef>
                <a:spcPts val="2400"/>
              </a:spcBef>
              <a:buClr>
                <a:srgbClr val="973735"/>
              </a:buClr>
              <a:buSzPct val="50000"/>
              <a:buFont typeface="Wingdings" pitchFamily="2" charset="2"/>
              <a:buChar char="u"/>
              <a:defRPr/>
            </a:pPr>
            <a:r>
              <a:rPr lang="en-US" sz="2600" dirty="0"/>
              <a:t>One framework, proposed by Probst and </a:t>
            </a:r>
            <a:r>
              <a:rPr lang="en-US" sz="2600" dirty="0" err="1"/>
              <a:t>Buchel</a:t>
            </a:r>
            <a:r>
              <a:rPr lang="en-US" sz="2600" dirty="0"/>
              <a:t> (1997) looks at the following organizational factors:</a:t>
            </a:r>
          </a:p>
          <a:p>
            <a:pPr marL="1371600" lvl="3" indent="0" algn="just">
              <a:lnSpc>
                <a:spcPct val="100000"/>
              </a:lnSpc>
              <a:spcBef>
                <a:spcPts val="2400"/>
              </a:spcBef>
              <a:buClr>
                <a:srgbClr val="973735"/>
              </a:buClr>
              <a:buSzPct val="50000"/>
              <a:buNone/>
              <a:defRPr/>
            </a:pPr>
            <a:r>
              <a:rPr lang="en-US" sz="2400" dirty="0"/>
              <a:t>1. Knowledge—the number of organizational learning instruments</a:t>
            </a:r>
          </a:p>
          <a:p>
            <a:pPr marL="1828800" lvl="4" indent="0" algn="just">
              <a:lnSpc>
                <a:spcPct val="100000"/>
              </a:lnSpc>
              <a:spcBef>
                <a:spcPts val="2400"/>
              </a:spcBef>
              <a:buClr>
                <a:srgbClr val="973735"/>
              </a:buClr>
              <a:buSzPct val="50000"/>
              <a:buNone/>
              <a:defRPr/>
            </a:pPr>
            <a:r>
              <a:rPr lang="en-US" sz="2400" dirty="0"/>
              <a:t>a. Number of techniques for facilitating learning</a:t>
            </a:r>
          </a:p>
          <a:p>
            <a:pPr marL="1828800" lvl="4" indent="0" algn="just">
              <a:lnSpc>
                <a:spcPct val="100000"/>
              </a:lnSpc>
              <a:spcBef>
                <a:spcPts val="2400"/>
              </a:spcBef>
              <a:buClr>
                <a:srgbClr val="973735"/>
              </a:buClr>
              <a:buSzPct val="50000"/>
              <a:buNone/>
              <a:defRPr/>
            </a:pPr>
            <a:r>
              <a:rPr lang="en-US" sz="2400" dirty="0"/>
              <a:t>b. Number of techniques for breaking down barriers</a:t>
            </a:r>
          </a:p>
          <a:p>
            <a:pPr marL="1828800" lvl="4" indent="0" algn="just">
              <a:lnSpc>
                <a:spcPct val="100000"/>
              </a:lnSpc>
              <a:spcBef>
                <a:spcPts val="2400"/>
              </a:spcBef>
              <a:buClr>
                <a:srgbClr val="973735"/>
              </a:buClr>
              <a:buSzPct val="50000"/>
              <a:buNone/>
              <a:defRPr/>
            </a:pPr>
            <a:r>
              <a:rPr lang="en-US" sz="2400" dirty="0"/>
              <a:t>c. Process-oriented use of techniques</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9335"/>
            <a:ext cx="10613094" cy="709226"/>
          </a:xfrm>
        </p:spPr>
        <p:txBody>
          <a:bodyPr>
            <a:normAutofit fontScale="90000"/>
          </a:bodyPr>
          <a:lstStyle/>
          <a:p>
            <a:r>
              <a:rPr lang="en-US" sz="4000" b="1" dirty="0"/>
              <a:t>Organizational Learning and Organizational Memory Models</a:t>
            </a:r>
          </a:p>
        </p:txBody>
      </p:sp>
    </p:spTree>
    <p:extLst>
      <p:ext uri="{BB962C8B-B14F-4D97-AF65-F5344CB8AC3E}">
        <p14:creationId xmlns:p14="http://schemas.microsoft.com/office/powerpoint/2010/main" val="62961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lnSpcReduction="10000"/>
          </a:bodyPr>
          <a:lstStyle/>
          <a:p>
            <a:pPr marL="342900" indent="-342900" algn="just">
              <a:lnSpc>
                <a:spcPct val="100000"/>
              </a:lnSpc>
              <a:spcBef>
                <a:spcPts val="2400"/>
              </a:spcBef>
              <a:buClr>
                <a:srgbClr val="973735"/>
              </a:buClr>
              <a:buSzPct val="50000"/>
              <a:buFont typeface="Wingdings" pitchFamily="2" charset="2"/>
              <a:buChar char="u"/>
              <a:defRPr/>
            </a:pPr>
            <a:r>
              <a:rPr lang="en-US" b="1" dirty="0"/>
              <a:t>Assessment Frameworks</a:t>
            </a:r>
          </a:p>
          <a:p>
            <a:pPr marL="800100" lvl="1" indent="-342900" algn="just">
              <a:lnSpc>
                <a:spcPct val="100000"/>
              </a:lnSpc>
              <a:spcBef>
                <a:spcPts val="2400"/>
              </a:spcBef>
              <a:buClr>
                <a:srgbClr val="973735"/>
              </a:buClr>
              <a:buSzPct val="50000"/>
              <a:buFont typeface="Wingdings" pitchFamily="2" charset="2"/>
              <a:buChar char="u"/>
              <a:defRPr/>
            </a:pPr>
            <a:r>
              <a:rPr lang="en-US" sz="2600" dirty="0"/>
              <a:t>One framework, proposed by Probst and </a:t>
            </a:r>
            <a:r>
              <a:rPr lang="en-US" sz="2600" dirty="0" err="1"/>
              <a:t>Buchel</a:t>
            </a:r>
            <a:r>
              <a:rPr lang="en-US" sz="2600" dirty="0"/>
              <a:t> (1997) looks at the following organizational factors:</a:t>
            </a:r>
          </a:p>
          <a:p>
            <a:pPr marL="1371600" lvl="3" indent="0" algn="just">
              <a:lnSpc>
                <a:spcPct val="100000"/>
              </a:lnSpc>
              <a:spcBef>
                <a:spcPts val="2400"/>
              </a:spcBef>
              <a:buClr>
                <a:srgbClr val="973735"/>
              </a:buClr>
              <a:buSzPct val="50000"/>
              <a:buNone/>
              <a:defRPr/>
            </a:pPr>
            <a:r>
              <a:rPr lang="en-US" sz="2400" dirty="0"/>
              <a:t>2. Ability—the learning level</a:t>
            </a:r>
          </a:p>
          <a:p>
            <a:pPr marL="1828800" lvl="4" indent="0" algn="just">
              <a:lnSpc>
                <a:spcPct val="100000"/>
              </a:lnSpc>
              <a:spcBef>
                <a:spcPts val="2400"/>
              </a:spcBef>
              <a:buClr>
                <a:srgbClr val="973735"/>
              </a:buClr>
              <a:buSzPct val="50000"/>
              <a:buNone/>
              <a:defRPr/>
            </a:pPr>
            <a:r>
              <a:rPr lang="en-US" sz="2400" dirty="0"/>
              <a:t>a. Ability to cooperate and participate</a:t>
            </a:r>
          </a:p>
          <a:p>
            <a:pPr marL="1828800" lvl="4" indent="0" algn="just">
              <a:lnSpc>
                <a:spcPct val="100000"/>
              </a:lnSpc>
              <a:spcBef>
                <a:spcPts val="2400"/>
              </a:spcBef>
              <a:buClr>
                <a:srgbClr val="973735"/>
              </a:buClr>
              <a:buSzPct val="50000"/>
              <a:buNone/>
              <a:defRPr/>
            </a:pPr>
            <a:r>
              <a:rPr lang="en-US" sz="2400" dirty="0"/>
              <a:t>b. Ability to communicate and achieve transparency</a:t>
            </a:r>
          </a:p>
          <a:p>
            <a:pPr marL="1828800" lvl="4" indent="0" algn="just">
              <a:lnSpc>
                <a:spcPct val="100000"/>
              </a:lnSpc>
              <a:spcBef>
                <a:spcPts val="2400"/>
              </a:spcBef>
              <a:buClr>
                <a:srgbClr val="973735"/>
              </a:buClr>
              <a:buSzPct val="50000"/>
              <a:buNone/>
              <a:defRPr/>
            </a:pPr>
            <a:r>
              <a:rPr lang="en-US" sz="2400" dirty="0"/>
              <a:t>c. Ability to analyze problems and solve complex issues</a:t>
            </a:r>
          </a:p>
          <a:p>
            <a:pPr marL="1828800" lvl="4" indent="0" algn="just">
              <a:lnSpc>
                <a:spcPct val="100000"/>
              </a:lnSpc>
              <a:spcBef>
                <a:spcPts val="2400"/>
              </a:spcBef>
              <a:buClr>
                <a:srgbClr val="973735"/>
              </a:buClr>
              <a:buSzPct val="50000"/>
              <a:buNone/>
              <a:defRPr/>
            </a:pPr>
            <a:r>
              <a:rPr lang="en-US" sz="2400" dirty="0"/>
              <a:t>d. Ability to store knowledge</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9335"/>
            <a:ext cx="10613094" cy="709226"/>
          </a:xfrm>
        </p:spPr>
        <p:txBody>
          <a:bodyPr>
            <a:normAutofit fontScale="90000"/>
          </a:bodyPr>
          <a:lstStyle/>
          <a:p>
            <a:r>
              <a:rPr lang="en-US" sz="4000" b="1" dirty="0"/>
              <a:t>Organizational Learning and Organizational Memory Models</a:t>
            </a:r>
          </a:p>
        </p:txBody>
      </p:sp>
    </p:spTree>
    <p:extLst>
      <p:ext uri="{BB962C8B-B14F-4D97-AF65-F5344CB8AC3E}">
        <p14:creationId xmlns:p14="http://schemas.microsoft.com/office/powerpoint/2010/main" val="6570874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b="1" dirty="0"/>
              <a:t>Assessment Frameworks</a:t>
            </a:r>
          </a:p>
          <a:p>
            <a:pPr marL="800100" lvl="1" indent="-342900" algn="just">
              <a:lnSpc>
                <a:spcPct val="100000"/>
              </a:lnSpc>
              <a:spcBef>
                <a:spcPts val="2400"/>
              </a:spcBef>
              <a:buClr>
                <a:srgbClr val="973735"/>
              </a:buClr>
              <a:buSzPct val="50000"/>
              <a:buFont typeface="Wingdings" pitchFamily="2" charset="2"/>
              <a:buChar char="u"/>
              <a:defRPr/>
            </a:pPr>
            <a:r>
              <a:rPr lang="en-US" sz="2600" dirty="0"/>
              <a:t>One framework, proposed by Probst and </a:t>
            </a:r>
            <a:r>
              <a:rPr lang="en-US" sz="2600" dirty="0" err="1"/>
              <a:t>Buchel</a:t>
            </a:r>
            <a:r>
              <a:rPr lang="en-US" sz="2600" dirty="0"/>
              <a:t> (1997) looks at the following organizational factors:</a:t>
            </a:r>
          </a:p>
          <a:p>
            <a:pPr marL="1371600" lvl="3" indent="0" algn="just">
              <a:lnSpc>
                <a:spcPct val="100000"/>
              </a:lnSpc>
              <a:spcBef>
                <a:spcPts val="2400"/>
              </a:spcBef>
              <a:buClr>
                <a:srgbClr val="973735"/>
              </a:buClr>
              <a:buSzPct val="50000"/>
              <a:buNone/>
              <a:defRPr/>
            </a:pPr>
            <a:r>
              <a:rPr lang="en-US" sz="2400" dirty="0"/>
              <a:t>3. Intention - the willingness to learn</a:t>
            </a:r>
          </a:p>
          <a:p>
            <a:pPr marL="1828800" lvl="4" indent="0" algn="just">
              <a:lnSpc>
                <a:spcPct val="100000"/>
              </a:lnSpc>
              <a:spcBef>
                <a:spcPts val="2400"/>
              </a:spcBef>
              <a:buClr>
                <a:srgbClr val="973735"/>
              </a:buClr>
              <a:buSzPct val="50000"/>
              <a:buNone/>
              <a:defRPr/>
            </a:pPr>
            <a:r>
              <a:rPr lang="en-US" sz="2400" dirty="0"/>
              <a:t>a. Creates a structure which imparts meaning</a:t>
            </a:r>
          </a:p>
          <a:p>
            <a:pPr marL="1828800" lvl="4" indent="0" algn="just">
              <a:lnSpc>
                <a:spcPct val="100000"/>
              </a:lnSpc>
              <a:spcBef>
                <a:spcPts val="2400"/>
              </a:spcBef>
              <a:buClr>
                <a:srgbClr val="973735"/>
              </a:buClr>
              <a:buSzPct val="50000"/>
              <a:buNone/>
              <a:defRPr/>
            </a:pPr>
            <a:r>
              <a:rPr lang="en-US" sz="2400" dirty="0"/>
              <a:t>b. Builds on an ethical basis</a:t>
            </a:r>
          </a:p>
          <a:p>
            <a:pPr marL="1828800" lvl="4" indent="0" algn="just">
              <a:lnSpc>
                <a:spcPct val="100000"/>
              </a:lnSpc>
              <a:spcBef>
                <a:spcPts val="2400"/>
              </a:spcBef>
              <a:buClr>
                <a:srgbClr val="973735"/>
              </a:buClr>
              <a:buSzPct val="50000"/>
              <a:buNone/>
              <a:defRPr/>
            </a:pPr>
            <a:r>
              <a:rPr lang="en-US" sz="2400" dirty="0"/>
              <a:t>c. Wants to create a shared value system</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9335"/>
            <a:ext cx="10613094" cy="709226"/>
          </a:xfrm>
        </p:spPr>
        <p:txBody>
          <a:bodyPr>
            <a:normAutofit fontScale="90000"/>
          </a:bodyPr>
          <a:lstStyle/>
          <a:p>
            <a:r>
              <a:rPr lang="en-US" sz="4000" b="1" dirty="0"/>
              <a:t>Organizational Learning and Organizational Memory Models</a:t>
            </a:r>
          </a:p>
        </p:txBody>
      </p:sp>
    </p:spTree>
    <p:extLst>
      <p:ext uri="{BB962C8B-B14F-4D97-AF65-F5344CB8AC3E}">
        <p14:creationId xmlns:p14="http://schemas.microsoft.com/office/powerpoint/2010/main" val="3532249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4" name="Content Placeholder 3"/>
          <p:cNvSpPr>
            <a:spLocks noGrp="1"/>
          </p:cNvSpPr>
          <p:nvPr>
            <p:ph sz="quarter" idx="1"/>
          </p:nvPr>
        </p:nvSpPr>
        <p:spPr>
          <a:xfrm>
            <a:off x="0" y="1664593"/>
            <a:ext cx="11971176" cy="4816106"/>
          </a:xfrm>
        </p:spPr>
        <p:txBody>
          <a:bodyPr>
            <a:normAutofit fontScale="92500" lnSpcReduction="10000"/>
          </a:bodyPr>
          <a:lstStyle/>
          <a:p>
            <a:pPr marL="342900" indent="-342900" algn="just">
              <a:lnSpc>
                <a:spcPct val="110000"/>
              </a:lnSpc>
              <a:spcBef>
                <a:spcPts val="1800"/>
              </a:spcBef>
              <a:buClr>
                <a:srgbClr val="973735"/>
              </a:buClr>
              <a:buSzPct val="50000"/>
              <a:buFont typeface="Wingdings" pitchFamily="2" charset="2"/>
              <a:buChar char="u"/>
              <a:defRPr/>
            </a:pPr>
            <a:r>
              <a:rPr lang="en-US" dirty="0"/>
              <a:t>Organizational learning is the process of applying knowledge from the past to present-day work challenges. </a:t>
            </a:r>
          </a:p>
          <a:p>
            <a:pPr marL="342900" indent="-342900" algn="just">
              <a:lnSpc>
                <a:spcPct val="110000"/>
              </a:lnSpc>
              <a:spcBef>
                <a:spcPts val="1800"/>
              </a:spcBef>
              <a:buClr>
                <a:srgbClr val="973735"/>
              </a:buClr>
              <a:buSzPct val="50000"/>
              <a:buFont typeface="Wingdings" pitchFamily="2" charset="2"/>
              <a:buChar char="u"/>
              <a:defRPr/>
            </a:pPr>
            <a:r>
              <a:rPr lang="en-US" dirty="0"/>
              <a:t>Managing organizational memory often means overcoming barriers to the processing of experiential knowledge accrued by knowledge workers over time.</a:t>
            </a:r>
          </a:p>
          <a:p>
            <a:pPr marL="342900" indent="-342900" algn="just">
              <a:lnSpc>
                <a:spcPct val="110000"/>
              </a:lnSpc>
              <a:spcBef>
                <a:spcPts val="1800"/>
              </a:spcBef>
              <a:buClr>
                <a:srgbClr val="973735"/>
              </a:buClr>
              <a:buSzPct val="50000"/>
              <a:buFont typeface="Wingdings" pitchFamily="2" charset="2"/>
              <a:buChar char="u"/>
              <a:defRPr/>
            </a:pPr>
            <a:r>
              <a:rPr lang="en-US" dirty="0"/>
              <a:t>A lesson learned is defined as organizational learning from work experiences of its members.</a:t>
            </a:r>
          </a:p>
          <a:p>
            <a:pPr marL="342900" indent="-342900" algn="just">
              <a:lnSpc>
                <a:spcPct val="110000"/>
              </a:lnSpc>
              <a:spcBef>
                <a:spcPts val="1800"/>
              </a:spcBef>
              <a:buClr>
                <a:srgbClr val="973735"/>
              </a:buClr>
              <a:buSzPct val="50000"/>
              <a:buFont typeface="Wingdings" pitchFamily="2" charset="2"/>
              <a:buChar char="u"/>
              <a:defRPr/>
            </a:pPr>
            <a:r>
              <a:rPr lang="en-US" dirty="0"/>
              <a:t>The major challenges are motivating people to participate, getting management to support, and transforming tacit experiential knowledge into an explicit form that can be easily found and reused.</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38</a:t>
            </a:fld>
            <a:endParaRPr kumimoji="0" lang="en-US" dirty="0"/>
          </a:p>
        </p:txBody>
      </p:sp>
      <p:sp>
        <p:nvSpPr>
          <p:cNvPr id="4" name="Content Placeholder 3"/>
          <p:cNvSpPr>
            <a:spLocks noGrp="1"/>
          </p:cNvSpPr>
          <p:nvPr>
            <p:ph sz="quarter" idx="1"/>
          </p:nvPr>
        </p:nvSpPr>
        <p:spPr>
          <a:xfrm>
            <a:off x="0" y="1714726"/>
            <a:ext cx="11833412" cy="4322181"/>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How would you assess the success of your OM systems—e.g., a lessons learned, best practice, or story database? What sorts of tools would you use? Who would be involved? How would you act on the feedback you collected? What are some ways in which you could boost the adoption rate of the content?</a:t>
            </a:r>
          </a:p>
          <a:p>
            <a:pPr marL="514350" indent="-514350" algn="just">
              <a:lnSpc>
                <a:spcPct val="100000"/>
              </a:lnSpc>
              <a:spcBef>
                <a:spcPts val="1200"/>
              </a:spcBef>
              <a:buClr>
                <a:srgbClr val="973735"/>
              </a:buClr>
              <a:buSzPct val="100000"/>
              <a:buFont typeface="+mj-lt"/>
              <a:buAutoNum type="arabicPeriod"/>
              <a:defRPr/>
            </a:pPr>
            <a:r>
              <a:rPr lang="en-US" sz="2000" dirty="0"/>
              <a:t>Compare and contrast some of the leading theories on organizational learning and organizational memory. Why are there so many with so little intersection—what do you think may have caused this fragmentation? How would you go about trying to put the various pieces together in order to better understand the processes of OL?</a:t>
            </a:r>
          </a:p>
          <a:p>
            <a:pPr marL="514350" indent="-514350" algn="just">
              <a:lnSpc>
                <a:spcPct val="100000"/>
              </a:lnSpc>
              <a:spcBef>
                <a:spcPts val="1200"/>
              </a:spcBef>
              <a:buClr>
                <a:srgbClr val="973735"/>
              </a:buClr>
              <a:buSzPct val="100000"/>
              <a:buFont typeface="+mj-lt"/>
              <a:buAutoNum type="arabicPeriod"/>
              <a:defRPr/>
            </a:pPr>
            <a:r>
              <a:rPr lang="en-US" sz="2000" dirty="0"/>
              <a:t>How would you integrate OL objectives within a KM metrics framework? What sorts of organizational goals would be addressed and what would the KM contributions be?</a:t>
            </a:r>
          </a:p>
          <a:p>
            <a:pPr marL="514350" indent="-514350" algn="just">
              <a:lnSpc>
                <a:spcPct val="100000"/>
              </a:lnSpc>
              <a:spcBef>
                <a:spcPts val="1200"/>
              </a:spcBef>
              <a:buClr>
                <a:srgbClr val="973735"/>
              </a:buClr>
              <a:buSzPct val="100000"/>
              <a:buFont typeface="+mj-lt"/>
              <a:buAutoNum type="arabicPeriod"/>
              <a:defRPr/>
            </a:pPr>
            <a:endParaRPr lang="en-US" sz="20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spTree>
    <p:extLst>
      <p:ext uri="{BB962C8B-B14F-4D97-AF65-F5344CB8AC3E}">
        <p14:creationId xmlns:p14="http://schemas.microsoft.com/office/powerpoint/2010/main" val="1327602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39</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a:t>
            </a:r>
          </a:p>
        </p:txBody>
      </p:sp>
      <p:pic>
        <p:nvPicPr>
          <p:cNvPr id="8194" name="Picture 2" descr="Discussion Vectors &amp; Illustrations for Free Download | Freepik">
            <a:extLst>
              <a:ext uri="{FF2B5EF4-FFF2-40B4-BE49-F238E27FC236}">
                <a16:creationId xmlns:a16="http://schemas.microsoft.com/office/drawing/2014/main" id="{A642F2C7-2523-4678-C65A-F521C8D27C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9518" y="1783737"/>
            <a:ext cx="6382777" cy="418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0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1937</TotalTime>
  <Words>2758</Words>
  <Application>Microsoft Office PowerPoint</Application>
  <PresentationFormat>Widescreen</PresentationFormat>
  <Paragraphs>288</Paragraphs>
  <Slides>39</Slides>
  <Notes>39</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4" baseType="lpstr">
      <vt:lpstr>Arial</vt:lpstr>
      <vt:lpstr>Calibri</vt:lpstr>
      <vt:lpstr>Wingdings</vt:lpstr>
      <vt:lpstr>Office Theme</vt:lpstr>
      <vt:lpstr>Bitmap Image</vt:lpstr>
      <vt:lpstr>Chapter 11 Organizational Learning and  Organizational Memory</vt:lpstr>
      <vt:lpstr>Objectives</vt:lpstr>
      <vt:lpstr>Introduction</vt:lpstr>
      <vt:lpstr>Introduction</vt:lpstr>
      <vt:lpstr>How Do Organizations Learn and Remember?</vt:lpstr>
      <vt:lpstr>How Do Organizations Learn and Remember?</vt:lpstr>
      <vt:lpstr>How Do Organizations Learn and Remember?</vt:lpstr>
      <vt:lpstr>How Do Organizations Learn and Remember?</vt:lpstr>
      <vt:lpstr>How Do Organizations Learn and Remember?</vt:lpstr>
      <vt:lpstr>The Management of Organizational Memory</vt:lpstr>
      <vt:lpstr>The Management of Organizational Memory</vt:lpstr>
      <vt:lpstr>The Management of Organizational Memory</vt:lpstr>
      <vt:lpstr>The Management of Organizational Memory</vt:lpstr>
      <vt:lpstr>The Management of Organizational Memory</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vt:lpstr>
      <vt:lpstr>Organizational Learning and Organizational Memory Models</vt:lpstr>
      <vt:lpstr>Organizational Learning and Organizational Memory Models</vt:lpstr>
      <vt:lpstr>Organizational Learning and Organizational Memory Models</vt:lpstr>
      <vt:lpstr>Organizational Learning and Organizational Memory Models</vt:lpstr>
      <vt:lpstr>Organizational Learning and Organizational Memory Models</vt:lpstr>
      <vt:lpstr>Summary</vt:lpstr>
      <vt:lpstr>Discussion / Homework / Team Activities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118</cp:revision>
  <dcterms:created xsi:type="dcterms:W3CDTF">2021-01-25T08:25:31Z</dcterms:created>
  <dcterms:modified xsi:type="dcterms:W3CDTF">2023-09-20T21:11:15Z</dcterms:modified>
</cp:coreProperties>
</file>