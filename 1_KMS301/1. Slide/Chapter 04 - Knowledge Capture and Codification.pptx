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78" r:id="rId3"/>
    <p:sldId id="313" r:id="rId4"/>
    <p:sldId id="404" r:id="rId5"/>
    <p:sldId id="405" r:id="rId6"/>
    <p:sldId id="406" r:id="rId7"/>
    <p:sldId id="407" r:id="rId8"/>
    <p:sldId id="322" r:id="rId9"/>
    <p:sldId id="409" r:id="rId10"/>
    <p:sldId id="421" r:id="rId11"/>
    <p:sldId id="412" r:id="rId12"/>
    <p:sldId id="413" r:id="rId13"/>
    <p:sldId id="414" r:id="rId14"/>
    <p:sldId id="419" r:id="rId15"/>
    <p:sldId id="415" r:id="rId16"/>
    <p:sldId id="326" r:id="rId17"/>
    <p:sldId id="422" r:id="rId18"/>
    <p:sldId id="42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4A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6353" autoAdjust="0"/>
    <p:restoredTop sz="86405" autoAdjust="0"/>
  </p:normalViewPr>
  <p:slideViewPr>
    <p:cSldViewPr snapToGrid="0">
      <p:cViewPr varScale="1">
        <p:scale>
          <a:sx n="88" d="100"/>
          <a:sy n="88" d="100"/>
        </p:scale>
        <p:origin x="432" y="7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9DFF5-E44F-48DD-8FAD-EF15CFF7F474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431253-AA71-4F4F-9BF6-D6DC574A3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054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7A13E-60FF-453F-B712-D9BBD0C85FA1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6C0E5-5FD0-48D4-A8DC-243893429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982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60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68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722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510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603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34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424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38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38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473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47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04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466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2105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519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8410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100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12068"/>
            <a:ext cx="9144000" cy="1797894"/>
          </a:xfrm>
          <a:solidFill>
            <a:schemeClr val="accent2"/>
          </a:solidFill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22741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6461294"/>
            <a:ext cx="12192000" cy="40393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940385-AA87-4844-88A2-440B6F604A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25082"/>
            <a:ext cx="1182835" cy="57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09551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0" y="6461294"/>
            <a:ext cx="12192000" cy="40393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093" y="1900322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060" y="648070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149FD-98BB-4821-915B-09C9BFE4B7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" y="600803"/>
            <a:ext cx="207390" cy="973473"/>
          </a:xfrm>
          <a:prstGeom prst="rect">
            <a:avLst/>
          </a:prstGeom>
          <a:solidFill>
            <a:srgbClr val="F4AF80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069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256740-3DC7-40BE-968F-29F94186F3AD}" type="datetime1">
              <a:rPr lang="vi-VN" smtClean="0"/>
              <a:t>21/09/2023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940385-AA87-4844-88A2-440B6F604A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182835" cy="57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022CD9-B07D-67E9-3095-7650957E144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64093" y="1917739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2227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8059-8CC8-4876-B763-1BEA3FA0F124}" type="datetime1">
              <a:rPr lang="vi-VN" smtClean="0"/>
              <a:t>21/09/2023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0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3963C-A6AA-4DDF-B85B-BE123D65B285}" type="datetime1">
              <a:rPr lang="vi-VN" smtClean="0"/>
              <a:t>21/09/2023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2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11605-F8CD-44C6-A79B-BEBA9358497C}" type="datetime1">
              <a:rPr lang="vi-VN" smtClean="0"/>
              <a:t>21/09/2023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5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10B-B6B3-4AF4-A9DB-DC0340309754}" type="datetime1">
              <a:rPr lang="vi-VN" smtClean="0"/>
              <a:t>21/09/2023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3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606E5-9CA3-4971-89BF-F965F9043882}" type="datetime1">
              <a:rPr lang="vi-VN" smtClean="0"/>
              <a:t>21/09/2023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4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16FA-E3CF-4C73-A815-C13A824B339A}" type="datetime1">
              <a:rPr lang="vi-VN" smtClean="0"/>
              <a:t>21/09/2023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7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6D87B-52FF-4B7F-A538-F746ED572E26}" type="datetime1">
              <a:rPr lang="vi-VN" smtClean="0"/>
              <a:t>21/09/2023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7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C2434-2AF2-4BF2-BD0B-95CBD5EB0128}" type="datetime1">
              <a:rPr lang="vi-VN" smtClean="0"/>
              <a:t>21/09/2023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43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6082-5D4E-4969-8016-69F376C871AD}" type="datetime1">
              <a:rPr lang="vi-VN" smtClean="0"/>
              <a:t>21/09/2023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95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BA729-DBE2-49EE-91FE-3D8B2D9BF9AB}" type="datetime1">
              <a:rPr lang="vi-VN" smtClean="0"/>
              <a:t>21/09/2023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78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7.w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9837" y="2241457"/>
            <a:ext cx="11094098" cy="1789121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sz="32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Chapter 04 </a:t>
            </a:r>
            <a:br>
              <a:rPr lang="en-US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Knowledge Capture and Codification</a:t>
            </a:r>
          </a:p>
        </p:txBody>
      </p:sp>
    </p:spTree>
    <p:extLst>
      <p:ext uri="{BB962C8B-B14F-4D97-AF65-F5344CB8AC3E}">
        <p14:creationId xmlns:p14="http://schemas.microsoft.com/office/powerpoint/2010/main" val="157539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714726"/>
            <a:ext cx="12002308" cy="4322181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Knowledge Capture </a:t>
            </a:r>
          </a:p>
          <a:p>
            <a:pPr marL="800100" lvl="1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For tacit knowledge</a:t>
            </a:r>
          </a:p>
          <a:p>
            <a:pPr marL="800100" lvl="1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For explicit knowledge</a:t>
            </a:r>
          </a:p>
          <a:p>
            <a:pPr marL="342900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Knowledge Codification</a:t>
            </a:r>
          </a:p>
          <a:p>
            <a:pPr marL="800100" lvl="1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Organizing knowledge in a knowledge taxonomy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21/09/2023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425307F-F5C2-45A6-A2FA-3E1724542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17" y="674951"/>
            <a:ext cx="10515600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" y="1664593"/>
            <a:ext cx="4963886" cy="4255275"/>
          </a:xfrm>
        </p:spPr>
        <p:txBody>
          <a:bodyPr>
            <a:normAutofit fontScale="92500" lnSpcReduction="20000"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Learning at individual level is social process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Individuals learn from </a:t>
            </a:r>
            <a:br>
              <a:rPr lang="en-US" dirty="0"/>
            </a:br>
            <a:r>
              <a:rPr lang="en-US" dirty="0"/>
              <a:t>group &lt;==&gt; group learns from individual</a:t>
            </a:r>
          </a:p>
          <a:p>
            <a:pPr marL="342900" indent="-342900" algn="just">
              <a:lnSpc>
                <a:spcPct val="12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Knowledge Acquisition must be embedded into corporate memory to be valuable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21/09/2023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ADD68C-0B45-4CD4-98F2-7B8DB8AA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17" y="674951"/>
            <a:ext cx="6680460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Learning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5A5E9AA-21F1-750B-7227-62BD12C24D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412052"/>
              </p:ext>
            </p:extLst>
          </p:nvPr>
        </p:nvGraphicFramePr>
        <p:xfrm>
          <a:off x="5754147" y="1626769"/>
          <a:ext cx="6346825" cy="3894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6347520" imgH="3893760" progId="PBrush">
                  <p:embed/>
                </p:oleObj>
              </mc:Choice>
              <mc:Fallback>
                <p:oleObj name="Bitmap Image" r:id="rId3" imgW="6347520" imgH="38937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54147" y="1626769"/>
                        <a:ext cx="6346825" cy="3894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D82CC6E-AF40-52B9-37B4-8C6339E4FF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3947692"/>
              </p:ext>
            </p:extLst>
          </p:nvPr>
        </p:nvGraphicFramePr>
        <p:xfrm>
          <a:off x="5616035" y="5763499"/>
          <a:ext cx="6484937" cy="312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6484680" imgH="312480" progId="PBrush">
                  <p:embed/>
                </p:oleObj>
              </mc:Choice>
              <mc:Fallback>
                <p:oleObj name="Bitmap Image" r:id="rId5" imgW="6484680" imgH="3124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16035" y="5763499"/>
                        <a:ext cx="6484937" cy="312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8614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664594"/>
            <a:ext cx="11971176" cy="4617872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How to describe and represent knowledge</a:t>
            </a:r>
          </a:p>
          <a:p>
            <a:pPr marL="800100" lvl="1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Depending on the type of knowledge</a:t>
            </a:r>
          </a:p>
          <a:p>
            <a:pPr marL="800100" lvl="1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E.g. explicit knowledge is already well described but may need to abstract/summarize it</a:t>
            </a:r>
          </a:p>
          <a:p>
            <a:pPr marL="800100" lvl="1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Tacit knowledge on the other hand may require significant analysis and organization before it can be suitably described and represented</a:t>
            </a:r>
          </a:p>
          <a:p>
            <a:pPr marL="342900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Tools range from linguistic descriptions and categories to mathematical formulations and graphical representations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21/09/2023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ADD68C-0B45-4CD4-98F2-7B8DB8AA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17" y="674951"/>
            <a:ext cx="11971176" cy="709226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Approaches to Knowledge Capture and Codification</a:t>
            </a:r>
          </a:p>
        </p:txBody>
      </p:sp>
    </p:spTree>
    <p:extLst>
      <p:ext uri="{BB962C8B-B14F-4D97-AF65-F5344CB8AC3E}">
        <p14:creationId xmlns:p14="http://schemas.microsoft.com/office/powerpoint/2010/main" val="141317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664594"/>
            <a:ext cx="11836958" cy="4617872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More time-consuming than explicit knowledge capture</a:t>
            </a:r>
          </a:p>
          <a:p>
            <a:pPr marL="342900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Requires more up-front analysis and organization</a:t>
            </a:r>
          </a:p>
          <a:p>
            <a:pPr marL="342900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Tacit Knowledge Capture</a:t>
            </a:r>
          </a:p>
          <a:p>
            <a:pPr marL="800100" lvl="1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Ad Hoc Sessions, Roadmap, Learning History, Storytelling, Interviews, Action Learning, Learn from Others, Guest Speakers, Relationship Building, Systems Thinking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21/09/2023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ADD68C-0B45-4CD4-98F2-7B8DB8AA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17" y="674951"/>
            <a:ext cx="10515600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Tacit Knowledge Capture</a:t>
            </a:r>
          </a:p>
        </p:txBody>
      </p:sp>
    </p:spTree>
    <p:extLst>
      <p:ext uri="{BB962C8B-B14F-4D97-AF65-F5344CB8AC3E}">
        <p14:creationId xmlns:p14="http://schemas.microsoft.com/office/powerpoint/2010/main" val="3027713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664594"/>
            <a:ext cx="11686233" cy="4617872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Interviewing experts, stakeholders, others</a:t>
            </a:r>
          </a:p>
          <a:p>
            <a:pPr marL="800100" lvl="1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Open and closed questions</a:t>
            </a:r>
          </a:p>
          <a:p>
            <a:pPr marL="342900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Capturing Stories</a:t>
            </a:r>
          </a:p>
          <a:p>
            <a:pPr marL="800100" lvl="1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All communities/organizations have stories</a:t>
            </a:r>
          </a:p>
          <a:p>
            <a:pPr marL="800100" lvl="1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Story telling builds social capital and networks</a:t>
            </a:r>
          </a:p>
          <a:p>
            <a:pPr marL="800100" lvl="1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Social capital - informal norm that promotes cooperation between two or more individuals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21/09/2023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ADD68C-0B45-4CD4-98F2-7B8DB8AA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17" y="674951"/>
            <a:ext cx="10515600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Tacit Knowledge Capture Techniques</a:t>
            </a:r>
          </a:p>
        </p:txBody>
      </p:sp>
    </p:spTree>
    <p:extLst>
      <p:ext uri="{BB962C8B-B14F-4D97-AF65-F5344CB8AC3E}">
        <p14:creationId xmlns:p14="http://schemas.microsoft.com/office/powerpoint/2010/main" val="976568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664594"/>
            <a:ext cx="11971176" cy="5017560"/>
          </a:xfrm>
        </p:spPr>
        <p:txBody>
          <a:bodyPr>
            <a:normAutofit fontScale="92500" lnSpcReduction="20000"/>
          </a:bodyPr>
          <a:lstStyle/>
          <a:p>
            <a:pPr marL="342900" indent="-342900" algn="just">
              <a:lnSpc>
                <a:spcPct val="12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3000" dirty="0"/>
              <a:t>Learning by being told</a:t>
            </a:r>
          </a:p>
          <a:p>
            <a:pPr marL="800100" lvl="1" indent="-342900" algn="just">
              <a:lnSpc>
                <a:spcPct val="12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800" dirty="0"/>
              <a:t>Similar to interviewing</a:t>
            </a:r>
          </a:p>
          <a:p>
            <a:pPr marL="342900" indent="-342900" algn="just">
              <a:lnSpc>
                <a:spcPct val="12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3000" dirty="0"/>
              <a:t>Learning by observation</a:t>
            </a:r>
          </a:p>
          <a:p>
            <a:pPr marL="800100" lvl="1" indent="-342900" algn="just">
              <a:lnSpc>
                <a:spcPct val="12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800" dirty="0"/>
              <a:t>Expertise – demonstration of application of knowledge</a:t>
            </a:r>
          </a:p>
          <a:p>
            <a:pPr marL="1257300" lvl="2" indent="-342900" algn="just">
              <a:lnSpc>
                <a:spcPct val="12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Can’t observe knowledge but can observe application of knowledge</a:t>
            </a:r>
          </a:p>
          <a:p>
            <a:pPr marL="800100" lvl="1" indent="-342900" algn="just">
              <a:lnSpc>
                <a:spcPct val="12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800" dirty="0"/>
              <a:t>Skill based expertise</a:t>
            </a:r>
          </a:p>
          <a:p>
            <a:pPr marL="1257300" lvl="2" indent="-342900" algn="just">
              <a:lnSpc>
                <a:spcPct val="12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Operating machinery</a:t>
            </a:r>
          </a:p>
          <a:p>
            <a:pPr marL="800100" lvl="1" indent="-342900" algn="just">
              <a:lnSpc>
                <a:spcPct val="12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800" dirty="0"/>
              <a:t>Cognitive expertise</a:t>
            </a:r>
          </a:p>
          <a:p>
            <a:pPr marL="1257300" lvl="2" indent="-342900" algn="just">
              <a:lnSpc>
                <a:spcPct val="12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Making a medical diagnosis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21/09/2023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ADD68C-0B45-4CD4-98F2-7B8DB8AA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17" y="674951"/>
            <a:ext cx="10515600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Tacit Knowledge Capture Techniques</a:t>
            </a:r>
          </a:p>
        </p:txBody>
      </p:sp>
    </p:spTree>
    <p:extLst>
      <p:ext uri="{BB962C8B-B14F-4D97-AF65-F5344CB8AC3E}">
        <p14:creationId xmlns:p14="http://schemas.microsoft.com/office/powerpoint/2010/main" val="1237719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664593"/>
            <a:ext cx="11971176" cy="4947222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Convert knowledge to tangible, explicit form</a:t>
            </a:r>
          </a:p>
          <a:p>
            <a:pPr marL="800100" lvl="1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Can be communicated widely and with less cost</a:t>
            </a:r>
          </a:p>
          <a:p>
            <a:pPr marL="342900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Methods</a:t>
            </a:r>
          </a:p>
          <a:p>
            <a:pPr marL="800100" lvl="1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Proficiency Levels and Knowledge Profiles</a:t>
            </a:r>
          </a:p>
          <a:p>
            <a:pPr marL="800100" lvl="1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Abstract Concept Representation (mental model)</a:t>
            </a:r>
          </a:p>
          <a:p>
            <a:pPr marL="800100" lvl="1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Concept hierarchies</a:t>
            </a:r>
          </a:p>
          <a:p>
            <a:pPr marL="1257300" lvl="2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400" dirty="0"/>
              <a:t>Associative: Decision Tree</a:t>
            </a:r>
          </a:p>
          <a:p>
            <a:pPr marL="1257300" lvl="2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400" dirty="0"/>
              <a:t>Semantic network: Knowledge Taxonomy</a:t>
            </a:r>
          </a:p>
          <a:p>
            <a:pPr marL="800100" lvl="1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Systematic review of successes and failures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21/09/2023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ADD68C-0B45-4CD4-98F2-7B8DB8AA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17" y="674951"/>
            <a:ext cx="10515600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Knowledge Codification</a:t>
            </a:r>
          </a:p>
        </p:txBody>
      </p:sp>
    </p:spTree>
    <p:extLst>
      <p:ext uri="{BB962C8B-B14F-4D97-AF65-F5344CB8AC3E}">
        <p14:creationId xmlns:p14="http://schemas.microsoft.com/office/powerpoint/2010/main" val="2011923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664593"/>
            <a:ext cx="11696281" cy="5097948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Cognitive Map is representation of person’s mental model</a:t>
            </a:r>
          </a:p>
          <a:p>
            <a:pPr marL="342900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Mental model is representation of something in the real world</a:t>
            </a:r>
          </a:p>
          <a:p>
            <a:pPr marL="800100" lvl="1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How humans process and make sense of environment</a:t>
            </a:r>
          </a:p>
          <a:p>
            <a:pPr marL="342900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Cognitive mapping is based on concept maps</a:t>
            </a:r>
          </a:p>
          <a:p>
            <a:pPr marL="342900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A concept map includes two parts - concepts and the relationships among the concepts.</a:t>
            </a:r>
          </a:p>
          <a:p>
            <a:pPr marL="800100" lvl="1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Concepts are usually enclosed in nodes.</a:t>
            </a:r>
          </a:p>
          <a:p>
            <a:pPr marL="800100" lvl="1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The relationships are usually indicated by a line, or a link, that connect two concepts.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21/09/2023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ADD68C-0B45-4CD4-98F2-7B8DB8AA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17" y="674951"/>
            <a:ext cx="10515600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Cognitive Maps</a:t>
            </a:r>
          </a:p>
        </p:txBody>
      </p:sp>
    </p:spTree>
    <p:extLst>
      <p:ext uri="{BB962C8B-B14F-4D97-AF65-F5344CB8AC3E}">
        <p14:creationId xmlns:p14="http://schemas.microsoft.com/office/powerpoint/2010/main" val="3923379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70FC9-07D7-FABF-5D6D-C6DE0D6B4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5B5BD-55B8-44C7-F254-870A49CB4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EC89D-28CF-D01D-1F8A-7852DC3D7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149FD-98BB-4821-915B-09C9BFE4B727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0CEC24-8483-C1AD-65A8-11CC02426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56740-3DC7-40BE-968F-29F94186F3AD}" type="datetime1">
              <a:rPr lang="vi-VN" smtClean="0"/>
              <a:t>21/09/2023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0282596-D649-5039-4D74-17593B643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837" y="2003099"/>
            <a:ext cx="7349378" cy="4124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EC4CAB0-5792-17AF-24BC-63A180107E8C}"/>
              </a:ext>
            </a:extLst>
          </p:cNvPr>
          <p:cNvSpPr txBox="1">
            <a:spLocks/>
          </p:cNvSpPr>
          <p:nvPr/>
        </p:nvSpPr>
        <p:spPr>
          <a:xfrm>
            <a:off x="287517" y="674951"/>
            <a:ext cx="10515600" cy="709226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/>
              <a:t>Cognitive Maps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604584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21/09/2023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ADD68C-0B45-4CD4-98F2-7B8DB8AA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17" y="674951"/>
            <a:ext cx="10515600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Examples of Concept Map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5BB5C5-B429-10AF-4F38-3C57A8759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15" y="2398122"/>
            <a:ext cx="2155318" cy="292750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 Text </a:t>
            </a:r>
            <a:r>
              <a:rPr lang="en-US" dirty="0"/>
              <a:t>– major differences between tacit and explicit knowledge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7F028E0-1096-56BC-CF63-78C233C8A4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7790908"/>
              </p:ext>
            </p:extLst>
          </p:nvPr>
        </p:nvGraphicFramePr>
        <p:xfrm>
          <a:off x="3476445" y="1341736"/>
          <a:ext cx="8428038" cy="475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8427600" imgH="4754880" progId="PBrush">
                  <p:embed/>
                </p:oleObj>
              </mc:Choice>
              <mc:Fallback>
                <p:oleObj name="Bitmap Image" r:id="rId3" imgW="8427600" imgH="47548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76445" y="1341736"/>
                        <a:ext cx="8428038" cy="4754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13E149A-3ACA-4C88-C154-9AB23ADEB6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531817"/>
              </p:ext>
            </p:extLst>
          </p:nvPr>
        </p:nvGraphicFramePr>
        <p:xfrm>
          <a:off x="5735150" y="6109111"/>
          <a:ext cx="4237037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4236840" imgH="358200" progId="PBrush">
                  <p:embed/>
                </p:oleObj>
              </mc:Choice>
              <mc:Fallback>
                <p:oleObj name="Bitmap Image" r:id="rId5" imgW="4236840" imgH="3582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735150" y="6109111"/>
                        <a:ext cx="4237037" cy="358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4189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21/09/2023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ADD68C-0B45-4CD4-98F2-7B8DB8AA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17" y="674951"/>
            <a:ext cx="10515600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Decision Trees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49B5BC9-6D34-AB69-6D27-BC2EBFCA67E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" y="1664593"/>
            <a:ext cx="4290646" cy="4255275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Decision trees represented in form of flow chart</a:t>
            </a:r>
          </a:p>
          <a:p>
            <a:pPr marL="800100" lvl="1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Alternate paths indicate the impact of different rules at different points</a:t>
            </a:r>
          </a:p>
          <a:p>
            <a:pPr marL="800100" lvl="1" indent="-342900" algn="just">
              <a:lnSpc>
                <a:spcPct val="100000"/>
              </a:lnSpc>
              <a:spcBef>
                <a:spcPts val="12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Do not have to look at all rules, can bypass those that are irrelevant, find shortest path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3F4114C-D67C-920C-EBB7-B057D4B7F2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544316"/>
              </p:ext>
            </p:extLst>
          </p:nvPr>
        </p:nvGraphicFramePr>
        <p:xfrm>
          <a:off x="4724274" y="255001"/>
          <a:ext cx="7368726" cy="5062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8176320" imgH="5616000" progId="PBrush">
                  <p:embed/>
                </p:oleObj>
              </mc:Choice>
              <mc:Fallback>
                <p:oleObj name="Bitmap Image" r:id="rId3" imgW="8176320" imgH="56160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24274" y="255001"/>
                        <a:ext cx="7368726" cy="50622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E07DC16-4E30-B846-C22E-6E49D476BB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3148169"/>
              </p:ext>
            </p:extLst>
          </p:nvPr>
        </p:nvGraphicFramePr>
        <p:xfrm>
          <a:off x="6533410" y="5560071"/>
          <a:ext cx="43053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4305240" imgH="434520" progId="PBrush">
                  <p:embed/>
                </p:oleObj>
              </mc:Choice>
              <mc:Fallback>
                <p:oleObj name="Bitmap Image" r:id="rId5" imgW="4305240" imgH="4345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33410" y="5560071"/>
                        <a:ext cx="4305300" cy="43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6155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664593"/>
            <a:ext cx="11726426" cy="4255275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24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Concepts are the building blocks of knowledge and expertise.</a:t>
            </a:r>
          </a:p>
          <a:p>
            <a:pPr marL="800100" lvl="1" indent="-342900" algn="just">
              <a:lnSpc>
                <a:spcPct val="100000"/>
              </a:lnSpc>
              <a:spcBef>
                <a:spcPts val="24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Once key concepts have been identified and captured, they can be arranged in a hierarchy – a knowledge taxonomy</a:t>
            </a:r>
          </a:p>
          <a:p>
            <a:pPr marL="800100" lvl="1" indent="-342900" algn="just">
              <a:lnSpc>
                <a:spcPct val="100000"/>
              </a:lnSpc>
              <a:spcBef>
                <a:spcPts val="24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Graphically represent knowledge in a way that reflects the logical organization of concepts within a particular field of expertise or for the organization at large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21/09/2023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ADD68C-0B45-4CD4-98F2-7B8DB8AA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17" y="674951"/>
            <a:ext cx="10515600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Knowledge taxonomies</a:t>
            </a:r>
          </a:p>
        </p:txBody>
      </p:sp>
    </p:spTree>
    <p:extLst>
      <p:ext uri="{BB962C8B-B14F-4D97-AF65-F5344CB8AC3E}">
        <p14:creationId xmlns:p14="http://schemas.microsoft.com/office/powerpoint/2010/main" val="3035183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664593"/>
            <a:ext cx="11971176" cy="4255275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24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A taxonomy is a classification scheme that</a:t>
            </a:r>
          </a:p>
          <a:p>
            <a:pPr marL="800100" lvl="1" indent="-342900" algn="just">
              <a:lnSpc>
                <a:spcPct val="100000"/>
              </a:lnSpc>
              <a:spcBef>
                <a:spcPts val="24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Groups related items together</a:t>
            </a:r>
          </a:p>
          <a:p>
            <a:pPr marL="800100" lvl="1" indent="-342900" algn="just">
              <a:lnSpc>
                <a:spcPct val="100000"/>
              </a:lnSpc>
              <a:spcBef>
                <a:spcPts val="24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Names the types of relationships concepts have to one another</a:t>
            </a:r>
          </a:p>
          <a:p>
            <a:pPr marL="800100" lvl="1" indent="-342900" algn="just">
              <a:lnSpc>
                <a:spcPct val="100000"/>
              </a:lnSpc>
              <a:spcBef>
                <a:spcPts val="24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Is developed through a consensus of key stakeholders?</a:t>
            </a:r>
          </a:p>
          <a:p>
            <a:pPr marL="800100" lvl="1" indent="-342900" algn="just">
              <a:lnSpc>
                <a:spcPct val="100000"/>
              </a:lnSpc>
              <a:spcBef>
                <a:spcPts val="24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Is often multifaceted to represent the complexity of organizational knowledge?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21/09/2023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ADD68C-0B45-4CD4-98F2-7B8DB8AA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17" y="674951"/>
            <a:ext cx="10515600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Knowledge taxonomies (</a:t>
            </a:r>
            <a:r>
              <a:rPr lang="en-US" sz="4000" b="1" dirty="0" err="1"/>
              <a:t>con’t</a:t>
            </a:r>
            <a:r>
              <a:rPr lang="en-US" sz="4000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9439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664593"/>
            <a:ext cx="11796765" cy="4255275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24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Best practices and lessons learned can be said to be two different sides of the same coin</a:t>
            </a:r>
          </a:p>
          <a:p>
            <a:pPr marL="342900" indent="-342900" algn="just">
              <a:lnSpc>
                <a:spcPct val="100000"/>
              </a:lnSpc>
              <a:spcBef>
                <a:spcPts val="24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Best Practices look at successes</a:t>
            </a:r>
          </a:p>
          <a:p>
            <a:pPr marL="342900" indent="-342900" algn="just">
              <a:lnSpc>
                <a:spcPct val="100000"/>
              </a:lnSpc>
              <a:spcBef>
                <a:spcPts val="24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Lessons Learned look at failures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21/09/2023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ADD68C-0B45-4CD4-98F2-7B8DB8AA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17" y="674951"/>
            <a:ext cx="10515600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Best Practice Capture</a:t>
            </a:r>
          </a:p>
        </p:txBody>
      </p:sp>
    </p:spTree>
    <p:extLst>
      <p:ext uri="{BB962C8B-B14F-4D97-AF65-F5344CB8AC3E}">
        <p14:creationId xmlns:p14="http://schemas.microsoft.com/office/powerpoint/2010/main" val="2809050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664593"/>
            <a:ext cx="11971176" cy="4716110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Tacit Knowledge Capture Techniques</a:t>
            </a:r>
          </a:p>
          <a:p>
            <a:pPr marL="800100" lvl="1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Ad Hoc Sessions, Roadmap, Learning History</a:t>
            </a:r>
          </a:p>
          <a:p>
            <a:pPr marL="800100" lvl="1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Storytelling, Interviews, Action Learning,</a:t>
            </a:r>
          </a:p>
          <a:p>
            <a:pPr marL="800100" lvl="1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Learn from Others, Guest Speakers,</a:t>
            </a:r>
          </a:p>
          <a:p>
            <a:pPr marL="800100" lvl="1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Best Practice capture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21/09/2023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ADD68C-0B45-4CD4-98F2-7B8DB8AA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16" y="819335"/>
            <a:ext cx="11587651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736839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664593"/>
            <a:ext cx="11971176" cy="4716110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Tacit Knowledge Codification Techniques</a:t>
            </a:r>
          </a:p>
          <a:p>
            <a:pPr marL="800100" lvl="1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Mental models</a:t>
            </a:r>
          </a:p>
          <a:p>
            <a:pPr marL="800100" lvl="1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Concept hierarchies, semantic networks</a:t>
            </a:r>
          </a:p>
          <a:p>
            <a:pPr marL="800100" lvl="1" indent="-342900" algn="just">
              <a:lnSpc>
                <a:spcPct val="100000"/>
              </a:lnSpc>
              <a:spcBef>
                <a:spcPts val="18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/>
              <a:t>Best practices, lessons learned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21/09/2023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ADD68C-0B45-4CD4-98F2-7B8DB8AA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16" y="819335"/>
            <a:ext cx="11587651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22658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664593"/>
            <a:ext cx="11971176" cy="4255275"/>
          </a:xfrm>
        </p:spPr>
        <p:txBody>
          <a:bodyPr>
            <a:normAutofit fontScale="92500" lnSpcReduction="10000"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Form pairs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Take on role of knowledge journalist or subject matter expert and then switch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Topic suggestion: How did you decide on what to do for your undergraduate degree? Whose advice did you seek? How would you advise someone to make this decision?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Try to identify at least one best practice or lessons learned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Homework - Develop a decision tree for deciding on UG degree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21/09/2023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ADD68C-0B45-4CD4-98F2-7B8DB8AA6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16" y="819335"/>
            <a:ext cx="11587651" cy="709226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ED7D31"/>
                </a:solidFill>
              </a:rPr>
              <a:t>Tacit Knowledge Capture Activity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A58EEC9-4E7E-5CA8-3C9F-4D6AF6A24E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3954352"/>
              </p:ext>
            </p:extLst>
          </p:nvPr>
        </p:nvGraphicFramePr>
        <p:xfrm>
          <a:off x="8757973" y="183348"/>
          <a:ext cx="3146511" cy="165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1882080" imgH="990720" progId="PBrush">
                  <p:embed/>
                </p:oleObj>
              </mc:Choice>
              <mc:Fallback>
                <p:oleObj name="Bitmap Image" r:id="rId3" imgW="1882080" imgH="9907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57973" y="183348"/>
                        <a:ext cx="3146511" cy="165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1502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2495</TotalTime>
  <Words>733</Words>
  <Application>Microsoft Office PowerPoint</Application>
  <PresentationFormat>Widescreen</PresentationFormat>
  <Paragraphs>146</Paragraphs>
  <Slides>18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Wingdings</vt:lpstr>
      <vt:lpstr>Office Theme</vt:lpstr>
      <vt:lpstr>Bitmap Image</vt:lpstr>
      <vt:lpstr>Chapter 04  Knowledge Capture and Codification</vt:lpstr>
      <vt:lpstr>Objectives</vt:lpstr>
      <vt:lpstr>Learning</vt:lpstr>
      <vt:lpstr>Approaches to Knowledge Capture and Codification</vt:lpstr>
      <vt:lpstr>Tacit Knowledge Capture</vt:lpstr>
      <vt:lpstr>Tacit Knowledge Capture Techniques</vt:lpstr>
      <vt:lpstr>Tacit Knowledge Capture Techniques</vt:lpstr>
      <vt:lpstr>Knowledge Codification</vt:lpstr>
      <vt:lpstr>Cognitive Maps</vt:lpstr>
      <vt:lpstr>PowerPoint Presentation</vt:lpstr>
      <vt:lpstr>Examples of Concept Map</vt:lpstr>
      <vt:lpstr>Decision Trees</vt:lpstr>
      <vt:lpstr>Knowledge taxonomies</vt:lpstr>
      <vt:lpstr>Knowledge taxonomies (con’t)</vt:lpstr>
      <vt:lpstr>Best Practice Capture</vt:lpstr>
      <vt:lpstr>Summary</vt:lpstr>
      <vt:lpstr>Summary</vt:lpstr>
      <vt:lpstr>Tacit Knowledge Capture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Chu Dinh Phu 2 (FE Ban NCPT)</cp:lastModifiedBy>
  <cp:revision>119</cp:revision>
  <dcterms:created xsi:type="dcterms:W3CDTF">2021-01-25T08:25:31Z</dcterms:created>
  <dcterms:modified xsi:type="dcterms:W3CDTF">2023-09-20T21:06:19Z</dcterms:modified>
</cp:coreProperties>
</file>