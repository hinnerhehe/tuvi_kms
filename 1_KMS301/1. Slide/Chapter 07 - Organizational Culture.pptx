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handoutMasterIdLst>
    <p:handoutMasterId r:id="rId52"/>
  </p:handoutMasterIdLst>
  <p:sldIdLst>
    <p:sldId id="256" r:id="rId2"/>
    <p:sldId id="278" r:id="rId3"/>
    <p:sldId id="279" r:id="rId4"/>
    <p:sldId id="410" r:id="rId5"/>
    <p:sldId id="313" r:id="rId6"/>
    <p:sldId id="409" r:id="rId7"/>
    <p:sldId id="411" r:id="rId8"/>
    <p:sldId id="412" r:id="rId9"/>
    <p:sldId id="413" r:id="rId10"/>
    <p:sldId id="448" r:id="rId11"/>
    <p:sldId id="416" r:id="rId12"/>
    <p:sldId id="404" r:id="rId13"/>
    <p:sldId id="417" r:id="rId14"/>
    <p:sldId id="449" r:id="rId15"/>
    <p:sldId id="418" r:id="rId16"/>
    <p:sldId id="420" r:id="rId17"/>
    <p:sldId id="419" r:id="rId18"/>
    <p:sldId id="421" r:id="rId19"/>
    <p:sldId id="322" r:id="rId20"/>
    <p:sldId id="422" r:id="rId21"/>
    <p:sldId id="450" r:id="rId22"/>
    <p:sldId id="423" r:id="rId23"/>
    <p:sldId id="424" r:id="rId24"/>
    <p:sldId id="425" r:id="rId25"/>
    <p:sldId id="426" r:id="rId26"/>
    <p:sldId id="327" r:id="rId27"/>
    <p:sldId id="427" r:id="rId28"/>
    <p:sldId id="428" r:id="rId29"/>
    <p:sldId id="434" r:id="rId30"/>
    <p:sldId id="429" r:id="rId31"/>
    <p:sldId id="430" r:id="rId32"/>
    <p:sldId id="431" r:id="rId33"/>
    <p:sldId id="432" r:id="rId34"/>
    <p:sldId id="433" r:id="rId35"/>
    <p:sldId id="438" r:id="rId36"/>
    <p:sldId id="435" r:id="rId37"/>
    <p:sldId id="436" r:id="rId38"/>
    <p:sldId id="437" r:id="rId39"/>
    <p:sldId id="439" r:id="rId40"/>
    <p:sldId id="323" r:id="rId41"/>
    <p:sldId id="440" r:id="rId42"/>
    <p:sldId id="441" r:id="rId43"/>
    <p:sldId id="442" r:id="rId44"/>
    <p:sldId id="446" r:id="rId45"/>
    <p:sldId id="447" r:id="rId46"/>
    <p:sldId id="325" r:id="rId47"/>
    <p:sldId id="451" r:id="rId48"/>
    <p:sldId id="326" r:id="rId49"/>
    <p:sldId id="452"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F4AF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28109" autoAdjust="0"/>
    <p:restoredTop sz="64395" autoAdjust="0"/>
  </p:normalViewPr>
  <p:slideViewPr>
    <p:cSldViewPr snapToGrid="0">
      <p:cViewPr varScale="1">
        <p:scale>
          <a:sx n="83" d="100"/>
          <a:sy n="83" d="100"/>
        </p:scale>
        <p:origin x="86" y="178"/>
      </p:cViewPr>
      <p:guideLst/>
    </p:cSldViewPr>
  </p:slideViewPr>
  <p:notesTextViewPr>
    <p:cViewPr>
      <p:scale>
        <a:sx n="150" d="100"/>
        <a:sy n="15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949DFF5-E44F-48DD-8FAD-EF15CFF7F474}" type="datetimeFigureOut">
              <a:rPr lang="en-US" smtClean="0"/>
              <a:t>9/21/2023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9431253-AA71-4F4F-9BF6-D6DC574A3AAF}" type="slidenum">
              <a:rPr lang="en-US" smtClean="0"/>
              <a:t>‹#›</a:t>
            </a:fld>
            <a:endParaRPr lang="en-US"/>
          </a:p>
        </p:txBody>
      </p:sp>
    </p:spTree>
    <p:extLst>
      <p:ext uri="{BB962C8B-B14F-4D97-AF65-F5344CB8AC3E}">
        <p14:creationId xmlns:p14="http://schemas.microsoft.com/office/powerpoint/2010/main" val="16768054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17A13E-60FF-453F-B712-D9BBD0C85FA1}" type="datetimeFigureOut">
              <a:rPr lang="en-US" smtClean="0"/>
              <a:t>9/21/2023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46C0E5-5FD0-48D4-A8DC-243893429241}" type="slidenum">
              <a:rPr lang="en-US" smtClean="0"/>
              <a:t>‹#›</a:t>
            </a:fld>
            <a:endParaRPr lang="en-US"/>
          </a:p>
        </p:txBody>
      </p:sp>
    </p:spTree>
    <p:extLst>
      <p:ext uri="{BB962C8B-B14F-4D97-AF65-F5344CB8AC3E}">
        <p14:creationId xmlns:p14="http://schemas.microsoft.com/office/powerpoint/2010/main" val="429129828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1</a:t>
            </a:fld>
            <a:endParaRPr lang="en-US"/>
          </a:p>
        </p:txBody>
      </p:sp>
    </p:spTree>
    <p:extLst>
      <p:ext uri="{BB962C8B-B14F-4D97-AF65-F5344CB8AC3E}">
        <p14:creationId xmlns:p14="http://schemas.microsoft.com/office/powerpoint/2010/main" val="3639860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DD46C0E5-5FD0-48D4-A8DC-243893429241}" type="slidenum">
              <a:rPr lang="en-US" smtClean="0"/>
              <a:t>2</a:t>
            </a:fld>
            <a:endParaRPr lang="en-US"/>
          </a:p>
        </p:txBody>
      </p:sp>
    </p:spTree>
    <p:extLst>
      <p:ext uri="{BB962C8B-B14F-4D97-AF65-F5344CB8AC3E}">
        <p14:creationId xmlns:p14="http://schemas.microsoft.com/office/powerpoint/2010/main" val="6289688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a:t>
            </a:fld>
            <a:endParaRPr lang="en-US"/>
          </a:p>
        </p:txBody>
      </p:sp>
    </p:spTree>
    <p:extLst>
      <p:ext uri="{BB962C8B-B14F-4D97-AF65-F5344CB8AC3E}">
        <p14:creationId xmlns:p14="http://schemas.microsoft.com/office/powerpoint/2010/main" val="4308604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a:t>
            </a:fld>
            <a:endParaRPr lang="en-US"/>
          </a:p>
        </p:txBody>
      </p:sp>
    </p:spTree>
    <p:extLst>
      <p:ext uri="{BB962C8B-B14F-4D97-AF65-F5344CB8AC3E}">
        <p14:creationId xmlns:p14="http://schemas.microsoft.com/office/powerpoint/2010/main" val="28175138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5</a:t>
            </a:fld>
            <a:endParaRPr lang="en-US"/>
          </a:p>
        </p:txBody>
      </p:sp>
    </p:spTree>
    <p:extLst>
      <p:ext uri="{BB962C8B-B14F-4D97-AF65-F5344CB8AC3E}">
        <p14:creationId xmlns:p14="http://schemas.microsoft.com/office/powerpoint/2010/main" val="19367221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6</a:t>
            </a:fld>
            <a:endParaRPr lang="en-US"/>
          </a:p>
        </p:txBody>
      </p:sp>
    </p:spTree>
    <p:extLst>
      <p:ext uri="{BB962C8B-B14F-4D97-AF65-F5344CB8AC3E}">
        <p14:creationId xmlns:p14="http://schemas.microsoft.com/office/powerpoint/2010/main" val="6043795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7</a:t>
            </a:fld>
            <a:endParaRPr lang="en-US"/>
          </a:p>
        </p:txBody>
      </p:sp>
    </p:spTree>
    <p:extLst>
      <p:ext uri="{BB962C8B-B14F-4D97-AF65-F5344CB8AC3E}">
        <p14:creationId xmlns:p14="http://schemas.microsoft.com/office/powerpoint/2010/main" val="41474093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8</a:t>
            </a:fld>
            <a:endParaRPr lang="en-US"/>
          </a:p>
        </p:txBody>
      </p:sp>
    </p:spTree>
    <p:extLst>
      <p:ext uri="{BB962C8B-B14F-4D97-AF65-F5344CB8AC3E}">
        <p14:creationId xmlns:p14="http://schemas.microsoft.com/office/powerpoint/2010/main" val="27601464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9</a:t>
            </a:fld>
            <a:endParaRPr lang="en-US"/>
          </a:p>
        </p:txBody>
      </p:sp>
    </p:spTree>
    <p:extLst>
      <p:ext uri="{BB962C8B-B14F-4D97-AF65-F5344CB8AC3E}">
        <p14:creationId xmlns:p14="http://schemas.microsoft.com/office/powerpoint/2010/main" val="16777920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10</a:t>
            </a:fld>
            <a:endParaRPr lang="en-US"/>
          </a:p>
        </p:txBody>
      </p:sp>
    </p:spTree>
    <p:extLst>
      <p:ext uri="{BB962C8B-B14F-4D97-AF65-F5344CB8AC3E}">
        <p14:creationId xmlns:p14="http://schemas.microsoft.com/office/powerpoint/2010/main" val="36302519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11</a:t>
            </a:fld>
            <a:endParaRPr lang="en-US"/>
          </a:p>
        </p:txBody>
      </p:sp>
    </p:spTree>
    <p:extLst>
      <p:ext uri="{BB962C8B-B14F-4D97-AF65-F5344CB8AC3E}">
        <p14:creationId xmlns:p14="http://schemas.microsoft.com/office/powerpoint/2010/main" val="38878031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12</a:t>
            </a:fld>
            <a:endParaRPr lang="en-US"/>
          </a:p>
        </p:txBody>
      </p:sp>
    </p:spTree>
    <p:extLst>
      <p:ext uri="{BB962C8B-B14F-4D97-AF65-F5344CB8AC3E}">
        <p14:creationId xmlns:p14="http://schemas.microsoft.com/office/powerpoint/2010/main" val="20323177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13</a:t>
            </a:fld>
            <a:endParaRPr lang="en-US"/>
          </a:p>
        </p:txBody>
      </p:sp>
    </p:spTree>
    <p:extLst>
      <p:ext uri="{BB962C8B-B14F-4D97-AF65-F5344CB8AC3E}">
        <p14:creationId xmlns:p14="http://schemas.microsoft.com/office/powerpoint/2010/main" val="240063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14</a:t>
            </a:fld>
            <a:endParaRPr lang="en-US"/>
          </a:p>
        </p:txBody>
      </p:sp>
    </p:spTree>
    <p:extLst>
      <p:ext uri="{BB962C8B-B14F-4D97-AF65-F5344CB8AC3E}">
        <p14:creationId xmlns:p14="http://schemas.microsoft.com/office/powerpoint/2010/main" val="14669052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15</a:t>
            </a:fld>
            <a:endParaRPr lang="en-US"/>
          </a:p>
        </p:txBody>
      </p:sp>
    </p:spTree>
    <p:extLst>
      <p:ext uri="{BB962C8B-B14F-4D97-AF65-F5344CB8AC3E}">
        <p14:creationId xmlns:p14="http://schemas.microsoft.com/office/powerpoint/2010/main" val="6875023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16</a:t>
            </a:fld>
            <a:endParaRPr lang="en-US"/>
          </a:p>
        </p:txBody>
      </p:sp>
    </p:spTree>
    <p:extLst>
      <p:ext uri="{BB962C8B-B14F-4D97-AF65-F5344CB8AC3E}">
        <p14:creationId xmlns:p14="http://schemas.microsoft.com/office/powerpoint/2010/main" val="40812517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17</a:t>
            </a:fld>
            <a:endParaRPr lang="en-US"/>
          </a:p>
        </p:txBody>
      </p:sp>
    </p:spTree>
    <p:extLst>
      <p:ext uri="{BB962C8B-B14F-4D97-AF65-F5344CB8AC3E}">
        <p14:creationId xmlns:p14="http://schemas.microsoft.com/office/powerpoint/2010/main" val="33006089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18</a:t>
            </a:fld>
            <a:endParaRPr lang="en-US"/>
          </a:p>
        </p:txBody>
      </p:sp>
    </p:spTree>
    <p:extLst>
      <p:ext uri="{BB962C8B-B14F-4D97-AF65-F5344CB8AC3E}">
        <p14:creationId xmlns:p14="http://schemas.microsoft.com/office/powerpoint/2010/main" val="131075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19</a:t>
            </a:fld>
            <a:endParaRPr lang="en-US"/>
          </a:p>
        </p:txBody>
      </p:sp>
    </p:spTree>
    <p:extLst>
      <p:ext uri="{BB962C8B-B14F-4D97-AF65-F5344CB8AC3E}">
        <p14:creationId xmlns:p14="http://schemas.microsoft.com/office/powerpoint/2010/main" val="32835380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20</a:t>
            </a:fld>
            <a:endParaRPr lang="en-US"/>
          </a:p>
        </p:txBody>
      </p:sp>
    </p:spTree>
    <p:extLst>
      <p:ext uri="{BB962C8B-B14F-4D97-AF65-F5344CB8AC3E}">
        <p14:creationId xmlns:p14="http://schemas.microsoft.com/office/powerpoint/2010/main" val="10350491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21</a:t>
            </a:fld>
            <a:endParaRPr lang="en-US"/>
          </a:p>
        </p:txBody>
      </p:sp>
    </p:spTree>
    <p:extLst>
      <p:ext uri="{BB962C8B-B14F-4D97-AF65-F5344CB8AC3E}">
        <p14:creationId xmlns:p14="http://schemas.microsoft.com/office/powerpoint/2010/main" val="14650091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22</a:t>
            </a:fld>
            <a:endParaRPr lang="en-US"/>
          </a:p>
        </p:txBody>
      </p:sp>
    </p:spTree>
    <p:extLst>
      <p:ext uri="{BB962C8B-B14F-4D97-AF65-F5344CB8AC3E}">
        <p14:creationId xmlns:p14="http://schemas.microsoft.com/office/powerpoint/2010/main" val="6172071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23</a:t>
            </a:fld>
            <a:endParaRPr lang="en-US"/>
          </a:p>
        </p:txBody>
      </p:sp>
    </p:spTree>
    <p:extLst>
      <p:ext uri="{BB962C8B-B14F-4D97-AF65-F5344CB8AC3E}">
        <p14:creationId xmlns:p14="http://schemas.microsoft.com/office/powerpoint/2010/main" val="4912710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24</a:t>
            </a:fld>
            <a:endParaRPr lang="en-US"/>
          </a:p>
        </p:txBody>
      </p:sp>
    </p:spTree>
    <p:extLst>
      <p:ext uri="{BB962C8B-B14F-4D97-AF65-F5344CB8AC3E}">
        <p14:creationId xmlns:p14="http://schemas.microsoft.com/office/powerpoint/2010/main" val="2704087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25</a:t>
            </a:fld>
            <a:endParaRPr lang="en-US"/>
          </a:p>
        </p:txBody>
      </p:sp>
    </p:spTree>
    <p:extLst>
      <p:ext uri="{BB962C8B-B14F-4D97-AF65-F5344CB8AC3E}">
        <p14:creationId xmlns:p14="http://schemas.microsoft.com/office/powerpoint/2010/main" val="36080682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26</a:t>
            </a:fld>
            <a:endParaRPr lang="en-US"/>
          </a:p>
        </p:txBody>
      </p:sp>
    </p:spTree>
    <p:extLst>
      <p:ext uri="{BB962C8B-B14F-4D97-AF65-F5344CB8AC3E}">
        <p14:creationId xmlns:p14="http://schemas.microsoft.com/office/powerpoint/2010/main" val="17452271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27</a:t>
            </a:fld>
            <a:endParaRPr lang="en-US"/>
          </a:p>
        </p:txBody>
      </p:sp>
    </p:spTree>
    <p:extLst>
      <p:ext uri="{BB962C8B-B14F-4D97-AF65-F5344CB8AC3E}">
        <p14:creationId xmlns:p14="http://schemas.microsoft.com/office/powerpoint/2010/main" val="13663754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28</a:t>
            </a:fld>
            <a:endParaRPr lang="en-US"/>
          </a:p>
        </p:txBody>
      </p:sp>
    </p:spTree>
    <p:extLst>
      <p:ext uri="{BB962C8B-B14F-4D97-AF65-F5344CB8AC3E}">
        <p14:creationId xmlns:p14="http://schemas.microsoft.com/office/powerpoint/2010/main" val="29694424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29</a:t>
            </a:fld>
            <a:endParaRPr lang="en-US"/>
          </a:p>
        </p:txBody>
      </p:sp>
    </p:spTree>
    <p:extLst>
      <p:ext uri="{BB962C8B-B14F-4D97-AF65-F5344CB8AC3E}">
        <p14:creationId xmlns:p14="http://schemas.microsoft.com/office/powerpoint/2010/main" val="11881894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30</a:t>
            </a:fld>
            <a:endParaRPr lang="en-US"/>
          </a:p>
        </p:txBody>
      </p:sp>
    </p:spTree>
    <p:extLst>
      <p:ext uri="{BB962C8B-B14F-4D97-AF65-F5344CB8AC3E}">
        <p14:creationId xmlns:p14="http://schemas.microsoft.com/office/powerpoint/2010/main" val="45264503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31</a:t>
            </a:fld>
            <a:endParaRPr lang="en-US"/>
          </a:p>
        </p:txBody>
      </p:sp>
    </p:spTree>
    <p:extLst>
      <p:ext uri="{BB962C8B-B14F-4D97-AF65-F5344CB8AC3E}">
        <p14:creationId xmlns:p14="http://schemas.microsoft.com/office/powerpoint/2010/main" val="37766353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32</a:t>
            </a:fld>
            <a:endParaRPr lang="en-US"/>
          </a:p>
        </p:txBody>
      </p:sp>
    </p:spTree>
    <p:extLst>
      <p:ext uri="{BB962C8B-B14F-4D97-AF65-F5344CB8AC3E}">
        <p14:creationId xmlns:p14="http://schemas.microsoft.com/office/powerpoint/2010/main" val="36108476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33</a:t>
            </a:fld>
            <a:endParaRPr lang="en-US"/>
          </a:p>
        </p:txBody>
      </p:sp>
    </p:spTree>
    <p:extLst>
      <p:ext uri="{BB962C8B-B14F-4D97-AF65-F5344CB8AC3E}">
        <p14:creationId xmlns:p14="http://schemas.microsoft.com/office/powerpoint/2010/main" val="125948416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34</a:t>
            </a:fld>
            <a:endParaRPr lang="en-US"/>
          </a:p>
        </p:txBody>
      </p:sp>
    </p:spTree>
    <p:extLst>
      <p:ext uri="{BB962C8B-B14F-4D97-AF65-F5344CB8AC3E}">
        <p14:creationId xmlns:p14="http://schemas.microsoft.com/office/powerpoint/2010/main" val="24474889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35</a:t>
            </a:fld>
            <a:endParaRPr lang="en-US"/>
          </a:p>
        </p:txBody>
      </p:sp>
    </p:spTree>
    <p:extLst>
      <p:ext uri="{BB962C8B-B14F-4D97-AF65-F5344CB8AC3E}">
        <p14:creationId xmlns:p14="http://schemas.microsoft.com/office/powerpoint/2010/main" val="14442074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36</a:t>
            </a:fld>
            <a:endParaRPr lang="en-US"/>
          </a:p>
        </p:txBody>
      </p:sp>
    </p:spTree>
    <p:extLst>
      <p:ext uri="{BB962C8B-B14F-4D97-AF65-F5344CB8AC3E}">
        <p14:creationId xmlns:p14="http://schemas.microsoft.com/office/powerpoint/2010/main" val="127169148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37</a:t>
            </a:fld>
            <a:endParaRPr lang="en-US"/>
          </a:p>
        </p:txBody>
      </p:sp>
    </p:spTree>
    <p:extLst>
      <p:ext uri="{BB962C8B-B14F-4D97-AF65-F5344CB8AC3E}">
        <p14:creationId xmlns:p14="http://schemas.microsoft.com/office/powerpoint/2010/main" val="304137127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38</a:t>
            </a:fld>
            <a:endParaRPr lang="en-US"/>
          </a:p>
        </p:txBody>
      </p:sp>
    </p:spTree>
    <p:extLst>
      <p:ext uri="{BB962C8B-B14F-4D97-AF65-F5344CB8AC3E}">
        <p14:creationId xmlns:p14="http://schemas.microsoft.com/office/powerpoint/2010/main" val="182913146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39</a:t>
            </a:fld>
            <a:endParaRPr lang="en-US"/>
          </a:p>
        </p:txBody>
      </p:sp>
    </p:spTree>
    <p:extLst>
      <p:ext uri="{BB962C8B-B14F-4D97-AF65-F5344CB8AC3E}">
        <p14:creationId xmlns:p14="http://schemas.microsoft.com/office/powerpoint/2010/main" val="258843072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40</a:t>
            </a:fld>
            <a:endParaRPr lang="en-US"/>
          </a:p>
        </p:txBody>
      </p:sp>
    </p:spTree>
    <p:extLst>
      <p:ext uri="{BB962C8B-B14F-4D97-AF65-F5344CB8AC3E}">
        <p14:creationId xmlns:p14="http://schemas.microsoft.com/office/powerpoint/2010/main" val="157326268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41</a:t>
            </a:fld>
            <a:endParaRPr lang="en-US"/>
          </a:p>
        </p:txBody>
      </p:sp>
    </p:spTree>
    <p:extLst>
      <p:ext uri="{BB962C8B-B14F-4D97-AF65-F5344CB8AC3E}">
        <p14:creationId xmlns:p14="http://schemas.microsoft.com/office/powerpoint/2010/main" val="33665526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42</a:t>
            </a:fld>
            <a:endParaRPr lang="en-US"/>
          </a:p>
        </p:txBody>
      </p:sp>
    </p:spTree>
    <p:extLst>
      <p:ext uri="{BB962C8B-B14F-4D97-AF65-F5344CB8AC3E}">
        <p14:creationId xmlns:p14="http://schemas.microsoft.com/office/powerpoint/2010/main" val="126374491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43</a:t>
            </a:fld>
            <a:endParaRPr lang="en-US"/>
          </a:p>
        </p:txBody>
      </p:sp>
    </p:spTree>
    <p:extLst>
      <p:ext uri="{BB962C8B-B14F-4D97-AF65-F5344CB8AC3E}">
        <p14:creationId xmlns:p14="http://schemas.microsoft.com/office/powerpoint/2010/main" val="345441809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44</a:t>
            </a:fld>
            <a:endParaRPr lang="en-US"/>
          </a:p>
        </p:txBody>
      </p:sp>
    </p:spTree>
    <p:extLst>
      <p:ext uri="{BB962C8B-B14F-4D97-AF65-F5344CB8AC3E}">
        <p14:creationId xmlns:p14="http://schemas.microsoft.com/office/powerpoint/2010/main" val="341785353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45</a:t>
            </a:fld>
            <a:endParaRPr lang="en-US"/>
          </a:p>
        </p:txBody>
      </p:sp>
    </p:spTree>
    <p:extLst>
      <p:ext uri="{BB962C8B-B14F-4D97-AF65-F5344CB8AC3E}">
        <p14:creationId xmlns:p14="http://schemas.microsoft.com/office/powerpoint/2010/main" val="203283448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46</a:t>
            </a:fld>
            <a:endParaRPr lang="en-US"/>
          </a:p>
        </p:txBody>
      </p:sp>
    </p:spTree>
    <p:extLst>
      <p:ext uri="{BB962C8B-B14F-4D97-AF65-F5344CB8AC3E}">
        <p14:creationId xmlns:p14="http://schemas.microsoft.com/office/powerpoint/2010/main" val="40509072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47</a:t>
            </a:fld>
            <a:endParaRPr lang="en-US"/>
          </a:p>
        </p:txBody>
      </p:sp>
    </p:spTree>
    <p:extLst>
      <p:ext uri="{BB962C8B-B14F-4D97-AF65-F5344CB8AC3E}">
        <p14:creationId xmlns:p14="http://schemas.microsoft.com/office/powerpoint/2010/main" val="136920693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48</a:t>
            </a:fld>
            <a:endParaRPr lang="en-US"/>
          </a:p>
        </p:txBody>
      </p:sp>
    </p:spTree>
    <p:extLst>
      <p:ext uri="{BB962C8B-B14F-4D97-AF65-F5344CB8AC3E}">
        <p14:creationId xmlns:p14="http://schemas.microsoft.com/office/powerpoint/2010/main" val="19655192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DD46C0E5-5FD0-48D4-A8DC-243893429241}" type="slidenum">
              <a:rPr lang="en-US" smtClean="0"/>
              <a:t>49</a:t>
            </a:fld>
            <a:endParaRPr lang="en-US"/>
          </a:p>
        </p:txBody>
      </p:sp>
    </p:spTree>
    <p:extLst>
      <p:ext uri="{BB962C8B-B14F-4D97-AF65-F5344CB8AC3E}">
        <p14:creationId xmlns:p14="http://schemas.microsoft.com/office/powerpoint/2010/main" val="19624753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712068"/>
            <a:ext cx="9144000" cy="1797894"/>
          </a:xfrm>
          <a:solidFill>
            <a:schemeClr val="accent2"/>
          </a:solidFill>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227414"/>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TextBox 9"/>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pic>
        <p:nvPicPr>
          <p:cNvPr id="4" name="Picture 3">
            <a:extLst>
              <a:ext uri="{FF2B5EF4-FFF2-40B4-BE49-F238E27FC236}">
                <a16:creationId xmlns:a16="http://schemas.microsoft.com/office/drawing/2014/main" id="{7B940385-AA87-4844-88A2-440B6F604A0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p:blipFill>
        <p:spPr bwMode="auto">
          <a:xfrm>
            <a:off x="0" y="0"/>
            <a:ext cx="1182835" cy="575433"/>
          </a:xfrm>
          <a:prstGeom prst="rect">
            <a:avLst/>
          </a:prstGeom>
          <a:noFill/>
          <a:ln w="9525">
            <a:noFill/>
            <a:miter lim="800000"/>
            <a:headEnd/>
            <a:tailEnd/>
          </a:ln>
        </p:spPr>
      </p:pic>
    </p:spTree>
    <p:extLst>
      <p:ext uri="{BB962C8B-B14F-4D97-AF65-F5344CB8AC3E}">
        <p14:creationId xmlns:p14="http://schemas.microsoft.com/office/powerpoint/2010/main" val="1209551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extBox 7"/>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sp>
        <p:nvSpPr>
          <p:cNvPr id="2" name="Title 1"/>
          <p:cNvSpPr>
            <a:spLocks noGrp="1"/>
          </p:cNvSpPr>
          <p:nvPr>
            <p:ph type="title"/>
          </p:nvPr>
        </p:nvSpPr>
        <p:spPr>
          <a:solidFill>
            <a:schemeClr val="bg1"/>
          </a:solidFill>
        </p:spPr>
        <p:txBody>
          <a:bodyPr/>
          <a:lstStyle/>
          <a:p>
            <a:r>
              <a:rPr lang="en-US"/>
              <a:t>Click to edit Master title style</a:t>
            </a:r>
          </a:p>
        </p:txBody>
      </p:sp>
      <p:sp>
        <p:nvSpPr>
          <p:cNvPr id="3" name="Content Placeholder 2"/>
          <p:cNvSpPr>
            <a:spLocks noGrp="1"/>
          </p:cNvSpPr>
          <p:nvPr>
            <p:ph idx="1"/>
          </p:nvPr>
        </p:nvSpPr>
        <p:spPr>
          <a:xfrm>
            <a:off x="864093" y="2140468"/>
            <a:ext cx="10515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a:t>
            </a:fld>
            <a:endParaRPr lang="en-US"/>
          </a:p>
        </p:txBody>
      </p:sp>
      <p:sp>
        <p:nvSpPr>
          <p:cNvPr id="13" name="TextBox 12"/>
          <p:cNvSpPr txBox="1"/>
          <p:nvPr userDrawn="1"/>
        </p:nvSpPr>
        <p:spPr>
          <a:xfrm>
            <a:off x="1" y="600803"/>
            <a:ext cx="207390" cy="973473"/>
          </a:xfrm>
          <a:prstGeom prst="rect">
            <a:avLst/>
          </a:prstGeom>
          <a:solidFill>
            <a:srgbClr val="F4AF80"/>
          </a:solidFill>
        </p:spPr>
        <p:txBody>
          <a:bodyPr wrap="square" rtlCol="0">
            <a:spAutoFit/>
          </a:bodyPr>
          <a:lstStyle/>
          <a:p>
            <a:endParaRPr lang="en-US"/>
          </a:p>
        </p:txBody>
      </p:sp>
      <p:sp>
        <p:nvSpPr>
          <p:cNvPr id="4" name="Date Placeholder 3"/>
          <p:cNvSpPr>
            <a:spLocks noGrp="1"/>
          </p:cNvSpPr>
          <p:nvPr>
            <p:ph type="dt" sz="half" idx="10"/>
          </p:nvPr>
        </p:nvSpPr>
        <p:spPr>
          <a:xfrm>
            <a:off x="838200" y="6480699"/>
            <a:ext cx="2743200" cy="365125"/>
          </a:xfrm>
        </p:spPr>
        <p:txBody>
          <a:bodyPr/>
          <a:lstStyle>
            <a:lvl1pPr>
              <a:defRPr>
                <a:solidFill>
                  <a:schemeClr val="tx1"/>
                </a:solidFill>
              </a:defRPr>
            </a:lvl1pPr>
          </a:lstStyle>
          <a:p>
            <a:fld id="{17256740-3DC7-40BE-968F-29F94186F3AD}" type="datetime1">
              <a:rPr lang="vi-VN" smtClean="0"/>
              <a:t>21/09/2023</a:t>
            </a:fld>
            <a:endParaRPr lang="en-US"/>
          </a:p>
        </p:txBody>
      </p:sp>
      <p:pic>
        <p:nvPicPr>
          <p:cNvPr id="5" name="Picture 4">
            <a:extLst>
              <a:ext uri="{FF2B5EF4-FFF2-40B4-BE49-F238E27FC236}">
                <a16:creationId xmlns:a16="http://schemas.microsoft.com/office/drawing/2014/main" id="{7B940385-AA87-4844-88A2-440B6F604A0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p:blipFill>
        <p:spPr bwMode="auto">
          <a:xfrm>
            <a:off x="0" y="11847"/>
            <a:ext cx="1182835" cy="575433"/>
          </a:xfrm>
          <a:prstGeom prst="rect">
            <a:avLst/>
          </a:prstGeom>
          <a:noFill/>
          <a:ln w="9525">
            <a:noFill/>
            <a:miter lim="800000"/>
            <a:headEnd/>
            <a:tailEnd/>
          </a:ln>
        </p:spPr>
      </p:pic>
    </p:spTree>
    <p:extLst>
      <p:ext uri="{BB962C8B-B14F-4D97-AF65-F5344CB8AC3E}">
        <p14:creationId xmlns:p14="http://schemas.microsoft.com/office/powerpoint/2010/main" val="2362227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848059-8CC8-4876-B763-1BEA3FA0F124}" type="datetime1">
              <a:rPr lang="vi-VN" smtClean="0"/>
              <a:t>21/09/2023</a:t>
            </a:fld>
            <a:endParaRPr lang="en-US"/>
          </a:p>
        </p:txBody>
      </p:sp>
      <p:sp>
        <p:nvSpPr>
          <p:cNvPr id="5" name="Footer Placeholder 4"/>
          <p:cNvSpPr>
            <a:spLocks noGrp="1"/>
          </p:cNvSpPr>
          <p:nvPr>
            <p:ph type="ftr" sz="quarter" idx="11"/>
          </p:nvPr>
        </p:nvSpPr>
        <p:spPr/>
        <p:txBody>
          <a:bodyPr/>
          <a:lstStyle/>
          <a:p>
            <a:r>
              <a:rPr lang="en-US"/>
              <a:t>Course Introduction</a:t>
            </a:r>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99080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0B3963C-A6AA-4DDF-B85B-BE123D65B285}" type="datetime1">
              <a:rPr lang="vi-VN" smtClean="0"/>
              <a:t>21/09/2023</a:t>
            </a:fld>
            <a:endParaRPr lang="en-US"/>
          </a:p>
        </p:txBody>
      </p:sp>
      <p:sp>
        <p:nvSpPr>
          <p:cNvPr id="6" name="Footer Placeholder 5"/>
          <p:cNvSpPr>
            <a:spLocks noGrp="1"/>
          </p:cNvSpPr>
          <p:nvPr>
            <p:ph type="ftr" sz="quarter" idx="11"/>
          </p:nvPr>
        </p:nvSpPr>
        <p:spPr/>
        <p:txBody>
          <a:bodyPr/>
          <a:lstStyle/>
          <a:p>
            <a:r>
              <a:rPr lang="en-US"/>
              <a:t>Course Introduction</a:t>
            </a:r>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4101125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9F11605-F8CD-44C6-A79B-BEBA9358497C}" type="datetime1">
              <a:rPr lang="vi-VN" smtClean="0"/>
              <a:t>21/09/2023</a:t>
            </a:fld>
            <a:endParaRPr lang="en-US"/>
          </a:p>
        </p:txBody>
      </p:sp>
      <p:sp>
        <p:nvSpPr>
          <p:cNvPr id="8" name="Footer Placeholder 7"/>
          <p:cNvSpPr>
            <a:spLocks noGrp="1"/>
          </p:cNvSpPr>
          <p:nvPr>
            <p:ph type="ftr" sz="quarter" idx="11"/>
          </p:nvPr>
        </p:nvSpPr>
        <p:spPr/>
        <p:txBody>
          <a:bodyPr/>
          <a:lstStyle/>
          <a:p>
            <a:r>
              <a:rPr lang="en-US"/>
              <a:t>Course Introduction</a:t>
            </a:r>
          </a:p>
        </p:txBody>
      </p:sp>
      <p:sp>
        <p:nvSpPr>
          <p:cNvPr id="9" name="Slide Number Placeholder 8"/>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933054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73410B-B6B3-4AF4-A9DB-DC0340309754}" type="datetime1">
              <a:rPr lang="vi-VN" smtClean="0"/>
              <a:t>21/09/2023</a:t>
            </a:fld>
            <a:endParaRPr lang="en-US"/>
          </a:p>
        </p:txBody>
      </p:sp>
      <p:sp>
        <p:nvSpPr>
          <p:cNvPr id="4" name="Footer Placeholder 3"/>
          <p:cNvSpPr>
            <a:spLocks noGrp="1"/>
          </p:cNvSpPr>
          <p:nvPr>
            <p:ph type="ftr" sz="quarter" idx="11"/>
          </p:nvPr>
        </p:nvSpPr>
        <p:spPr/>
        <p:txBody>
          <a:bodyPr/>
          <a:lstStyle/>
          <a:p>
            <a:r>
              <a:rPr lang="en-US"/>
              <a:t>Course Introduction</a:t>
            </a:r>
          </a:p>
        </p:txBody>
      </p:sp>
      <p:sp>
        <p:nvSpPr>
          <p:cNvPr id="5" name="Slide Number Placeholder 4"/>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623130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5606E5-9CA3-4971-89BF-F965F9043882}" type="datetime1">
              <a:rPr lang="vi-VN" smtClean="0"/>
              <a:t>21/09/2023</a:t>
            </a:fld>
            <a:endParaRPr lang="en-US"/>
          </a:p>
        </p:txBody>
      </p:sp>
      <p:sp>
        <p:nvSpPr>
          <p:cNvPr id="3" name="Footer Placeholder 2"/>
          <p:cNvSpPr>
            <a:spLocks noGrp="1"/>
          </p:cNvSpPr>
          <p:nvPr>
            <p:ph type="ftr" sz="quarter" idx="11"/>
          </p:nvPr>
        </p:nvSpPr>
        <p:spPr/>
        <p:txBody>
          <a:bodyPr/>
          <a:lstStyle/>
          <a:p>
            <a:r>
              <a:rPr lang="en-US"/>
              <a:t>Course Introduction</a:t>
            </a:r>
          </a:p>
        </p:txBody>
      </p:sp>
      <p:sp>
        <p:nvSpPr>
          <p:cNvPr id="4" name="Slide Number Placeholder 3"/>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320444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4316FA-E3CF-4C73-A815-C13A824B339A}" type="datetime1">
              <a:rPr lang="vi-VN" smtClean="0"/>
              <a:t>21/09/2023</a:t>
            </a:fld>
            <a:endParaRPr lang="en-US"/>
          </a:p>
        </p:txBody>
      </p:sp>
      <p:sp>
        <p:nvSpPr>
          <p:cNvPr id="6" name="Footer Placeholder 5"/>
          <p:cNvSpPr>
            <a:spLocks noGrp="1"/>
          </p:cNvSpPr>
          <p:nvPr>
            <p:ph type="ftr" sz="quarter" idx="11"/>
          </p:nvPr>
        </p:nvSpPr>
        <p:spPr/>
        <p:txBody>
          <a:bodyPr/>
          <a:lstStyle/>
          <a:p>
            <a:r>
              <a:rPr lang="en-US"/>
              <a:t>Course Introduction</a:t>
            </a:r>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1511075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AC6D87B-52FF-4B7F-A538-F746ED572E26}" type="datetime1">
              <a:rPr lang="vi-VN" smtClean="0"/>
              <a:t>21/09/2023</a:t>
            </a:fld>
            <a:endParaRPr lang="en-US"/>
          </a:p>
        </p:txBody>
      </p:sp>
      <p:sp>
        <p:nvSpPr>
          <p:cNvPr id="6" name="Footer Placeholder 5"/>
          <p:cNvSpPr>
            <a:spLocks noGrp="1"/>
          </p:cNvSpPr>
          <p:nvPr>
            <p:ph type="ftr" sz="quarter" idx="11"/>
          </p:nvPr>
        </p:nvSpPr>
        <p:spPr/>
        <p:txBody>
          <a:bodyPr/>
          <a:lstStyle/>
          <a:p>
            <a:r>
              <a:rPr lang="en-US"/>
              <a:t>Course Introduction</a:t>
            </a:r>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2411777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01C2434-2AF2-4BF2-BD0B-95CBD5EB0128}" type="datetime1">
              <a:rPr lang="vi-VN" smtClean="0"/>
              <a:t>21/09/2023</a:t>
            </a:fld>
            <a:endParaRPr lang="en-US"/>
          </a:p>
        </p:txBody>
      </p:sp>
      <p:sp>
        <p:nvSpPr>
          <p:cNvPr id="5" name="Footer Placeholder 4"/>
          <p:cNvSpPr>
            <a:spLocks noGrp="1"/>
          </p:cNvSpPr>
          <p:nvPr>
            <p:ph type="ftr" sz="quarter" idx="11"/>
          </p:nvPr>
        </p:nvSpPr>
        <p:spPr/>
        <p:txBody>
          <a:bodyPr/>
          <a:lstStyle/>
          <a:p>
            <a:r>
              <a:rPr lang="en-US"/>
              <a:t>Course Introduction</a:t>
            </a:r>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220443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576082-5D4E-4969-8016-69F376C871AD}" type="datetime1">
              <a:rPr lang="vi-VN" smtClean="0"/>
              <a:t>21/09/2023</a:t>
            </a:fld>
            <a:endParaRPr lang="en-US"/>
          </a:p>
        </p:txBody>
      </p:sp>
      <p:sp>
        <p:nvSpPr>
          <p:cNvPr id="5" name="Footer Placeholder 4"/>
          <p:cNvSpPr>
            <a:spLocks noGrp="1"/>
          </p:cNvSpPr>
          <p:nvPr>
            <p:ph type="ftr" sz="quarter" idx="11"/>
          </p:nvPr>
        </p:nvSpPr>
        <p:spPr/>
        <p:txBody>
          <a:bodyPr/>
          <a:lstStyle/>
          <a:p>
            <a:r>
              <a:rPr lang="en-US"/>
              <a:t>Course Introduction</a:t>
            </a:r>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825595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8BA729-DBE2-49EE-91FE-3D8B2D9BF9AB}" type="datetime1">
              <a:rPr lang="vi-VN" smtClean="0"/>
              <a:t>21/09/2023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Course Introduction</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691216-F62E-4FB8-B968-3BF60F6CBEA2}" type="slidenum">
              <a:rPr lang="en-US" smtClean="0"/>
              <a:t>‹#›</a:t>
            </a:fld>
            <a:endParaRPr lang="en-US"/>
          </a:p>
        </p:txBody>
      </p:sp>
    </p:spTree>
    <p:extLst>
      <p:ext uri="{BB962C8B-B14F-4D97-AF65-F5344CB8AC3E}">
        <p14:creationId xmlns:p14="http://schemas.microsoft.com/office/powerpoint/2010/main" val="1304784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w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5.w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7.wmf"/></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8.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59837" y="2241457"/>
            <a:ext cx="11094098" cy="1789121"/>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sz="3200" b="1" dirty="0">
                <a:solidFill>
                  <a:schemeClr val="bg2">
                    <a:lumMod val="50000"/>
                  </a:schemeClr>
                </a:solidFill>
                <a:latin typeface="Arial" panose="020B0604020202020204" pitchFamily="34" charset="0"/>
                <a:cs typeface="Arial" panose="020B0604020202020204" pitchFamily="34" charset="0"/>
              </a:rPr>
              <a:t>Chapter 07</a:t>
            </a:r>
            <a:br>
              <a:rPr lang="en-US" sz="4400" b="1" dirty="0">
                <a:solidFill>
                  <a:schemeClr val="accent2"/>
                </a:solidFill>
                <a:latin typeface="Arial" panose="020B0604020202020204" pitchFamily="34" charset="0"/>
                <a:cs typeface="Arial" panose="020B0604020202020204" pitchFamily="34" charset="0"/>
              </a:rPr>
            </a:br>
            <a:r>
              <a:rPr lang="en-US" sz="4400" b="1" dirty="0">
                <a:solidFill>
                  <a:schemeClr val="accent2"/>
                </a:solidFill>
                <a:latin typeface="Arial" panose="020B0604020202020204" pitchFamily="34" charset="0"/>
                <a:cs typeface="Arial" panose="020B0604020202020204" pitchFamily="34" charset="0"/>
              </a:rPr>
              <a:t>Organizational Culture</a:t>
            </a:r>
          </a:p>
        </p:txBody>
      </p:sp>
    </p:spTree>
    <p:extLst>
      <p:ext uri="{BB962C8B-B14F-4D97-AF65-F5344CB8AC3E}">
        <p14:creationId xmlns:p14="http://schemas.microsoft.com/office/powerpoint/2010/main" val="1575391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a:t>
            </a:fld>
            <a:endParaRPr kumimoji="0" lang="en-US" dirty="0"/>
          </a:p>
        </p:txBody>
      </p:sp>
      <p:sp>
        <p:nvSpPr>
          <p:cNvPr id="4" name="Content Placeholder 3"/>
          <p:cNvSpPr>
            <a:spLocks noGrp="1"/>
          </p:cNvSpPr>
          <p:nvPr>
            <p:ph sz="quarter" idx="1"/>
          </p:nvPr>
        </p:nvSpPr>
        <p:spPr>
          <a:xfrm>
            <a:off x="0" y="1714726"/>
            <a:ext cx="12002308" cy="4322181"/>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dirty="0"/>
              <a:t>Different Types of Cultures</a:t>
            </a:r>
          </a:p>
          <a:p>
            <a:pPr marL="342900" indent="-342900" algn="just">
              <a:lnSpc>
                <a:spcPct val="150000"/>
              </a:lnSpc>
              <a:spcBef>
                <a:spcPts val="600"/>
              </a:spcBef>
              <a:buClr>
                <a:srgbClr val="973735"/>
              </a:buClr>
              <a:buSzPct val="50000"/>
              <a:buFont typeface="Wingdings" pitchFamily="2" charset="2"/>
              <a:buChar char="u"/>
              <a:defRPr/>
            </a:pPr>
            <a:r>
              <a:rPr lang="en-US" dirty="0"/>
              <a:t>Organizational Culture Analysis</a:t>
            </a:r>
          </a:p>
          <a:p>
            <a:pPr marL="342900" indent="-342900" algn="just">
              <a:lnSpc>
                <a:spcPct val="150000"/>
              </a:lnSpc>
              <a:spcBef>
                <a:spcPts val="600"/>
              </a:spcBef>
              <a:buClr>
                <a:srgbClr val="973735"/>
              </a:buClr>
              <a:buSzPct val="50000"/>
              <a:buFont typeface="Wingdings" pitchFamily="2" charset="2"/>
              <a:buChar char="u"/>
              <a:defRPr/>
            </a:pPr>
            <a:r>
              <a:rPr lang="en-US" dirty="0"/>
              <a:t>Culture at the Foundation of KM</a:t>
            </a:r>
          </a:p>
          <a:p>
            <a:pPr marL="342900" indent="-342900" algn="just">
              <a:lnSpc>
                <a:spcPct val="150000"/>
              </a:lnSpc>
              <a:spcBef>
                <a:spcPts val="600"/>
              </a:spcBef>
              <a:buClr>
                <a:srgbClr val="973735"/>
              </a:buClr>
              <a:buSzPct val="50000"/>
              <a:buFont typeface="Wingdings" pitchFamily="2" charset="2"/>
              <a:buChar char="u"/>
              <a:defRPr/>
            </a:pPr>
            <a:r>
              <a:rPr lang="en-US" dirty="0"/>
              <a:t>Transformation to a Knowledge-Sharing Culture</a:t>
            </a:r>
          </a:p>
          <a:p>
            <a:pPr marL="342900" indent="-342900" algn="just">
              <a:lnSpc>
                <a:spcPct val="150000"/>
              </a:lnSpc>
              <a:spcBef>
                <a:spcPts val="600"/>
              </a:spcBef>
              <a:buClr>
                <a:srgbClr val="973735"/>
              </a:buClr>
              <a:buSzPct val="50000"/>
              <a:buFont typeface="Wingdings" pitchFamily="2" charset="2"/>
              <a:buChar char="u"/>
              <a:defRPr/>
            </a:pPr>
            <a:r>
              <a:rPr lang="en-US" dirty="0"/>
              <a:t>Strategic Implications of Organizational Culture</a:t>
            </a:r>
          </a:p>
          <a:p>
            <a:pPr marL="342900" indent="-342900" algn="just">
              <a:lnSpc>
                <a:spcPct val="150000"/>
              </a:lnSpc>
              <a:spcBef>
                <a:spcPts val="600"/>
              </a:spcBef>
              <a:buClr>
                <a:srgbClr val="973735"/>
              </a:buClr>
              <a:buSzPct val="50000"/>
              <a:buFont typeface="Wingdings" pitchFamily="2" charset="2"/>
              <a:buChar char="u"/>
              <a:defRPr/>
            </a:pPr>
            <a:r>
              <a:rPr lang="en-US" dirty="0"/>
              <a:t>Practical Implications of Organizational Culture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8" name="Title 1">
            <a:extLst>
              <a:ext uri="{FF2B5EF4-FFF2-40B4-BE49-F238E27FC236}">
                <a16:creationId xmlns:a16="http://schemas.microsoft.com/office/drawing/2014/main" id="{F425307F-F5C2-45A6-A2FA-3E1724542933}"/>
              </a:ext>
            </a:extLst>
          </p:cNvPr>
          <p:cNvSpPr>
            <a:spLocks noGrp="1"/>
          </p:cNvSpPr>
          <p:nvPr>
            <p:ph type="title"/>
          </p:nvPr>
        </p:nvSpPr>
        <p:spPr>
          <a:xfrm>
            <a:off x="287517" y="674951"/>
            <a:ext cx="10515600" cy="709226"/>
          </a:xfrm>
        </p:spPr>
        <p:txBody>
          <a:bodyPr>
            <a:normAutofit/>
          </a:bodyPr>
          <a:lstStyle/>
          <a:p>
            <a:r>
              <a:rPr lang="en-US" sz="4000" b="1" dirty="0"/>
              <a:t>Objectives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a:t>
            </a:fld>
            <a:endParaRPr kumimoji="0" lang="en-US" dirty="0"/>
          </a:p>
        </p:txBody>
      </p:sp>
      <p:sp>
        <p:nvSpPr>
          <p:cNvPr id="4" name="Content Placeholder 3"/>
          <p:cNvSpPr>
            <a:spLocks noGrp="1"/>
          </p:cNvSpPr>
          <p:nvPr>
            <p:ph sz="quarter" idx="1"/>
          </p:nvPr>
        </p:nvSpPr>
        <p:spPr>
          <a:xfrm>
            <a:off x="618565" y="2339788"/>
            <a:ext cx="10663518" cy="3580080"/>
          </a:xfrm>
        </p:spPr>
        <p:txBody>
          <a:bodyPr>
            <a:normAutofit/>
          </a:bodyPr>
          <a:lstStyle/>
          <a:p>
            <a:pPr marL="0" indent="0" algn="just">
              <a:lnSpc>
                <a:spcPct val="100000"/>
              </a:lnSpc>
              <a:spcBef>
                <a:spcPts val="2400"/>
              </a:spcBef>
              <a:buClr>
                <a:srgbClr val="973735"/>
              </a:buClr>
              <a:buSzPct val="50000"/>
              <a:buNone/>
              <a:defRPr/>
            </a:pPr>
            <a:r>
              <a:rPr lang="en-US" dirty="0"/>
              <a:t>As the soil, however rich it may be, cannot be productive without cultivation, so the mind without culture can never produce good fruit.</a:t>
            </a:r>
          </a:p>
          <a:p>
            <a:pPr marL="0" indent="0" algn="r">
              <a:lnSpc>
                <a:spcPct val="150000"/>
              </a:lnSpc>
              <a:spcBef>
                <a:spcPts val="600"/>
              </a:spcBef>
              <a:buClr>
                <a:srgbClr val="973735"/>
              </a:buClr>
              <a:buSzPct val="50000"/>
              <a:buNone/>
              <a:defRPr/>
            </a:pPr>
            <a:r>
              <a:rPr lang="en-US" sz="2400" b="1" i="1" dirty="0"/>
              <a:t> - Seneca (Roman senator, ca. 60 B.C. - 37 A.D.)</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Introduction</a:t>
            </a:r>
          </a:p>
        </p:txBody>
      </p:sp>
    </p:spTree>
    <p:extLst>
      <p:ext uri="{BB962C8B-B14F-4D97-AF65-F5344CB8AC3E}">
        <p14:creationId xmlns:p14="http://schemas.microsoft.com/office/powerpoint/2010/main" val="1991387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a:t>
            </a:fld>
            <a:endParaRPr kumimoji="0" lang="en-US" dirty="0"/>
          </a:p>
        </p:txBody>
      </p:sp>
      <p:sp>
        <p:nvSpPr>
          <p:cNvPr id="4" name="Content Placeholder 3"/>
          <p:cNvSpPr>
            <a:spLocks noGrp="1"/>
          </p:cNvSpPr>
          <p:nvPr>
            <p:ph sz="quarter" idx="1"/>
          </p:nvPr>
        </p:nvSpPr>
        <p:spPr>
          <a:xfrm>
            <a:off x="0" y="1664593"/>
            <a:ext cx="11793071" cy="4668972"/>
          </a:xfrm>
        </p:spPr>
        <p:txBody>
          <a:bodyPr>
            <a:noAutofit/>
          </a:bodyPr>
          <a:lstStyle/>
          <a:p>
            <a:pPr marL="342900" indent="-342900" algn="just">
              <a:lnSpc>
                <a:spcPct val="100000"/>
              </a:lnSpc>
              <a:spcBef>
                <a:spcPts val="2400"/>
              </a:spcBef>
              <a:buClr>
                <a:srgbClr val="973735"/>
              </a:buClr>
              <a:buSzPct val="50000"/>
              <a:buFont typeface="Wingdings" pitchFamily="2" charset="2"/>
              <a:buChar char="u"/>
              <a:defRPr/>
            </a:pPr>
            <a:r>
              <a:rPr lang="en-US" dirty="0"/>
              <a:t>Myth in KM</a:t>
            </a:r>
          </a:p>
          <a:p>
            <a:pPr marL="800100" lvl="1" indent="-342900" algn="just">
              <a:lnSpc>
                <a:spcPct val="100000"/>
              </a:lnSpc>
              <a:spcBef>
                <a:spcPts val="2400"/>
              </a:spcBef>
              <a:buClr>
                <a:srgbClr val="973735"/>
              </a:buClr>
              <a:buSzPct val="50000"/>
              <a:buFont typeface="Wingdings" pitchFamily="2" charset="2"/>
              <a:buChar char="u"/>
              <a:defRPr/>
            </a:pPr>
            <a:r>
              <a:rPr lang="en-US" sz="2600" dirty="0"/>
              <a:t>Built it and they will come / use</a:t>
            </a:r>
          </a:p>
          <a:p>
            <a:pPr marL="800100" lvl="1" indent="-342900" algn="just">
              <a:lnSpc>
                <a:spcPct val="100000"/>
              </a:lnSpc>
              <a:spcBef>
                <a:spcPts val="2400"/>
              </a:spcBef>
              <a:buClr>
                <a:srgbClr val="973735"/>
              </a:buClr>
              <a:buSzPct val="50000"/>
              <a:buFont typeface="Wingdings" pitchFamily="2" charset="2"/>
              <a:buChar char="u"/>
              <a:defRPr/>
            </a:pPr>
            <a:r>
              <a:rPr lang="en-US" sz="2600" dirty="0"/>
              <a:t>Technology will replace face-to-face interactions</a:t>
            </a:r>
          </a:p>
          <a:p>
            <a:pPr marL="800100" lvl="1" indent="-342900" algn="just">
              <a:lnSpc>
                <a:spcPct val="100000"/>
              </a:lnSpc>
              <a:spcBef>
                <a:spcPts val="2400"/>
              </a:spcBef>
              <a:buClr>
                <a:srgbClr val="973735"/>
              </a:buClr>
              <a:buSzPct val="50000"/>
              <a:buFont typeface="Wingdings" pitchFamily="2" charset="2"/>
              <a:buChar char="u"/>
              <a:defRPr/>
            </a:pPr>
            <a:r>
              <a:rPr lang="en-US" sz="2600" dirty="0"/>
              <a:t>First, change the organization culture to one of learning</a:t>
            </a:r>
          </a:p>
          <a:p>
            <a:pPr marL="342900" indent="-342900" algn="just">
              <a:lnSpc>
                <a:spcPct val="100000"/>
              </a:lnSpc>
              <a:spcBef>
                <a:spcPts val="2400"/>
              </a:spcBef>
              <a:buClr>
                <a:srgbClr val="973735"/>
              </a:buClr>
              <a:buSzPct val="50000"/>
              <a:buFont typeface="Wingdings" pitchFamily="2" charset="2"/>
              <a:buChar char="u"/>
              <a:defRPr/>
            </a:pPr>
            <a:r>
              <a:rPr lang="en-US" dirty="0"/>
              <a:t>Organization’s cultural environment play a crucial role in determining what happen to KM within that organization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Introduction</a:t>
            </a:r>
          </a:p>
        </p:txBody>
      </p:sp>
    </p:spTree>
    <p:extLst>
      <p:ext uri="{BB962C8B-B14F-4D97-AF65-F5344CB8AC3E}">
        <p14:creationId xmlns:p14="http://schemas.microsoft.com/office/powerpoint/2010/main" val="35428809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5</a:t>
            </a:fld>
            <a:endParaRPr kumimoji="0" lang="en-US" dirty="0"/>
          </a:p>
        </p:txBody>
      </p:sp>
      <p:sp>
        <p:nvSpPr>
          <p:cNvPr id="4" name="Content Placeholder 3"/>
          <p:cNvSpPr>
            <a:spLocks noGrp="1"/>
          </p:cNvSpPr>
          <p:nvPr>
            <p:ph sz="quarter" idx="1"/>
          </p:nvPr>
        </p:nvSpPr>
        <p:spPr>
          <a:xfrm>
            <a:off x="0" y="1664593"/>
            <a:ext cx="11604812" cy="4668972"/>
          </a:xfrm>
        </p:spPr>
        <p:txBody>
          <a:bodyPr>
            <a:noAutofit/>
          </a:bodyPr>
          <a:lstStyle/>
          <a:p>
            <a:pPr marL="342900" indent="-342900" algn="just">
              <a:lnSpc>
                <a:spcPct val="120000"/>
              </a:lnSpc>
              <a:spcBef>
                <a:spcPts val="1200"/>
              </a:spcBef>
              <a:buClr>
                <a:srgbClr val="973735"/>
              </a:buClr>
              <a:buSzPct val="50000"/>
              <a:buFont typeface="Wingdings" pitchFamily="2" charset="2"/>
              <a:buChar char="u"/>
              <a:defRPr/>
            </a:pPr>
            <a:endParaRPr lang="en-US" sz="2600" dirty="0"/>
          </a:p>
          <a:p>
            <a:pPr marL="342900" indent="-342900" algn="just">
              <a:lnSpc>
                <a:spcPct val="100000"/>
              </a:lnSpc>
              <a:spcBef>
                <a:spcPts val="2400"/>
              </a:spcBef>
              <a:buClr>
                <a:srgbClr val="973735"/>
              </a:buClr>
              <a:buSzPct val="50000"/>
              <a:buFont typeface="Wingdings" pitchFamily="2" charset="2"/>
              <a:buChar char="u"/>
              <a:defRPr/>
            </a:pPr>
            <a:r>
              <a:rPr lang="en-US" sz="2600" dirty="0"/>
              <a:t>Culture refers to the underlying values, beliefs, attitude, behavior, &amp; codes of practice that make a community/organization what it is</a:t>
            </a:r>
          </a:p>
          <a:p>
            <a:pPr marL="342900" indent="-342900" algn="just">
              <a:lnSpc>
                <a:spcPct val="100000"/>
              </a:lnSpc>
              <a:spcBef>
                <a:spcPts val="2400"/>
              </a:spcBef>
              <a:buClr>
                <a:srgbClr val="973735"/>
              </a:buClr>
              <a:buSzPct val="50000"/>
              <a:buFont typeface="Wingdings" pitchFamily="2" charset="2"/>
              <a:buChar char="u"/>
              <a:defRPr/>
            </a:pPr>
            <a:r>
              <a:rPr lang="en-US" sz="2600" dirty="0"/>
              <a:t>The customs of society, the self-image of its members, the things that make different from others, are its culture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Introduction</a:t>
            </a:r>
          </a:p>
        </p:txBody>
      </p:sp>
    </p:spTree>
    <p:extLst>
      <p:ext uri="{BB962C8B-B14F-4D97-AF65-F5344CB8AC3E}">
        <p14:creationId xmlns:p14="http://schemas.microsoft.com/office/powerpoint/2010/main" val="948614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6</a:t>
            </a:fld>
            <a:endParaRPr kumimoji="0" lang="en-US" dirty="0"/>
          </a:p>
        </p:txBody>
      </p:sp>
      <p:sp>
        <p:nvSpPr>
          <p:cNvPr id="4" name="Content Placeholder 3"/>
          <p:cNvSpPr>
            <a:spLocks noGrp="1"/>
          </p:cNvSpPr>
          <p:nvPr>
            <p:ph sz="quarter" idx="1"/>
          </p:nvPr>
        </p:nvSpPr>
        <p:spPr>
          <a:xfrm>
            <a:off x="0" y="1664593"/>
            <a:ext cx="11712388" cy="4255275"/>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dirty="0"/>
              <a:t>Organizational culture (Schein, 1999)</a:t>
            </a:r>
          </a:p>
          <a:p>
            <a:pPr marL="800100" lvl="1" indent="-342900" algn="just">
              <a:lnSpc>
                <a:spcPct val="100000"/>
              </a:lnSpc>
              <a:spcBef>
                <a:spcPts val="2400"/>
              </a:spcBef>
              <a:buClr>
                <a:srgbClr val="973735"/>
              </a:buClr>
              <a:buSzPct val="50000"/>
              <a:buFont typeface="Wingdings" pitchFamily="2" charset="2"/>
              <a:buChar char="u"/>
              <a:defRPr/>
            </a:pPr>
            <a:r>
              <a:rPr lang="en-US" sz="2600" dirty="0"/>
              <a:t>“a pattern of basic assumptions - invented, discovered, or developed by a given group when they cope external adaptation and internal integration”</a:t>
            </a:r>
          </a:p>
          <a:p>
            <a:pPr marL="800100" lvl="1" indent="-342900" algn="just">
              <a:lnSpc>
                <a:spcPct val="100000"/>
              </a:lnSpc>
              <a:spcBef>
                <a:spcPts val="2400"/>
              </a:spcBef>
              <a:buClr>
                <a:srgbClr val="973735"/>
              </a:buClr>
              <a:buSzPct val="50000"/>
              <a:buFont typeface="Wingdings" pitchFamily="2" charset="2"/>
              <a:buChar char="u"/>
              <a:defRPr/>
            </a:pPr>
            <a:r>
              <a:rPr lang="en-US" sz="2600" dirty="0"/>
              <a:t>Worked well enough to be considered valid the taught to new members as the correct way to perceive, think and feel in relation to problem” -&gt; they war we do things around here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Culture definition</a:t>
            </a:r>
          </a:p>
        </p:txBody>
      </p:sp>
    </p:spTree>
    <p:extLst>
      <p:ext uri="{BB962C8B-B14F-4D97-AF65-F5344CB8AC3E}">
        <p14:creationId xmlns:p14="http://schemas.microsoft.com/office/powerpoint/2010/main" val="26622555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7</a:t>
            </a:fld>
            <a:endParaRPr kumimoji="0" lang="en-US" dirty="0"/>
          </a:p>
        </p:txBody>
      </p:sp>
      <p:sp>
        <p:nvSpPr>
          <p:cNvPr id="4" name="Content Placeholder 3"/>
          <p:cNvSpPr>
            <a:spLocks noGrp="1"/>
          </p:cNvSpPr>
          <p:nvPr>
            <p:ph sz="quarter" idx="1"/>
          </p:nvPr>
        </p:nvSpPr>
        <p:spPr>
          <a:xfrm>
            <a:off x="0" y="1664593"/>
            <a:ext cx="11833412" cy="4255275"/>
          </a:xfrm>
        </p:spPr>
        <p:txBody>
          <a:bodyPr>
            <a:normAutofit/>
          </a:bodyPr>
          <a:lstStyle/>
          <a:p>
            <a:pPr marL="342900" indent="-342900" algn="just">
              <a:lnSpc>
                <a:spcPct val="100000"/>
              </a:lnSpc>
              <a:spcBef>
                <a:spcPts val="2400"/>
              </a:spcBef>
              <a:buClr>
                <a:srgbClr val="973735"/>
              </a:buClr>
              <a:buSzPct val="50000"/>
              <a:buFont typeface="Wingdings" pitchFamily="2" charset="2"/>
              <a:buChar char="u"/>
              <a:defRPr/>
            </a:pPr>
            <a:r>
              <a:rPr lang="en-US" dirty="0"/>
              <a:t>Culture thus defines consistent ways in which people perform tasks, solve problem, resolve conflicts, treat customers and employees, and so on.</a:t>
            </a:r>
          </a:p>
          <a:p>
            <a:pPr marL="342900" indent="-342900" algn="just">
              <a:lnSpc>
                <a:spcPct val="100000"/>
              </a:lnSpc>
              <a:spcBef>
                <a:spcPts val="2400"/>
              </a:spcBef>
              <a:buClr>
                <a:srgbClr val="973735"/>
              </a:buClr>
              <a:buSzPct val="50000"/>
              <a:buFont typeface="Wingdings" pitchFamily="2" charset="2"/>
              <a:buChar char="u"/>
              <a:defRPr/>
            </a:pPr>
            <a:r>
              <a:rPr lang="en-US" dirty="0"/>
              <a:t>An informal values, norm, &amp; beliefs that control how individuals &amp; groups in an organization interact with each other and people outside the organization</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Culture definition</a:t>
            </a:r>
          </a:p>
        </p:txBody>
      </p:sp>
    </p:spTree>
    <p:extLst>
      <p:ext uri="{BB962C8B-B14F-4D97-AF65-F5344CB8AC3E}">
        <p14:creationId xmlns:p14="http://schemas.microsoft.com/office/powerpoint/2010/main" val="40177395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8</a:t>
            </a:fld>
            <a:endParaRPr kumimoji="0" lang="en-US" dirty="0"/>
          </a:p>
        </p:txBody>
      </p:sp>
      <p:sp>
        <p:nvSpPr>
          <p:cNvPr id="4" name="Content Placeholder 3"/>
          <p:cNvSpPr>
            <a:spLocks noGrp="1"/>
          </p:cNvSpPr>
          <p:nvPr>
            <p:ph sz="quarter" idx="1"/>
          </p:nvPr>
        </p:nvSpPr>
        <p:spPr>
          <a:xfrm>
            <a:off x="0" y="1664593"/>
            <a:ext cx="11685494" cy="4255275"/>
          </a:xfrm>
        </p:spPr>
        <p:txBody>
          <a:bodyPr>
            <a:normAutofit lnSpcReduction="10000"/>
          </a:bodyPr>
          <a:lstStyle/>
          <a:p>
            <a:pPr marL="342900" indent="-342900" algn="just">
              <a:lnSpc>
                <a:spcPct val="100000"/>
              </a:lnSpc>
              <a:spcBef>
                <a:spcPts val="1200"/>
              </a:spcBef>
              <a:buClr>
                <a:srgbClr val="973735"/>
              </a:buClr>
              <a:buSzPct val="50000"/>
              <a:buFont typeface="Wingdings" pitchFamily="2" charset="2"/>
              <a:buChar char="u"/>
              <a:defRPr/>
            </a:pPr>
            <a:r>
              <a:rPr lang="en-US" dirty="0"/>
              <a:t>What make an organization culture:</a:t>
            </a:r>
          </a:p>
          <a:p>
            <a:pPr marL="800100" lvl="1" indent="-342900" algn="just">
              <a:lnSpc>
                <a:spcPct val="100000"/>
              </a:lnSpc>
              <a:spcBef>
                <a:spcPts val="1800"/>
              </a:spcBef>
              <a:buClr>
                <a:srgbClr val="973735"/>
              </a:buClr>
              <a:buSzPct val="50000"/>
              <a:buFont typeface="Wingdings" pitchFamily="2" charset="2"/>
              <a:buChar char="u"/>
              <a:defRPr/>
            </a:pPr>
            <a:r>
              <a:rPr lang="en-US" sz="2600" dirty="0"/>
              <a:t>Individual working (attitudes, mentalities, interests, perception and even the thought process of the employees) affect the organization culture</a:t>
            </a:r>
          </a:p>
          <a:p>
            <a:pPr marL="800100" lvl="1" indent="-342900" algn="just">
              <a:lnSpc>
                <a:spcPct val="100000"/>
              </a:lnSpc>
              <a:spcBef>
                <a:spcPts val="1800"/>
              </a:spcBef>
              <a:buClr>
                <a:srgbClr val="973735"/>
              </a:buClr>
              <a:buSzPct val="50000"/>
              <a:buFont typeface="Wingdings" pitchFamily="2" charset="2"/>
              <a:buChar char="u"/>
              <a:defRPr/>
            </a:pPr>
            <a:r>
              <a:rPr lang="en-US" sz="2600" dirty="0"/>
              <a:t>The nature of the business (fierce or mild competition)</a:t>
            </a:r>
          </a:p>
          <a:p>
            <a:pPr marL="800100" lvl="1" indent="-342900" algn="just">
              <a:lnSpc>
                <a:spcPct val="100000"/>
              </a:lnSpc>
              <a:spcBef>
                <a:spcPts val="1800"/>
              </a:spcBef>
              <a:buClr>
                <a:srgbClr val="973735"/>
              </a:buClr>
              <a:buSzPct val="50000"/>
              <a:buFont typeface="Wingdings" pitchFamily="2" charset="2"/>
              <a:buChar char="u"/>
              <a:defRPr/>
            </a:pPr>
            <a:r>
              <a:rPr lang="en-US" sz="2600" dirty="0"/>
              <a:t>Its goals and objectives (the strategies and procedures)</a:t>
            </a:r>
          </a:p>
          <a:p>
            <a:pPr marL="800100" lvl="1" indent="-342900" algn="just">
              <a:lnSpc>
                <a:spcPct val="100000"/>
              </a:lnSpc>
              <a:spcBef>
                <a:spcPts val="1800"/>
              </a:spcBef>
              <a:buClr>
                <a:srgbClr val="973735"/>
              </a:buClr>
              <a:buSzPct val="50000"/>
              <a:buFont typeface="Wingdings" pitchFamily="2" charset="2"/>
              <a:buChar char="u"/>
              <a:defRPr/>
            </a:pPr>
            <a:r>
              <a:rPr lang="en-US" sz="2600" dirty="0"/>
              <a:t>The clients and the external parties</a:t>
            </a:r>
          </a:p>
          <a:p>
            <a:pPr marL="800100" lvl="1" indent="-342900" algn="just">
              <a:lnSpc>
                <a:spcPct val="100000"/>
              </a:lnSpc>
              <a:spcBef>
                <a:spcPts val="1800"/>
              </a:spcBef>
              <a:buClr>
                <a:srgbClr val="973735"/>
              </a:buClr>
              <a:buSzPct val="50000"/>
              <a:buFont typeface="Wingdings" pitchFamily="2" charset="2"/>
              <a:buChar char="u"/>
              <a:defRPr/>
            </a:pPr>
            <a:r>
              <a:rPr lang="en-US" sz="2600" dirty="0"/>
              <a:t>The management and its styles of handing the employees also affect the culture pf the workplace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Factors affecting culture</a:t>
            </a:r>
          </a:p>
        </p:txBody>
      </p:sp>
    </p:spTree>
    <p:extLst>
      <p:ext uri="{BB962C8B-B14F-4D97-AF65-F5344CB8AC3E}">
        <p14:creationId xmlns:p14="http://schemas.microsoft.com/office/powerpoint/2010/main" val="1956365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9</a:t>
            </a:fld>
            <a:endParaRPr kumimoji="0" lang="en-US" dirty="0"/>
          </a:p>
        </p:txBody>
      </p:sp>
      <p:sp>
        <p:nvSpPr>
          <p:cNvPr id="4" name="Content Placeholder 3"/>
          <p:cNvSpPr>
            <a:spLocks noGrp="1"/>
          </p:cNvSpPr>
          <p:nvPr>
            <p:ph sz="quarter" idx="1"/>
          </p:nvPr>
        </p:nvSpPr>
        <p:spPr>
          <a:xfrm>
            <a:off x="0" y="1664593"/>
            <a:ext cx="11940988" cy="4816106"/>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dirty="0"/>
              <a:t>Key element of organizational culture (Morgan, 1977)</a:t>
            </a:r>
          </a:p>
          <a:p>
            <a:pPr marL="800100" lvl="1" indent="-342900" algn="just">
              <a:lnSpc>
                <a:spcPct val="120000"/>
              </a:lnSpc>
              <a:spcBef>
                <a:spcPts val="1200"/>
              </a:spcBef>
              <a:buClr>
                <a:srgbClr val="973735"/>
              </a:buClr>
              <a:buSzPct val="50000"/>
              <a:buFont typeface="Wingdings" pitchFamily="2" charset="2"/>
              <a:buChar char="u"/>
              <a:defRPr/>
            </a:pPr>
            <a:r>
              <a:rPr lang="en-US" sz="2600" dirty="0"/>
              <a:t>Stated and unstated values</a:t>
            </a:r>
          </a:p>
          <a:p>
            <a:pPr marL="800100" lvl="1" indent="-342900" algn="just">
              <a:lnSpc>
                <a:spcPct val="120000"/>
              </a:lnSpc>
              <a:spcBef>
                <a:spcPts val="1200"/>
              </a:spcBef>
              <a:buClr>
                <a:srgbClr val="973735"/>
              </a:buClr>
              <a:buSzPct val="50000"/>
              <a:buFont typeface="Wingdings" pitchFamily="2" charset="2"/>
              <a:buChar char="u"/>
              <a:defRPr/>
            </a:pPr>
            <a:r>
              <a:rPr lang="en-US" sz="2600" dirty="0"/>
              <a:t>Overt and implicit expectations for member behavior</a:t>
            </a:r>
          </a:p>
          <a:p>
            <a:pPr marL="800100" lvl="1" indent="-342900" algn="just">
              <a:lnSpc>
                <a:spcPct val="120000"/>
              </a:lnSpc>
              <a:spcBef>
                <a:spcPts val="1200"/>
              </a:spcBef>
              <a:buClr>
                <a:srgbClr val="973735"/>
              </a:buClr>
              <a:buSzPct val="50000"/>
              <a:buFont typeface="Wingdings" pitchFamily="2" charset="2"/>
              <a:buChar char="u"/>
              <a:defRPr/>
            </a:pPr>
            <a:r>
              <a:rPr lang="en-US" sz="2600" dirty="0"/>
              <a:t>Customs and rituals</a:t>
            </a:r>
          </a:p>
          <a:p>
            <a:pPr marL="800100" lvl="1" indent="-342900" algn="just">
              <a:lnSpc>
                <a:spcPct val="120000"/>
              </a:lnSpc>
              <a:spcBef>
                <a:spcPts val="1200"/>
              </a:spcBef>
              <a:buClr>
                <a:srgbClr val="973735"/>
              </a:buClr>
              <a:buSzPct val="50000"/>
              <a:buFont typeface="Wingdings" pitchFamily="2" charset="2"/>
              <a:buChar char="u"/>
              <a:defRPr/>
            </a:pPr>
            <a:r>
              <a:rPr lang="en-US" sz="2600" dirty="0"/>
              <a:t>Stories and myths about the history of the group</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Key elements of culture</a:t>
            </a:r>
          </a:p>
        </p:txBody>
      </p:sp>
    </p:spTree>
    <p:extLst>
      <p:ext uri="{BB962C8B-B14F-4D97-AF65-F5344CB8AC3E}">
        <p14:creationId xmlns:p14="http://schemas.microsoft.com/office/powerpoint/2010/main" val="41620416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10</a:t>
            </a:fld>
            <a:endParaRPr kumimoji="0" lang="en-US" dirty="0"/>
          </a:p>
        </p:txBody>
      </p:sp>
      <p:sp>
        <p:nvSpPr>
          <p:cNvPr id="4" name="Content Placeholder 3"/>
          <p:cNvSpPr>
            <a:spLocks noGrp="1"/>
          </p:cNvSpPr>
          <p:nvPr>
            <p:ph sz="quarter" idx="1"/>
          </p:nvPr>
        </p:nvSpPr>
        <p:spPr>
          <a:xfrm>
            <a:off x="0" y="1664593"/>
            <a:ext cx="11940988" cy="4816106"/>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dirty="0"/>
              <a:t>Key element of organizational culture (Morgan, 1977) (</a:t>
            </a:r>
            <a:r>
              <a:rPr lang="en-US" dirty="0" err="1"/>
              <a:t>con’t</a:t>
            </a:r>
            <a:r>
              <a:rPr lang="en-US" dirty="0"/>
              <a:t>)</a:t>
            </a:r>
          </a:p>
          <a:p>
            <a:pPr marL="800100" lvl="1" indent="-342900" algn="just">
              <a:lnSpc>
                <a:spcPct val="100000"/>
              </a:lnSpc>
              <a:spcBef>
                <a:spcPts val="1200"/>
              </a:spcBef>
              <a:buClr>
                <a:srgbClr val="973735"/>
              </a:buClr>
              <a:buSzPct val="50000"/>
              <a:buFont typeface="Wingdings" pitchFamily="2" charset="2"/>
              <a:buChar char="u"/>
              <a:defRPr/>
            </a:pPr>
            <a:r>
              <a:rPr lang="en-US" sz="2600" dirty="0"/>
              <a:t>Shop talk - typical language used in and about the group</a:t>
            </a:r>
          </a:p>
          <a:p>
            <a:pPr marL="800100" lvl="1" indent="-342900" algn="just">
              <a:lnSpc>
                <a:spcPct val="100000"/>
              </a:lnSpc>
              <a:spcBef>
                <a:spcPts val="1200"/>
              </a:spcBef>
              <a:buClr>
                <a:srgbClr val="973735"/>
              </a:buClr>
              <a:buSzPct val="50000"/>
              <a:buFont typeface="Wingdings" pitchFamily="2" charset="2"/>
              <a:buChar char="u"/>
              <a:defRPr/>
            </a:pPr>
            <a:r>
              <a:rPr lang="en-US" sz="2600" dirty="0"/>
              <a:t>Climate - the feelings evoked by the way members interact with one another, with outsiders, and with their environment, including the physical space they occupy</a:t>
            </a:r>
          </a:p>
          <a:p>
            <a:pPr marL="800100" lvl="1" indent="-342900" algn="just">
              <a:lnSpc>
                <a:spcPct val="100000"/>
              </a:lnSpc>
              <a:spcBef>
                <a:spcPts val="1200"/>
              </a:spcBef>
              <a:buClr>
                <a:srgbClr val="973735"/>
              </a:buClr>
              <a:buSzPct val="50000"/>
              <a:buFont typeface="Wingdings" pitchFamily="2" charset="2"/>
              <a:buChar char="u"/>
              <a:defRPr/>
            </a:pPr>
            <a:r>
              <a:rPr lang="en-US" sz="2600" dirty="0"/>
              <a:t>Metaphors and symbols - which may be unconscious or embodied in other cultural elements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Key elements of culture</a:t>
            </a:r>
          </a:p>
        </p:txBody>
      </p:sp>
    </p:spTree>
    <p:extLst>
      <p:ext uri="{BB962C8B-B14F-4D97-AF65-F5344CB8AC3E}">
        <p14:creationId xmlns:p14="http://schemas.microsoft.com/office/powerpoint/2010/main" val="1822050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11</a:t>
            </a:fld>
            <a:endParaRPr kumimoji="0" lang="en-US" dirty="0"/>
          </a:p>
        </p:txBody>
      </p:sp>
      <p:sp>
        <p:nvSpPr>
          <p:cNvPr id="4" name="Content Placeholder 3"/>
          <p:cNvSpPr>
            <a:spLocks noGrp="1"/>
          </p:cNvSpPr>
          <p:nvPr>
            <p:ph sz="quarter" idx="1"/>
          </p:nvPr>
        </p:nvSpPr>
        <p:spPr>
          <a:xfrm>
            <a:off x="0" y="1775011"/>
            <a:ext cx="11971176" cy="4705687"/>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sz="2600" dirty="0"/>
              <a:t>Culture is created and ingrained unconsciously</a:t>
            </a:r>
          </a:p>
          <a:p>
            <a:pPr marL="342900" indent="-342900" algn="just">
              <a:lnSpc>
                <a:spcPct val="100000"/>
              </a:lnSpc>
              <a:spcBef>
                <a:spcPts val="1800"/>
              </a:spcBef>
              <a:buClr>
                <a:srgbClr val="973735"/>
              </a:buClr>
              <a:buSzPct val="50000"/>
              <a:buFont typeface="Wingdings" pitchFamily="2" charset="2"/>
              <a:buChar char="u"/>
              <a:defRPr/>
            </a:pPr>
            <a:r>
              <a:rPr lang="en-US" sz="2600" dirty="0"/>
              <a:t>Need special effort to recognize that the attitudes, beliefs, and visions are standardized assumptions that they may pass on to future generations</a:t>
            </a:r>
          </a:p>
          <a:p>
            <a:pPr marL="342900" indent="-342900" algn="just">
              <a:lnSpc>
                <a:spcPct val="100000"/>
              </a:lnSpc>
              <a:spcBef>
                <a:spcPts val="1800"/>
              </a:spcBef>
              <a:buClr>
                <a:srgbClr val="973735"/>
              </a:buClr>
              <a:buSzPct val="50000"/>
              <a:buFont typeface="Wingdings" pitchFamily="2" charset="2"/>
              <a:buChar char="u"/>
              <a:defRPr/>
            </a:pPr>
            <a:r>
              <a:rPr lang="en-US" sz="2600" dirty="0"/>
              <a:t>Sensing the culture is difficult because the core of the culture values, which defined as “broad, nonspecific feelings of good and evil, beautiful and ugly, normal and abnormal, rational and irrational are often unconscious and rarely discussable” (Hofstede et al., 1990)</a:t>
            </a:r>
          </a:p>
          <a:p>
            <a:pPr marL="342900" indent="-342900" algn="just">
              <a:lnSpc>
                <a:spcPct val="100000"/>
              </a:lnSpc>
              <a:spcBef>
                <a:spcPts val="1800"/>
              </a:spcBef>
              <a:buClr>
                <a:srgbClr val="973735"/>
              </a:buClr>
              <a:buSzPct val="50000"/>
              <a:buFont typeface="Wingdings" pitchFamily="2" charset="2"/>
              <a:buChar char="u"/>
              <a:defRPr/>
            </a:pPr>
            <a:r>
              <a:rPr lang="en-US" sz="2600" dirty="0"/>
              <a:t>Organizational culture, thought as the manner in which an organization solves problems to achieve its specific goals and to maintain itself over time.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 culture</a:t>
            </a:r>
          </a:p>
        </p:txBody>
      </p:sp>
    </p:spTree>
    <p:extLst>
      <p:ext uri="{BB962C8B-B14F-4D97-AF65-F5344CB8AC3E}">
        <p14:creationId xmlns:p14="http://schemas.microsoft.com/office/powerpoint/2010/main" val="3759290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12</a:t>
            </a:fld>
            <a:endParaRPr kumimoji="0" lang="en-US" dirty="0"/>
          </a:p>
        </p:txBody>
      </p:sp>
      <p:sp>
        <p:nvSpPr>
          <p:cNvPr id="4" name="Content Placeholder 3"/>
          <p:cNvSpPr>
            <a:spLocks noGrp="1"/>
          </p:cNvSpPr>
          <p:nvPr>
            <p:ph sz="quarter" idx="1"/>
          </p:nvPr>
        </p:nvSpPr>
        <p:spPr>
          <a:xfrm>
            <a:off x="0" y="1815353"/>
            <a:ext cx="11887200" cy="4104515"/>
          </a:xfrm>
        </p:spPr>
        <p:txBody>
          <a:bodyPr>
            <a:normAutofit/>
          </a:bodyPr>
          <a:lstStyle/>
          <a:p>
            <a:pPr marL="342900" indent="-342900" algn="just">
              <a:lnSpc>
                <a:spcPct val="110000"/>
              </a:lnSpc>
              <a:spcBef>
                <a:spcPts val="1800"/>
              </a:spcBef>
              <a:buClr>
                <a:srgbClr val="973735"/>
              </a:buClr>
              <a:buSzPct val="50000"/>
              <a:buFont typeface="Wingdings" pitchFamily="2" charset="2"/>
              <a:buChar char="u"/>
              <a:defRPr/>
            </a:pPr>
            <a:r>
              <a:rPr lang="en-US" sz="2600" dirty="0"/>
              <a:t>While an organization characterize by particular culture, there always be some different type of micro-culture inside that organization</a:t>
            </a:r>
          </a:p>
          <a:p>
            <a:pPr marL="342900" indent="-342900" algn="just">
              <a:lnSpc>
                <a:spcPct val="110000"/>
              </a:lnSpc>
              <a:spcBef>
                <a:spcPts val="1800"/>
              </a:spcBef>
              <a:buClr>
                <a:srgbClr val="973735"/>
              </a:buClr>
              <a:buSzPct val="50000"/>
              <a:buFont typeface="Wingdings" pitchFamily="2" charset="2"/>
              <a:buChar char="u"/>
              <a:defRPr/>
            </a:pPr>
            <a:r>
              <a:rPr lang="en-US" sz="2600" dirty="0" err="1"/>
              <a:t>Goffee</a:t>
            </a:r>
            <a:r>
              <a:rPr lang="en-US" sz="2600" dirty="0"/>
              <a:t> and Johns identify 4 type of culture, which they create using 2 dimensions</a:t>
            </a:r>
          </a:p>
          <a:p>
            <a:pPr marL="800100" lvl="1" indent="-342900" algn="just">
              <a:lnSpc>
                <a:spcPct val="110000"/>
              </a:lnSpc>
              <a:spcBef>
                <a:spcPts val="1800"/>
              </a:spcBef>
              <a:buClr>
                <a:srgbClr val="973735"/>
              </a:buClr>
              <a:buSzPct val="50000"/>
              <a:buFont typeface="Wingdings" pitchFamily="2" charset="2"/>
              <a:buChar char="u"/>
              <a:defRPr/>
            </a:pPr>
            <a:r>
              <a:rPr lang="en-US" dirty="0"/>
              <a:t>Sociability -&gt; friendliness without expect something in return. Focus on team and process</a:t>
            </a:r>
          </a:p>
          <a:p>
            <a:pPr marL="800100" lvl="1" indent="-342900" algn="just">
              <a:lnSpc>
                <a:spcPct val="110000"/>
              </a:lnSpc>
              <a:spcBef>
                <a:spcPts val="1800"/>
              </a:spcBef>
              <a:buClr>
                <a:srgbClr val="973735"/>
              </a:buClr>
              <a:buSzPct val="50000"/>
              <a:buFont typeface="Wingdings" pitchFamily="2" charset="2"/>
              <a:buChar char="u"/>
              <a:defRPr/>
            </a:pPr>
            <a:r>
              <a:rPr lang="en-US" dirty="0"/>
              <a:t>Solidarity -&gt; task oriented. People work well towards common goal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Different Types of Cultures</a:t>
            </a:r>
          </a:p>
        </p:txBody>
      </p:sp>
    </p:spTree>
    <p:extLst>
      <p:ext uri="{BB962C8B-B14F-4D97-AF65-F5344CB8AC3E}">
        <p14:creationId xmlns:p14="http://schemas.microsoft.com/office/powerpoint/2010/main" val="23462212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13</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Different Types of Cultures</a:t>
            </a:r>
          </a:p>
        </p:txBody>
      </p:sp>
      <p:graphicFrame>
        <p:nvGraphicFramePr>
          <p:cNvPr id="2" name="Object 1">
            <a:extLst>
              <a:ext uri="{FF2B5EF4-FFF2-40B4-BE49-F238E27FC236}">
                <a16:creationId xmlns:a16="http://schemas.microsoft.com/office/drawing/2014/main" id="{89DC36D2-17C0-9B2D-7DA0-10169284ABD2}"/>
              </a:ext>
            </a:extLst>
          </p:cNvPr>
          <p:cNvGraphicFramePr>
            <a:graphicFrameLocks noChangeAspect="1"/>
          </p:cNvGraphicFramePr>
          <p:nvPr>
            <p:extLst>
              <p:ext uri="{D42A27DB-BD31-4B8C-83A1-F6EECF244321}">
                <p14:modId xmlns:p14="http://schemas.microsoft.com/office/powerpoint/2010/main" val="520292612"/>
              </p:ext>
            </p:extLst>
          </p:nvPr>
        </p:nvGraphicFramePr>
        <p:xfrm>
          <a:off x="1563508" y="2689413"/>
          <a:ext cx="8657098" cy="1990604"/>
        </p:xfrm>
        <a:graphic>
          <a:graphicData uri="http://schemas.openxmlformats.org/presentationml/2006/ole">
            <mc:AlternateContent xmlns:mc="http://schemas.openxmlformats.org/markup-compatibility/2006">
              <mc:Choice xmlns:v="urn:schemas-microsoft-com:vml" Requires="v">
                <p:oleObj name="Bitmap Image" r:id="rId3" imgW="3383280" imgH="777240" progId="PBrush">
                  <p:embed/>
                </p:oleObj>
              </mc:Choice>
              <mc:Fallback>
                <p:oleObj name="Bitmap Image" r:id="rId3" imgW="3383280" imgH="777240" progId="PBrush">
                  <p:embed/>
                  <p:pic>
                    <p:nvPicPr>
                      <p:cNvPr id="0" name=""/>
                      <p:cNvPicPr/>
                      <p:nvPr/>
                    </p:nvPicPr>
                    <p:blipFill>
                      <a:blip r:embed="rId4"/>
                      <a:stretch>
                        <a:fillRect/>
                      </a:stretch>
                    </p:blipFill>
                    <p:spPr>
                      <a:xfrm>
                        <a:off x="1563508" y="2689413"/>
                        <a:ext cx="8657098" cy="1990604"/>
                      </a:xfrm>
                      <a:prstGeom prst="rect">
                        <a:avLst/>
                      </a:prstGeom>
                    </p:spPr>
                  </p:pic>
                </p:oleObj>
              </mc:Fallback>
            </mc:AlternateContent>
          </a:graphicData>
        </a:graphic>
      </p:graphicFrame>
    </p:spTree>
    <p:extLst>
      <p:ext uri="{BB962C8B-B14F-4D97-AF65-F5344CB8AC3E}">
        <p14:creationId xmlns:p14="http://schemas.microsoft.com/office/powerpoint/2010/main" val="12753888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14</a:t>
            </a:fld>
            <a:endParaRPr kumimoji="0" lang="en-US" dirty="0"/>
          </a:p>
        </p:txBody>
      </p:sp>
      <p:graphicFrame>
        <p:nvGraphicFramePr>
          <p:cNvPr id="5" name="Table 6">
            <a:extLst>
              <a:ext uri="{FF2B5EF4-FFF2-40B4-BE49-F238E27FC236}">
                <a16:creationId xmlns:a16="http://schemas.microsoft.com/office/drawing/2014/main" id="{CE24F88B-ED9E-B2F0-3C3A-65274A15F561}"/>
              </a:ext>
            </a:extLst>
          </p:cNvPr>
          <p:cNvGraphicFramePr>
            <a:graphicFrameLocks noGrp="1"/>
          </p:cNvGraphicFramePr>
          <p:nvPr>
            <p:ph sz="quarter" idx="1"/>
            <p:extLst>
              <p:ext uri="{D42A27DB-BD31-4B8C-83A1-F6EECF244321}">
                <p14:modId xmlns:p14="http://schemas.microsoft.com/office/powerpoint/2010/main" val="59860887"/>
              </p:ext>
            </p:extLst>
          </p:nvPr>
        </p:nvGraphicFramePr>
        <p:xfrm>
          <a:off x="1690613" y="2681605"/>
          <a:ext cx="9039408" cy="1112520"/>
        </p:xfrm>
        <a:graphic>
          <a:graphicData uri="http://schemas.openxmlformats.org/drawingml/2006/table">
            <a:tbl>
              <a:tblPr firstRow="1" bandRow="1">
                <a:tableStyleId>{21E4AEA4-8DFA-4A89-87EB-49C32662AFE0}</a:tableStyleId>
              </a:tblPr>
              <a:tblGrid>
                <a:gridCol w="2205318">
                  <a:extLst>
                    <a:ext uri="{9D8B030D-6E8A-4147-A177-3AD203B41FA5}">
                      <a16:colId xmlns:a16="http://schemas.microsoft.com/office/drawing/2014/main" val="3111387248"/>
                    </a:ext>
                  </a:extLst>
                </a:gridCol>
                <a:gridCol w="3334870">
                  <a:extLst>
                    <a:ext uri="{9D8B030D-6E8A-4147-A177-3AD203B41FA5}">
                      <a16:colId xmlns:a16="http://schemas.microsoft.com/office/drawing/2014/main" val="2994520484"/>
                    </a:ext>
                  </a:extLst>
                </a:gridCol>
                <a:gridCol w="3499220">
                  <a:extLst>
                    <a:ext uri="{9D8B030D-6E8A-4147-A177-3AD203B41FA5}">
                      <a16:colId xmlns:a16="http://schemas.microsoft.com/office/drawing/2014/main" val="1755229386"/>
                    </a:ext>
                  </a:extLst>
                </a:gridCol>
              </a:tblGrid>
              <a:tr h="370840">
                <a:tc>
                  <a:txBody>
                    <a:bodyPr/>
                    <a:lstStyle/>
                    <a:p>
                      <a:endParaRPr lang="en-US"/>
                    </a:p>
                  </a:txBody>
                  <a:tcPr/>
                </a:tc>
                <a:tc>
                  <a:txBody>
                    <a:bodyPr/>
                    <a:lstStyle/>
                    <a:p>
                      <a:r>
                        <a:rPr lang="en-US" dirty="0"/>
                        <a:t>High solidarity</a:t>
                      </a:r>
                    </a:p>
                  </a:txBody>
                  <a:tcPr/>
                </a:tc>
                <a:tc>
                  <a:txBody>
                    <a:bodyPr/>
                    <a:lstStyle/>
                    <a:p>
                      <a:r>
                        <a:rPr lang="en-US" dirty="0"/>
                        <a:t>Low solidarity</a:t>
                      </a:r>
                    </a:p>
                  </a:txBody>
                  <a:tcPr/>
                </a:tc>
                <a:extLst>
                  <a:ext uri="{0D108BD9-81ED-4DB2-BD59-A6C34878D82A}">
                    <a16:rowId xmlns:a16="http://schemas.microsoft.com/office/drawing/2014/main" val="218302451"/>
                  </a:ext>
                </a:extLst>
              </a:tr>
              <a:tr h="370840">
                <a:tc>
                  <a:txBody>
                    <a:bodyPr/>
                    <a:lstStyle/>
                    <a:p>
                      <a:r>
                        <a:rPr lang="en-US" dirty="0"/>
                        <a:t>High sociability</a:t>
                      </a:r>
                    </a:p>
                  </a:txBody>
                  <a:tcPr/>
                </a:tc>
                <a:tc>
                  <a:txBody>
                    <a:bodyPr/>
                    <a:lstStyle/>
                    <a:p>
                      <a:r>
                        <a:rPr lang="en-US" dirty="0"/>
                        <a:t>1. Communal culture</a:t>
                      </a:r>
                    </a:p>
                  </a:txBody>
                  <a:tcPr/>
                </a:tc>
                <a:tc>
                  <a:txBody>
                    <a:bodyPr/>
                    <a:lstStyle/>
                    <a:p>
                      <a:r>
                        <a:rPr lang="en-US" dirty="0"/>
                        <a:t>2. Networked culture</a:t>
                      </a:r>
                    </a:p>
                  </a:txBody>
                  <a:tcPr/>
                </a:tc>
                <a:extLst>
                  <a:ext uri="{0D108BD9-81ED-4DB2-BD59-A6C34878D82A}">
                    <a16:rowId xmlns:a16="http://schemas.microsoft.com/office/drawing/2014/main" val="374971536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Low sociability</a:t>
                      </a:r>
                    </a:p>
                  </a:txBody>
                  <a:tcPr/>
                </a:tc>
                <a:tc>
                  <a:txBody>
                    <a:bodyPr/>
                    <a:lstStyle/>
                    <a:p>
                      <a:r>
                        <a:rPr lang="en-US" dirty="0"/>
                        <a:t>3. Mercenary culture</a:t>
                      </a:r>
                    </a:p>
                  </a:txBody>
                  <a:tcPr/>
                </a:tc>
                <a:tc>
                  <a:txBody>
                    <a:bodyPr/>
                    <a:lstStyle/>
                    <a:p>
                      <a:r>
                        <a:rPr lang="en-US" dirty="0"/>
                        <a:t>4. Fragmented culture</a:t>
                      </a:r>
                    </a:p>
                  </a:txBody>
                  <a:tcPr/>
                </a:tc>
                <a:extLst>
                  <a:ext uri="{0D108BD9-81ED-4DB2-BD59-A6C34878D82A}">
                    <a16:rowId xmlns:a16="http://schemas.microsoft.com/office/drawing/2014/main" val="1536791124"/>
                  </a:ext>
                </a:extLst>
              </a:tr>
            </a:tbl>
          </a:graphicData>
        </a:graphic>
      </p:graphicFrame>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Different Types of Cultures</a:t>
            </a:r>
          </a:p>
        </p:txBody>
      </p:sp>
      <p:graphicFrame>
        <p:nvGraphicFramePr>
          <p:cNvPr id="7" name="Object 6">
            <a:extLst>
              <a:ext uri="{FF2B5EF4-FFF2-40B4-BE49-F238E27FC236}">
                <a16:creationId xmlns:a16="http://schemas.microsoft.com/office/drawing/2014/main" id="{2A54C986-1A90-9F4E-4A36-DDC14382EF0E}"/>
              </a:ext>
            </a:extLst>
          </p:cNvPr>
          <p:cNvGraphicFramePr>
            <a:graphicFrameLocks noChangeAspect="1"/>
          </p:cNvGraphicFramePr>
          <p:nvPr>
            <p:extLst>
              <p:ext uri="{D42A27DB-BD31-4B8C-83A1-F6EECF244321}">
                <p14:modId xmlns:p14="http://schemas.microsoft.com/office/powerpoint/2010/main" val="3295495025"/>
              </p:ext>
            </p:extLst>
          </p:nvPr>
        </p:nvGraphicFramePr>
        <p:xfrm>
          <a:off x="3581400" y="2090665"/>
          <a:ext cx="4771482" cy="380104"/>
        </p:xfrm>
        <a:graphic>
          <a:graphicData uri="http://schemas.openxmlformats.org/presentationml/2006/ole">
            <mc:AlternateContent xmlns:mc="http://schemas.openxmlformats.org/markup-compatibility/2006">
              <mc:Choice xmlns:v="urn:schemas-microsoft-com:vml" Requires="v">
                <p:oleObj name="Bitmap Image" r:id="rId3" imgW="4503600" imgH="358200" progId="PBrush">
                  <p:embed/>
                </p:oleObj>
              </mc:Choice>
              <mc:Fallback>
                <p:oleObj name="Bitmap Image" r:id="rId3" imgW="4503600" imgH="358200" progId="PBrush">
                  <p:embed/>
                  <p:pic>
                    <p:nvPicPr>
                      <p:cNvPr id="0" name=""/>
                      <p:cNvPicPr/>
                      <p:nvPr/>
                    </p:nvPicPr>
                    <p:blipFill>
                      <a:blip r:embed="rId4"/>
                      <a:stretch>
                        <a:fillRect/>
                      </a:stretch>
                    </p:blipFill>
                    <p:spPr>
                      <a:xfrm>
                        <a:off x="3581400" y="2090665"/>
                        <a:ext cx="4771482" cy="380104"/>
                      </a:xfrm>
                      <a:prstGeom prst="rect">
                        <a:avLst/>
                      </a:prstGeom>
                    </p:spPr>
                  </p:pic>
                </p:oleObj>
              </mc:Fallback>
            </mc:AlternateContent>
          </a:graphicData>
        </a:graphic>
      </p:graphicFrame>
    </p:spTree>
    <p:extLst>
      <p:ext uri="{BB962C8B-B14F-4D97-AF65-F5344CB8AC3E}">
        <p14:creationId xmlns:p14="http://schemas.microsoft.com/office/powerpoint/2010/main" val="10368789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15</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b="1" dirty="0">
                <a:solidFill>
                  <a:srgbClr val="ED7D31"/>
                </a:solidFill>
              </a:rPr>
              <a:t>Type of Culture</a:t>
            </a:r>
          </a:p>
          <a:p>
            <a:pPr marL="457200" lvl="1" indent="0" algn="just">
              <a:lnSpc>
                <a:spcPct val="100000"/>
              </a:lnSpc>
              <a:spcBef>
                <a:spcPts val="1800"/>
              </a:spcBef>
              <a:buClr>
                <a:srgbClr val="973735"/>
              </a:buClr>
              <a:buSzPct val="50000"/>
              <a:buNone/>
              <a:defRPr/>
            </a:pPr>
            <a:r>
              <a:rPr lang="en-US" b="1" dirty="0"/>
              <a:t>1. A communal culture </a:t>
            </a:r>
            <a:r>
              <a:rPr lang="en-US" dirty="0"/>
              <a:t>can give its members a sense of belonging, though it also is task-driven. Leaders of this culture are usually very inspirational and charismatic. The major negative is that leaders often exert too much influence and other members are rarely heard from.</a:t>
            </a:r>
          </a:p>
          <a:p>
            <a:pPr marL="457200" lvl="1" indent="0" algn="just">
              <a:lnSpc>
                <a:spcPct val="100000"/>
              </a:lnSpc>
              <a:spcBef>
                <a:spcPts val="1800"/>
              </a:spcBef>
              <a:buClr>
                <a:srgbClr val="973735"/>
              </a:buClr>
              <a:buSzPct val="50000"/>
              <a:buNone/>
              <a:defRPr/>
            </a:pPr>
            <a:r>
              <a:rPr lang="en-US" b="1" dirty="0"/>
              <a:t>2. In a networked culture</a:t>
            </a:r>
            <a:r>
              <a:rPr lang="en-US" dirty="0"/>
              <a:t>, members are treated as friends and family. People have close contact with each other and care for each other. People are willing to help each other and share information. The disadvantage of this culture is that people are so kind to each other that they are reluctant to point out and criticize poor performance.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Different Types of Cultures</a:t>
            </a:r>
          </a:p>
        </p:txBody>
      </p:sp>
    </p:spTree>
    <p:extLst>
      <p:ext uri="{BB962C8B-B14F-4D97-AF65-F5344CB8AC3E}">
        <p14:creationId xmlns:p14="http://schemas.microsoft.com/office/powerpoint/2010/main" val="36818106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16</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b="1" dirty="0">
                <a:solidFill>
                  <a:srgbClr val="ED7D31"/>
                </a:solidFill>
              </a:rPr>
              <a:t>Type of Culture (</a:t>
            </a:r>
            <a:r>
              <a:rPr lang="en-US" b="1" dirty="0" err="1">
                <a:solidFill>
                  <a:srgbClr val="ED7D31"/>
                </a:solidFill>
              </a:rPr>
              <a:t>con’t</a:t>
            </a:r>
            <a:r>
              <a:rPr lang="en-US" b="1" dirty="0">
                <a:solidFill>
                  <a:srgbClr val="ED7D31"/>
                </a:solidFill>
              </a:rPr>
              <a:t>)</a:t>
            </a:r>
          </a:p>
          <a:p>
            <a:pPr marL="457200" lvl="1" indent="0" algn="just">
              <a:lnSpc>
                <a:spcPct val="100000"/>
              </a:lnSpc>
              <a:spcBef>
                <a:spcPts val="1800"/>
              </a:spcBef>
              <a:buClr>
                <a:srgbClr val="973735"/>
              </a:buClr>
              <a:buSzPct val="50000"/>
              <a:buNone/>
              <a:defRPr/>
            </a:pPr>
            <a:r>
              <a:rPr lang="en-US" b="1" dirty="0"/>
              <a:t>3. A mercenary culture</a:t>
            </a:r>
            <a:r>
              <a:rPr lang="en-US" dirty="0"/>
              <a:t> focuses on strict goals. Members are expected to meet the goals and get the job done quickly. Since everyone focuses on goals and objectivity, there is little room for political cliques. The negative is that those with poor performance may be treated inhumanely.</a:t>
            </a:r>
          </a:p>
          <a:p>
            <a:pPr marL="457200" lvl="1" indent="0" algn="just">
              <a:lnSpc>
                <a:spcPct val="100000"/>
              </a:lnSpc>
              <a:spcBef>
                <a:spcPts val="1800"/>
              </a:spcBef>
              <a:buClr>
                <a:srgbClr val="973735"/>
              </a:buClr>
              <a:buSzPct val="50000"/>
              <a:buNone/>
              <a:defRPr/>
            </a:pPr>
            <a:r>
              <a:rPr lang="en-US" b="1" dirty="0"/>
              <a:t>4. In an organization with fragmented culture</a:t>
            </a:r>
            <a:r>
              <a:rPr lang="en-US" dirty="0"/>
              <a:t>, the sense of belonging to and identifying with the organization is usually very weak. The individualists constitute the organizations, and their commitment is given first to individual members and task work. The downside is that there is a lack of cooperation.</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Different Types of Cultures</a:t>
            </a:r>
          </a:p>
        </p:txBody>
      </p:sp>
    </p:spTree>
    <p:extLst>
      <p:ext uri="{BB962C8B-B14F-4D97-AF65-F5344CB8AC3E}">
        <p14:creationId xmlns:p14="http://schemas.microsoft.com/office/powerpoint/2010/main" val="14213089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17</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b="1" dirty="0"/>
              <a:t>TELKOM 5C:</a:t>
            </a:r>
          </a:p>
          <a:p>
            <a:pPr marL="800100" lvl="1" indent="-342900" algn="just">
              <a:lnSpc>
                <a:spcPct val="100000"/>
              </a:lnSpc>
              <a:spcBef>
                <a:spcPts val="2400"/>
              </a:spcBef>
              <a:buClr>
                <a:srgbClr val="973735"/>
              </a:buClr>
              <a:buSzPct val="50000"/>
              <a:buFont typeface="Wingdings" pitchFamily="2" charset="2"/>
              <a:buChar char="u"/>
              <a:defRPr/>
            </a:pPr>
            <a:r>
              <a:rPr lang="en-US" sz="2600" dirty="0"/>
              <a:t>Commitment to Long Term </a:t>
            </a:r>
          </a:p>
          <a:p>
            <a:pPr marL="800100" lvl="1" indent="-342900" algn="just">
              <a:lnSpc>
                <a:spcPct val="100000"/>
              </a:lnSpc>
              <a:spcBef>
                <a:spcPts val="2400"/>
              </a:spcBef>
              <a:buClr>
                <a:srgbClr val="973735"/>
              </a:buClr>
              <a:buSzPct val="50000"/>
              <a:buFont typeface="Wingdings" pitchFamily="2" charset="2"/>
              <a:buChar char="u"/>
              <a:defRPr/>
            </a:pPr>
            <a:r>
              <a:rPr lang="en-US" sz="2600" dirty="0"/>
              <a:t>Customer First </a:t>
            </a:r>
          </a:p>
          <a:p>
            <a:pPr marL="800100" lvl="1" indent="-342900" algn="just">
              <a:lnSpc>
                <a:spcPct val="100000"/>
              </a:lnSpc>
              <a:spcBef>
                <a:spcPts val="2400"/>
              </a:spcBef>
              <a:buClr>
                <a:srgbClr val="973735"/>
              </a:buClr>
              <a:buSzPct val="50000"/>
              <a:buFont typeface="Wingdings" pitchFamily="2" charset="2"/>
              <a:buChar char="u"/>
              <a:defRPr/>
            </a:pPr>
            <a:r>
              <a:rPr lang="en-US" sz="2600" dirty="0"/>
              <a:t>Caring Meritocracy </a:t>
            </a:r>
          </a:p>
          <a:p>
            <a:pPr marL="800100" lvl="1" indent="-342900" algn="just">
              <a:lnSpc>
                <a:spcPct val="100000"/>
              </a:lnSpc>
              <a:spcBef>
                <a:spcPts val="2400"/>
              </a:spcBef>
              <a:buClr>
                <a:srgbClr val="973735"/>
              </a:buClr>
              <a:buSzPct val="50000"/>
              <a:buFont typeface="Wingdings" pitchFamily="2" charset="2"/>
              <a:buChar char="u"/>
              <a:defRPr/>
            </a:pPr>
            <a:r>
              <a:rPr lang="en-US" sz="2600" dirty="0"/>
              <a:t>Co-</a:t>
            </a:r>
            <a:r>
              <a:rPr lang="en-US" sz="2600" dirty="0" err="1"/>
              <a:t>creaction</a:t>
            </a:r>
            <a:r>
              <a:rPr lang="en-US" sz="2600" dirty="0"/>
              <a:t> of Win-win Partnership </a:t>
            </a:r>
          </a:p>
          <a:p>
            <a:pPr marL="800100" lvl="1" indent="-342900" algn="just">
              <a:lnSpc>
                <a:spcPct val="100000"/>
              </a:lnSpc>
              <a:spcBef>
                <a:spcPts val="2400"/>
              </a:spcBef>
              <a:buClr>
                <a:srgbClr val="973735"/>
              </a:buClr>
              <a:buSzPct val="50000"/>
              <a:buFont typeface="Wingdings" pitchFamily="2" charset="2"/>
              <a:buChar char="u"/>
              <a:defRPr/>
            </a:pPr>
            <a:r>
              <a:rPr lang="en-US" sz="2600" dirty="0"/>
              <a:t>Collaborative Innovation</a:t>
            </a:r>
          </a:p>
          <a:p>
            <a:pPr marL="800100" lvl="1"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Example of Organization Culture</a:t>
            </a:r>
          </a:p>
        </p:txBody>
      </p:sp>
    </p:spTree>
    <p:extLst>
      <p:ext uri="{BB962C8B-B14F-4D97-AF65-F5344CB8AC3E}">
        <p14:creationId xmlns:p14="http://schemas.microsoft.com/office/powerpoint/2010/main" val="38840162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18</a:t>
            </a:fld>
            <a:endParaRPr kumimoji="0" lang="en-US" dirty="0"/>
          </a:p>
        </p:txBody>
      </p:sp>
      <p:sp>
        <p:nvSpPr>
          <p:cNvPr id="4" name="Content Placeholder 3"/>
          <p:cNvSpPr>
            <a:spLocks noGrp="1"/>
          </p:cNvSpPr>
          <p:nvPr>
            <p:ph sz="quarter" idx="1"/>
          </p:nvPr>
        </p:nvSpPr>
        <p:spPr>
          <a:xfrm>
            <a:off x="0" y="1664592"/>
            <a:ext cx="11971176" cy="5181231"/>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b="1" dirty="0"/>
              <a:t>COCA COLA:</a:t>
            </a:r>
          </a:p>
          <a:p>
            <a:pPr marL="800100" lvl="1" indent="-342900" algn="just">
              <a:lnSpc>
                <a:spcPct val="100000"/>
              </a:lnSpc>
              <a:spcBef>
                <a:spcPts val="2400"/>
              </a:spcBef>
              <a:buClr>
                <a:srgbClr val="973735"/>
              </a:buClr>
              <a:buSzPct val="50000"/>
              <a:buFont typeface="Wingdings" pitchFamily="2" charset="2"/>
              <a:buChar char="u"/>
              <a:defRPr/>
            </a:pPr>
            <a:r>
              <a:rPr lang="en-US" sz="2600" dirty="0"/>
              <a:t>Our inclusive culture is defined by our seven core values: Leadership, Passion, Integrity, Collaboration, Diversity, Quality, and Accountability. </a:t>
            </a:r>
          </a:p>
          <a:p>
            <a:pPr marL="800100" lvl="1" indent="-342900" algn="just">
              <a:lnSpc>
                <a:spcPct val="100000"/>
              </a:lnSpc>
              <a:spcBef>
                <a:spcPts val="2400"/>
              </a:spcBef>
              <a:buClr>
                <a:srgbClr val="973735"/>
              </a:buClr>
              <a:buSzPct val="50000"/>
              <a:buFont typeface="Wingdings" pitchFamily="2" charset="2"/>
              <a:buChar char="u"/>
              <a:defRPr/>
            </a:pPr>
            <a:r>
              <a:rPr lang="en-US" sz="2600" dirty="0"/>
              <a:t>Our central promise at The Coca-Cola Company is to refresh the world in mind, body, and spirit, and inspire moments of optimism; to create value and make a difference.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dirty="0"/>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Example of Organization Culture</a:t>
            </a:r>
          </a:p>
        </p:txBody>
      </p:sp>
    </p:spTree>
    <p:extLst>
      <p:ext uri="{BB962C8B-B14F-4D97-AF65-F5344CB8AC3E}">
        <p14:creationId xmlns:p14="http://schemas.microsoft.com/office/powerpoint/2010/main" val="15773690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19</a:t>
            </a:fld>
            <a:endParaRPr kumimoji="0" lang="en-US" dirty="0"/>
          </a:p>
        </p:txBody>
      </p:sp>
      <p:sp>
        <p:nvSpPr>
          <p:cNvPr id="4" name="Content Placeholder 3"/>
          <p:cNvSpPr>
            <a:spLocks noGrp="1"/>
          </p:cNvSpPr>
          <p:nvPr>
            <p:ph sz="quarter" idx="1"/>
          </p:nvPr>
        </p:nvSpPr>
        <p:spPr>
          <a:xfrm>
            <a:off x="0" y="1664593"/>
            <a:ext cx="11712388" cy="4255275"/>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endParaRPr lang="en-US" dirty="0"/>
          </a:p>
          <a:p>
            <a:pPr marL="342900" indent="-342900" algn="just">
              <a:lnSpc>
                <a:spcPct val="100000"/>
              </a:lnSpc>
              <a:spcBef>
                <a:spcPts val="2400"/>
              </a:spcBef>
              <a:buClr>
                <a:srgbClr val="973735"/>
              </a:buClr>
              <a:buSzPct val="50000"/>
              <a:buFont typeface="Wingdings" pitchFamily="2" charset="2"/>
              <a:buChar char="u"/>
              <a:defRPr/>
            </a:pPr>
            <a:r>
              <a:rPr lang="en-US" dirty="0"/>
              <a:t>Prerequisites of a culture that fosters KM is the notion of trust. </a:t>
            </a:r>
          </a:p>
          <a:p>
            <a:pPr marL="342900" indent="-342900" algn="just">
              <a:lnSpc>
                <a:spcPct val="100000"/>
              </a:lnSpc>
              <a:spcBef>
                <a:spcPts val="2400"/>
              </a:spcBef>
              <a:buClr>
                <a:srgbClr val="973735"/>
              </a:buClr>
              <a:buSzPct val="50000"/>
              <a:buFont typeface="Wingdings" pitchFamily="2" charset="2"/>
              <a:buChar char="u"/>
              <a:defRPr/>
            </a:pPr>
            <a:r>
              <a:rPr lang="en-US" dirty="0"/>
              <a:t>When members feel that they are respected, treated in a professional manner, can trust the other members of their group, then knowledge sharing is greatly enhanced. </a:t>
            </a:r>
          </a:p>
          <a:p>
            <a:pPr marL="342900" indent="-342900" algn="just">
              <a:lnSpc>
                <a:spcPct val="100000"/>
              </a:lnSpc>
              <a:spcBef>
                <a:spcPts val="2400"/>
              </a:spcBef>
              <a:buClr>
                <a:srgbClr val="973735"/>
              </a:buClr>
              <a:buSzPct val="50000"/>
              <a:buFont typeface="Wingdings" pitchFamily="2" charset="2"/>
              <a:buChar char="u"/>
              <a:defRPr/>
            </a:pPr>
            <a:r>
              <a:rPr lang="en-US" dirty="0"/>
              <a:t>Trust removes any potential barriers, people won’t feel hesitate to share knowledge, for it’s all for greater cause.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Culture and Knowledge</a:t>
            </a:r>
          </a:p>
        </p:txBody>
      </p:sp>
    </p:spTree>
    <p:extLst>
      <p:ext uri="{BB962C8B-B14F-4D97-AF65-F5344CB8AC3E}">
        <p14:creationId xmlns:p14="http://schemas.microsoft.com/office/powerpoint/2010/main" val="20119236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20</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Organizational Culture Analysis</a:t>
            </a:r>
          </a:p>
        </p:txBody>
      </p:sp>
      <p:graphicFrame>
        <p:nvGraphicFramePr>
          <p:cNvPr id="2" name="Object 1">
            <a:extLst>
              <a:ext uri="{FF2B5EF4-FFF2-40B4-BE49-F238E27FC236}">
                <a16:creationId xmlns:a16="http://schemas.microsoft.com/office/drawing/2014/main" id="{778119B3-1FA1-5509-58AA-75F6DA4893C0}"/>
              </a:ext>
            </a:extLst>
          </p:cNvPr>
          <p:cNvGraphicFramePr>
            <a:graphicFrameLocks noChangeAspect="1"/>
          </p:cNvGraphicFramePr>
          <p:nvPr>
            <p:extLst>
              <p:ext uri="{D42A27DB-BD31-4B8C-83A1-F6EECF244321}">
                <p14:modId xmlns:p14="http://schemas.microsoft.com/office/powerpoint/2010/main" val="2519334448"/>
              </p:ext>
            </p:extLst>
          </p:nvPr>
        </p:nvGraphicFramePr>
        <p:xfrm>
          <a:off x="808683" y="2358118"/>
          <a:ext cx="10620577" cy="2370832"/>
        </p:xfrm>
        <a:graphic>
          <a:graphicData uri="http://schemas.openxmlformats.org/presentationml/2006/ole">
            <mc:AlternateContent xmlns:mc="http://schemas.openxmlformats.org/markup-compatibility/2006">
              <mc:Choice xmlns:v="urn:schemas-microsoft-com:vml" Requires="v">
                <p:oleObj name="Bitmap Image" r:id="rId3" imgW="5425560" imgH="1211760" progId="PBrush">
                  <p:embed/>
                </p:oleObj>
              </mc:Choice>
              <mc:Fallback>
                <p:oleObj name="Bitmap Image" r:id="rId3" imgW="5425560" imgH="1211760" progId="PBrush">
                  <p:embed/>
                  <p:pic>
                    <p:nvPicPr>
                      <p:cNvPr id="0" name=""/>
                      <p:cNvPicPr/>
                      <p:nvPr/>
                    </p:nvPicPr>
                    <p:blipFill>
                      <a:blip r:embed="rId4"/>
                      <a:stretch>
                        <a:fillRect/>
                      </a:stretch>
                    </p:blipFill>
                    <p:spPr>
                      <a:xfrm>
                        <a:off x="808683" y="2358118"/>
                        <a:ext cx="10620577" cy="2370832"/>
                      </a:xfrm>
                      <a:prstGeom prst="rect">
                        <a:avLst/>
                      </a:prstGeom>
                    </p:spPr>
                  </p:pic>
                </p:oleObj>
              </mc:Fallback>
            </mc:AlternateContent>
          </a:graphicData>
        </a:graphic>
      </p:graphicFrame>
    </p:spTree>
    <p:extLst>
      <p:ext uri="{BB962C8B-B14F-4D97-AF65-F5344CB8AC3E}">
        <p14:creationId xmlns:p14="http://schemas.microsoft.com/office/powerpoint/2010/main" val="34294706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21</a:t>
            </a:fld>
            <a:endParaRPr kumimoji="0" lang="en-US" dirty="0"/>
          </a:p>
        </p:txBody>
      </p:sp>
      <p:graphicFrame>
        <p:nvGraphicFramePr>
          <p:cNvPr id="5" name="Table 6">
            <a:extLst>
              <a:ext uri="{FF2B5EF4-FFF2-40B4-BE49-F238E27FC236}">
                <a16:creationId xmlns:a16="http://schemas.microsoft.com/office/drawing/2014/main" id="{2ACB3D9A-3555-3D46-8589-7F272D3098E8}"/>
              </a:ext>
            </a:extLst>
          </p:cNvPr>
          <p:cNvGraphicFramePr>
            <a:graphicFrameLocks noGrp="1"/>
          </p:cNvGraphicFramePr>
          <p:nvPr>
            <p:ph sz="quarter" idx="1"/>
            <p:extLst>
              <p:ext uri="{D42A27DB-BD31-4B8C-83A1-F6EECF244321}">
                <p14:modId xmlns:p14="http://schemas.microsoft.com/office/powerpoint/2010/main" val="1386985456"/>
              </p:ext>
            </p:extLst>
          </p:nvPr>
        </p:nvGraphicFramePr>
        <p:xfrm>
          <a:off x="1024964" y="2898827"/>
          <a:ext cx="9939517" cy="2021840"/>
        </p:xfrm>
        <a:graphic>
          <a:graphicData uri="http://schemas.openxmlformats.org/drawingml/2006/table">
            <a:tbl>
              <a:tblPr firstRow="1" bandRow="1">
                <a:tableStyleId>{21E4AEA4-8DFA-4A89-87EB-49C32662AFE0}</a:tableStyleId>
              </a:tblPr>
              <a:tblGrid>
                <a:gridCol w="1624104">
                  <a:extLst>
                    <a:ext uri="{9D8B030D-6E8A-4147-A177-3AD203B41FA5}">
                      <a16:colId xmlns:a16="http://schemas.microsoft.com/office/drawing/2014/main" val="3303080740"/>
                    </a:ext>
                  </a:extLst>
                </a:gridCol>
                <a:gridCol w="8315413">
                  <a:extLst>
                    <a:ext uri="{9D8B030D-6E8A-4147-A177-3AD203B41FA5}">
                      <a16:colId xmlns:a16="http://schemas.microsoft.com/office/drawing/2014/main" val="647129243"/>
                    </a:ext>
                  </a:extLst>
                </a:gridCol>
              </a:tblGrid>
              <a:tr h="370840">
                <a:tc>
                  <a:txBody>
                    <a:bodyPr/>
                    <a:lstStyle/>
                    <a:p>
                      <a:r>
                        <a:rPr lang="en-US" dirty="0"/>
                        <a:t>Cultural level</a:t>
                      </a:r>
                    </a:p>
                  </a:txBody>
                  <a:tcPr/>
                </a:tc>
                <a:tc>
                  <a:txBody>
                    <a:bodyPr/>
                    <a:lstStyle/>
                    <a:p>
                      <a:r>
                        <a:rPr lang="en-US" dirty="0"/>
                        <a:t>Description</a:t>
                      </a:r>
                    </a:p>
                  </a:txBody>
                  <a:tcPr/>
                </a:tc>
                <a:extLst>
                  <a:ext uri="{0D108BD9-81ED-4DB2-BD59-A6C34878D82A}">
                    <a16:rowId xmlns:a16="http://schemas.microsoft.com/office/drawing/2014/main" val="3081107276"/>
                  </a:ext>
                </a:extLst>
              </a:tr>
              <a:tr h="370840">
                <a:tc>
                  <a:txBody>
                    <a:bodyPr/>
                    <a:lstStyle/>
                    <a:p>
                      <a:r>
                        <a:rPr lang="en-US" dirty="0"/>
                        <a:t>1. Artifacts</a:t>
                      </a:r>
                    </a:p>
                  </a:txBody>
                  <a:tcPr/>
                </a:tc>
                <a:tc>
                  <a:txBody>
                    <a:bodyPr/>
                    <a:lstStyle/>
                    <a:p>
                      <a:r>
                        <a:rPr lang="en-US" dirty="0"/>
                        <a:t>The visible organizational structures and processes</a:t>
                      </a:r>
                    </a:p>
                  </a:txBody>
                  <a:tcPr/>
                </a:tc>
                <a:extLst>
                  <a:ext uri="{0D108BD9-81ED-4DB2-BD59-A6C34878D82A}">
                    <a16:rowId xmlns:a16="http://schemas.microsoft.com/office/drawing/2014/main" val="220664888"/>
                  </a:ext>
                </a:extLst>
              </a:tr>
              <a:tr h="370840">
                <a:tc>
                  <a:txBody>
                    <a:bodyPr/>
                    <a:lstStyle/>
                    <a:p>
                      <a:endParaRPr lang="en-US" dirty="0"/>
                    </a:p>
                    <a:p>
                      <a:r>
                        <a:rPr lang="en-US" dirty="0"/>
                        <a:t>2. Values</a:t>
                      </a:r>
                    </a:p>
                  </a:txBody>
                  <a:tcPr/>
                </a:tc>
                <a:tc>
                  <a:txBody>
                    <a:bodyPr/>
                    <a:lstStyle/>
                    <a:p>
                      <a:r>
                        <a:rPr lang="en-US" dirty="0"/>
                        <a:t>The stated strategies, goals, philosophies, and justifications</a:t>
                      </a:r>
                    </a:p>
                  </a:txBody>
                  <a:tcPr/>
                </a:tc>
                <a:extLst>
                  <a:ext uri="{0D108BD9-81ED-4DB2-BD59-A6C34878D82A}">
                    <a16:rowId xmlns:a16="http://schemas.microsoft.com/office/drawing/2014/main" val="2378623055"/>
                  </a:ext>
                </a:extLst>
              </a:tr>
              <a:tr h="370840">
                <a:tc>
                  <a:txBody>
                    <a:bodyPr/>
                    <a:lstStyle/>
                    <a:p>
                      <a:r>
                        <a:rPr lang="en-US" dirty="0"/>
                        <a:t>3.Assumptions</a:t>
                      </a:r>
                    </a:p>
                  </a:txBody>
                  <a:tcPr/>
                </a:tc>
                <a:tc>
                  <a:txBody>
                    <a:bodyPr/>
                    <a:lstStyle/>
                    <a:p>
                      <a:r>
                        <a:rPr lang="en-US" dirty="0"/>
                        <a:t>The basic underlying assumptions, and unconscious, taken-for-granted beliefs,</a:t>
                      </a:r>
                    </a:p>
                    <a:p>
                      <a:r>
                        <a:rPr lang="en-US" dirty="0"/>
                        <a:t>perceptions, thoughts, and feelings</a:t>
                      </a:r>
                    </a:p>
                  </a:txBody>
                  <a:tcPr/>
                </a:tc>
                <a:extLst>
                  <a:ext uri="{0D108BD9-81ED-4DB2-BD59-A6C34878D82A}">
                    <a16:rowId xmlns:a16="http://schemas.microsoft.com/office/drawing/2014/main" val="547219555"/>
                  </a:ext>
                </a:extLst>
              </a:tr>
            </a:tbl>
          </a:graphicData>
        </a:graphic>
      </p:graphicFrame>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Organizational Culture Analysis</a:t>
            </a:r>
          </a:p>
        </p:txBody>
      </p:sp>
      <p:graphicFrame>
        <p:nvGraphicFramePr>
          <p:cNvPr id="7" name="Object 6">
            <a:extLst>
              <a:ext uri="{FF2B5EF4-FFF2-40B4-BE49-F238E27FC236}">
                <a16:creationId xmlns:a16="http://schemas.microsoft.com/office/drawing/2014/main" id="{F6C5CC97-7C9F-2545-27EC-79EEE7252C27}"/>
              </a:ext>
            </a:extLst>
          </p:cNvPr>
          <p:cNvGraphicFramePr>
            <a:graphicFrameLocks noChangeAspect="1"/>
          </p:cNvGraphicFramePr>
          <p:nvPr>
            <p:extLst>
              <p:ext uri="{D42A27DB-BD31-4B8C-83A1-F6EECF244321}">
                <p14:modId xmlns:p14="http://schemas.microsoft.com/office/powerpoint/2010/main" val="4074897549"/>
              </p:ext>
            </p:extLst>
          </p:nvPr>
        </p:nvGraphicFramePr>
        <p:xfrm>
          <a:off x="3981544" y="2420471"/>
          <a:ext cx="3063788" cy="366059"/>
        </p:xfrm>
        <a:graphic>
          <a:graphicData uri="http://schemas.openxmlformats.org/presentationml/2006/ole">
            <mc:AlternateContent xmlns:mc="http://schemas.openxmlformats.org/markup-compatibility/2006">
              <mc:Choice xmlns:v="urn:schemas-microsoft-com:vml" Requires="v">
                <p:oleObj name="Bitmap Image" r:id="rId3" imgW="2804040" imgH="335160" progId="PBrush">
                  <p:embed/>
                </p:oleObj>
              </mc:Choice>
              <mc:Fallback>
                <p:oleObj name="Bitmap Image" r:id="rId3" imgW="2804040" imgH="335160" progId="PBrush">
                  <p:embed/>
                  <p:pic>
                    <p:nvPicPr>
                      <p:cNvPr id="0" name=""/>
                      <p:cNvPicPr/>
                      <p:nvPr/>
                    </p:nvPicPr>
                    <p:blipFill>
                      <a:blip r:embed="rId4"/>
                      <a:stretch>
                        <a:fillRect/>
                      </a:stretch>
                    </p:blipFill>
                    <p:spPr>
                      <a:xfrm>
                        <a:off x="3981544" y="2420471"/>
                        <a:ext cx="3063788" cy="366059"/>
                      </a:xfrm>
                      <a:prstGeom prst="rect">
                        <a:avLst/>
                      </a:prstGeom>
                    </p:spPr>
                  </p:pic>
                </p:oleObj>
              </mc:Fallback>
            </mc:AlternateContent>
          </a:graphicData>
        </a:graphic>
      </p:graphicFrame>
    </p:spTree>
    <p:extLst>
      <p:ext uri="{BB962C8B-B14F-4D97-AF65-F5344CB8AC3E}">
        <p14:creationId xmlns:p14="http://schemas.microsoft.com/office/powerpoint/2010/main" val="37821369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22</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20000"/>
              </a:lnSpc>
              <a:spcBef>
                <a:spcPts val="1200"/>
              </a:spcBef>
              <a:buClr>
                <a:srgbClr val="973735"/>
              </a:buClr>
              <a:buSzPct val="50000"/>
              <a:buFont typeface="Wingdings" pitchFamily="2" charset="2"/>
              <a:buChar char="u"/>
              <a:defRPr/>
            </a:pPr>
            <a:r>
              <a:rPr lang="en-US" sz="3000" b="1" dirty="0">
                <a:solidFill>
                  <a:srgbClr val="ED7D31"/>
                </a:solidFill>
              </a:rPr>
              <a:t>Artifacts</a:t>
            </a:r>
          </a:p>
          <a:p>
            <a:pPr marL="800100" lvl="1" indent="-342900" algn="just">
              <a:lnSpc>
                <a:spcPct val="110000"/>
              </a:lnSpc>
              <a:spcBef>
                <a:spcPts val="1800"/>
              </a:spcBef>
              <a:buClr>
                <a:srgbClr val="973735"/>
              </a:buClr>
              <a:buSzPct val="50000"/>
              <a:buFont typeface="Wingdings" pitchFamily="2" charset="2"/>
              <a:buChar char="u"/>
              <a:defRPr/>
            </a:pPr>
            <a:r>
              <a:rPr lang="en-US" sz="2600" dirty="0"/>
              <a:t>The first layer, are easy to detect (e.g., a dress code), but they may be difficult to understand. </a:t>
            </a:r>
          </a:p>
          <a:p>
            <a:pPr marL="800100" lvl="1" indent="-342900" algn="just">
              <a:lnSpc>
                <a:spcPct val="110000"/>
              </a:lnSpc>
              <a:spcBef>
                <a:spcPts val="1800"/>
              </a:spcBef>
              <a:buClr>
                <a:srgbClr val="973735"/>
              </a:buClr>
              <a:buSzPct val="50000"/>
              <a:buFont typeface="Wingdings" pitchFamily="2" charset="2"/>
              <a:buChar char="u"/>
              <a:defRPr/>
            </a:pPr>
            <a:r>
              <a:rPr lang="en-US" sz="2600" dirty="0"/>
              <a:t>Represent ―the tip of the iceberg,‖ and it remains a challenge to discern or decipher what lies underneath them (i.e., what is the reason for this type of dress code or other visible structures and processes?). </a:t>
            </a:r>
          </a:p>
          <a:p>
            <a:pPr marL="800100" lvl="1" indent="-342900" algn="just">
              <a:lnSpc>
                <a:spcPct val="110000"/>
              </a:lnSpc>
              <a:spcBef>
                <a:spcPts val="1800"/>
              </a:spcBef>
              <a:buClr>
                <a:srgbClr val="973735"/>
              </a:buClr>
              <a:buSzPct val="50000"/>
              <a:buFont typeface="Wingdings" pitchFamily="2" charset="2"/>
              <a:buChar char="u"/>
              <a:defRPr/>
            </a:pPr>
            <a:r>
              <a:rPr lang="en-US" sz="2600" dirty="0"/>
              <a:t>Basic assumptions in organizational culture are usually represented by general and abstract statements that express certain ideas and truths about human beings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Organizational Culture Analysis</a:t>
            </a:r>
          </a:p>
        </p:txBody>
      </p:sp>
    </p:spTree>
    <p:extLst>
      <p:ext uri="{BB962C8B-B14F-4D97-AF65-F5344CB8AC3E}">
        <p14:creationId xmlns:p14="http://schemas.microsoft.com/office/powerpoint/2010/main" val="42889733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23</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sz="3500" b="1" dirty="0">
                <a:solidFill>
                  <a:srgbClr val="ED7D31"/>
                </a:solidFill>
              </a:rPr>
              <a:t>The values </a:t>
            </a:r>
          </a:p>
          <a:p>
            <a:pPr marL="800100" lvl="1" indent="-342900" algn="just">
              <a:lnSpc>
                <a:spcPct val="110000"/>
              </a:lnSpc>
              <a:spcBef>
                <a:spcPts val="1800"/>
              </a:spcBef>
              <a:buClr>
                <a:srgbClr val="973735"/>
              </a:buClr>
              <a:buSzPct val="50000"/>
              <a:buFont typeface="Wingdings" pitchFamily="2" charset="2"/>
              <a:buChar char="u"/>
              <a:defRPr/>
            </a:pPr>
            <a:r>
              <a:rPr lang="en-US" sz="2600" dirty="0"/>
              <a:t>From an organizational perspective, values express essential meanings of basic assumptions. </a:t>
            </a:r>
          </a:p>
          <a:p>
            <a:pPr marL="800100" lvl="1" indent="-342900" algn="just">
              <a:lnSpc>
                <a:spcPct val="110000"/>
              </a:lnSpc>
              <a:spcBef>
                <a:spcPts val="1800"/>
              </a:spcBef>
              <a:buClr>
                <a:srgbClr val="973735"/>
              </a:buClr>
              <a:buSzPct val="50000"/>
              <a:buFont typeface="Wingdings" pitchFamily="2" charset="2"/>
              <a:buChar char="u"/>
              <a:defRPr/>
            </a:pPr>
            <a:r>
              <a:rPr lang="en-US" sz="2600" dirty="0"/>
              <a:t>Values define a set of its members’ organizational expectations. Values are expressed and imposed by the managerial and become a reference for activity assessment. They are included in attitudes and behaviors, in the organizational habitat. The two levels, assumptions and values, represent the content of what we call an organization expressive area or expressive culture.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Organizational Culture Analysis</a:t>
            </a:r>
          </a:p>
        </p:txBody>
      </p:sp>
    </p:spTree>
    <p:extLst>
      <p:ext uri="{BB962C8B-B14F-4D97-AF65-F5344CB8AC3E}">
        <p14:creationId xmlns:p14="http://schemas.microsoft.com/office/powerpoint/2010/main" val="11875539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24</a:t>
            </a:fld>
            <a:endParaRPr kumimoji="0" lang="en-US" dirty="0"/>
          </a:p>
        </p:txBody>
      </p:sp>
      <p:sp>
        <p:nvSpPr>
          <p:cNvPr id="4" name="Content Placeholder 3"/>
          <p:cNvSpPr>
            <a:spLocks noGrp="1"/>
          </p:cNvSpPr>
          <p:nvPr>
            <p:ph sz="quarter" idx="1"/>
          </p:nvPr>
        </p:nvSpPr>
        <p:spPr>
          <a:xfrm>
            <a:off x="0" y="1664593"/>
            <a:ext cx="11725835" cy="4968436"/>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sz="2600" dirty="0"/>
              <a:t>Norms derives from cultural value &amp; basic assumptions </a:t>
            </a:r>
          </a:p>
          <a:p>
            <a:pPr marL="342900" indent="-342900" algn="just">
              <a:lnSpc>
                <a:spcPct val="100000"/>
              </a:lnSpc>
              <a:spcBef>
                <a:spcPts val="1200"/>
              </a:spcBef>
              <a:buClr>
                <a:srgbClr val="973735"/>
              </a:buClr>
              <a:buSzPct val="50000"/>
              <a:buFont typeface="Wingdings" pitchFamily="2" charset="2"/>
              <a:buChar char="u"/>
              <a:defRPr/>
            </a:pPr>
            <a:r>
              <a:rPr lang="en-US" sz="2600" dirty="0"/>
              <a:t>Norms are expressed in a set of rules and expectations and serve to orient people’s behavior within the organization </a:t>
            </a:r>
          </a:p>
          <a:p>
            <a:pPr marL="342900" indent="-342900" algn="just">
              <a:lnSpc>
                <a:spcPct val="100000"/>
              </a:lnSpc>
              <a:spcBef>
                <a:spcPts val="1200"/>
              </a:spcBef>
              <a:buClr>
                <a:srgbClr val="973735"/>
              </a:buClr>
              <a:buSzPct val="50000"/>
              <a:buFont typeface="Wingdings" pitchFamily="2" charset="2"/>
              <a:buChar char="u"/>
              <a:defRPr/>
            </a:pPr>
            <a:r>
              <a:rPr lang="en-US" sz="2600" dirty="0"/>
              <a:t>2 type of norms </a:t>
            </a:r>
          </a:p>
          <a:p>
            <a:pPr marL="800100" lvl="1" indent="-342900" algn="just">
              <a:lnSpc>
                <a:spcPct val="100000"/>
              </a:lnSpc>
              <a:spcBef>
                <a:spcPts val="1200"/>
              </a:spcBef>
              <a:buClr>
                <a:srgbClr val="973735"/>
              </a:buClr>
              <a:buSzPct val="50000"/>
              <a:buFont typeface="Wingdings" pitchFamily="2" charset="2"/>
              <a:buChar char="u"/>
              <a:defRPr/>
            </a:pPr>
            <a:r>
              <a:rPr lang="en-US" dirty="0"/>
              <a:t>Informal, produce by member or group </a:t>
            </a:r>
          </a:p>
          <a:p>
            <a:pPr marL="800100" lvl="1" indent="-342900" algn="just">
              <a:lnSpc>
                <a:spcPct val="100000"/>
              </a:lnSpc>
              <a:spcBef>
                <a:spcPts val="1200"/>
              </a:spcBef>
              <a:buClr>
                <a:srgbClr val="973735"/>
              </a:buClr>
              <a:buSzPct val="50000"/>
              <a:buFont typeface="Wingdings" pitchFamily="2" charset="2"/>
              <a:buChar char="u"/>
              <a:defRPr/>
            </a:pPr>
            <a:r>
              <a:rPr lang="en-US" dirty="0"/>
              <a:t>Formal, produce by authority </a:t>
            </a:r>
          </a:p>
          <a:p>
            <a:pPr marL="800100" lvl="1" indent="-342900" algn="just">
              <a:lnSpc>
                <a:spcPct val="100000"/>
              </a:lnSpc>
              <a:spcBef>
                <a:spcPts val="1200"/>
              </a:spcBef>
              <a:buClr>
                <a:srgbClr val="973735"/>
              </a:buClr>
              <a:buSzPct val="50000"/>
              <a:buFont typeface="Wingdings" pitchFamily="2" charset="2"/>
              <a:buChar char="u"/>
              <a:defRPr/>
            </a:pPr>
            <a:endParaRPr lang="en-US" dirty="0"/>
          </a:p>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Organizational Culture Analysis</a:t>
            </a:r>
          </a:p>
        </p:txBody>
      </p:sp>
    </p:spTree>
    <p:extLst>
      <p:ext uri="{BB962C8B-B14F-4D97-AF65-F5344CB8AC3E}">
        <p14:creationId xmlns:p14="http://schemas.microsoft.com/office/powerpoint/2010/main" val="42238770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25</a:t>
            </a:fld>
            <a:endParaRPr kumimoji="0" lang="en-US" dirty="0"/>
          </a:p>
        </p:txBody>
      </p:sp>
      <p:sp>
        <p:nvSpPr>
          <p:cNvPr id="4" name="Content Placeholder 3"/>
          <p:cNvSpPr>
            <a:spLocks noGrp="1"/>
          </p:cNvSpPr>
          <p:nvPr>
            <p:ph sz="quarter" idx="1"/>
          </p:nvPr>
        </p:nvSpPr>
        <p:spPr>
          <a:xfrm>
            <a:off x="0" y="1664593"/>
            <a:ext cx="11971176" cy="4968436"/>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sz="2600" dirty="0"/>
              <a:t>Small game based from the </a:t>
            </a:r>
            <a:r>
              <a:rPr lang="en-US" sz="2600" dirty="0" err="1"/>
              <a:t>Dalkir’s</a:t>
            </a:r>
            <a:r>
              <a:rPr lang="en-US" sz="2600" dirty="0"/>
              <a:t> book (184) </a:t>
            </a:r>
          </a:p>
          <a:p>
            <a:pPr marL="800100" lvl="1" indent="-342900" algn="just">
              <a:lnSpc>
                <a:spcPct val="100000"/>
              </a:lnSpc>
              <a:spcBef>
                <a:spcPts val="1200"/>
              </a:spcBef>
              <a:buClr>
                <a:srgbClr val="973735"/>
              </a:buClr>
              <a:buSzPct val="50000"/>
              <a:buFont typeface="Wingdings" pitchFamily="2" charset="2"/>
              <a:buChar char="u"/>
              <a:defRPr/>
            </a:pPr>
            <a:r>
              <a:rPr lang="en-US" dirty="0"/>
              <a:t>Form small group of 4 student </a:t>
            </a:r>
          </a:p>
          <a:p>
            <a:pPr marL="800100" lvl="1" indent="-342900" algn="just">
              <a:lnSpc>
                <a:spcPct val="100000"/>
              </a:lnSpc>
              <a:spcBef>
                <a:spcPts val="1200"/>
              </a:spcBef>
              <a:buClr>
                <a:srgbClr val="973735"/>
              </a:buClr>
              <a:buSzPct val="50000"/>
              <a:buFont typeface="Wingdings" pitchFamily="2" charset="2"/>
              <a:buChar char="u"/>
              <a:defRPr/>
            </a:pPr>
            <a:r>
              <a:rPr lang="en-US" dirty="0"/>
              <a:t>The rain, the tent, the big tree, the lunch </a:t>
            </a:r>
          </a:p>
          <a:p>
            <a:pPr marL="800100" lvl="1" indent="-342900" algn="just">
              <a:lnSpc>
                <a:spcPct val="100000"/>
              </a:lnSpc>
              <a:spcBef>
                <a:spcPts val="1200"/>
              </a:spcBef>
              <a:buClr>
                <a:srgbClr val="973735"/>
              </a:buClr>
              <a:buSzPct val="50000"/>
              <a:buFont typeface="Wingdings" pitchFamily="2" charset="2"/>
              <a:buChar char="u"/>
              <a:defRPr/>
            </a:pPr>
            <a:r>
              <a:rPr lang="en-US" dirty="0"/>
              <a:t>Discuss the result in class</a:t>
            </a:r>
          </a:p>
          <a:p>
            <a:pPr marL="342900" indent="-342900" algn="just">
              <a:lnSpc>
                <a:spcPct val="100000"/>
              </a:lnSpc>
              <a:spcBef>
                <a:spcPts val="1200"/>
              </a:spcBef>
              <a:buClr>
                <a:srgbClr val="973735"/>
              </a:buClr>
              <a:buSzPct val="50000"/>
              <a:buFont typeface="Wingdings" pitchFamily="2" charset="2"/>
              <a:buChar char="u"/>
              <a:defRPr/>
            </a:pPr>
            <a:r>
              <a:rPr lang="en-US" sz="2600" dirty="0"/>
              <a:t>Culture change is difficult, time-consuming, and anxiety provoking </a:t>
            </a:r>
          </a:p>
          <a:p>
            <a:pPr marL="342900" indent="-342900" algn="just">
              <a:lnSpc>
                <a:spcPct val="100000"/>
              </a:lnSpc>
              <a:spcBef>
                <a:spcPts val="1200"/>
              </a:spcBef>
              <a:buClr>
                <a:srgbClr val="973735"/>
              </a:buClr>
              <a:buSzPct val="50000"/>
              <a:buFont typeface="Wingdings" pitchFamily="2" charset="2"/>
              <a:buChar char="u"/>
              <a:defRPr/>
            </a:pPr>
            <a:r>
              <a:rPr lang="en-US" sz="2600" dirty="0"/>
              <a:t>Schein’s 3 step approach for changing culture ; </a:t>
            </a:r>
          </a:p>
          <a:p>
            <a:pPr marL="800100" lvl="1" indent="-342900" algn="just">
              <a:lnSpc>
                <a:spcPct val="100000"/>
              </a:lnSpc>
              <a:spcBef>
                <a:spcPts val="1200"/>
              </a:spcBef>
              <a:buClr>
                <a:srgbClr val="973735"/>
              </a:buClr>
              <a:buSzPct val="50000"/>
              <a:buFont typeface="Wingdings" pitchFamily="2" charset="2"/>
              <a:buChar char="u"/>
              <a:defRPr/>
            </a:pPr>
            <a:r>
              <a:rPr lang="en-US" dirty="0"/>
              <a:t>Unfreezing </a:t>
            </a:r>
          </a:p>
          <a:p>
            <a:pPr marL="800100" lvl="1" indent="-342900" algn="just">
              <a:lnSpc>
                <a:spcPct val="100000"/>
              </a:lnSpc>
              <a:spcBef>
                <a:spcPts val="1200"/>
              </a:spcBef>
              <a:buClr>
                <a:srgbClr val="973735"/>
              </a:buClr>
              <a:buSzPct val="50000"/>
              <a:buFont typeface="Wingdings" pitchFamily="2" charset="2"/>
              <a:buChar char="u"/>
              <a:defRPr/>
            </a:pPr>
            <a:r>
              <a:rPr lang="en-US" dirty="0"/>
              <a:t>Cognitive restructuring </a:t>
            </a:r>
          </a:p>
          <a:p>
            <a:pPr marL="800100" lvl="1" indent="-342900" algn="just">
              <a:lnSpc>
                <a:spcPct val="100000"/>
              </a:lnSpc>
              <a:spcBef>
                <a:spcPts val="1200"/>
              </a:spcBef>
              <a:buClr>
                <a:srgbClr val="973735"/>
              </a:buClr>
              <a:buSzPct val="50000"/>
              <a:buFont typeface="Wingdings" pitchFamily="2" charset="2"/>
              <a:buChar char="u"/>
              <a:defRPr/>
            </a:pPr>
            <a:r>
              <a:rPr lang="en-US" dirty="0"/>
              <a:t>Refreezing</a:t>
            </a:r>
          </a:p>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Organizational Culture Analysis</a:t>
            </a:r>
          </a:p>
        </p:txBody>
      </p:sp>
    </p:spTree>
    <p:extLst>
      <p:ext uri="{BB962C8B-B14F-4D97-AF65-F5344CB8AC3E}">
        <p14:creationId xmlns:p14="http://schemas.microsoft.com/office/powerpoint/2010/main" val="19298662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26</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sz="2600" dirty="0"/>
              <a:t>KM implementation require cultural change </a:t>
            </a:r>
          </a:p>
          <a:p>
            <a:pPr marL="342900" indent="-342900" algn="just">
              <a:lnSpc>
                <a:spcPct val="100000"/>
              </a:lnSpc>
              <a:spcBef>
                <a:spcPts val="1800"/>
              </a:spcBef>
              <a:buClr>
                <a:srgbClr val="973735"/>
              </a:buClr>
              <a:buSzPct val="50000"/>
              <a:buFont typeface="Wingdings" pitchFamily="2" charset="2"/>
              <a:buChar char="u"/>
              <a:defRPr/>
            </a:pPr>
            <a:r>
              <a:rPr lang="en-US" sz="2600" dirty="0"/>
              <a:t>KM will always trigger a change </a:t>
            </a:r>
          </a:p>
          <a:p>
            <a:pPr marL="342900" indent="-342900" algn="just">
              <a:lnSpc>
                <a:spcPct val="100000"/>
              </a:lnSpc>
              <a:spcBef>
                <a:spcPts val="1800"/>
              </a:spcBef>
              <a:buClr>
                <a:srgbClr val="973735"/>
              </a:buClr>
              <a:buSzPct val="50000"/>
              <a:buFont typeface="Wingdings" pitchFamily="2" charset="2"/>
              <a:buChar char="u"/>
              <a:defRPr/>
            </a:pPr>
            <a:r>
              <a:rPr lang="en-US" sz="2600" dirty="0"/>
              <a:t>People tend to opposed change if they feel imposition rather than improvement</a:t>
            </a:r>
          </a:p>
          <a:p>
            <a:pPr marL="342900" indent="-342900" algn="just">
              <a:lnSpc>
                <a:spcPct val="100000"/>
              </a:lnSpc>
              <a:spcBef>
                <a:spcPts val="1800"/>
              </a:spcBef>
              <a:buClr>
                <a:srgbClr val="973735"/>
              </a:buClr>
              <a:buSzPct val="50000"/>
              <a:buFont typeface="Wingdings" pitchFamily="2" charset="2"/>
              <a:buChar char="u"/>
              <a:defRPr/>
            </a:pPr>
            <a:r>
              <a:rPr lang="en-US" sz="2600" dirty="0"/>
              <a:t>Knowledge-sharing culture, should built upon trust (it is necessary to inform, involve, &amp; inspire organizational member during the organizational changes)</a:t>
            </a:r>
          </a:p>
          <a:p>
            <a:pPr marL="342900" indent="-342900" algn="just">
              <a:lnSpc>
                <a:spcPct val="100000"/>
              </a:lnSpc>
              <a:spcBef>
                <a:spcPts val="1800"/>
              </a:spcBef>
              <a:buClr>
                <a:srgbClr val="973735"/>
              </a:buClr>
              <a:buSzPct val="50000"/>
              <a:buFont typeface="Wingdings" pitchFamily="2" charset="2"/>
              <a:buChar char="u"/>
              <a:defRPr/>
            </a:pPr>
            <a:r>
              <a:rPr lang="en-US" sz="2600" dirty="0"/>
              <a:t>Corporate culture is a key component of ensuring that knowledge &amp; information flow within organization.</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Culture at the Foundation of KM</a:t>
            </a:r>
          </a:p>
        </p:txBody>
      </p:sp>
    </p:spTree>
    <p:extLst>
      <p:ext uri="{BB962C8B-B14F-4D97-AF65-F5344CB8AC3E}">
        <p14:creationId xmlns:p14="http://schemas.microsoft.com/office/powerpoint/2010/main" val="23851483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27</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sz="2600" dirty="0"/>
              <a:t>Commitment of a corporate culture always more important than the communication technologies </a:t>
            </a:r>
          </a:p>
          <a:p>
            <a:pPr marL="342900" indent="-342900" algn="just">
              <a:lnSpc>
                <a:spcPct val="100000"/>
              </a:lnSpc>
              <a:spcBef>
                <a:spcPts val="1800"/>
              </a:spcBef>
              <a:buClr>
                <a:srgbClr val="973735"/>
              </a:buClr>
              <a:buSzPct val="50000"/>
              <a:buFont typeface="Wingdings" pitchFamily="2" charset="2"/>
              <a:buChar char="u"/>
              <a:defRPr/>
            </a:pPr>
            <a:r>
              <a:rPr lang="en-US" sz="2600" dirty="0"/>
              <a:t>The smoothness of information flow (vertically &amp; horizontally) will ensure the success of the KM </a:t>
            </a:r>
          </a:p>
          <a:p>
            <a:pPr marL="342900" indent="-342900" algn="just">
              <a:lnSpc>
                <a:spcPct val="100000"/>
              </a:lnSpc>
              <a:spcBef>
                <a:spcPts val="1800"/>
              </a:spcBef>
              <a:buClr>
                <a:srgbClr val="973735"/>
              </a:buClr>
              <a:buSzPct val="50000"/>
              <a:buFont typeface="Wingdings" pitchFamily="2" charset="2"/>
              <a:buChar char="u"/>
              <a:defRPr/>
            </a:pPr>
            <a:r>
              <a:rPr lang="en-US" sz="2600" dirty="0"/>
              <a:t>KM need a lingua franca, something in common (language, standards, norms, procedures) </a:t>
            </a:r>
          </a:p>
          <a:p>
            <a:pPr marL="342900" indent="-342900" algn="just">
              <a:lnSpc>
                <a:spcPct val="100000"/>
              </a:lnSpc>
              <a:spcBef>
                <a:spcPts val="1800"/>
              </a:spcBef>
              <a:buClr>
                <a:srgbClr val="973735"/>
              </a:buClr>
              <a:buSzPct val="50000"/>
              <a:buFont typeface="Wingdings" pitchFamily="2" charset="2"/>
              <a:buChar char="u"/>
              <a:defRPr/>
            </a:pPr>
            <a:r>
              <a:rPr lang="en-US" sz="2600" dirty="0"/>
              <a:t>Knowledge creation is about participation &amp; collaboration, not individual effort</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Culture at the Foundation of KM</a:t>
            </a:r>
          </a:p>
        </p:txBody>
      </p:sp>
    </p:spTree>
    <p:extLst>
      <p:ext uri="{BB962C8B-B14F-4D97-AF65-F5344CB8AC3E}">
        <p14:creationId xmlns:p14="http://schemas.microsoft.com/office/powerpoint/2010/main" val="37313754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28</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b="1" dirty="0">
                <a:solidFill>
                  <a:srgbClr val="ED7D31"/>
                </a:solidFill>
              </a:rPr>
              <a:t>A knowledge-sharing culture is:</a:t>
            </a:r>
          </a:p>
          <a:p>
            <a:pPr marL="800100" lvl="1" indent="-342900" algn="just">
              <a:lnSpc>
                <a:spcPct val="100000"/>
              </a:lnSpc>
              <a:spcBef>
                <a:spcPts val="1800"/>
              </a:spcBef>
              <a:buClr>
                <a:srgbClr val="973735"/>
              </a:buClr>
              <a:buSzPct val="50000"/>
              <a:buFont typeface="Wingdings" pitchFamily="2" charset="2"/>
              <a:buChar char="u"/>
              <a:defRPr/>
            </a:pPr>
            <a:r>
              <a:rPr lang="en-US" sz="2600" dirty="0"/>
              <a:t>Where knowledge sharing is the norm, not the exception, </a:t>
            </a:r>
          </a:p>
          <a:p>
            <a:pPr marL="800100" lvl="1" indent="-342900" algn="just">
              <a:lnSpc>
                <a:spcPct val="100000"/>
              </a:lnSpc>
              <a:spcBef>
                <a:spcPts val="1800"/>
              </a:spcBef>
              <a:buClr>
                <a:srgbClr val="973735"/>
              </a:buClr>
              <a:buSzPct val="50000"/>
              <a:buFont typeface="Wingdings" pitchFamily="2" charset="2"/>
              <a:buChar char="u"/>
              <a:defRPr/>
            </a:pPr>
            <a:r>
              <a:rPr lang="en-US" sz="2600" dirty="0"/>
              <a:t>Where people are encouraged to work together, to collaborate and share, </a:t>
            </a:r>
          </a:p>
          <a:p>
            <a:pPr marL="800100" lvl="1" indent="-342900" algn="just">
              <a:lnSpc>
                <a:spcPct val="100000"/>
              </a:lnSpc>
              <a:spcBef>
                <a:spcPts val="1800"/>
              </a:spcBef>
              <a:buClr>
                <a:srgbClr val="973735"/>
              </a:buClr>
              <a:buSzPct val="50000"/>
              <a:buFont typeface="Wingdings" pitchFamily="2" charset="2"/>
              <a:buChar char="u"/>
              <a:defRPr/>
            </a:pPr>
            <a:r>
              <a:rPr lang="en-US" sz="2600" dirty="0"/>
              <a:t>Where they are rewarded for doing so.</a:t>
            </a:r>
          </a:p>
          <a:p>
            <a:pPr marL="342900" indent="-342900" algn="just">
              <a:lnSpc>
                <a:spcPct val="100000"/>
              </a:lnSpc>
              <a:spcBef>
                <a:spcPts val="1200"/>
              </a:spcBef>
              <a:buClr>
                <a:srgbClr val="973735"/>
              </a:buClr>
              <a:buSzPct val="50000"/>
              <a:buFont typeface="Wingdings" pitchFamily="2" charset="2"/>
              <a:buChar char="u"/>
              <a:defRPr/>
            </a:pPr>
            <a:endParaRPr lang="en-US" sz="2600"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Culture at the Foundation of KM</a:t>
            </a:r>
          </a:p>
        </p:txBody>
      </p:sp>
    </p:spTree>
    <p:extLst>
      <p:ext uri="{BB962C8B-B14F-4D97-AF65-F5344CB8AC3E}">
        <p14:creationId xmlns:p14="http://schemas.microsoft.com/office/powerpoint/2010/main" val="1696038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29</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b="1" dirty="0">
                <a:solidFill>
                  <a:srgbClr val="ED7D31"/>
                </a:solidFill>
              </a:rPr>
              <a:t>Challenge to share explicit knowledge: </a:t>
            </a:r>
          </a:p>
          <a:p>
            <a:pPr marL="800100" lvl="1" indent="-342900" algn="just">
              <a:lnSpc>
                <a:spcPct val="100000"/>
              </a:lnSpc>
              <a:spcBef>
                <a:spcPts val="1800"/>
              </a:spcBef>
              <a:buClr>
                <a:srgbClr val="973735"/>
              </a:buClr>
              <a:buSzPct val="50000"/>
              <a:buFont typeface="Wingdings" pitchFamily="2" charset="2"/>
              <a:buChar char="u"/>
              <a:defRPr/>
            </a:pPr>
            <a:r>
              <a:rPr lang="en-US" sz="2600" dirty="0"/>
              <a:t>Hard to find, </a:t>
            </a:r>
          </a:p>
          <a:p>
            <a:pPr marL="800100" lvl="1" indent="-342900" algn="just">
              <a:lnSpc>
                <a:spcPct val="100000"/>
              </a:lnSpc>
              <a:spcBef>
                <a:spcPts val="1800"/>
              </a:spcBef>
              <a:buClr>
                <a:srgbClr val="973735"/>
              </a:buClr>
              <a:buSzPct val="50000"/>
              <a:buFont typeface="Wingdings" pitchFamily="2" charset="2"/>
              <a:buChar char="u"/>
              <a:defRPr/>
            </a:pPr>
            <a:r>
              <a:rPr lang="en-US" sz="2600" dirty="0"/>
              <a:t>Different systems and no standards, </a:t>
            </a:r>
          </a:p>
          <a:p>
            <a:pPr marL="800100" lvl="1" indent="-342900" algn="just">
              <a:lnSpc>
                <a:spcPct val="100000"/>
              </a:lnSpc>
              <a:spcBef>
                <a:spcPts val="1800"/>
              </a:spcBef>
              <a:buClr>
                <a:srgbClr val="973735"/>
              </a:buClr>
              <a:buSzPct val="50000"/>
              <a:buFont typeface="Wingdings" pitchFamily="2" charset="2"/>
              <a:buChar char="u"/>
              <a:defRPr/>
            </a:pPr>
            <a:r>
              <a:rPr lang="en-US" sz="2600" dirty="0"/>
              <a:t>The information was not where it should be, </a:t>
            </a:r>
          </a:p>
          <a:p>
            <a:pPr marL="800100" lvl="1" indent="-342900" algn="just">
              <a:lnSpc>
                <a:spcPct val="100000"/>
              </a:lnSpc>
              <a:spcBef>
                <a:spcPts val="1800"/>
              </a:spcBef>
              <a:buClr>
                <a:srgbClr val="973735"/>
              </a:buClr>
              <a:buSzPct val="50000"/>
              <a:buFont typeface="Wingdings" pitchFamily="2" charset="2"/>
              <a:buChar char="u"/>
              <a:defRPr/>
            </a:pPr>
            <a:r>
              <a:rPr lang="en-US" sz="2600" dirty="0"/>
              <a:t>The tools were difficult to use, </a:t>
            </a:r>
          </a:p>
          <a:p>
            <a:pPr marL="800100" lvl="1" indent="-342900" algn="just">
              <a:lnSpc>
                <a:spcPct val="100000"/>
              </a:lnSpc>
              <a:spcBef>
                <a:spcPts val="1800"/>
              </a:spcBef>
              <a:buClr>
                <a:srgbClr val="973735"/>
              </a:buClr>
              <a:buSzPct val="50000"/>
              <a:buFont typeface="Wingdings" pitchFamily="2" charset="2"/>
              <a:buChar char="u"/>
              <a:defRPr/>
            </a:pPr>
            <a:r>
              <a:rPr lang="en-US" sz="2600" dirty="0"/>
              <a:t>The database was not easily accessible.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Culture at the Foundation of KM</a:t>
            </a:r>
          </a:p>
        </p:txBody>
      </p:sp>
    </p:spTree>
    <p:extLst>
      <p:ext uri="{BB962C8B-B14F-4D97-AF65-F5344CB8AC3E}">
        <p14:creationId xmlns:p14="http://schemas.microsoft.com/office/powerpoint/2010/main" val="7298181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30</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b="1" dirty="0">
                <a:solidFill>
                  <a:srgbClr val="ED7D31"/>
                </a:solidFill>
              </a:rPr>
              <a:t>Challenge to share tacit knowledge: </a:t>
            </a:r>
          </a:p>
          <a:p>
            <a:pPr marL="800100" lvl="1" indent="-342900" algn="just">
              <a:lnSpc>
                <a:spcPct val="100000"/>
              </a:lnSpc>
              <a:spcBef>
                <a:spcPts val="1800"/>
              </a:spcBef>
              <a:buClr>
                <a:srgbClr val="973735"/>
              </a:buClr>
              <a:buSzPct val="50000"/>
              <a:buFont typeface="Wingdings" pitchFamily="2" charset="2"/>
              <a:buChar char="u"/>
              <a:defRPr/>
            </a:pPr>
            <a:r>
              <a:rPr lang="en-US" sz="2600" dirty="0"/>
              <a:t>Attitudes that knowledge was power, </a:t>
            </a:r>
          </a:p>
          <a:p>
            <a:pPr marL="800100" lvl="1" indent="-342900" algn="just">
              <a:lnSpc>
                <a:spcPct val="100000"/>
              </a:lnSpc>
              <a:spcBef>
                <a:spcPts val="1800"/>
              </a:spcBef>
              <a:buClr>
                <a:srgbClr val="973735"/>
              </a:buClr>
              <a:buSzPct val="50000"/>
              <a:buFont typeface="Wingdings" pitchFamily="2" charset="2"/>
              <a:buChar char="u"/>
              <a:defRPr/>
            </a:pPr>
            <a:r>
              <a:rPr lang="en-US" sz="2600" dirty="0"/>
              <a:t>Not knowing who the expert was, </a:t>
            </a:r>
          </a:p>
          <a:p>
            <a:pPr marL="800100" lvl="1" indent="-342900" algn="just">
              <a:lnSpc>
                <a:spcPct val="100000"/>
              </a:lnSpc>
              <a:spcBef>
                <a:spcPts val="1800"/>
              </a:spcBef>
              <a:buClr>
                <a:srgbClr val="973735"/>
              </a:buClr>
              <a:buSzPct val="50000"/>
              <a:buFont typeface="Wingdings" pitchFamily="2" charset="2"/>
              <a:buChar char="u"/>
              <a:defRPr/>
            </a:pPr>
            <a:r>
              <a:rPr lang="en-US" sz="2600" dirty="0"/>
              <a:t>Not knowing if the knowledge exists, </a:t>
            </a:r>
          </a:p>
          <a:p>
            <a:pPr marL="800100" lvl="1" indent="-342900" algn="just">
              <a:lnSpc>
                <a:spcPct val="100000"/>
              </a:lnSpc>
              <a:spcBef>
                <a:spcPts val="1800"/>
              </a:spcBef>
              <a:buClr>
                <a:srgbClr val="973735"/>
              </a:buClr>
              <a:buSzPct val="50000"/>
              <a:buFont typeface="Wingdings" pitchFamily="2" charset="2"/>
              <a:buChar char="u"/>
              <a:defRPr/>
            </a:pPr>
            <a:r>
              <a:rPr lang="en-US" sz="2600" dirty="0"/>
              <a:t>Loss of knowledge when people left the company</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Culture at the Foundation of KM</a:t>
            </a:r>
          </a:p>
        </p:txBody>
      </p:sp>
    </p:spTree>
    <p:extLst>
      <p:ext uri="{BB962C8B-B14F-4D97-AF65-F5344CB8AC3E}">
        <p14:creationId xmlns:p14="http://schemas.microsoft.com/office/powerpoint/2010/main" val="10178443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31</a:t>
            </a:fld>
            <a:endParaRPr kumimoji="0" lang="en-US" dirty="0"/>
          </a:p>
        </p:txBody>
      </p:sp>
      <p:sp>
        <p:nvSpPr>
          <p:cNvPr id="4" name="Content Placeholder 3"/>
          <p:cNvSpPr>
            <a:spLocks noGrp="1"/>
          </p:cNvSpPr>
          <p:nvPr>
            <p:ph sz="quarter" idx="1"/>
          </p:nvPr>
        </p:nvSpPr>
        <p:spPr>
          <a:xfrm>
            <a:off x="0" y="1664593"/>
            <a:ext cx="11658600" cy="4816106"/>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b="1" dirty="0">
                <a:solidFill>
                  <a:srgbClr val="ED7D31"/>
                </a:solidFill>
              </a:rPr>
              <a:t>Ideal knowledge sharing culture is:</a:t>
            </a:r>
          </a:p>
          <a:p>
            <a:pPr marL="800100" lvl="1" indent="-342900" algn="just">
              <a:lnSpc>
                <a:spcPct val="100000"/>
              </a:lnSpc>
              <a:spcBef>
                <a:spcPts val="1800"/>
              </a:spcBef>
              <a:buClr>
                <a:srgbClr val="973735"/>
              </a:buClr>
              <a:buSzPct val="50000"/>
              <a:buFont typeface="Wingdings" pitchFamily="2" charset="2"/>
              <a:buChar char="u"/>
              <a:defRPr/>
            </a:pPr>
            <a:r>
              <a:rPr lang="en-US" sz="2600" dirty="0"/>
              <a:t>Where communication &amp; coordination between groups were emphasized, </a:t>
            </a:r>
          </a:p>
          <a:p>
            <a:pPr marL="800100" lvl="1" indent="-342900" algn="just">
              <a:lnSpc>
                <a:spcPct val="100000"/>
              </a:lnSpc>
              <a:spcBef>
                <a:spcPts val="1800"/>
              </a:spcBef>
              <a:buClr>
                <a:srgbClr val="973735"/>
              </a:buClr>
              <a:buSzPct val="50000"/>
              <a:buFont typeface="Wingdings" pitchFamily="2" charset="2"/>
              <a:buChar char="u"/>
              <a:defRPr/>
            </a:pPr>
            <a:r>
              <a:rPr lang="en-US" sz="2600" dirty="0"/>
              <a:t>Where experts would not jealously guard their knowledge, and </a:t>
            </a:r>
          </a:p>
          <a:p>
            <a:pPr marL="800100" lvl="1" indent="-342900" algn="just">
              <a:lnSpc>
                <a:spcPct val="100000"/>
              </a:lnSpc>
              <a:spcBef>
                <a:spcPts val="1800"/>
              </a:spcBef>
              <a:buClr>
                <a:srgbClr val="973735"/>
              </a:buClr>
              <a:buSzPct val="50000"/>
              <a:buFont typeface="Wingdings" pitchFamily="2" charset="2"/>
              <a:buChar char="u"/>
              <a:defRPr/>
            </a:pPr>
            <a:r>
              <a:rPr lang="en-US" sz="2600" dirty="0"/>
              <a:t>Where knowledge sharing would be actively and visibly encouraged at all levels of the hierarchy through recognizing &amp; rewarding knowledge sharing and through embedding such statements in corporate and individual performance objectives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Culture at the Foundation of KM</a:t>
            </a:r>
          </a:p>
        </p:txBody>
      </p:sp>
    </p:spTree>
    <p:extLst>
      <p:ext uri="{BB962C8B-B14F-4D97-AF65-F5344CB8AC3E}">
        <p14:creationId xmlns:p14="http://schemas.microsoft.com/office/powerpoint/2010/main" val="15793847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32</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dirty="0"/>
              <a:t>Characteristic of knowledge sharing environment (Gruber and Duxbury, 2001); </a:t>
            </a:r>
          </a:p>
          <a:p>
            <a:pPr marL="800100" lvl="1" indent="-342900" algn="just">
              <a:lnSpc>
                <a:spcPct val="100000"/>
              </a:lnSpc>
              <a:spcBef>
                <a:spcPts val="1800"/>
              </a:spcBef>
              <a:buClr>
                <a:srgbClr val="973735"/>
              </a:buClr>
              <a:buSzPct val="50000"/>
              <a:buFont typeface="Wingdings" pitchFamily="2" charset="2"/>
              <a:buChar char="u"/>
              <a:defRPr/>
            </a:pPr>
            <a:r>
              <a:rPr lang="en-US" sz="2600" dirty="0"/>
              <a:t>Reward structure - recognition for knowledge sharing with peers. </a:t>
            </a:r>
          </a:p>
          <a:p>
            <a:pPr marL="800100" lvl="1" indent="-342900" algn="just">
              <a:lnSpc>
                <a:spcPct val="100000"/>
              </a:lnSpc>
              <a:spcBef>
                <a:spcPts val="1800"/>
              </a:spcBef>
              <a:buClr>
                <a:srgbClr val="973735"/>
              </a:buClr>
              <a:buSzPct val="50000"/>
              <a:buFont typeface="Wingdings" pitchFamily="2" charset="2"/>
              <a:buChar char="u"/>
              <a:defRPr/>
            </a:pPr>
            <a:r>
              <a:rPr lang="en-US" sz="2600" dirty="0"/>
              <a:t>Openness/transparency - no hidden agendas. </a:t>
            </a:r>
          </a:p>
          <a:p>
            <a:pPr marL="800100" lvl="1" indent="-342900" algn="just">
              <a:lnSpc>
                <a:spcPct val="100000"/>
              </a:lnSpc>
              <a:spcBef>
                <a:spcPts val="1800"/>
              </a:spcBef>
              <a:buClr>
                <a:srgbClr val="973735"/>
              </a:buClr>
              <a:buSzPct val="50000"/>
              <a:buFont typeface="Wingdings" pitchFamily="2" charset="2"/>
              <a:buChar char="u"/>
              <a:defRPr/>
            </a:pPr>
            <a:r>
              <a:rPr lang="en-US" sz="2600" dirty="0"/>
              <a:t>Sharing supported - communication and coordination between groups. </a:t>
            </a:r>
          </a:p>
          <a:p>
            <a:pPr marL="800100" lvl="1" indent="-342900" algn="just">
              <a:lnSpc>
                <a:spcPct val="100000"/>
              </a:lnSpc>
              <a:spcBef>
                <a:spcPts val="1800"/>
              </a:spcBef>
              <a:buClr>
                <a:srgbClr val="973735"/>
              </a:buClr>
              <a:buSzPct val="50000"/>
              <a:buFont typeface="Wingdings" pitchFamily="2" charset="2"/>
              <a:buChar char="u"/>
              <a:defRPr/>
            </a:pPr>
            <a:r>
              <a:rPr lang="en-US" sz="2600" dirty="0"/>
              <a:t>Trust - shared objectives. </a:t>
            </a:r>
          </a:p>
          <a:p>
            <a:pPr marL="800100" lvl="1" indent="-342900" algn="just">
              <a:lnSpc>
                <a:spcPct val="100000"/>
              </a:lnSpc>
              <a:spcBef>
                <a:spcPts val="1800"/>
              </a:spcBef>
              <a:buClr>
                <a:srgbClr val="973735"/>
              </a:buClr>
              <a:buSzPct val="50000"/>
              <a:buFont typeface="Wingdings" pitchFamily="2" charset="2"/>
              <a:buChar char="u"/>
              <a:defRPr/>
            </a:pPr>
            <a:r>
              <a:rPr lang="en-US" sz="2600" dirty="0"/>
              <a:t>Top management support - upward and downward communication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Culture at the Foundation of KM</a:t>
            </a:r>
          </a:p>
        </p:txBody>
      </p:sp>
    </p:spTree>
    <p:extLst>
      <p:ext uri="{BB962C8B-B14F-4D97-AF65-F5344CB8AC3E}">
        <p14:creationId xmlns:p14="http://schemas.microsoft.com/office/powerpoint/2010/main" val="25122903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33</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endParaRPr lang="en-US" dirty="0"/>
          </a:p>
          <a:p>
            <a:pPr marL="342900" indent="-342900" algn="just">
              <a:lnSpc>
                <a:spcPct val="100000"/>
              </a:lnSpc>
              <a:spcBef>
                <a:spcPts val="2400"/>
              </a:spcBef>
              <a:buClr>
                <a:srgbClr val="973735"/>
              </a:buClr>
              <a:buSzPct val="50000"/>
              <a:buFont typeface="Wingdings" pitchFamily="2" charset="2"/>
              <a:buChar char="u"/>
              <a:defRPr/>
            </a:pPr>
            <a:r>
              <a:rPr lang="en-US" dirty="0"/>
              <a:t>3 basic ways to create cross-individual behavior consistency:</a:t>
            </a:r>
          </a:p>
          <a:p>
            <a:pPr marL="800100" lvl="1" indent="-342900" algn="just">
              <a:lnSpc>
                <a:spcPct val="100000"/>
              </a:lnSpc>
              <a:spcBef>
                <a:spcPts val="2400"/>
              </a:spcBef>
              <a:buClr>
                <a:srgbClr val="973735"/>
              </a:buClr>
              <a:buSzPct val="50000"/>
              <a:buFont typeface="Wingdings" pitchFamily="2" charset="2"/>
              <a:buChar char="u"/>
              <a:defRPr/>
            </a:pPr>
            <a:r>
              <a:rPr lang="en-US" sz="2600" dirty="0"/>
              <a:t>Social norms </a:t>
            </a:r>
          </a:p>
          <a:p>
            <a:pPr marL="800100" lvl="1" indent="-342900" algn="just">
              <a:lnSpc>
                <a:spcPct val="100000"/>
              </a:lnSpc>
              <a:spcBef>
                <a:spcPts val="2400"/>
              </a:spcBef>
              <a:buClr>
                <a:srgbClr val="973735"/>
              </a:buClr>
              <a:buSzPct val="50000"/>
              <a:buFont typeface="Wingdings" pitchFamily="2" charset="2"/>
              <a:buChar char="u"/>
              <a:defRPr/>
            </a:pPr>
            <a:r>
              <a:rPr lang="en-US" sz="2600" dirty="0"/>
              <a:t>Social value </a:t>
            </a:r>
          </a:p>
          <a:p>
            <a:pPr marL="800100" lvl="1" indent="-342900" algn="just">
              <a:lnSpc>
                <a:spcPct val="100000"/>
              </a:lnSpc>
              <a:spcBef>
                <a:spcPts val="2400"/>
              </a:spcBef>
              <a:buClr>
                <a:srgbClr val="973735"/>
              </a:buClr>
              <a:buSzPct val="50000"/>
              <a:buFont typeface="Wingdings" pitchFamily="2" charset="2"/>
              <a:buChar char="u"/>
              <a:defRPr/>
            </a:pPr>
            <a:r>
              <a:rPr lang="en-US" sz="2600" dirty="0"/>
              <a:t>Shared mental model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Culture at the Foundation of KM</a:t>
            </a:r>
          </a:p>
        </p:txBody>
      </p:sp>
    </p:spTree>
    <p:extLst>
      <p:ext uri="{BB962C8B-B14F-4D97-AF65-F5344CB8AC3E}">
        <p14:creationId xmlns:p14="http://schemas.microsoft.com/office/powerpoint/2010/main" val="21718476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34</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endParaRPr lang="en-US" dirty="0"/>
          </a:p>
          <a:p>
            <a:pPr marL="342900" indent="-342900" algn="just">
              <a:lnSpc>
                <a:spcPct val="100000"/>
              </a:lnSpc>
              <a:spcBef>
                <a:spcPts val="1200"/>
              </a:spcBef>
              <a:buClr>
                <a:srgbClr val="973735"/>
              </a:buClr>
              <a:buSzPct val="50000"/>
              <a:buFont typeface="Wingdings" pitchFamily="2" charset="2"/>
              <a:buChar char="u"/>
              <a:defRPr/>
            </a:pPr>
            <a:r>
              <a:rPr lang="en-US" b="1" dirty="0">
                <a:solidFill>
                  <a:srgbClr val="ED7D31"/>
                </a:solidFill>
              </a:rPr>
              <a:t>Social norms </a:t>
            </a:r>
          </a:p>
          <a:p>
            <a:pPr marL="800100" lvl="1" indent="-342900" algn="just">
              <a:lnSpc>
                <a:spcPct val="100000"/>
              </a:lnSpc>
              <a:spcBef>
                <a:spcPts val="1800"/>
              </a:spcBef>
              <a:buClr>
                <a:srgbClr val="973735"/>
              </a:buClr>
              <a:buSzPct val="50000"/>
              <a:buFont typeface="Wingdings" pitchFamily="2" charset="2"/>
              <a:buChar char="u"/>
              <a:defRPr/>
            </a:pPr>
            <a:r>
              <a:rPr lang="en-US" sz="2600" dirty="0"/>
              <a:t>Social norm is a behavioral expectation that people will act in a certain way in certain situations. </a:t>
            </a:r>
          </a:p>
          <a:p>
            <a:pPr marL="800100" lvl="1" indent="-342900" algn="just">
              <a:lnSpc>
                <a:spcPct val="100000"/>
              </a:lnSpc>
              <a:spcBef>
                <a:spcPts val="1800"/>
              </a:spcBef>
              <a:buClr>
                <a:srgbClr val="973735"/>
              </a:buClr>
              <a:buSzPct val="50000"/>
              <a:buFont typeface="Wingdings" pitchFamily="2" charset="2"/>
              <a:buChar char="u"/>
              <a:defRPr/>
            </a:pPr>
            <a:r>
              <a:rPr lang="en-US" sz="2600" dirty="0"/>
              <a:t>Norms (as opposed to rules) are enforced by other members of a reference group through use of social sanctions </a:t>
            </a:r>
          </a:p>
          <a:p>
            <a:pPr marL="800100" lvl="1" indent="-342900" algn="just">
              <a:lnSpc>
                <a:spcPct val="100000"/>
              </a:lnSpc>
              <a:spcBef>
                <a:spcPts val="1800"/>
              </a:spcBef>
              <a:buClr>
                <a:srgbClr val="973735"/>
              </a:buClr>
              <a:buSzPct val="50000"/>
              <a:buFont typeface="Wingdings" pitchFamily="2" charset="2"/>
              <a:buChar char="u"/>
              <a:defRPr/>
            </a:pPr>
            <a:r>
              <a:rPr lang="en-US" sz="2600" dirty="0"/>
              <a:t>Three norms characteristics; </a:t>
            </a:r>
            <a:r>
              <a:rPr lang="en-US" sz="2600" dirty="0" err="1"/>
              <a:t>pheriperal</a:t>
            </a:r>
            <a:r>
              <a:rPr lang="en-US" sz="2600" dirty="0"/>
              <a:t>, relevant, pivotal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Culture at the Foundation of KM</a:t>
            </a:r>
          </a:p>
        </p:txBody>
      </p:sp>
    </p:spTree>
    <p:extLst>
      <p:ext uri="{BB962C8B-B14F-4D97-AF65-F5344CB8AC3E}">
        <p14:creationId xmlns:p14="http://schemas.microsoft.com/office/powerpoint/2010/main" val="12682951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35</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endParaRPr lang="en-US" dirty="0"/>
          </a:p>
          <a:p>
            <a:pPr marL="342900" indent="-342900" algn="just">
              <a:lnSpc>
                <a:spcPct val="100000"/>
              </a:lnSpc>
              <a:spcBef>
                <a:spcPts val="1200"/>
              </a:spcBef>
              <a:buClr>
                <a:srgbClr val="973735"/>
              </a:buClr>
              <a:buSzPct val="50000"/>
              <a:buFont typeface="Wingdings" pitchFamily="2" charset="2"/>
              <a:buChar char="u"/>
              <a:defRPr/>
            </a:pPr>
            <a:r>
              <a:rPr lang="en-US" b="1" dirty="0">
                <a:solidFill>
                  <a:srgbClr val="ED7D31"/>
                </a:solidFill>
              </a:rPr>
              <a:t>Social value </a:t>
            </a:r>
          </a:p>
          <a:p>
            <a:pPr marL="800100" lvl="1" indent="-342900" algn="just">
              <a:lnSpc>
                <a:spcPct val="100000"/>
              </a:lnSpc>
              <a:spcBef>
                <a:spcPts val="1800"/>
              </a:spcBef>
              <a:buClr>
                <a:srgbClr val="973735"/>
              </a:buClr>
              <a:buSzPct val="50000"/>
              <a:buFont typeface="Wingdings" pitchFamily="2" charset="2"/>
              <a:buChar char="u"/>
              <a:defRPr/>
            </a:pPr>
            <a:r>
              <a:rPr lang="en-US" sz="2600" dirty="0"/>
              <a:t>Public values arise when we believe that everyone around us holds a certain value (social value) </a:t>
            </a:r>
          </a:p>
          <a:p>
            <a:pPr marL="800100" lvl="1" indent="-342900" algn="just">
              <a:lnSpc>
                <a:spcPct val="100000"/>
              </a:lnSpc>
              <a:spcBef>
                <a:spcPts val="1800"/>
              </a:spcBef>
              <a:buClr>
                <a:srgbClr val="973735"/>
              </a:buClr>
              <a:buSzPct val="50000"/>
              <a:buFont typeface="Wingdings" pitchFamily="2" charset="2"/>
              <a:buChar char="u"/>
              <a:defRPr/>
            </a:pPr>
            <a:r>
              <a:rPr lang="en-US" sz="2600" dirty="0"/>
              <a:t>We often act in ways consistent with that value, even though we don’t personally hold that value. This is done to gain acceptance and support from the group</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Culture at the Foundation of KM</a:t>
            </a:r>
          </a:p>
        </p:txBody>
      </p:sp>
    </p:spTree>
    <p:extLst>
      <p:ext uri="{BB962C8B-B14F-4D97-AF65-F5344CB8AC3E}">
        <p14:creationId xmlns:p14="http://schemas.microsoft.com/office/powerpoint/2010/main" val="8254032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36</a:t>
            </a:fld>
            <a:endParaRPr kumimoji="0" lang="en-US" dirty="0"/>
          </a:p>
        </p:txBody>
      </p:sp>
      <p:sp>
        <p:nvSpPr>
          <p:cNvPr id="4" name="Content Placeholder 3"/>
          <p:cNvSpPr>
            <a:spLocks noGrp="1"/>
          </p:cNvSpPr>
          <p:nvPr>
            <p:ph sz="quarter" idx="1"/>
          </p:nvPr>
        </p:nvSpPr>
        <p:spPr>
          <a:xfrm>
            <a:off x="0" y="1664593"/>
            <a:ext cx="11685494" cy="4816106"/>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b="1" dirty="0">
                <a:solidFill>
                  <a:srgbClr val="ED7D31"/>
                </a:solidFill>
              </a:rPr>
              <a:t>Shared mental model </a:t>
            </a:r>
          </a:p>
          <a:p>
            <a:pPr marL="800100" lvl="1" indent="-342900" algn="just">
              <a:lnSpc>
                <a:spcPct val="100000"/>
              </a:lnSpc>
              <a:spcBef>
                <a:spcPts val="1800"/>
              </a:spcBef>
              <a:buClr>
                <a:srgbClr val="973735"/>
              </a:buClr>
              <a:buSzPct val="50000"/>
              <a:buFont typeface="Wingdings" pitchFamily="2" charset="2"/>
              <a:buChar char="u"/>
              <a:defRPr/>
            </a:pPr>
            <a:r>
              <a:rPr lang="en-US" sz="2600" dirty="0"/>
              <a:t>Basic underlying assumptions. </a:t>
            </a:r>
          </a:p>
          <a:p>
            <a:pPr marL="800100" lvl="1" indent="-342900" algn="just">
              <a:lnSpc>
                <a:spcPct val="100000"/>
              </a:lnSpc>
              <a:spcBef>
                <a:spcPts val="1800"/>
              </a:spcBef>
              <a:buClr>
                <a:srgbClr val="973735"/>
              </a:buClr>
              <a:buSzPct val="50000"/>
              <a:buFont typeface="Wingdings" pitchFamily="2" charset="2"/>
              <a:buChar char="u"/>
              <a:defRPr/>
            </a:pPr>
            <a:r>
              <a:rPr lang="en-US" sz="2600" dirty="0"/>
              <a:t>Mental models impact the behavior of individuals to a very large extent. Decisions are often based on one or more of our mental models. </a:t>
            </a:r>
          </a:p>
          <a:p>
            <a:pPr marL="800100" lvl="1" indent="-342900" algn="just">
              <a:lnSpc>
                <a:spcPct val="100000"/>
              </a:lnSpc>
              <a:spcBef>
                <a:spcPts val="1800"/>
              </a:spcBef>
              <a:buClr>
                <a:srgbClr val="973735"/>
              </a:buClr>
              <a:buSzPct val="50000"/>
              <a:buFont typeface="Wingdings" pitchFamily="2" charset="2"/>
              <a:buChar char="u"/>
              <a:defRPr/>
            </a:pPr>
            <a:r>
              <a:rPr lang="en-US" sz="2600" dirty="0"/>
              <a:t>For example, if a manager believes that increasing satisfaction will enhance employees’ performance, he or she is likely to do things that eliminate dissatisfaction among employees and work hard to increase their levels of satisfaction.</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Culture at the Foundation of KM</a:t>
            </a:r>
          </a:p>
        </p:txBody>
      </p:sp>
    </p:spTree>
    <p:extLst>
      <p:ext uri="{BB962C8B-B14F-4D97-AF65-F5344CB8AC3E}">
        <p14:creationId xmlns:p14="http://schemas.microsoft.com/office/powerpoint/2010/main" val="39045101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37</a:t>
            </a:fld>
            <a:endParaRPr kumimoji="0" lang="en-US" dirty="0"/>
          </a:p>
        </p:txBody>
      </p:sp>
      <p:sp>
        <p:nvSpPr>
          <p:cNvPr id="4" name="Content Placeholder 3"/>
          <p:cNvSpPr>
            <a:spLocks noGrp="1"/>
          </p:cNvSpPr>
          <p:nvPr>
            <p:ph sz="quarter" idx="1"/>
          </p:nvPr>
        </p:nvSpPr>
        <p:spPr>
          <a:xfrm>
            <a:off x="0" y="1664593"/>
            <a:ext cx="11752729" cy="4816106"/>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dirty="0"/>
              <a:t>Learning development </a:t>
            </a:r>
          </a:p>
          <a:p>
            <a:pPr marL="800100" lvl="1" indent="-342900" algn="just">
              <a:lnSpc>
                <a:spcPct val="100000"/>
              </a:lnSpc>
              <a:spcBef>
                <a:spcPts val="2400"/>
              </a:spcBef>
              <a:buClr>
                <a:srgbClr val="973735"/>
              </a:buClr>
              <a:buSzPct val="50000"/>
              <a:buFont typeface="Wingdings" pitchFamily="2" charset="2"/>
              <a:buChar char="u"/>
              <a:defRPr/>
            </a:pPr>
            <a:r>
              <a:rPr lang="en-US" sz="2600" dirty="0"/>
              <a:t>Direct schema development. When we first perform our task, we tend to think about every step the many alternative ways we can perform it. As we learn the best way to perform the task, we “lock in” the script, and do not think about each step again </a:t>
            </a:r>
          </a:p>
          <a:p>
            <a:pPr marL="800100" lvl="1" indent="-342900" algn="just">
              <a:lnSpc>
                <a:spcPct val="100000"/>
              </a:lnSpc>
              <a:spcBef>
                <a:spcPts val="2400"/>
              </a:spcBef>
              <a:buClr>
                <a:srgbClr val="973735"/>
              </a:buClr>
              <a:buSzPct val="50000"/>
              <a:buFont typeface="Wingdings" pitchFamily="2" charset="2"/>
              <a:buChar char="u"/>
              <a:defRPr/>
            </a:pPr>
            <a:r>
              <a:rPr lang="en-US" sz="2600" dirty="0"/>
              <a:t>Indirect schema development. We simply copy (or are told) how to perform a certain task from members of the reference group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Culture at the Foundation of KM</a:t>
            </a:r>
          </a:p>
        </p:txBody>
      </p:sp>
    </p:spTree>
    <p:extLst>
      <p:ext uri="{BB962C8B-B14F-4D97-AF65-F5344CB8AC3E}">
        <p14:creationId xmlns:p14="http://schemas.microsoft.com/office/powerpoint/2010/main" val="36903936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38</a:t>
            </a:fld>
            <a:endParaRPr kumimoji="0" lang="en-US" dirty="0"/>
          </a:p>
        </p:txBody>
      </p:sp>
      <p:sp>
        <p:nvSpPr>
          <p:cNvPr id="4" name="Content Placeholder 3"/>
          <p:cNvSpPr>
            <a:spLocks noGrp="1"/>
          </p:cNvSpPr>
          <p:nvPr>
            <p:ph sz="quarter" idx="1"/>
          </p:nvPr>
        </p:nvSpPr>
        <p:spPr>
          <a:xfrm>
            <a:off x="0" y="1664593"/>
            <a:ext cx="11591365" cy="4816106"/>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b="1" dirty="0">
                <a:solidFill>
                  <a:srgbClr val="ED7D31"/>
                </a:solidFill>
              </a:rPr>
              <a:t>Consensual schema </a:t>
            </a:r>
          </a:p>
          <a:p>
            <a:pPr marL="800100" lvl="1" indent="-342900" algn="just">
              <a:lnSpc>
                <a:spcPct val="100000"/>
              </a:lnSpc>
              <a:spcBef>
                <a:spcPts val="2400"/>
              </a:spcBef>
              <a:buClr>
                <a:srgbClr val="973735"/>
              </a:buClr>
              <a:buSzPct val="50000"/>
              <a:buFont typeface="Wingdings" pitchFamily="2" charset="2"/>
              <a:buChar char="u"/>
              <a:defRPr/>
            </a:pPr>
            <a:r>
              <a:rPr lang="en-US" sz="2600" dirty="0"/>
              <a:t>When direct and indirect schema become routine and account for large number of cross-individual behavior consistency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Culture at the Foundation of KM</a:t>
            </a:r>
          </a:p>
        </p:txBody>
      </p:sp>
    </p:spTree>
    <p:extLst>
      <p:ext uri="{BB962C8B-B14F-4D97-AF65-F5344CB8AC3E}">
        <p14:creationId xmlns:p14="http://schemas.microsoft.com/office/powerpoint/2010/main" val="16542989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39</a:t>
            </a:fld>
            <a:endParaRPr kumimoji="0" lang="en-US" dirty="0"/>
          </a:p>
        </p:txBody>
      </p:sp>
      <p:sp>
        <p:nvSpPr>
          <p:cNvPr id="4" name="Content Placeholder 3"/>
          <p:cNvSpPr>
            <a:spLocks noGrp="1"/>
          </p:cNvSpPr>
          <p:nvPr>
            <p:ph sz="quarter" idx="1"/>
          </p:nvPr>
        </p:nvSpPr>
        <p:spPr>
          <a:xfrm>
            <a:off x="0" y="1664593"/>
            <a:ext cx="11604812" cy="4816106"/>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b="1" dirty="0">
                <a:solidFill>
                  <a:srgbClr val="ED7D31"/>
                </a:solidFill>
              </a:rPr>
              <a:t>Organization culture </a:t>
            </a:r>
          </a:p>
          <a:p>
            <a:pPr marL="800100" lvl="1" indent="-342900" algn="just">
              <a:lnSpc>
                <a:spcPct val="100000"/>
              </a:lnSpc>
              <a:spcBef>
                <a:spcPts val="1800"/>
              </a:spcBef>
              <a:buClr>
                <a:srgbClr val="973735"/>
              </a:buClr>
              <a:buSzPct val="50000"/>
              <a:buFont typeface="Wingdings" pitchFamily="2" charset="2"/>
              <a:buChar char="u"/>
              <a:defRPr/>
            </a:pPr>
            <a:r>
              <a:rPr lang="en-US" sz="2600" dirty="0"/>
              <a:t>Establishes a set of roles (social identities). </a:t>
            </a:r>
          </a:p>
          <a:p>
            <a:pPr marL="800100" lvl="1" indent="-342900" algn="just">
              <a:lnSpc>
                <a:spcPct val="100000"/>
              </a:lnSpc>
              <a:spcBef>
                <a:spcPts val="1800"/>
              </a:spcBef>
              <a:buClr>
                <a:srgbClr val="973735"/>
              </a:buClr>
              <a:buSzPct val="50000"/>
              <a:buFont typeface="Wingdings" pitchFamily="2" charset="2"/>
              <a:buChar char="u"/>
              <a:defRPr/>
            </a:pPr>
            <a:r>
              <a:rPr lang="en-US" sz="2600" dirty="0"/>
              <a:t>Establishes a set of role expectations (traits, competencies, and values) associated with each identity. </a:t>
            </a:r>
          </a:p>
          <a:p>
            <a:pPr marL="800100" lvl="1" indent="-342900" algn="just">
              <a:lnSpc>
                <a:spcPct val="100000"/>
              </a:lnSpc>
              <a:spcBef>
                <a:spcPts val="1800"/>
              </a:spcBef>
              <a:buClr>
                <a:srgbClr val="973735"/>
              </a:buClr>
              <a:buSzPct val="50000"/>
              <a:buFont typeface="Wingdings" pitchFamily="2" charset="2"/>
              <a:buChar char="u"/>
              <a:defRPr/>
            </a:pPr>
            <a:r>
              <a:rPr lang="en-US" sz="2600" dirty="0"/>
              <a:t>Establishes the status or value/worth to the reference group of each social identity. </a:t>
            </a:r>
          </a:p>
          <a:p>
            <a:pPr marL="800100" lvl="1" indent="-342900" algn="just">
              <a:lnSpc>
                <a:spcPct val="100000"/>
              </a:lnSpc>
              <a:spcBef>
                <a:spcPts val="1800"/>
              </a:spcBef>
              <a:buClr>
                <a:srgbClr val="973735"/>
              </a:buClr>
              <a:buSzPct val="50000"/>
              <a:buFont typeface="Wingdings" pitchFamily="2" charset="2"/>
              <a:buChar char="u"/>
              <a:defRPr/>
            </a:pPr>
            <a:r>
              <a:rPr lang="en-US" sz="2600" dirty="0"/>
              <a:t>Provides values, cognitive schema, &amp; mental models to influence how individuals behave in various groups (microculture) and organizational culture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Culture at the Foundation of KM</a:t>
            </a:r>
          </a:p>
        </p:txBody>
      </p:sp>
    </p:spTree>
    <p:extLst>
      <p:ext uri="{BB962C8B-B14F-4D97-AF65-F5344CB8AC3E}">
        <p14:creationId xmlns:p14="http://schemas.microsoft.com/office/powerpoint/2010/main" val="30548841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40</a:t>
            </a:fld>
            <a:endParaRPr kumimoji="0" lang="en-US" dirty="0"/>
          </a:p>
        </p:txBody>
      </p:sp>
      <p:sp>
        <p:nvSpPr>
          <p:cNvPr id="4" name="Content Placeholder 3"/>
          <p:cNvSpPr>
            <a:spLocks noGrp="1"/>
          </p:cNvSpPr>
          <p:nvPr>
            <p:ph sz="quarter" idx="1"/>
          </p:nvPr>
        </p:nvSpPr>
        <p:spPr>
          <a:xfrm>
            <a:off x="0" y="2031999"/>
            <a:ext cx="11833412" cy="4310743"/>
          </a:xfrm>
        </p:spPr>
        <p:txBody>
          <a:bodyPr>
            <a:normAutofit/>
          </a:bodyPr>
          <a:lstStyle/>
          <a:p>
            <a:pPr marL="342900" indent="-342900" algn="just">
              <a:lnSpc>
                <a:spcPct val="100000"/>
              </a:lnSpc>
              <a:spcBef>
                <a:spcPts val="2400"/>
              </a:spcBef>
              <a:buClr>
                <a:srgbClr val="973735"/>
              </a:buClr>
              <a:buSzPct val="50000"/>
              <a:buFont typeface="Wingdings" pitchFamily="2" charset="2"/>
              <a:buChar char="u"/>
              <a:defRPr/>
            </a:pPr>
            <a:r>
              <a:rPr lang="en-US" sz="2600" dirty="0"/>
              <a:t>Changing the organization’s structure (rules, regulations, rewards systems), mean changing the underlying mechanisms that drive these behavioral patterns: namely, norms, social values, or mental models </a:t>
            </a:r>
          </a:p>
          <a:p>
            <a:pPr marL="342900" indent="-342900" algn="just">
              <a:lnSpc>
                <a:spcPct val="100000"/>
              </a:lnSpc>
              <a:spcBef>
                <a:spcPts val="2400"/>
              </a:spcBef>
              <a:buClr>
                <a:srgbClr val="973735"/>
              </a:buClr>
              <a:buSzPct val="50000"/>
              <a:buFont typeface="Wingdings" pitchFamily="2" charset="2"/>
              <a:buChar char="u"/>
              <a:defRPr/>
            </a:pPr>
            <a:r>
              <a:rPr lang="en-US" sz="2600" dirty="0"/>
              <a:t>Changing structure by changing rule and its enforcement mechanism is rather simple when compared to changing a social value. </a:t>
            </a:r>
          </a:p>
          <a:p>
            <a:pPr marL="342900" indent="-342900" algn="just">
              <a:lnSpc>
                <a:spcPct val="100000"/>
              </a:lnSpc>
              <a:spcBef>
                <a:spcPts val="2400"/>
              </a:spcBef>
              <a:buClr>
                <a:srgbClr val="973735"/>
              </a:buClr>
              <a:buSzPct val="50000"/>
              <a:buFont typeface="Wingdings" pitchFamily="2" charset="2"/>
              <a:buChar char="u"/>
              <a:defRPr/>
            </a:pPr>
            <a:r>
              <a:rPr lang="en-US" sz="2600" dirty="0"/>
              <a:t>Culture is resistant to change because the cultural control mechanisms become internalized in the minds of organizational members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1683659" cy="709226"/>
          </a:xfrm>
        </p:spPr>
        <p:txBody>
          <a:bodyPr>
            <a:normAutofit fontScale="90000"/>
          </a:bodyPr>
          <a:lstStyle/>
          <a:p>
            <a:r>
              <a:rPr lang="en-US" sz="4000" b="1" dirty="0"/>
              <a:t>Transformation to a Knowledge-Sharing Culture</a:t>
            </a:r>
          </a:p>
        </p:txBody>
      </p:sp>
    </p:spTree>
    <p:extLst>
      <p:ext uri="{BB962C8B-B14F-4D97-AF65-F5344CB8AC3E}">
        <p14:creationId xmlns:p14="http://schemas.microsoft.com/office/powerpoint/2010/main" val="33997816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41</a:t>
            </a:fld>
            <a:endParaRPr kumimoji="0" lang="en-US" dirty="0"/>
          </a:p>
        </p:txBody>
      </p:sp>
      <p:sp>
        <p:nvSpPr>
          <p:cNvPr id="4" name="Content Placeholder 3"/>
          <p:cNvSpPr>
            <a:spLocks noGrp="1"/>
          </p:cNvSpPr>
          <p:nvPr>
            <p:ph sz="quarter" idx="1"/>
          </p:nvPr>
        </p:nvSpPr>
        <p:spPr>
          <a:xfrm>
            <a:off x="0" y="1664593"/>
            <a:ext cx="11683659" cy="4255275"/>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endParaRPr lang="en-US" dirty="0"/>
          </a:p>
          <a:p>
            <a:pPr marL="342900" indent="-342900" algn="just">
              <a:lnSpc>
                <a:spcPct val="100000"/>
              </a:lnSpc>
              <a:spcBef>
                <a:spcPts val="2400"/>
              </a:spcBef>
              <a:buClr>
                <a:srgbClr val="973735"/>
              </a:buClr>
              <a:buSzPct val="50000"/>
              <a:buFont typeface="Wingdings" pitchFamily="2" charset="2"/>
              <a:buChar char="u"/>
              <a:defRPr/>
            </a:pPr>
            <a:r>
              <a:rPr lang="en-US" sz="2600" dirty="0"/>
              <a:t>Organizational change (difficult &amp; lengthy to undertake) is a critical requirement for most KM implementations. </a:t>
            </a:r>
          </a:p>
          <a:p>
            <a:pPr marL="342900" indent="-342900" algn="just">
              <a:lnSpc>
                <a:spcPct val="100000"/>
              </a:lnSpc>
              <a:spcBef>
                <a:spcPts val="2400"/>
              </a:spcBef>
              <a:buClr>
                <a:srgbClr val="973735"/>
              </a:buClr>
              <a:buSzPct val="50000"/>
              <a:buFont typeface="Wingdings" pitchFamily="2" charset="2"/>
              <a:buChar char="u"/>
              <a:defRPr/>
            </a:pPr>
            <a:r>
              <a:rPr lang="en-US" sz="2600" dirty="0"/>
              <a:t>The key often lies in symbolic action, that is, dealing with important symbols of values, norms, and assumptions. </a:t>
            </a:r>
          </a:p>
          <a:p>
            <a:pPr marL="342900" indent="-342900" algn="just">
              <a:lnSpc>
                <a:spcPct val="100000"/>
              </a:lnSpc>
              <a:spcBef>
                <a:spcPts val="2400"/>
              </a:spcBef>
              <a:buClr>
                <a:srgbClr val="973735"/>
              </a:buClr>
              <a:buSzPct val="50000"/>
              <a:buFont typeface="Wingdings" pitchFamily="2" charset="2"/>
              <a:buChar char="u"/>
              <a:defRPr/>
            </a:pPr>
            <a:r>
              <a:rPr lang="en-US" sz="2600" dirty="0"/>
              <a:t>Kilmann, Saxton, and </a:t>
            </a:r>
            <a:r>
              <a:rPr lang="en-US" sz="2600" dirty="0" err="1"/>
              <a:t>Serpa</a:t>
            </a:r>
            <a:r>
              <a:rPr lang="en-US" sz="2600" dirty="0"/>
              <a:t> (1986) provide some good general guidelines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1683659" cy="709226"/>
          </a:xfrm>
        </p:spPr>
        <p:txBody>
          <a:bodyPr>
            <a:normAutofit fontScale="90000"/>
          </a:bodyPr>
          <a:lstStyle/>
          <a:p>
            <a:r>
              <a:rPr lang="en-US" sz="4000" b="1" dirty="0"/>
              <a:t>Transformation to a Knowledge-Sharing Culture</a:t>
            </a:r>
          </a:p>
        </p:txBody>
      </p:sp>
    </p:spTree>
    <p:extLst>
      <p:ext uri="{BB962C8B-B14F-4D97-AF65-F5344CB8AC3E}">
        <p14:creationId xmlns:p14="http://schemas.microsoft.com/office/powerpoint/2010/main" val="26149329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42</a:t>
            </a:fld>
            <a:endParaRPr kumimoji="0" lang="en-US" dirty="0"/>
          </a:p>
        </p:txBody>
      </p:sp>
      <p:sp>
        <p:nvSpPr>
          <p:cNvPr id="4" name="Content Placeholder 3"/>
          <p:cNvSpPr>
            <a:spLocks noGrp="1"/>
          </p:cNvSpPr>
          <p:nvPr>
            <p:ph sz="quarter" idx="1"/>
          </p:nvPr>
        </p:nvSpPr>
        <p:spPr>
          <a:xfrm>
            <a:off x="0" y="1843314"/>
            <a:ext cx="11683659" cy="4746172"/>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b="1" dirty="0">
                <a:solidFill>
                  <a:srgbClr val="ED7D31"/>
                </a:solidFill>
              </a:rPr>
              <a:t>The guide lines are: </a:t>
            </a:r>
          </a:p>
          <a:p>
            <a:pPr marL="800100" lvl="1" indent="-342900" algn="just">
              <a:lnSpc>
                <a:spcPct val="100000"/>
              </a:lnSpc>
              <a:spcBef>
                <a:spcPts val="2400"/>
              </a:spcBef>
              <a:buClr>
                <a:srgbClr val="973735"/>
              </a:buClr>
              <a:buSzPct val="50000"/>
              <a:buFont typeface="Wingdings" pitchFamily="2" charset="2"/>
              <a:buChar char="u"/>
              <a:defRPr/>
            </a:pPr>
            <a:r>
              <a:rPr lang="en-US" sz="2600" dirty="0"/>
              <a:t>People look to leaders for cues about what is important </a:t>
            </a:r>
          </a:p>
          <a:p>
            <a:pPr marL="800100" lvl="1" indent="-342900" algn="just">
              <a:lnSpc>
                <a:spcPct val="100000"/>
              </a:lnSpc>
              <a:spcBef>
                <a:spcPts val="2400"/>
              </a:spcBef>
              <a:buClr>
                <a:srgbClr val="973735"/>
              </a:buClr>
              <a:buSzPct val="50000"/>
              <a:buFont typeface="Wingdings" pitchFamily="2" charset="2"/>
              <a:buChar char="u"/>
              <a:defRPr/>
            </a:pPr>
            <a:r>
              <a:rPr lang="en-US" sz="2600" dirty="0"/>
              <a:t>Culture is often transmitted through stories and myths that treasure certain virtues held to be important for organization. </a:t>
            </a:r>
          </a:p>
          <a:p>
            <a:pPr marL="800100" lvl="1" indent="-342900" algn="just">
              <a:lnSpc>
                <a:spcPct val="100000"/>
              </a:lnSpc>
              <a:spcBef>
                <a:spcPts val="2400"/>
              </a:spcBef>
              <a:buClr>
                <a:srgbClr val="973735"/>
              </a:buClr>
              <a:buSzPct val="50000"/>
              <a:buFont typeface="Wingdings" pitchFamily="2" charset="2"/>
              <a:buChar char="u"/>
              <a:defRPr/>
            </a:pPr>
            <a:r>
              <a:rPr lang="en-US" sz="2600" dirty="0"/>
              <a:t>In reacting to crises, leaders can send the values and assumptions of the organizations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1683659" cy="709226"/>
          </a:xfrm>
        </p:spPr>
        <p:txBody>
          <a:bodyPr>
            <a:normAutofit fontScale="90000"/>
          </a:bodyPr>
          <a:lstStyle/>
          <a:p>
            <a:r>
              <a:rPr lang="en-US" sz="4000" b="1" dirty="0"/>
              <a:t>Transformation to a Knowledge-Sharing Culture</a:t>
            </a:r>
          </a:p>
        </p:txBody>
      </p:sp>
    </p:spTree>
    <p:extLst>
      <p:ext uri="{BB962C8B-B14F-4D97-AF65-F5344CB8AC3E}">
        <p14:creationId xmlns:p14="http://schemas.microsoft.com/office/powerpoint/2010/main" val="33935943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43</a:t>
            </a:fld>
            <a:endParaRPr kumimoji="0" lang="en-US" dirty="0"/>
          </a:p>
        </p:txBody>
      </p:sp>
      <p:sp>
        <p:nvSpPr>
          <p:cNvPr id="4" name="Content Placeholder 3"/>
          <p:cNvSpPr>
            <a:spLocks noGrp="1"/>
          </p:cNvSpPr>
          <p:nvPr>
            <p:ph sz="quarter" idx="1"/>
          </p:nvPr>
        </p:nvSpPr>
        <p:spPr>
          <a:xfrm>
            <a:off x="0" y="1843314"/>
            <a:ext cx="11683659" cy="4746172"/>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b="1" dirty="0">
                <a:solidFill>
                  <a:srgbClr val="ED7D31"/>
                </a:solidFill>
              </a:rPr>
              <a:t>The guide lines are (</a:t>
            </a:r>
            <a:r>
              <a:rPr lang="en-US" b="1" dirty="0" err="1">
                <a:solidFill>
                  <a:srgbClr val="ED7D31"/>
                </a:solidFill>
              </a:rPr>
              <a:t>con’t</a:t>
            </a:r>
            <a:r>
              <a:rPr lang="en-US" b="1" dirty="0">
                <a:solidFill>
                  <a:srgbClr val="ED7D31"/>
                </a:solidFill>
              </a:rPr>
              <a:t>): </a:t>
            </a:r>
          </a:p>
          <a:p>
            <a:pPr marL="800100" lvl="1" indent="-342900" algn="just">
              <a:lnSpc>
                <a:spcPct val="100000"/>
              </a:lnSpc>
              <a:spcBef>
                <a:spcPts val="1800"/>
              </a:spcBef>
              <a:buClr>
                <a:srgbClr val="973735"/>
              </a:buClr>
              <a:buSzPct val="50000"/>
              <a:buFont typeface="Wingdings" pitchFamily="2" charset="2"/>
              <a:buChar char="u"/>
              <a:defRPr/>
            </a:pPr>
            <a:r>
              <a:rPr lang="en-US" sz="2600" dirty="0"/>
              <a:t>A reward system send powerful messages about what is important </a:t>
            </a:r>
          </a:p>
          <a:p>
            <a:pPr marL="800100" lvl="1" indent="-342900" algn="just">
              <a:lnSpc>
                <a:spcPct val="100000"/>
              </a:lnSpc>
              <a:spcBef>
                <a:spcPts val="1800"/>
              </a:spcBef>
              <a:buClr>
                <a:srgbClr val="973735"/>
              </a:buClr>
              <a:buSzPct val="50000"/>
              <a:buFont typeface="Wingdings" pitchFamily="2" charset="2"/>
              <a:buChar char="u"/>
              <a:defRPr/>
            </a:pPr>
            <a:r>
              <a:rPr lang="en-US" sz="2600" dirty="0"/>
              <a:t>Important &amp; public decisions communicate the importance of certain values (training cut, allocation of resources) </a:t>
            </a:r>
          </a:p>
          <a:p>
            <a:pPr marL="800100" lvl="1" indent="-342900" algn="just">
              <a:lnSpc>
                <a:spcPct val="100000"/>
              </a:lnSpc>
              <a:spcBef>
                <a:spcPts val="1800"/>
              </a:spcBef>
              <a:buClr>
                <a:srgbClr val="973735"/>
              </a:buClr>
              <a:buSzPct val="50000"/>
              <a:buFont typeface="Wingdings" pitchFamily="2" charset="2"/>
              <a:buChar char="u"/>
              <a:defRPr/>
            </a:pPr>
            <a:r>
              <a:rPr lang="en-US" sz="2600" dirty="0"/>
              <a:t>Leaders communicate the importance of values by what they praise and what they criticize.</a:t>
            </a:r>
          </a:p>
          <a:p>
            <a:pPr marL="342900" indent="-342900" algn="just">
              <a:lnSpc>
                <a:spcPct val="100000"/>
              </a:lnSpc>
              <a:spcBef>
                <a:spcPts val="1800"/>
              </a:spcBef>
              <a:buClr>
                <a:srgbClr val="973735"/>
              </a:buClr>
              <a:buSzPct val="50000"/>
              <a:buFont typeface="Wingdings" pitchFamily="2" charset="2"/>
              <a:buChar char="u"/>
              <a:defRPr/>
            </a:pPr>
            <a:r>
              <a:rPr lang="en-US" dirty="0"/>
              <a:t>Find at least two company which are concern to enforce the knowledge sharing culture. Read page 192 - 193 as an example.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1683659" cy="709226"/>
          </a:xfrm>
        </p:spPr>
        <p:txBody>
          <a:bodyPr>
            <a:normAutofit fontScale="90000"/>
          </a:bodyPr>
          <a:lstStyle/>
          <a:p>
            <a:r>
              <a:rPr lang="en-US" sz="4000" b="1" dirty="0"/>
              <a:t>Transformation to a Knowledge-Sharing Culture</a:t>
            </a:r>
          </a:p>
        </p:txBody>
      </p:sp>
    </p:spTree>
    <p:extLst>
      <p:ext uri="{BB962C8B-B14F-4D97-AF65-F5344CB8AC3E}">
        <p14:creationId xmlns:p14="http://schemas.microsoft.com/office/powerpoint/2010/main" val="31229098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44</a:t>
            </a:fld>
            <a:endParaRPr kumimoji="0" lang="en-US" dirty="0"/>
          </a:p>
        </p:txBody>
      </p:sp>
      <p:sp>
        <p:nvSpPr>
          <p:cNvPr id="4" name="Content Placeholder 3"/>
          <p:cNvSpPr>
            <a:spLocks noGrp="1"/>
          </p:cNvSpPr>
          <p:nvPr>
            <p:ph sz="quarter" idx="1"/>
          </p:nvPr>
        </p:nvSpPr>
        <p:spPr>
          <a:xfrm>
            <a:off x="0" y="1843314"/>
            <a:ext cx="11971176" cy="4746172"/>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b="1" dirty="0">
                <a:solidFill>
                  <a:srgbClr val="ED7D31"/>
                </a:solidFill>
              </a:rPr>
              <a:t>Steps in creating KSC: </a:t>
            </a:r>
          </a:p>
          <a:p>
            <a:pPr marL="800100" lvl="1" indent="-342900" algn="just">
              <a:lnSpc>
                <a:spcPct val="100000"/>
              </a:lnSpc>
              <a:spcBef>
                <a:spcPts val="1800"/>
              </a:spcBef>
              <a:buClr>
                <a:srgbClr val="973735"/>
              </a:buClr>
              <a:buSzPct val="50000"/>
              <a:buFont typeface="Wingdings" pitchFamily="2" charset="2"/>
              <a:buChar char="u"/>
              <a:defRPr/>
            </a:pPr>
            <a:r>
              <a:rPr lang="en-US" sz="2600" dirty="0"/>
              <a:t>Having knowledge journalists begin interviewing key people to document projects, best practices, lessons learned, and good stories. </a:t>
            </a:r>
          </a:p>
          <a:p>
            <a:pPr marL="800100" lvl="1" indent="-342900" algn="just">
              <a:lnSpc>
                <a:spcPct val="100000"/>
              </a:lnSpc>
              <a:spcBef>
                <a:spcPts val="1800"/>
              </a:spcBef>
              <a:buClr>
                <a:srgbClr val="973735"/>
              </a:buClr>
              <a:buSzPct val="50000"/>
              <a:buFont typeface="Wingdings" pitchFamily="2" charset="2"/>
              <a:buChar char="u"/>
              <a:defRPr/>
            </a:pPr>
            <a:r>
              <a:rPr lang="en-US" sz="2600" dirty="0"/>
              <a:t>Instituting KM get-togethers, (breakfasts, lunch &amp; learn sessions, or any type of informal gathering </a:t>
            </a:r>
          </a:p>
          <a:p>
            <a:pPr marL="800100" lvl="1" indent="-342900" algn="just">
              <a:lnSpc>
                <a:spcPct val="100000"/>
              </a:lnSpc>
              <a:spcBef>
                <a:spcPts val="1800"/>
              </a:spcBef>
              <a:buClr>
                <a:srgbClr val="973735"/>
              </a:buClr>
              <a:buSzPct val="50000"/>
              <a:buFont typeface="Wingdings" pitchFamily="2" charset="2"/>
              <a:buChar char="u"/>
              <a:defRPr/>
            </a:pPr>
            <a:r>
              <a:rPr lang="en-US" sz="2600" dirty="0"/>
              <a:t>Producing newsletters to publicize KM initiatives and celebrate good role models. </a:t>
            </a:r>
          </a:p>
          <a:p>
            <a:pPr marL="800100" lvl="1" indent="-342900" algn="just">
              <a:lnSpc>
                <a:spcPct val="100000"/>
              </a:lnSpc>
              <a:spcBef>
                <a:spcPts val="1800"/>
              </a:spcBef>
              <a:buClr>
                <a:srgbClr val="973735"/>
              </a:buClr>
              <a:buSzPct val="50000"/>
              <a:buFont typeface="Wingdings" pitchFamily="2" charset="2"/>
              <a:buChar char="u"/>
              <a:defRPr/>
            </a:pPr>
            <a:r>
              <a:rPr lang="en-US" sz="2600" dirty="0"/>
              <a:t>Launching KM pilot projects, (expertise location systems and intranets with space devoted to different communities of practice)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1683659" cy="709226"/>
          </a:xfrm>
        </p:spPr>
        <p:txBody>
          <a:bodyPr>
            <a:normAutofit fontScale="90000"/>
          </a:bodyPr>
          <a:lstStyle/>
          <a:p>
            <a:r>
              <a:rPr lang="en-US" sz="4000" b="1" dirty="0"/>
              <a:t>Transformation to a Knowledge-Sharing Culture</a:t>
            </a:r>
          </a:p>
        </p:txBody>
      </p:sp>
    </p:spTree>
    <p:extLst>
      <p:ext uri="{BB962C8B-B14F-4D97-AF65-F5344CB8AC3E}">
        <p14:creationId xmlns:p14="http://schemas.microsoft.com/office/powerpoint/2010/main" val="992884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45</a:t>
            </a:fld>
            <a:endParaRPr kumimoji="0" lang="en-US" dirty="0"/>
          </a:p>
        </p:txBody>
      </p:sp>
      <p:sp>
        <p:nvSpPr>
          <p:cNvPr id="4" name="Content Placeholder 3"/>
          <p:cNvSpPr>
            <a:spLocks noGrp="1"/>
          </p:cNvSpPr>
          <p:nvPr>
            <p:ph sz="quarter" idx="1"/>
          </p:nvPr>
        </p:nvSpPr>
        <p:spPr>
          <a:xfrm>
            <a:off x="0" y="1843314"/>
            <a:ext cx="11971176" cy="4746172"/>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b="1" dirty="0">
                <a:solidFill>
                  <a:srgbClr val="ED7D31"/>
                </a:solidFill>
              </a:rPr>
              <a:t>Steps in creating KSC: </a:t>
            </a:r>
          </a:p>
          <a:p>
            <a:pPr marL="800100" lvl="1" indent="-342900" algn="just">
              <a:lnSpc>
                <a:spcPct val="100000"/>
              </a:lnSpc>
              <a:spcBef>
                <a:spcPts val="1800"/>
              </a:spcBef>
              <a:buClr>
                <a:srgbClr val="973735"/>
              </a:buClr>
              <a:buSzPct val="50000"/>
              <a:buFont typeface="Wingdings" pitchFamily="2" charset="2"/>
              <a:buChar char="u"/>
              <a:defRPr/>
            </a:pPr>
            <a:r>
              <a:rPr lang="en-US" sz="2600" dirty="0"/>
              <a:t>Changing performance evaluation criteria to reflect and assess knowledge sharing competencies and accomplishments. </a:t>
            </a:r>
          </a:p>
          <a:p>
            <a:pPr marL="800100" lvl="1" indent="-342900" algn="just">
              <a:lnSpc>
                <a:spcPct val="100000"/>
              </a:lnSpc>
              <a:spcBef>
                <a:spcPts val="1800"/>
              </a:spcBef>
              <a:buClr>
                <a:srgbClr val="973735"/>
              </a:buClr>
              <a:buSzPct val="50000"/>
              <a:buFont typeface="Wingdings" pitchFamily="2" charset="2"/>
              <a:buChar char="u"/>
              <a:defRPr/>
            </a:pPr>
            <a:r>
              <a:rPr lang="en-US" sz="2600" dirty="0"/>
              <a:t>Censuring knowledge hoarders and rewarding effective knowledge sharers. </a:t>
            </a:r>
          </a:p>
          <a:p>
            <a:pPr marL="800100" lvl="1" indent="-342900" algn="just">
              <a:lnSpc>
                <a:spcPct val="100000"/>
              </a:lnSpc>
              <a:spcBef>
                <a:spcPts val="1800"/>
              </a:spcBef>
              <a:buClr>
                <a:srgbClr val="973735"/>
              </a:buClr>
              <a:buSzPct val="50000"/>
              <a:buFont typeface="Wingdings" pitchFamily="2" charset="2"/>
              <a:buChar char="u"/>
              <a:defRPr/>
            </a:pPr>
            <a:r>
              <a:rPr lang="en-US" sz="2600" dirty="0"/>
              <a:t>Redesigning workplaces to allow for gathering places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1683659" cy="709226"/>
          </a:xfrm>
        </p:spPr>
        <p:txBody>
          <a:bodyPr>
            <a:normAutofit fontScale="90000"/>
          </a:bodyPr>
          <a:lstStyle/>
          <a:p>
            <a:r>
              <a:rPr lang="en-US" sz="4000" b="1" dirty="0"/>
              <a:t>Transformation to a Knowledge-Sharing Culture</a:t>
            </a:r>
          </a:p>
        </p:txBody>
      </p:sp>
    </p:spTree>
    <p:extLst>
      <p:ext uri="{BB962C8B-B14F-4D97-AF65-F5344CB8AC3E}">
        <p14:creationId xmlns:p14="http://schemas.microsoft.com/office/powerpoint/2010/main" val="30768999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46</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Practical Implications of Organizational Culture</a:t>
            </a:r>
          </a:p>
        </p:txBody>
      </p:sp>
      <p:graphicFrame>
        <p:nvGraphicFramePr>
          <p:cNvPr id="2" name="Object 1">
            <a:extLst>
              <a:ext uri="{FF2B5EF4-FFF2-40B4-BE49-F238E27FC236}">
                <a16:creationId xmlns:a16="http://schemas.microsoft.com/office/drawing/2014/main" id="{E9BAE14B-FB28-6EEE-88E8-BADF919A2367}"/>
              </a:ext>
            </a:extLst>
          </p:cNvPr>
          <p:cNvGraphicFramePr>
            <a:graphicFrameLocks noChangeAspect="1"/>
          </p:cNvGraphicFramePr>
          <p:nvPr>
            <p:extLst>
              <p:ext uri="{D42A27DB-BD31-4B8C-83A1-F6EECF244321}">
                <p14:modId xmlns:p14="http://schemas.microsoft.com/office/powerpoint/2010/main" val="2348026017"/>
              </p:ext>
            </p:extLst>
          </p:nvPr>
        </p:nvGraphicFramePr>
        <p:xfrm>
          <a:off x="774619" y="1703615"/>
          <a:ext cx="10421937" cy="4152900"/>
        </p:xfrm>
        <a:graphic>
          <a:graphicData uri="http://schemas.openxmlformats.org/presentationml/2006/ole">
            <mc:AlternateContent xmlns:mc="http://schemas.openxmlformats.org/markup-compatibility/2006">
              <mc:Choice xmlns:v="urn:schemas-microsoft-com:vml" Requires="v">
                <p:oleObj name="Bitmap Image" r:id="rId3" imgW="5410080" imgH="2156400" progId="PBrush">
                  <p:embed/>
                </p:oleObj>
              </mc:Choice>
              <mc:Fallback>
                <p:oleObj name="Bitmap Image" r:id="rId3" imgW="5410080" imgH="2156400" progId="PBrush">
                  <p:embed/>
                  <p:pic>
                    <p:nvPicPr>
                      <p:cNvPr id="2" name="Object 1">
                        <a:extLst>
                          <a:ext uri="{FF2B5EF4-FFF2-40B4-BE49-F238E27FC236}">
                            <a16:creationId xmlns:a16="http://schemas.microsoft.com/office/drawing/2014/main" id="{F1002358-1508-219D-72B3-E4B65162E574}"/>
                          </a:ext>
                        </a:extLst>
                      </p:cNvPr>
                      <p:cNvPicPr/>
                      <p:nvPr/>
                    </p:nvPicPr>
                    <p:blipFill>
                      <a:blip r:embed="rId4"/>
                      <a:stretch>
                        <a:fillRect/>
                      </a:stretch>
                    </p:blipFill>
                    <p:spPr>
                      <a:xfrm>
                        <a:off x="774619" y="1703615"/>
                        <a:ext cx="10421937" cy="4152900"/>
                      </a:xfrm>
                      <a:prstGeom prst="rect">
                        <a:avLst/>
                      </a:prstGeom>
                    </p:spPr>
                  </p:pic>
                </p:oleObj>
              </mc:Fallback>
            </mc:AlternateContent>
          </a:graphicData>
        </a:graphic>
      </p:graphicFrame>
    </p:spTree>
    <p:extLst>
      <p:ext uri="{BB962C8B-B14F-4D97-AF65-F5344CB8AC3E}">
        <p14:creationId xmlns:p14="http://schemas.microsoft.com/office/powerpoint/2010/main" val="8411634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47</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Practical Implications of Organizational Culture</a:t>
            </a:r>
          </a:p>
        </p:txBody>
      </p:sp>
      <p:graphicFrame>
        <p:nvGraphicFramePr>
          <p:cNvPr id="5" name="Table 6">
            <a:extLst>
              <a:ext uri="{FF2B5EF4-FFF2-40B4-BE49-F238E27FC236}">
                <a16:creationId xmlns:a16="http://schemas.microsoft.com/office/drawing/2014/main" id="{D90F7DAC-3045-4956-36CC-7DA090747847}"/>
              </a:ext>
            </a:extLst>
          </p:cNvPr>
          <p:cNvGraphicFramePr>
            <a:graphicFrameLocks noGrp="1"/>
          </p:cNvGraphicFramePr>
          <p:nvPr>
            <p:extLst>
              <p:ext uri="{D42A27DB-BD31-4B8C-83A1-F6EECF244321}">
                <p14:modId xmlns:p14="http://schemas.microsoft.com/office/powerpoint/2010/main" val="771530405"/>
              </p:ext>
            </p:extLst>
          </p:nvPr>
        </p:nvGraphicFramePr>
        <p:xfrm>
          <a:off x="389965" y="2024029"/>
          <a:ext cx="11416554" cy="3947160"/>
        </p:xfrm>
        <a:graphic>
          <a:graphicData uri="http://schemas.openxmlformats.org/drawingml/2006/table">
            <a:tbl>
              <a:tblPr firstRow="1" bandRow="1">
                <a:tableStyleId>{21E4AEA4-8DFA-4A89-87EB-49C32662AFE0}</a:tableStyleId>
              </a:tblPr>
              <a:tblGrid>
                <a:gridCol w="3859306">
                  <a:extLst>
                    <a:ext uri="{9D8B030D-6E8A-4147-A177-3AD203B41FA5}">
                      <a16:colId xmlns:a16="http://schemas.microsoft.com/office/drawing/2014/main" val="2372442833"/>
                    </a:ext>
                  </a:extLst>
                </a:gridCol>
                <a:gridCol w="7557248">
                  <a:extLst>
                    <a:ext uri="{9D8B030D-6E8A-4147-A177-3AD203B41FA5}">
                      <a16:colId xmlns:a16="http://schemas.microsoft.com/office/drawing/2014/main" val="3385450804"/>
                    </a:ext>
                  </a:extLst>
                </a:gridCol>
              </a:tblGrid>
              <a:tr h="370840">
                <a:tc>
                  <a:txBody>
                    <a:bodyPr/>
                    <a:lstStyle/>
                    <a:p>
                      <a:pPr algn="ctr"/>
                      <a:r>
                        <a:rPr lang="en-US" dirty="0"/>
                        <a:t>Cultural barrier</a:t>
                      </a:r>
                    </a:p>
                  </a:txBody>
                  <a:tcPr anchor="ctr"/>
                </a:tc>
                <a:tc>
                  <a:txBody>
                    <a:bodyPr/>
                    <a:lstStyle/>
                    <a:p>
                      <a:pPr algn="ctr"/>
                      <a:r>
                        <a:rPr lang="en-US" dirty="0"/>
                        <a:t>Possible solutions</a:t>
                      </a:r>
                    </a:p>
                  </a:txBody>
                  <a:tcPr anchor="ctr"/>
                </a:tc>
                <a:extLst>
                  <a:ext uri="{0D108BD9-81ED-4DB2-BD59-A6C34878D82A}">
                    <a16:rowId xmlns:a16="http://schemas.microsoft.com/office/drawing/2014/main" val="260286693"/>
                  </a:ext>
                </a:extLst>
              </a:tr>
              <a:tr h="370840">
                <a:tc>
                  <a:txBody>
                    <a:bodyPr/>
                    <a:lstStyle/>
                    <a:p>
                      <a:r>
                        <a:rPr lang="en-US" dirty="0"/>
                        <a:t>Lack of time and meeting places</a:t>
                      </a:r>
                    </a:p>
                  </a:txBody>
                  <a:tcPr anchor="ctr"/>
                </a:tc>
                <a:tc>
                  <a:txBody>
                    <a:bodyPr/>
                    <a:lstStyle/>
                    <a:p>
                      <a:r>
                        <a:rPr lang="en-US" dirty="0"/>
                        <a:t>Seminars, e-meetings, redesign of physical workspaces</a:t>
                      </a:r>
                    </a:p>
                  </a:txBody>
                  <a:tcPr anchor="ctr"/>
                </a:tc>
                <a:extLst>
                  <a:ext uri="{0D108BD9-81ED-4DB2-BD59-A6C34878D82A}">
                    <a16:rowId xmlns:a16="http://schemas.microsoft.com/office/drawing/2014/main" val="2119187795"/>
                  </a:ext>
                </a:extLst>
              </a:tr>
              <a:tr h="370840">
                <a:tc>
                  <a:txBody>
                    <a:bodyPr/>
                    <a:lstStyle/>
                    <a:p>
                      <a:r>
                        <a:rPr lang="en-US" dirty="0"/>
                        <a:t>Status and rewards to knowledge</a:t>
                      </a:r>
                    </a:p>
                    <a:p>
                      <a:r>
                        <a:rPr lang="en-US" dirty="0"/>
                        <a:t>owners</a:t>
                      </a:r>
                    </a:p>
                  </a:txBody>
                  <a:tcPr anchor="ctr"/>
                </a:tc>
                <a:tc>
                  <a:txBody>
                    <a:bodyPr/>
                    <a:lstStyle/>
                    <a:p>
                      <a:r>
                        <a:rPr lang="en-US" dirty="0"/>
                        <a:t>Establish incentives, include in performance evaluations, develop role models</a:t>
                      </a:r>
                    </a:p>
                  </a:txBody>
                  <a:tcPr anchor="ctr"/>
                </a:tc>
                <a:extLst>
                  <a:ext uri="{0D108BD9-81ED-4DB2-BD59-A6C34878D82A}">
                    <a16:rowId xmlns:a16="http://schemas.microsoft.com/office/drawing/2014/main" val="3611121882"/>
                  </a:ext>
                </a:extLst>
              </a:tr>
              <a:tr h="370840">
                <a:tc>
                  <a:txBody>
                    <a:bodyPr/>
                    <a:lstStyle/>
                    <a:p>
                      <a:r>
                        <a:rPr lang="en-US" dirty="0"/>
                        <a:t>Lack of absorptive capacity</a:t>
                      </a:r>
                    </a:p>
                  </a:txBody>
                  <a:tcPr anchor="ctr"/>
                </a:tc>
                <a:tc>
                  <a:txBody>
                    <a:bodyPr/>
                    <a:lstStyle/>
                    <a:p>
                      <a:r>
                        <a:rPr lang="en-US" dirty="0"/>
                        <a:t>Hire for openness, educate current workforce</a:t>
                      </a:r>
                    </a:p>
                  </a:txBody>
                  <a:tcPr anchor="ctr"/>
                </a:tc>
                <a:extLst>
                  <a:ext uri="{0D108BD9-81ED-4DB2-BD59-A6C34878D82A}">
                    <a16:rowId xmlns:a16="http://schemas.microsoft.com/office/drawing/2014/main" val="2917321661"/>
                  </a:ext>
                </a:extLst>
              </a:tr>
              <a:tr h="370840">
                <a:tc>
                  <a:txBody>
                    <a:bodyPr/>
                    <a:lstStyle/>
                    <a:p>
                      <a:r>
                        <a:rPr lang="en-US" dirty="0"/>
                        <a:t>Not-invented-here syndrome</a:t>
                      </a:r>
                    </a:p>
                  </a:txBody>
                  <a:tcPr anchor="ctr"/>
                </a:tc>
                <a:tc>
                  <a:txBody>
                    <a:bodyPr/>
                    <a:lstStyle/>
                    <a:p>
                      <a:r>
                        <a:rPr lang="en-US" dirty="0"/>
                        <a:t>Nonhierarchical approach based on quality of ideas and not status of source</a:t>
                      </a:r>
                    </a:p>
                  </a:txBody>
                  <a:tcPr anchor="ctr"/>
                </a:tc>
                <a:extLst>
                  <a:ext uri="{0D108BD9-81ED-4DB2-BD59-A6C34878D82A}">
                    <a16:rowId xmlns:a16="http://schemas.microsoft.com/office/drawing/2014/main" val="4196642198"/>
                  </a:ext>
                </a:extLst>
              </a:tr>
              <a:tr h="370840">
                <a:tc>
                  <a:txBody>
                    <a:bodyPr/>
                    <a:lstStyle/>
                    <a:p>
                      <a:r>
                        <a:rPr lang="en-US" dirty="0"/>
                        <a:t>Intolerance of mistakes and need for help, lack of trust</a:t>
                      </a:r>
                    </a:p>
                  </a:txBody>
                  <a:tcPr anchor="ctr"/>
                </a:tc>
                <a:tc>
                  <a:txBody>
                    <a:bodyPr/>
                    <a:lstStyle/>
                    <a:p>
                      <a:r>
                        <a:rPr lang="en-US" dirty="0"/>
                        <a:t>Accept and reward creativity and collaboration, and ensure there is no loss of status for not knowing everything</a:t>
                      </a:r>
                    </a:p>
                  </a:txBody>
                  <a:tcPr anchor="ctr"/>
                </a:tc>
                <a:extLst>
                  <a:ext uri="{0D108BD9-81ED-4DB2-BD59-A6C34878D82A}">
                    <a16:rowId xmlns:a16="http://schemas.microsoft.com/office/drawing/2014/main" val="3116096187"/>
                  </a:ext>
                </a:extLst>
              </a:tr>
              <a:tr h="370840">
                <a:tc>
                  <a:txBody>
                    <a:bodyPr/>
                    <a:lstStyle/>
                    <a:p>
                      <a:r>
                        <a:rPr lang="en-US" dirty="0"/>
                        <a:t>Lack of common language (not just</a:t>
                      </a:r>
                    </a:p>
                    <a:p>
                      <a:r>
                        <a:rPr lang="en-US" dirty="0"/>
                        <a:t>English vs. Spanish but engineer speak vs. manager-speak)</a:t>
                      </a:r>
                    </a:p>
                  </a:txBody>
                  <a:tcPr anchor="ctr"/>
                </a:tc>
                <a:tc>
                  <a:txBody>
                    <a:bodyPr/>
                    <a:lstStyle/>
                    <a:p>
                      <a:r>
                        <a:rPr lang="en-US" dirty="0"/>
                        <a:t>Establish a knowledge taxonomy and knowledge dictionary for knowledge content, standard formats, translators, metadata, and knowledge support staff</a:t>
                      </a:r>
                    </a:p>
                  </a:txBody>
                  <a:tcPr anchor="ctr"/>
                </a:tc>
                <a:extLst>
                  <a:ext uri="{0D108BD9-81ED-4DB2-BD59-A6C34878D82A}">
                    <a16:rowId xmlns:a16="http://schemas.microsoft.com/office/drawing/2014/main" val="249921912"/>
                  </a:ext>
                </a:extLst>
              </a:tr>
            </a:tbl>
          </a:graphicData>
        </a:graphic>
      </p:graphicFrame>
      <p:graphicFrame>
        <p:nvGraphicFramePr>
          <p:cNvPr id="7" name="Object 6">
            <a:extLst>
              <a:ext uri="{FF2B5EF4-FFF2-40B4-BE49-F238E27FC236}">
                <a16:creationId xmlns:a16="http://schemas.microsoft.com/office/drawing/2014/main" id="{2442AC2C-6822-60D6-C6F7-A77BC91524EC}"/>
              </a:ext>
            </a:extLst>
          </p:cNvPr>
          <p:cNvGraphicFramePr>
            <a:graphicFrameLocks noChangeAspect="1"/>
          </p:cNvGraphicFramePr>
          <p:nvPr>
            <p:extLst>
              <p:ext uri="{D42A27DB-BD31-4B8C-83A1-F6EECF244321}">
                <p14:modId xmlns:p14="http://schemas.microsoft.com/office/powerpoint/2010/main" val="525447252"/>
              </p:ext>
            </p:extLst>
          </p:nvPr>
        </p:nvGraphicFramePr>
        <p:xfrm>
          <a:off x="2089573" y="1514518"/>
          <a:ext cx="8012854" cy="379169"/>
        </p:xfrm>
        <a:graphic>
          <a:graphicData uri="http://schemas.openxmlformats.org/presentationml/2006/ole">
            <mc:AlternateContent xmlns:mc="http://schemas.openxmlformats.org/markup-compatibility/2006">
              <mc:Choice xmlns:v="urn:schemas-microsoft-com:vml" Requires="v">
                <p:oleObj name="Bitmap Image" r:id="rId3" imgW="7079040" imgH="335160" progId="PBrush">
                  <p:embed/>
                </p:oleObj>
              </mc:Choice>
              <mc:Fallback>
                <p:oleObj name="Bitmap Image" r:id="rId3" imgW="7079040" imgH="335160" progId="PBrush">
                  <p:embed/>
                  <p:pic>
                    <p:nvPicPr>
                      <p:cNvPr id="0" name=""/>
                      <p:cNvPicPr/>
                      <p:nvPr/>
                    </p:nvPicPr>
                    <p:blipFill>
                      <a:blip r:embed="rId4"/>
                      <a:stretch>
                        <a:fillRect/>
                      </a:stretch>
                    </p:blipFill>
                    <p:spPr>
                      <a:xfrm>
                        <a:off x="2089573" y="1514518"/>
                        <a:ext cx="8012854" cy="379169"/>
                      </a:xfrm>
                      <a:prstGeom prst="rect">
                        <a:avLst/>
                      </a:prstGeom>
                    </p:spPr>
                  </p:pic>
                </p:oleObj>
              </mc:Fallback>
            </mc:AlternateContent>
          </a:graphicData>
        </a:graphic>
      </p:graphicFrame>
    </p:spTree>
    <p:extLst>
      <p:ext uri="{BB962C8B-B14F-4D97-AF65-F5344CB8AC3E}">
        <p14:creationId xmlns:p14="http://schemas.microsoft.com/office/powerpoint/2010/main" val="41805844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48</a:t>
            </a:fld>
            <a:endParaRPr kumimoji="0" lang="en-US" dirty="0"/>
          </a:p>
        </p:txBody>
      </p:sp>
      <p:sp>
        <p:nvSpPr>
          <p:cNvPr id="4" name="Content Placeholder 3"/>
          <p:cNvSpPr>
            <a:spLocks noGrp="1"/>
          </p:cNvSpPr>
          <p:nvPr>
            <p:ph sz="quarter" idx="1"/>
          </p:nvPr>
        </p:nvSpPr>
        <p:spPr>
          <a:xfrm>
            <a:off x="0" y="1664593"/>
            <a:ext cx="11712388" cy="4695866"/>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sz="2600" dirty="0"/>
              <a:t>Defined organizational culture</a:t>
            </a:r>
          </a:p>
          <a:p>
            <a:pPr marL="342900" indent="-342900" algn="just">
              <a:lnSpc>
                <a:spcPct val="100000"/>
              </a:lnSpc>
              <a:spcBef>
                <a:spcPts val="1800"/>
              </a:spcBef>
              <a:buClr>
                <a:srgbClr val="973735"/>
              </a:buClr>
              <a:buSzPct val="50000"/>
              <a:buFont typeface="Wingdings" pitchFamily="2" charset="2"/>
              <a:buChar char="u"/>
              <a:defRPr/>
            </a:pPr>
            <a:r>
              <a:rPr lang="en-US" sz="2600" dirty="0"/>
              <a:t>Describe different type of organizational culture a</a:t>
            </a:r>
          </a:p>
          <a:p>
            <a:pPr marL="342900" indent="-342900" algn="just">
              <a:lnSpc>
                <a:spcPct val="100000"/>
              </a:lnSpc>
              <a:spcBef>
                <a:spcPts val="1800"/>
              </a:spcBef>
              <a:buClr>
                <a:srgbClr val="973735"/>
              </a:buClr>
              <a:buSzPct val="50000"/>
              <a:buFont typeface="Wingdings" pitchFamily="2" charset="2"/>
              <a:buChar char="u"/>
              <a:defRPr/>
            </a:pPr>
            <a:r>
              <a:rPr lang="en-US" sz="2600" dirty="0"/>
              <a:t>Understand the relation between organizational culture and the business context</a:t>
            </a:r>
          </a:p>
          <a:p>
            <a:pPr marL="342900" indent="-342900" algn="just">
              <a:lnSpc>
                <a:spcPct val="100000"/>
              </a:lnSpc>
              <a:spcBef>
                <a:spcPts val="1800"/>
              </a:spcBef>
              <a:buClr>
                <a:srgbClr val="973735"/>
              </a:buClr>
              <a:buSzPct val="50000"/>
              <a:buFont typeface="Wingdings" pitchFamily="2" charset="2"/>
              <a:buChar char="u"/>
              <a:defRPr/>
            </a:pPr>
            <a:r>
              <a:rPr lang="en-US" sz="2600" dirty="0"/>
              <a:t>Describe how organizational culture intersects with knowledge management</a:t>
            </a:r>
          </a:p>
          <a:p>
            <a:pPr marL="342900" indent="-342900" algn="just">
              <a:lnSpc>
                <a:spcPct val="100000"/>
              </a:lnSpc>
              <a:spcBef>
                <a:spcPts val="1800"/>
              </a:spcBef>
              <a:buClr>
                <a:srgbClr val="973735"/>
              </a:buClr>
              <a:buSzPct val="50000"/>
              <a:buFont typeface="Wingdings" pitchFamily="2" charset="2"/>
              <a:buChar char="u"/>
              <a:defRPr/>
            </a:pPr>
            <a:r>
              <a:rPr lang="en-US" sz="2600" dirty="0"/>
              <a:t>Discuss the key organizational culture enablers and the obstacles to effective knowledge sharing and KM</a:t>
            </a:r>
          </a:p>
          <a:p>
            <a:pPr marL="342900" indent="-342900" algn="just">
              <a:lnSpc>
                <a:spcPct val="100000"/>
              </a:lnSpc>
              <a:spcBef>
                <a:spcPts val="1800"/>
              </a:spcBef>
              <a:buClr>
                <a:srgbClr val="973735"/>
              </a:buClr>
              <a:buSzPct val="50000"/>
              <a:buFont typeface="Wingdings" pitchFamily="2" charset="2"/>
              <a:buChar char="u"/>
              <a:defRPr/>
            </a:pPr>
            <a:r>
              <a:rPr lang="en-US" sz="2600" dirty="0"/>
              <a:t>List the major phases in initiating organizational change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819335"/>
            <a:ext cx="11587651" cy="709226"/>
          </a:xfrm>
        </p:spPr>
        <p:txBody>
          <a:bodyPr>
            <a:normAutofit/>
          </a:bodyPr>
          <a:lstStyle/>
          <a:p>
            <a:r>
              <a:rPr lang="en-US" sz="4000" b="1" dirty="0"/>
              <a:t>Summary</a:t>
            </a:r>
          </a:p>
        </p:txBody>
      </p:sp>
    </p:spTree>
    <p:extLst>
      <p:ext uri="{BB962C8B-B14F-4D97-AF65-F5344CB8AC3E}">
        <p14:creationId xmlns:p14="http://schemas.microsoft.com/office/powerpoint/2010/main" val="27368390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49</a:t>
            </a:fld>
            <a:endParaRPr kumimoji="0" lang="en-US" dirty="0"/>
          </a:p>
        </p:txBody>
      </p:sp>
      <p:sp>
        <p:nvSpPr>
          <p:cNvPr id="4" name="Content Placeholder 3"/>
          <p:cNvSpPr>
            <a:spLocks noGrp="1"/>
          </p:cNvSpPr>
          <p:nvPr>
            <p:ph sz="quarter" idx="1"/>
          </p:nvPr>
        </p:nvSpPr>
        <p:spPr>
          <a:xfrm>
            <a:off x="0" y="1714726"/>
            <a:ext cx="12002308" cy="4765973"/>
          </a:xfrm>
        </p:spPr>
        <p:txBody>
          <a:bodyPr>
            <a:normAutofit/>
          </a:bodyPr>
          <a:lstStyle/>
          <a:p>
            <a:pPr marL="514350" indent="-514350" algn="just">
              <a:lnSpc>
                <a:spcPct val="100000"/>
              </a:lnSpc>
              <a:spcBef>
                <a:spcPts val="1200"/>
              </a:spcBef>
              <a:buClr>
                <a:srgbClr val="973735"/>
              </a:buClr>
              <a:buSzPct val="100000"/>
              <a:buFont typeface="+mj-lt"/>
              <a:buAutoNum type="arabicPeriod"/>
              <a:defRPr/>
            </a:pPr>
            <a:r>
              <a:rPr lang="en-US" sz="2000" dirty="0"/>
              <a:t>What are some of the key enablers and major obstacles to effective knowledge sharing that can be attributed to the overall organizational culture? </a:t>
            </a:r>
          </a:p>
          <a:p>
            <a:pPr marL="514350" indent="-514350" algn="just">
              <a:lnSpc>
                <a:spcPct val="100000"/>
              </a:lnSpc>
              <a:spcBef>
                <a:spcPts val="1200"/>
              </a:spcBef>
              <a:buClr>
                <a:srgbClr val="973735"/>
              </a:buClr>
              <a:buSzPct val="100000"/>
              <a:buFont typeface="+mj-lt"/>
              <a:buAutoNum type="arabicPeriod"/>
              <a:defRPr/>
            </a:pPr>
            <a:r>
              <a:rPr lang="en-US" sz="2000" dirty="0"/>
              <a:t>Describe how you would initiate an organizational change initiative. Provide an estimate of how long you believe each stage would last.</a:t>
            </a:r>
          </a:p>
          <a:p>
            <a:pPr marL="514350" indent="-514350" algn="just">
              <a:lnSpc>
                <a:spcPct val="100000"/>
              </a:lnSpc>
              <a:spcBef>
                <a:spcPts val="1200"/>
              </a:spcBef>
              <a:buClr>
                <a:srgbClr val="973735"/>
              </a:buClr>
              <a:buSzPct val="100000"/>
              <a:buFont typeface="+mj-lt"/>
              <a:buAutoNum type="arabicPeriod"/>
              <a:defRPr/>
            </a:pPr>
            <a:r>
              <a:rPr lang="en-US" sz="2000" dirty="0"/>
              <a:t>What are some of the ways of assessing whether or not the culture is changing, or maturing, toward an intended end state? </a:t>
            </a:r>
          </a:p>
          <a:p>
            <a:pPr marL="514350" indent="-514350" algn="just">
              <a:lnSpc>
                <a:spcPct val="100000"/>
              </a:lnSpc>
              <a:spcBef>
                <a:spcPts val="1200"/>
              </a:spcBef>
              <a:buClr>
                <a:srgbClr val="973735"/>
              </a:buClr>
              <a:buSzPct val="100000"/>
              <a:buFont typeface="+mj-lt"/>
              <a:buAutoNum type="arabicPeriod"/>
              <a:defRPr/>
            </a:pPr>
            <a:r>
              <a:rPr lang="en-US" sz="2000" dirty="0"/>
              <a:t>What are some of the ways you would go about learning what an organization’s values are? How would you collect and analyze stories, myths, and the typical language used by a particular professional group?</a:t>
            </a:r>
          </a:p>
          <a:p>
            <a:pPr marL="514350" indent="-514350" algn="just">
              <a:lnSpc>
                <a:spcPct val="100000"/>
              </a:lnSpc>
              <a:spcBef>
                <a:spcPts val="1200"/>
              </a:spcBef>
              <a:buClr>
                <a:srgbClr val="973735"/>
              </a:buClr>
              <a:buSzPct val="100000"/>
              <a:buFont typeface="+mj-lt"/>
              <a:buAutoNum type="arabicPeriod"/>
              <a:defRPr/>
            </a:pPr>
            <a:r>
              <a:rPr lang="en-US" sz="2000" dirty="0"/>
              <a:t>How would you forge a bridge between the largely tacit cultural knowledge of an organization and the largely explicit organizational memory system that should serve to preserve this knowledge?</a:t>
            </a:r>
          </a:p>
          <a:p>
            <a:pPr marL="514350" indent="-514350" algn="just">
              <a:lnSpc>
                <a:spcPct val="100000"/>
              </a:lnSpc>
              <a:spcBef>
                <a:spcPts val="1200"/>
              </a:spcBef>
              <a:buClr>
                <a:srgbClr val="973735"/>
              </a:buClr>
              <a:buSzPct val="100000"/>
              <a:buFont typeface="+mj-lt"/>
              <a:buAutoNum type="arabicPeriod"/>
              <a:defRPr/>
            </a:pPr>
            <a:endParaRPr lang="en-US" sz="2000"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8" name="Title 1">
            <a:extLst>
              <a:ext uri="{FF2B5EF4-FFF2-40B4-BE49-F238E27FC236}">
                <a16:creationId xmlns:a16="http://schemas.microsoft.com/office/drawing/2014/main" id="{F425307F-F5C2-45A6-A2FA-3E1724542933}"/>
              </a:ext>
            </a:extLst>
          </p:cNvPr>
          <p:cNvSpPr>
            <a:spLocks noGrp="1"/>
          </p:cNvSpPr>
          <p:nvPr>
            <p:ph type="title"/>
          </p:nvPr>
        </p:nvSpPr>
        <p:spPr>
          <a:xfrm>
            <a:off x="287517" y="674951"/>
            <a:ext cx="10515600" cy="709226"/>
          </a:xfrm>
        </p:spPr>
        <p:txBody>
          <a:bodyPr>
            <a:normAutofit/>
          </a:bodyPr>
          <a:lstStyle/>
          <a:p>
            <a:r>
              <a:rPr lang="en-US" sz="4000" b="1" dirty="0"/>
              <a:t>Discussion / Homework / Team Activities</a:t>
            </a:r>
          </a:p>
        </p:txBody>
      </p:sp>
      <p:graphicFrame>
        <p:nvGraphicFramePr>
          <p:cNvPr id="5" name="Object 4">
            <a:extLst>
              <a:ext uri="{FF2B5EF4-FFF2-40B4-BE49-F238E27FC236}">
                <a16:creationId xmlns:a16="http://schemas.microsoft.com/office/drawing/2014/main" id="{8EB2166F-793E-5079-4FB1-A2DC2268F3D5}"/>
              </a:ext>
            </a:extLst>
          </p:cNvPr>
          <p:cNvGraphicFramePr>
            <a:graphicFrameLocks noChangeAspect="1"/>
          </p:cNvGraphicFramePr>
          <p:nvPr>
            <p:extLst>
              <p:ext uri="{D42A27DB-BD31-4B8C-83A1-F6EECF244321}">
                <p14:modId xmlns:p14="http://schemas.microsoft.com/office/powerpoint/2010/main" val="1041829137"/>
              </p:ext>
            </p:extLst>
          </p:nvPr>
        </p:nvGraphicFramePr>
        <p:xfrm>
          <a:off x="8807825" y="5688069"/>
          <a:ext cx="3221378" cy="739775"/>
        </p:xfrm>
        <a:graphic>
          <a:graphicData uri="http://schemas.openxmlformats.org/presentationml/2006/ole">
            <mc:AlternateContent xmlns:mc="http://schemas.openxmlformats.org/markup-compatibility/2006">
              <mc:Choice xmlns:v="urn:schemas-microsoft-com:vml" Requires="v">
                <p:oleObj name="Bitmap Image" r:id="rId3" imgW="2103120" imgH="739080" progId="PBrush">
                  <p:embed/>
                </p:oleObj>
              </mc:Choice>
              <mc:Fallback>
                <p:oleObj name="Bitmap Image" r:id="rId3" imgW="2103120" imgH="739080" progId="PBrush">
                  <p:embed/>
                  <p:pic>
                    <p:nvPicPr>
                      <p:cNvPr id="0" name=""/>
                      <p:cNvPicPr/>
                      <p:nvPr/>
                    </p:nvPicPr>
                    <p:blipFill>
                      <a:blip r:embed="rId4"/>
                      <a:stretch>
                        <a:fillRect/>
                      </a:stretch>
                    </p:blipFill>
                    <p:spPr>
                      <a:xfrm>
                        <a:off x="8807825" y="5688069"/>
                        <a:ext cx="3221378" cy="739775"/>
                      </a:xfrm>
                      <a:prstGeom prst="rect">
                        <a:avLst/>
                      </a:prstGeom>
                    </p:spPr>
                  </p:pic>
                </p:oleObj>
              </mc:Fallback>
            </mc:AlternateContent>
          </a:graphicData>
        </a:graphic>
      </p:graphicFrame>
    </p:spTree>
    <p:extLst>
      <p:ext uri="{BB962C8B-B14F-4D97-AF65-F5344CB8AC3E}">
        <p14:creationId xmlns:p14="http://schemas.microsoft.com/office/powerpoint/2010/main" val="13276024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2001</TotalTime>
  <Words>3060</Words>
  <Application>Microsoft Office PowerPoint</Application>
  <PresentationFormat>Widescreen</PresentationFormat>
  <Paragraphs>410</Paragraphs>
  <Slides>49</Slides>
  <Notes>49</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49</vt:i4>
      </vt:variant>
    </vt:vector>
  </HeadingPairs>
  <TitlesOfParts>
    <vt:vector size="54" baseType="lpstr">
      <vt:lpstr>Arial</vt:lpstr>
      <vt:lpstr>Calibri</vt:lpstr>
      <vt:lpstr>Wingdings</vt:lpstr>
      <vt:lpstr>Office Theme</vt:lpstr>
      <vt:lpstr>Bitmap Image</vt:lpstr>
      <vt:lpstr>Chapter 07 Organizational Culture</vt:lpstr>
      <vt:lpstr>Objectives</vt:lpstr>
      <vt:lpstr>Introduction</vt:lpstr>
      <vt:lpstr>Introduction</vt:lpstr>
      <vt:lpstr>Introduction</vt:lpstr>
      <vt:lpstr>Culture definition</vt:lpstr>
      <vt:lpstr>Culture definition</vt:lpstr>
      <vt:lpstr>Factors affecting culture</vt:lpstr>
      <vt:lpstr>Key elements of culture</vt:lpstr>
      <vt:lpstr>Key elements of culture</vt:lpstr>
      <vt:lpstr>Organization culture</vt:lpstr>
      <vt:lpstr>Different Types of Cultures</vt:lpstr>
      <vt:lpstr>Different Types of Cultures</vt:lpstr>
      <vt:lpstr>Different Types of Cultures</vt:lpstr>
      <vt:lpstr>Different Types of Cultures</vt:lpstr>
      <vt:lpstr>Different Types of Cultures</vt:lpstr>
      <vt:lpstr>Example of Organization Culture</vt:lpstr>
      <vt:lpstr>Example of Organization Culture</vt:lpstr>
      <vt:lpstr>Culture and Knowledge</vt:lpstr>
      <vt:lpstr>Organizational Culture Analysis</vt:lpstr>
      <vt:lpstr>Organizational Culture Analysis</vt:lpstr>
      <vt:lpstr>Organizational Culture Analysis</vt:lpstr>
      <vt:lpstr>Organizational Culture Analysis</vt:lpstr>
      <vt:lpstr>Organizational Culture Analysis</vt:lpstr>
      <vt:lpstr>Organizational Culture Analysis</vt:lpstr>
      <vt:lpstr>Culture at the Foundation of KM</vt:lpstr>
      <vt:lpstr>Culture at the Foundation of KM</vt:lpstr>
      <vt:lpstr>Culture at the Foundation of KM</vt:lpstr>
      <vt:lpstr>Culture at the Foundation of KM</vt:lpstr>
      <vt:lpstr>Culture at the Foundation of KM</vt:lpstr>
      <vt:lpstr>Culture at the Foundation of KM</vt:lpstr>
      <vt:lpstr>Culture at the Foundation of KM</vt:lpstr>
      <vt:lpstr>Culture at the Foundation of KM</vt:lpstr>
      <vt:lpstr>Culture at the Foundation of KM</vt:lpstr>
      <vt:lpstr>Culture at the Foundation of KM</vt:lpstr>
      <vt:lpstr>Culture at the Foundation of KM</vt:lpstr>
      <vt:lpstr>Culture at the Foundation of KM</vt:lpstr>
      <vt:lpstr>Culture at the Foundation of KM</vt:lpstr>
      <vt:lpstr>Culture at the Foundation of KM</vt:lpstr>
      <vt:lpstr>Transformation to a Knowledge-Sharing Culture</vt:lpstr>
      <vt:lpstr>Transformation to a Knowledge-Sharing Culture</vt:lpstr>
      <vt:lpstr>Transformation to a Knowledge-Sharing Culture</vt:lpstr>
      <vt:lpstr>Transformation to a Knowledge-Sharing Culture</vt:lpstr>
      <vt:lpstr>Transformation to a Knowledge-Sharing Culture</vt:lpstr>
      <vt:lpstr>Transformation to a Knowledge-Sharing Culture</vt:lpstr>
      <vt:lpstr>Practical Implications of Organizational Culture</vt:lpstr>
      <vt:lpstr>Practical Implications of Organizational Culture</vt:lpstr>
      <vt:lpstr>Summary</vt:lpstr>
      <vt:lpstr>Discussion / Homework / Team Activities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Chu Dinh Phu 2 (FE Ban NCPT)</cp:lastModifiedBy>
  <cp:revision>119</cp:revision>
  <dcterms:created xsi:type="dcterms:W3CDTF">2021-01-25T08:25:31Z</dcterms:created>
  <dcterms:modified xsi:type="dcterms:W3CDTF">2023-09-20T21:08:04Z</dcterms:modified>
</cp:coreProperties>
</file>