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256" r:id="rId2"/>
    <p:sldId id="278" r:id="rId3"/>
    <p:sldId id="313" r:id="rId4"/>
    <p:sldId id="334" r:id="rId5"/>
    <p:sldId id="322" r:id="rId6"/>
    <p:sldId id="336" r:id="rId7"/>
    <p:sldId id="348" r:id="rId8"/>
    <p:sldId id="323" r:id="rId9"/>
    <p:sldId id="350" r:id="rId10"/>
    <p:sldId id="324" r:id="rId11"/>
    <p:sldId id="363" r:id="rId12"/>
    <p:sldId id="339" r:id="rId13"/>
    <p:sldId id="351" r:id="rId14"/>
    <p:sldId id="335" r:id="rId15"/>
    <p:sldId id="352" r:id="rId16"/>
    <p:sldId id="326" r:id="rId17"/>
    <p:sldId id="337" r:id="rId18"/>
    <p:sldId id="327" r:id="rId19"/>
    <p:sldId id="340" r:id="rId20"/>
    <p:sldId id="354" r:id="rId21"/>
    <p:sldId id="314" r:id="rId22"/>
    <p:sldId id="358" r:id="rId23"/>
    <p:sldId id="329" r:id="rId24"/>
    <p:sldId id="359" r:id="rId25"/>
    <p:sldId id="330" r:id="rId26"/>
    <p:sldId id="356" r:id="rId27"/>
    <p:sldId id="360" r:id="rId28"/>
    <p:sldId id="331" r:id="rId29"/>
    <p:sldId id="357" r:id="rId30"/>
    <p:sldId id="361" r:id="rId31"/>
    <p:sldId id="332" r:id="rId32"/>
    <p:sldId id="362" r:id="rId33"/>
    <p:sldId id="343" r:id="rId34"/>
    <p:sldId id="347" r:id="rId35"/>
    <p:sldId id="364"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31870" autoAdjust="0"/>
    <p:restoredTop sz="73434" autoAdjust="0"/>
  </p:normalViewPr>
  <p:slideViewPr>
    <p:cSldViewPr snapToGrid="0">
      <p:cViewPr varScale="1">
        <p:scale>
          <a:sx n="79" d="100"/>
          <a:sy n="79" d="100"/>
        </p:scale>
        <p:origin x="72" y="269"/>
      </p:cViewPr>
      <p:guideLst/>
    </p:cSldViewPr>
  </p:slid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1882520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644806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810864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19309075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25288740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1815443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37863244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15256595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27911200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36235550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38727114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4122284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681178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40194062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8666702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15744875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2555464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37817135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10660785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15777977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21474310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4112087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28423460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34013333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6738759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15057194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12432814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27938953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44177098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83548" y="1987871"/>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oleObject" Target="../embeddings/oleObject8.bin"/><Relationship Id="rId4" Type="http://schemas.openxmlformats.org/officeDocument/2006/relationships/image" Target="../media/image8.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oleObject" Target="../embeddings/oleObject10.bin"/><Relationship Id="rId4" Type="http://schemas.openxmlformats.org/officeDocument/2006/relationships/image" Target="../media/image10.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2.bin"/><Relationship Id="rId4" Type="http://schemas.openxmlformats.org/officeDocument/2006/relationships/image" Target="../media/image12.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5.bin"/><Relationship Id="rId4" Type="http://schemas.openxmlformats.org/officeDocument/2006/relationships/image" Target="../media/image15.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altLang="ko-KR" sz="3200" b="1" dirty="0">
                <a:solidFill>
                  <a:schemeClr val="bg2">
                    <a:lumMod val="50000"/>
                  </a:schemeClr>
                </a:solidFill>
                <a:latin typeface="Arial" panose="020B0604020202020204" pitchFamily="34" charset="0"/>
                <a:cs typeface="Arial" panose="020B0604020202020204" pitchFamily="34" charset="0"/>
              </a:rPr>
              <a:t>Chapter 01</a:t>
            </a:r>
            <a:br>
              <a:rPr lang="en-US" altLang="ko-KR" sz="4400" b="1" dirty="0">
                <a:solidFill>
                  <a:schemeClr val="accent2"/>
                </a:solidFill>
                <a:latin typeface="Arial" panose="020B0604020202020204" pitchFamily="34" charset="0"/>
                <a:cs typeface="Arial" panose="020B0604020202020204" pitchFamily="34" charset="0"/>
              </a:rPr>
            </a:br>
            <a:r>
              <a:rPr lang="en-US" altLang="ko-KR" sz="4400" b="1" dirty="0">
                <a:solidFill>
                  <a:schemeClr val="accent2"/>
                </a:solidFill>
                <a:latin typeface="Arial" panose="020B0604020202020204" pitchFamily="34" charset="0"/>
                <a:cs typeface="Arial" panose="020B0604020202020204" pitchFamily="34" charset="0"/>
              </a:rPr>
              <a:t>Introduction to Knowledge Management</a:t>
            </a:r>
            <a:endParaRPr lang="en-US" sz="4400" b="1" dirty="0">
              <a:solidFill>
                <a:schemeClr val="accent2"/>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What Is Knowledge (KM)?</a:t>
            </a:r>
          </a:p>
          <a:p>
            <a:pPr marL="342900" indent="-342900" algn="just">
              <a:lnSpc>
                <a:spcPct val="150000"/>
              </a:lnSpc>
              <a:spcBef>
                <a:spcPts val="600"/>
              </a:spcBef>
              <a:buClr>
                <a:srgbClr val="973735"/>
              </a:buClr>
              <a:buSzPct val="50000"/>
              <a:buFont typeface="Wingdings" pitchFamily="2" charset="2"/>
              <a:buChar char="u"/>
              <a:defRPr/>
            </a:pPr>
            <a:r>
              <a:rPr lang="en-US" dirty="0"/>
              <a:t>What Is Knowledge Management?</a:t>
            </a:r>
          </a:p>
          <a:p>
            <a:pPr marL="342900" indent="-342900" algn="just">
              <a:lnSpc>
                <a:spcPct val="150000"/>
              </a:lnSpc>
              <a:spcBef>
                <a:spcPts val="600"/>
              </a:spcBef>
              <a:buClr>
                <a:srgbClr val="973735"/>
              </a:buClr>
              <a:buSzPct val="50000"/>
              <a:buFont typeface="Wingdings" pitchFamily="2" charset="2"/>
              <a:buChar char="u"/>
              <a:defRPr/>
            </a:pPr>
            <a:r>
              <a:rPr lang="en-US" dirty="0"/>
              <a:t>History of Knowledge Management</a:t>
            </a:r>
          </a:p>
          <a:p>
            <a:pPr marL="342900" indent="-342900" algn="just">
              <a:lnSpc>
                <a:spcPct val="150000"/>
              </a:lnSpc>
              <a:spcBef>
                <a:spcPts val="600"/>
              </a:spcBef>
              <a:buClr>
                <a:srgbClr val="973735"/>
              </a:buClr>
              <a:buSzPct val="50000"/>
              <a:buFont typeface="Wingdings" pitchFamily="2" charset="2"/>
              <a:buChar char="u"/>
              <a:defRPr/>
            </a:pPr>
            <a:r>
              <a:rPr lang="en-US" dirty="0"/>
              <a:t>Why Is KM Important Today?</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There are many definitions</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business perspective</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intellectual or knowledge asset perspective</a:t>
            </a:r>
          </a:p>
          <a:p>
            <a:pPr marL="800100" lvl="1" indent="-342900" algn="just">
              <a:lnSpc>
                <a:spcPct val="150000"/>
              </a:lnSpc>
              <a:spcBef>
                <a:spcPts val="600"/>
              </a:spcBef>
              <a:buClr>
                <a:srgbClr val="973735"/>
              </a:buClr>
              <a:buSzPct val="50000"/>
              <a:buFont typeface="Wingdings" pitchFamily="2" charset="2"/>
              <a:buChar char="u"/>
              <a:defRPr/>
            </a:pPr>
            <a:r>
              <a:rPr lang="en-US" sz="2600" dirty="0"/>
              <a:t>The cognitive science or knowledge science perspective</a:t>
            </a:r>
          </a:p>
          <a:p>
            <a:pPr marL="800100" lvl="1" indent="-342900">
              <a:lnSpc>
                <a:spcPct val="150000"/>
              </a:lnSpc>
              <a:spcBef>
                <a:spcPts val="600"/>
              </a:spcBef>
              <a:buClr>
                <a:srgbClr val="973735"/>
              </a:buClr>
              <a:buSzPct val="50000"/>
              <a:buFont typeface="Wingdings" pitchFamily="2" charset="2"/>
              <a:buChar char="u"/>
              <a:defRPr/>
            </a:pPr>
            <a:r>
              <a:rPr lang="en-US" sz="2600" dirty="0"/>
              <a:t>The library and information science perspective</a:t>
            </a:r>
          </a:p>
          <a:p>
            <a:pPr marL="800100" lvl="1" indent="-342900" algn="just">
              <a:lnSpc>
                <a:spcPct val="150000"/>
              </a:lnSpc>
              <a:spcBef>
                <a:spcPts val="600"/>
              </a:spcBef>
              <a:buClr>
                <a:srgbClr val="973735"/>
              </a:buClr>
              <a:buSzPct val="50000"/>
              <a:buFont typeface="Wingdings" pitchFamily="2" charset="2"/>
              <a:buChar char="u"/>
              <a:defRPr/>
            </a:pPr>
            <a:r>
              <a:rPr lang="en-US" sz="2600" dirty="0"/>
              <a:t>….</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Is Knowledge Management (KM)?</a:t>
            </a:r>
          </a:p>
        </p:txBody>
      </p:sp>
    </p:spTree>
    <p:extLst>
      <p:ext uri="{BB962C8B-B14F-4D97-AF65-F5344CB8AC3E}">
        <p14:creationId xmlns:p14="http://schemas.microsoft.com/office/powerpoint/2010/main" val="948614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EC0531-C467-11E4-DD30-AAC2EE0E14A2}"/>
              </a:ext>
            </a:extLst>
          </p:cNvPr>
          <p:cNvSpPr>
            <a:spLocks noGrp="1"/>
          </p:cNvSpPr>
          <p:nvPr>
            <p:ph idx="1"/>
          </p:nvPr>
        </p:nvSpPr>
        <p:spPr/>
        <p:txBody>
          <a:bodyPr>
            <a:normAutofit lnSpcReduction="10000"/>
          </a:bodyPr>
          <a:lstStyle/>
          <a:p>
            <a:pPr algn="just">
              <a:lnSpc>
                <a:spcPct val="100000"/>
              </a:lnSpc>
              <a:spcBef>
                <a:spcPts val="1200"/>
              </a:spcBef>
            </a:pPr>
            <a:r>
              <a:rPr lang="en-US" dirty="0"/>
              <a:t>This makes it both easy and difficult to define what KM is-at one extreme</a:t>
            </a:r>
          </a:p>
          <a:p>
            <a:pPr lvl="1" algn="just">
              <a:lnSpc>
                <a:spcPct val="100000"/>
              </a:lnSpc>
              <a:spcBef>
                <a:spcPts val="1200"/>
              </a:spcBef>
            </a:pPr>
            <a:r>
              <a:rPr lang="en-US" sz="2600" dirty="0"/>
              <a:t>KM encompasses everything to do with knowledge. </a:t>
            </a:r>
          </a:p>
          <a:p>
            <a:pPr lvl="1" algn="just">
              <a:lnSpc>
                <a:spcPct val="100000"/>
              </a:lnSpc>
              <a:spcBef>
                <a:spcPts val="1200"/>
              </a:spcBef>
            </a:pPr>
            <a:r>
              <a:rPr lang="en-US" sz="2600" dirty="0"/>
              <a:t>KM is narrowly defined as an information technology system that dispenses organizational know-how. </a:t>
            </a:r>
          </a:p>
          <a:p>
            <a:pPr lvl="1" algn="just">
              <a:lnSpc>
                <a:spcPct val="100000"/>
              </a:lnSpc>
              <a:spcBef>
                <a:spcPts val="1200"/>
              </a:spcBef>
            </a:pPr>
            <a:endParaRPr lang="en-US" dirty="0"/>
          </a:p>
          <a:p>
            <a:pPr algn="just">
              <a:lnSpc>
                <a:spcPct val="100000"/>
              </a:lnSpc>
              <a:spcBef>
                <a:spcPts val="1200"/>
              </a:spcBef>
            </a:pPr>
            <a:r>
              <a:rPr lang="en-US" dirty="0"/>
              <a:t>KM is in fact both of these and many more. One of the few areas of consensus in the field is that KM is a highly multidisciplinary field.</a:t>
            </a:r>
          </a:p>
        </p:txBody>
      </p:sp>
      <p:sp>
        <p:nvSpPr>
          <p:cNvPr id="4" name="Slide Number Placeholder 3">
            <a:extLst>
              <a:ext uri="{FF2B5EF4-FFF2-40B4-BE49-F238E27FC236}">
                <a16:creationId xmlns:a16="http://schemas.microsoft.com/office/drawing/2014/main" id="{468AB39E-A070-4753-CE17-06A1C2B2DF46}"/>
              </a:ext>
            </a:extLst>
          </p:cNvPr>
          <p:cNvSpPr>
            <a:spLocks noGrp="1"/>
          </p:cNvSpPr>
          <p:nvPr>
            <p:ph type="sldNum" sz="quarter" idx="12"/>
          </p:nvPr>
        </p:nvSpPr>
        <p:spPr/>
        <p:txBody>
          <a:bodyPr/>
          <a:lstStyle/>
          <a:p>
            <a:fld id="{CC0149FD-98BB-4821-915B-09C9BFE4B727}" type="slidenum">
              <a:rPr lang="en-US" smtClean="0"/>
              <a:pPr/>
              <a:t>4</a:t>
            </a:fld>
            <a:endParaRPr lang="en-US"/>
          </a:p>
        </p:txBody>
      </p:sp>
      <p:sp>
        <p:nvSpPr>
          <p:cNvPr id="5" name="Date Placeholder 4">
            <a:extLst>
              <a:ext uri="{FF2B5EF4-FFF2-40B4-BE49-F238E27FC236}">
                <a16:creationId xmlns:a16="http://schemas.microsoft.com/office/drawing/2014/main" id="{9AA30D92-ACC9-96A7-DF7C-2010FE3B8C9E}"/>
              </a:ext>
            </a:extLst>
          </p:cNvPr>
          <p:cNvSpPr>
            <a:spLocks noGrp="1"/>
          </p:cNvSpPr>
          <p:nvPr>
            <p:ph type="dt" sz="half" idx="10"/>
          </p:nvPr>
        </p:nvSpPr>
        <p:spPr/>
        <p:txBody>
          <a:bodyPr/>
          <a:lstStyle/>
          <a:p>
            <a:fld id="{17256740-3DC7-40BE-968F-29F94186F3AD}" type="datetime1">
              <a:rPr lang="vi-VN" smtClean="0"/>
              <a:t>21/09/2023</a:t>
            </a:fld>
            <a:endParaRPr lang="en-US"/>
          </a:p>
        </p:txBody>
      </p:sp>
      <p:sp>
        <p:nvSpPr>
          <p:cNvPr id="8" name="Title 1">
            <a:extLst>
              <a:ext uri="{FF2B5EF4-FFF2-40B4-BE49-F238E27FC236}">
                <a16:creationId xmlns:a16="http://schemas.microsoft.com/office/drawing/2014/main" id="{B4B988F4-DFED-D62A-45F6-6AA36820EEFC}"/>
              </a:ext>
            </a:extLst>
          </p:cNvPr>
          <p:cNvSpPr txBox="1">
            <a:spLocks/>
          </p:cNvSpPr>
          <p:nvPr/>
        </p:nvSpPr>
        <p:spPr>
          <a:xfrm>
            <a:off x="287517" y="674951"/>
            <a:ext cx="10515600" cy="709226"/>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t>What Is KM?</a:t>
            </a:r>
          </a:p>
        </p:txBody>
      </p:sp>
    </p:spTree>
    <p:extLst>
      <p:ext uri="{BB962C8B-B14F-4D97-AF65-F5344CB8AC3E}">
        <p14:creationId xmlns:p14="http://schemas.microsoft.com/office/powerpoint/2010/main" val="2843829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274EE9AD-F734-A433-3627-6A4F1170B371}"/>
              </a:ext>
            </a:extLst>
          </p:cNvPr>
          <p:cNvGraphicFramePr>
            <a:graphicFrameLocks noChangeAspect="1"/>
          </p:cNvGraphicFramePr>
          <p:nvPr>
            <p:extLst>
              <p:ext uri="{D42A27DB-BD31-4B8C-83A1-F6EECF244321}">
                <p14:modId xmlns:p14="http://schemas.microsoft.com/office/powerpoint/2010/main" val="564560195"/>
              </p:ext>
            </p:extLst>
          </p:nvPr>
        </p:nvGraphicFramePr>
        <p:xfrm>
          <a:off x="3613581" y="1836481"/>
          <a:ext cx="8357595" cy="3768673"/>
        </p:xfrm>
        <a:graphic>
          <a:graphicData uri="http://schemas.openxmlformats.org/presentationml/2006/ole">
            <mc:AlternateContent xmlns:mc="http://schemas.openxmlformats.org/markup-compatibility/2006">
              <mc:Choice xmlns:v="urn:schemas-microsoft-com:vml" Requires="v">
                <p:oleObj name="Bitmap Image" r:id="rId3" imgW="7094160" imgH="3200400" progId="PBrush">
                  <p:embed/>
                </p:oleObj>
              </mc:Choice>
              <mc:Fallback>
                <p:oleObj name="Bitmap Image" r:id="rId3" imgW="7094160" imgH="3200400" progId="PBrush">
                  <p:embed/>
                  <p:pic>
                    <p:nvPicPr>
                      <p:cNvPr id="0" name=""/>
                      <p:cNvPicPr/>
                      <p:nvPr/>
                    </p:nvPicPr>
                    <p:blipFill>
                      <a:blip r:embed="rId4"/>
                      <a:stretch>
                        <a:fillRect/>
                      </a:stretch>
                    </p:blipFill>
                    <p:spPr>
                      <a:xfrm>
                        <a:off x="3613581" y="1836481"/>
                        <a:ext cx="8357595" cy="3768673"/>
                      </a:xfrm>
                      <a:prstGeom prst="rect">
                        <a:avLst/>
                      </a:prstGeom>
                    </p:spPr>
                  </p:pic>
                </p:oleObj>
              </mc:Fallback>
            </mc:AlternateContent>
          </a:graphicData>
        </a:graphic>
      </p:graphicFrame>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effectLst/>
                <a:latin typeface="Arial" panose="020B0604020202020204" pitchFamily="34" charset="0"/>
              </a:rPr>
              <a:t>Multidisciplinary Nature of KM</a:t>
            </a:r>
            <a:endParaRPr lang="en-US" b="1" dirty="0">
              <a:solidFill>
                <a:srgbClr val="ED7D31"/>
              </a:solidFill>
            </a:endParaRP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Is KM?</a:t>
            </a:r>
          </a:p>
        </p:txBody>
      </p:sp>
      <p:graphicFrame>
        <p:nvGraphicFramePr>
          <p:cNvPr id="5" name="Object 4">
            <a:extLst>
              <a:ext uri="{FF2B5EF4-FFF2-40B4-BE49-F238E27FC236}">
                <a16:creationId xmlns:a16="http://schemas.microsoft.com/office/drawing/2014/main" id="{D6C4113D-EA28-B592-EDAC-B2791B72D8F8}"/>
              </a:ext>
            </a:extLst>
          </p:cNvPr>
          <p:cNvGraphicFramePr>
            <a:graphicFrameLocks noChangeAspect="1"/>
          </p:cNvGraphicFramePr>
          <p:nvPr>
            <p:extLst>
              <p:ext uri="{D42A27DB-BD31-4B8C-83A1-F6EECF244321}">
                <p14:modId xmlns:p14="http://schemas.microsoft.com/office/powerpoint/2010/main" val="3477267542"/>
              </p:ext>
            </p:extLst>
          </p:nvPr>
        </p:nvGraphicFramePr>
        <p:xfrm>
          <a:off x="4576896" y="5718560"/>
          <a:ext cx="6430963" cy="350837"/>
        </p:xfrm>
        <a:graphic>
          <a:graphicData uri="http://schemas.openxmlformats.org/presentationml/2006/ole">
            <mc:AlternateContent xmlns:mc="http://schemas.openxmlformats.org/markup-compatibility/2006">
              <mc:Choice xmlns:v="urn:schemas-microsoft-com:vml" Requires="v">
                <p:oleObj name="Bitmap Image" r:id="rId5" imgW="6431400" imgH="350640" progId="PBrush">
                  <p:embed/>
                </p:oleObj>
              </mc:Choice>
              <mc:Fallback>
                <p:oleObj name="Bitmap Image" r:id="rId5" imgW="6431400" imgH="350640" progId="PBrush">
                  <p:embed/>
                  <p:pic>
                    <p:nvPicPr>
                      <p:cNvPr id="0" name=""/>
                      <p:cNvPicPr/>
                      <p:nvPr/>
                    </p:nvPicPr>
                    <p:blipFill>
                      <a:blip r:embed="rId6"/>
                      <a:stretch>
                        <a:fillRect/>
                      </a:stretch>
                    </p:blipFill>
                    <p:spPr>
                      <a:xfrm>
                        <a:off x="4576896" y="5718560"/>
                        <a:ext cx="6430963" cy="350837"/>
                      </a:xfrm>
                      <a:prstGeom prst="rect">
                        <a:avLst/>
                      </a:prstGeom>
                    </p:spPr>
                  </p:pic>
                </p:oleObj>
              </mc:Fallback>
            </mc:AlternateContent>
          </a:graphicData>
        </a:graphic>
      </p:graphicFrame>
    </p:spTree>
    <p:extLst>
      <p:ext uri="{BB962C8B-B14F-4D97-AF65-F5344CB8AC3E}">
        <p14:creationId xmlns:p14="http://schemas.microsoft.com/office/powerpoint/2010/main" val="22056332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4D2B7509-17C4-2285-B885-93477CB37415}"/>
              </a:ext>
            </a:extLst>
          </p:cNvPr>
          <p:cNvGraphicFramePr>
            <a:graphicFrameLocks noChangeAspect="1"/>
          </p:cNvGraphicFramePr>
          <p:nvPr>
            <p:extLst>
              <p:ext uri="{D42A27DB-BD31-4B8C-83A1-F6EECF244321}">
                <p14:modId xmlns:p14="http://schemas.microsoft.com/office/powerpoint/2010/main" val="3805355106"/>
              </p:ext>
            </p:extLst>
          </p:nvPr>
        </p:nvGraphicFramePr>
        <p:xfrm>
          <a:off x="7950200" y="2482256"/>
          <a:ext cx="3887788" cy="2900363"/>
        </p:xfrm>
        <a:graphic>
          <a:graphicData uri="http://schemas.openxmlformats.org/presentationml/2006/ole">
            <mc:AlternateContent xmlns:mc="http://schemas.openxmlformats.org/markup-compatibility/2006">
              <mc:Choice xmlns:v="urn:schemas-microsoft-com:vml" Requires="v">
                <p:oleObj name="Bitmap Image" r:id="rId2" imgW="2644200" imgH="1973520" progId="PBrush">
                  <p:embed/>
                </p:oleObj>
              </mc:Choice>
              <mc:Fallback>
                <p:oleObj name="Bitmap Image" r:id="rId2" imgW="2644200" imgH="1973520" progId="PBrush">
                  <p:embed/>
                  <p:pic>
                    <p:nvPicPr>
                      <p:cNvPr id="0" name=""/>
                      <p:cNvPicPr/>
                      <p:nvPr/>
                    </p:nvPicPr>
                    <p:blipFill>
                      <a:blip r:embed="rId3"/>
                      <a:stretch>
                        <a:fillRect/>
                      </a:stretch>
                    </p:blipFill>
                    <p:spPr>
                      <a:xfrm>
                        <a:off x="7950200" y="2482256"/>
                        <a:ext cx="3887788" cy="2900363"/>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A6EC0531-C467-11E4-DD30-AAC2EE0E14A2}"/>
              </a:ext>
            </a:extLst>
          </p:cNvPr>
          <p:cNvSpPr>
            <a:spLocks noGrp="1"/>
          </p:cNvSpPr>
          <p:nvPr>
            <p:ph idx="1"/>
          </p:nvPr>
        </p:nvSpPr>
        <p:spPr>
          <a:xfrm>
            <a:off x="864093" y="1900322"/>
            <a:ext cx="8622807" cy="4351338"/>
          </a:xfrm>
        </p:spPr>
        <p:txBody>
          <a:bodyPr/>
          <a:lstStyle/>
          <a:p>
            <a:pPr marL="0" indent="0" algn="just">
              <a:buNone/>
            </a:pPr>
            <a:r>
              <a:rPr lang="en-US" b="1" i="1" dirty="0"/>
              <a:t>“Knowledge management </a:t>
            </a:r>
            <a:r>
              <a:rPr lang="en-US" i="1" dirty="0"/>
              <a:t>represents a deliberate and systematic approach to </a:t>
            </a:r>
            <a:r>
              <a:rPr lang="en-US" i="1" dirty="0">
                <a:solidFill>
                  <a:srgbClr val="C00000"/>
                </a:solidFill>
              </a:rPr>
              <a:t>ensure the full utilization of the organization’s knowledge base</a:t>
            </a:r>
            <a:r>
              <a:rPr lang="en-US" i="1" dirty="0"/>
              <a:t>, coupled with the potential of individual skills, competencies, thoughts, innovations, and ideas to create a more efficient and effective organization”</a:t>
            </a:r>
          </a:p>
        </p:txBody>
      </p:sp>
      <p:sp>
        <p:nvSpPr>
          <p:cNvPr id="4" name="Slide Number Placeholder 3">
            <a:extLst>
              <a:ext uri="{FF2B5EF4-FFF2-40B4-BE49-F238E27FC236}">
                <a16:creationId xmlns:a16="http://schemas.microsoft.com/office/drawing/2014/main" id="{468AB39E-A070-4753-CE17-06A1C2B2DF46}"/>
              </a:ext>
            </a:extLst>
          </p:cNvPr>
          <p:cNvSpPr>
            <a:spLocks noGrp="1"/>
          </p:cNvSpPr>
          <p:nvPr>
            <p:ph type="sldNum" sz="quarter" idx="12"/>
          </p:nvPr>
        </p:nvSpPr>
        <p:spPr/>
        <p:txBody>
          <a:bodyPr/>
          <a:lstStyle/>
          <a:p>
            <a:fld id="{CC0149FD-98BB-4821-915B-09C9BFE4B727}" type="slidenum">
              <a:rPr lang="en-US" smtClean="0"/>
              <a:pPr/>
              <a:t>6</a:t>
            </a:fld>
            <a:endParaRPr lang="en-US"/>
          </a:p>
        </p:txBody>
      </p:sp>
      <p:sp>
        <p:nvSpPr>
          <p:cNvPr id="5" name="Date Placeholder 4">
            <a:extLst>
              <a:ext uri="{FF2B5EF4-FFF2-40B4-BE49-F238E27FC236}">
                <a16:creationId xmlns:a16="http://schemas.microsoft.com/office/drawing/2014/main" id="{9AA30D92-ACC9-96A7-DF7C-2010FE3B8C9E}"/>
              </a:ext>
            </a:extLst>
          </p:cNvPr>
          <p:cNvSpPr>
            <a:spLocks noGrp="1"/>
          </p:cNvSpPr>
          <p:nvPr>
            <p:ph type="dt" sz="half" idx="10"/>
          </p:nvPr>
        </p:nvSpPr>
        <p:spPr/>
        <p:txBody>
          <a:bodyPr/>
          <a:lstStyle/>
          <a:p>
            <a:fld id="{17256740-3DC7-40BE-968F-29F94186F3AD}" type="datetime1">
              <a:rPr lang="vi-VN" smtClean="0"/>
              <a:t>21/09/2023</a:t>
            </a:fld>
            <a:endParaRPr lang="en-US"/>
          </a:p>
        </p:txBody>
      </p:sp>
      <p:sp>
        <p:nvSpPr>
          <p:cNvPr id="8" name="Title 1">
            <a:extLst>
              <a:ext uri="{FF2B5EF4-FFF2-40B4-BE49-F238E27FC236}">
                <a16:creationId xmlns:a16="http://schemas.microsoft.com/office/drawing/2014/main" id="{B4B988F4-DFED-D62A-45F6-6AA36820EEFC}"/>
              </a:ext>
            </a:extLst>
          </p:cNvPr>
          <p:cNvSpPr txBox="1">
            <a:spLocks/>
          </p:cNvSpPr>
          <p:nvPr/>
        </p:nvSpPr>
        <p:spPr>
          <a:xfrm>
            <a:off x="287517" y="674951"/>
            <a:ext cx="10515600" cy="709226"/>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t>What Is KM?</a:t>
            </a:r>
          </a:p>
        </p:txBody>
      </p:sp>
    </p:spTree>
    <p:extLst>
      <p:ext uri="{BB962C8B-B14F-4D97-AF65-F5344CB8AC3E}">
        <p14:creationId xmlns:p14="http://schemas.microsoft.com/office/powerpoint/2010/main" val="189816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a:extLst>
              <a:ext uri="{FF2B5EF4-FFF2-40B4-BE49-F238E27FC236}">
                <a16:creationId xmlns:a16="http://schemas.microsoft.com/office/drawing/2014/main" id="{4D2B7509-17C4-2285-B885-93477CB37415}"/>
              </a:ext>
            </a:extLst>
          </p:cNvPr>
          <p:cNvGraphicFramePr>
            <a:graphicFrameLocks noChangeAspect="1"/>
          </p:cNvGraphicFramePr>
          <p:nvPr/>
        </p:nvGraphicFramePr>
        <p:xfrm>
          <a:off x="7950200" y="2482256"/>
          <a:ext cx="3887788" cy="2900363"/>
        </p:xfrm>
        <a:graphic>
          <a:graphicData uri="http://schemas.openxmlformats.org/presentationml/2006/ole">
            <mc:AlternateContent xmlns:mc="http://schemas.openxmlformats.org/markup-compatibility/2006">
              <mc:Choice xmlns:v="urn:schemas-microsoft-com:vml" Requires="v">
                <p:oleObj name="Bitmap Image" r:id="rId2" imgW="2644200" imgH="1973520" progId="PBrush">
                  <p:embed/>
                </p:oleObj>
              </mc:Choice>
              <mc:Fallback>
                <p:oleObj name="Bitmap Image" r:id="rId2" imgW="2644200" imgH="1973520" progId="PBrush">
                  <p:embed/>
                  <p:pic>
                    <p:nvPicPr>
                      <p:cNvPr id="2" name="Object 1">
                        <a:extLst>
                          <a:ext uri="{FF2B5EF4-FFF2-40B4-BE49-F238E27FC236}">
                            <a16:creationId xmlns:a16="http://schemas.microsoft.com/office/drawing/2014/main" id="{4D2B7509-17C4-2285-B885-93477CB37415}"/>
                          </a:ext>
                        </a:extLst>
                      </p:cNvPr>
                      <p:cNvPicPr/>
                      <p:nvPr/>
                    </p:nvPicPr>
                    <p:blipFill>
                      <a:blip r:embed="rId3"/>
                      <a:stretch>
                        <a:fillRect/>
                      </a:stretch>
                    </p:blipFill>
                    <p:spPr>
                      <a:xfrm>
                        <a:off x="7950200" y="2482256"/>
                        <a:ext cx="3887788" cy="2900363"/>
                      </a:xfrm>
                      <a:prstGeom prst="rect">
                        <a:avLst/>
                      </a:prstGeom>
                    </p:spPr>
                  </p:pic>
                </p:oleObj>
              </mc:Fallback>
            </mc:AlternateContent>
          </a:graphicData>
        </a:graphic>
      </p:graphicFrame>
      <p:sp>
        <p:nvSpPr>
          <p:cNvPr id="3" name="Content Placeholder 2">
            <a:extLst>
              <a:ext uri="{FF2B5EF4-FFF2-40B4-BE49-F238E27FC236}">
                <a16:creationId xmlns:a16="http://schemas.microsoft.com/office/drawing/2014/main" id="{A6EC0531-C467-11E4-DD30-AAC2EE0E14A2}"/>
              </a:ext>
            </a:extLst>
          </p:cNvPr>
          <p:cNvSpPr>
            <a:spLocks noGrp="1"/>
          </p:cNvSpPr>
          <p:nvPr>
            <p:ph idx="1"/>
          </p:nvPr>
        </p:nvSpPr>
        <p:spPr>
          <a:xfrm>
            <a:off x="864093" y="1900322"/>
            <a:ext cx="8622807" cy="4351338"/>
          </a:xfrm>
        </p:spPr>
        <p:txBody>
          <a:bodyPr/>
          <a:lstStyle/>
          <a:p>
            <a:pPr marL="0" indent="0" algn="just">
              <a:buNone/>
            </a:pPr>
            <a:r>
              <a:rPr lang="en-US" i="1" dirty="0"/>
              <a:t>“</a:t>
            </a:r>
            <a:r>
              <a:rPr lang="en-US" b="1" i="1" dirty="0"/>
              <a:t>Knowledge management </a:t>
            </a:r>
            <a:r>
              <a:rPr lang="en-US" i="1" dirty="0"/>
              <a:t>is the deliberate and </a:t>
            </a:r>
            <a:r>
              <a:rPr lang="en-US" i="1" dirty="0">
                <a:solidFill>
                  <a:srgbClr val="C00000"/>
                </a:solidFill>
              </a:rPr>
              <a:t>systematic coordination</a:t>
            </a:r>
            <a:r>
              <a:rPr lang="en-US" i="1" dirty="0"/>
              <a:t> of an organization’s </a:t>
            </a:r>
            <a:r>
              <a:rPr lang="en-US" i="1" dirty="0">
                <a:solidFill>
                  <a:srgbClr val="C00000"/>
                </a:solidFill>
              </a:rPr>
              <a:t>people, technology, processes, and organizational structure</a:t>
            </a:r>
            <a:r>
              <a:rPr lang="en-US" i="1" dirty="0"/>
              <a:t> in order to add value through reuse and innovation. This is achieved through the promotion of </a:t>
            </a:r>
            <a:r>
              <a:rPr lang="en-US" i="1" dirty="0">
                <a:solidFill>
                  <a:srgbClr val="C00000"/>
                </a:solidFill>
              </a:rPr>
              <a:t>creating, sharing</a:t>
            </a:r>
            <a:r>
              <a:rPr lang="en-US" i="1" dirty="0"/>
              <a:t>, and </a:t>
            </a:r>
            <a:r>
              <a:rPr lang="en-US" i="1" dirty="0">
                <a:solidFill>
                  <a:srgbClr val="C00000"/>
                </a:solidFill>
              </a:rPr>
              <a:t>applying knowledge </a:t>
            </a:r>
            <a:r>
              <a:rPr lang="en-US" i="1" dirty="0"/>
              <a:t>as well as through the feeding of valuable lessons learned and best </a:t>
            </a:r>
            <a:br>
              <a:rPr lang="en-US" i="1" dirty="0"/>
            </a:br>
            <a:r>
              <a:rPr lang="en-US" i="1" dirty="0"/>
              <a:t>practices into corporate memory in order </a:t>
            </a:r>
            <a:br>
              <a:rPr lang="en-US" i="1" dirty="0"/>
            </a:br>
            <a:r>
              <a:rPr lang="en-US" i="1" dirty="0"/>
              <a:t>to foster continued organizational learning”</a:t>
            </a:r>
          </a:p>
        </p:txBody>
      </p:sp>
      <p:sp>
        <p:nvSpPr>
          <p:cNvPr id="4" name="Slide Number Placeholder 3">
            <a:extLst>
              <a:ext uri="{FF2B5EF4-FFF2-40B4-BE49-F238E27FC236}">
                <a16:creationId xmlns:a16="http://schemas.microsoft.com/office/drawing/2014/main" id="{468AB39E-A070-4753-CE17-06A1C2B2DF46}"/>
              </a:ext>
            </a:extLst>
          </p:cNvPr>
          <p:cNvSpPr>
            <a:spLocks noGrp="1"/>
          </p:cNvSpPr>
          <p:nvPr>
            <p:ph type="sldNum" sz="quarter" idx="12"/>
          </p:nvPr>
        </p:nvSpPr>
        <p:spPr/>
        <p:txBody>
          <a:bodyPr/>
          <a:lstStyle/>
          <a:p>
            <a:fld id="{CC0149FD-98BB-4821-915B-09C9BFE4B727}" type="slidenum">
              <a:rPr lang="en-US" smtClean="0"/>
              <a:pPr/>
              <a:t>7</a:t>
            </a:fld>
            <a:endParaRPr lang="en-US"/>
          </a:p>
        </p:txBody>
      </p:sp>
      <p:sp>
        <p:nvSpPr>
          <p:cNvPr id="5" name="Date Placeholder 4">
            <a:extLst>
              <a:ext uri="{FF2B5EF4-FFF2-40B4-BE49-F238E27FC236}">
                <a16:creationId xmlns:a16="http://schemas.microsoft.com/office/drawing/2014/main" id="{9AA30D92-ACC9-96A7-DF7C-2010FE3B8C9E}"/>
              </a:ext>
            </a:extLst>
          </p:cNvPr>
          <p:cNvSpPr>
            <a:spLocks noGrp="1"/>
          </p:cNvSpPr>
          <p:nvPr>
            <p:ph type="dt" sz="half" idx="10"/>
          </p:nvPr>
        </p:nvSpPr>
        <p:spPr/>
        <p:txBody>
          <a:bodyPr/>
          <a:lstStyle/>
          <a:p>
            <a:fld id="{17256740-3DC7-40BE-968F-29F94186F3AD}" type="datetime1">
              <a:rPr lang="vi-VN" smtClean="0"/>
              <a:t>21/09/2023</a:t>
            </a:fld>
            <a:endParaRPr lang="en-US"/>
          </a:p>
        </p:txBody>
      </p:sp>
      <p:sp>
        <p:nvSpPr>
          <p:cNvPr id="8" name="Title 1">
            <a:extLst>
              <a:ext uri="{FF2B5EF4-FFF2-40B4-BE49-F238E27FC236}">
                <a16:creationId xmlns:a16="http://schemas.microsoft.com/office/drawing/2014/main" id="{B4B988F4-DFED-D62A-45F6-6AA36820EEFC}"/>
              </a:ext>
            </a:extLst>
          </p:cNvPr>
          <p:cNvSpPr txBox="1">
            <a:spLocks/>
          </p:cNvSpPr>
          <p:nvPr/>
        </p:nvSpPr>
        <p:spPr>
          <a:xfrm>
            <a:off x="287517" y="674951"/>
            <a:ext cx="10515600" cy="709226"/>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t>What Is KM?</a:t>
            </a:r>
          </a:p>
        </p:txBody>
      </p:sp>
    </p:spTree>
    <p:extLst>
      <p:ext uri="{BB962C8B-B14F-4D97-AF65-F5344CB8AC3E}">
        <p14:creationId xmlns:p14="http://schemas.microsoft.com/office/powerpoint/2010/main" val="31856936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C070368-7ACD-98EB-497E-F6741BFCA1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1000" y="2155288"/>
            <a:ext cx="5460999" cy="4198526"/>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Is KM?</a:t>
            </a:r>
          </a:p>
        </p:txBody>
      </p:sp>
      <p:sp>
        <p:nvSpPr>
          <p:cNvPr id="2" name="Content Placeholder 3">
            <a:extLst>
              <a:ext uri="{FF2B5EF4-FFF2-40B4-BE49-F238E27FC236}">
                <a16:creationId xmlns:a16="http://schemas.microsoft.com/office/drawing/2014/main" id="{30A00299-384E-637C-136D-01B3058B2D27}"/>
              </a:ext>
            </a:extLst>
          </p:cNvPr>
          <p:cNvSpPr txBox="1">
            <a:spLocks/>
          </p:cNvSpPr>
          <p:nvPr/>
        </p:nvSpPr>
        <p:spPr>
          <a:xfrm>
            <a:off x="-427312" y="1562101"/>
            <a:ext cx="7107512" cy="50377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gn="just">
              <a:lnSpc>
                <a:spcPct val="150000"/>
              </a:lnSpc>
              <a:spcBef>
                <a:spcPts val="600"/>
              </a:spcBef>
              <a:buClr>
                <a:srgbClr val="973735"/>
              </a:buClr>
              <a:buSzPct val="50000"/>
              <a:buFont typeface="Wingdings" pitchFamily="2" charset="2"/>
              <a:buChar char="u"/>
              <a:defRPr/>
            </a:pPr>
            <a:r>
              <a:rPr lang="en-US" sz="2800" b="1" dirty="0"/>
              <a:t>What Is Knowledge?</a:t>
            </a:r>
          </a:p>
          <a:p>
            <a:pPr marL="1257300" lvl="2" indent="-342900" algn="just">
              <a:lnSpc>
                <a:spcPct val="100000"/>
              </a:lnSpc>
              <a:spcBef>
                <a:spcPts val="1200"/>
              </a:spcBef>
              <a:buClr>
                <a:srgbClr val="973735"/>
              </a:buClr>
              <a:buSzPct val="50000"/>
              <a:buFont typeface="Wingdings" pitchFamily="2" charset="2"/>
              <a:buChar char="u"/>
              <a:defRPr/>
            </a:pPr>
            <a:r>
              <a:rPr lang="en-US" sz="2600" b="1" dirty="0"/>
              <a:t>Data: </a:t>
            </a:r>
            <a:r>
              <a:rPr lang="en-US" sz="2600" dirty="0"/>
              <a:t>is directly observable or verifiable: a fact</a:t>
            </a:r>
          </a:p>
          <a:p>
            <a:pPr marL="1257300" lvl="2" indent="-342900" algn="just">
              <a:lnSpc>
                <a:spcPct val="100000"/>
              </a:lnSpc>
              <a:spcBef>
                <a:spcPts val="1200"/>
              </a:spcBef>
              <a:buClr>
                <a:srgbClr val="973735"/>
              </a:buClr>
              <a:buSzPct val="50000"/>
              <a:buFont typeface="Wingdings" pitchFamily="2" charset="2"/>
              <a:buChar char="u"/>
              <a:defRPr/>
            </a:pPr>
            <a:r>
              <a:rPr lang="en-US" sz="2600" b="1" dirty="0"/>
              <a:t>Information:</a:t>
            </a:r>
            <a:r>
              <a:rPr lang="en-US" sz="2600" dirty="0"/>
              <a:t> represents analyzed data</a:t>
            </a:r>
          </a:p>
          <a:p>
            <a:pPr marL="1257300" lvl="2" indent="-342900" algn="just">
              <a:lnSpc>
                <a:spcPct val="100000"/>
              </a:lnSpc>
              <a:spcBef>
                <a:spcPts val="1200"/>
              </a:spcBef>
              <a:buClr>
                <a:srgbClr val="973735"/>
              </a:buClr>
              <a:buSzPct val="50000"/>
              <a:buFont typeface="Wingdings" pitchFamily="2" charset="2"/>
              <a:buChar char="u"/>
              <a:defRPr/>
            </a:pPr>
            <a:r>
              <a:rPr lang="en-US" sz="2600" b="1" dirty="0"/>
              <a:t>Knowledge:</a:t>
            </a:r>
            <a:r>
              <a:rPr lang="en-US" sz="2600" dirty="0"/>
              <a:t> is a more subjective way of knowing, typically based on experiential or individual values, perceptions, and experience</a:t>
            </a:r>
          </a:p>
        </p:txBody>
      </p:sp>
    </p:spTree>
    <p:extLst>
      <p:ext uri="{BB962C8B-B14F-4D97-AF65-F5344CB8AC3E}">
        <p14:creationId xmlns:p14="http://schemas.microsoft.com/office/powerpoint/2010/main" val="322304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000" b="1" dirty="0">
                <a:solidFill>
                  <a:srgbClr val="ED7D31"/>
                </a:solidFill>
                <a:effectLst/>
                <a:latin typeface="Arial" panose="020B0604020202020204" pitchFamily="34" charset="0"/>
              </a:rPr>
              <a:t>The Two Major Types of Knowledge: Tacit and Explicit</a:t>
            </a:r>
          </a:p>
          <a:p>
            <a:pPr marL="342900" indent="-342900" algn="just">
              <a:lnSpc>
                <a:spcPct val="150000"/>
              </a:lnSpc>
              <a:spcBef>
                <a:spcPts val="600"/>
              </a:spcBef>
              <a:buClr>
                <a:srgbClr val="973735"/>
              </a:buClr>
              <a:buSzPct val="50000"/>
              <a:buFont typeface="Wingdings" pitchFamily="2" charset="2"/>
              <a:buChar char="u"/>
              <a:defRPr/>
            </a:pPr>
            <a:r>
              <a:rPr lang="en-US" sz="3000" dirty="0">
                <a:effectLst/>
                <a:latin typeface="Arial" panose="020B0604020202020204" pitchFamily="34" charset="0"/>
              </a:rPr>
              <a:t>Properties of Knowledge</a:t>
            </a:r>
          </a:p>
          <a:p>
            <a:pPr marL="342900" indent="-342900" algn="just">
              <a:lnSpc>
                <a:spcPct val="150000"/>
              </a:lnSpc>
              <a:spcBef>
                <a:spcPts val="600"/>
              </a:spcBef>
              <a:buClr>
                <a:srgbClr val="973735"/>
              </a:buClr>
              <a:buSzPct val="50000"/>
              <a:buFont typeface="Wingdings" pitchFamily="2" charset="2"/>
              <a:buChar char="u"/>
              <a:defRPr/>
            </a:pPr>
            <a:r>
              <a:rPr lang="en-US" sz="3000" dirty="0">
                <a:effectLst/>
                <a:latin typeface="Arial" panose="020B0604020202020204" pitchFamily="34" charset="0"/>
              </a:rPr>
              <a:t>Concept Analysis Technique</a:t>
            </a:r>
          </a:p>
          <a:p>
            <a:pPr marL="342900" indent="-342900" algn="just">
              <a:lnSpc>
                <a:spcPct val="150000"/>
              </a:lnSpc>
              <a:spcBef>
                <a:spcPts val="600"/>
              </a:spcBef>
              <a:buClr>
                <a:srgbClr val="973735"/>
              </a:buClr>
              <a:buSzPct val="50000"/>
              <a:buFont typeface="Wingdings" pitchFamily="2" charset="2"/>
              <a:buChar char="u"/>
              <a:defRPr/>
            </a:pPr>
            <a:endParaRPr lang="en-US" sz="3200" dirty="0">
              <a:effectLst/>
              <a:latin typeface="Arial" panose="020B0604020202020204" pitchFamily="34" charset="0"/>
            </a:endParaRPr>
          </a:p>
          <a:p>
            <a:pPr marL="342900" indent="-342900" algn="just">
              <a:lnSpc>
                <a:spcPct val="150000"/>
              </a:lnSpc>
              <a:spcBef>
                <a:spcPts val="600"/>
              </a:spcBef>
              <a:buClr>
                <a:srgbClr val="973735"/>
              </a:buClr>
              <a:buSzPct val="50000"/>
              <a:buFont typeface="Wingdings" pitchFamily="2" charset="2"/>
              <a:buChar char="u"/>
              <a:defRPr/>
            </a:pPr>
            <a:endParaRPr lang="en-US" sz="3000" b="1" dirty="0">
              <a:effectLst/>
              <a:latin typeface="Arial" panose="020B0604020202020204" pitchFamily="34" charset="0"/>
            </a:endParaRPr>
          </a:p>
          <a:p>
            <a:pPr marL="800100" lvl="1" indent="-342900" algn="just">
              <a:lnSpc>
                <a:spcPct val="150000"/>
              </a:lnSpc>
              <a:spcBef>
                <a:spcPts val="6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Is KM?</a:t>
            </a:r>
          </a:p>
        </p:txBody>
      </p:sp>
    </p:spTree>
    <p:extLst>
      <p:ext uri="{BB962C8B-B14F-4D97-AF65-F5344CB8AC3E}">
        <p14:creationId xmlns:p14="http://schemas.microsoft.com/office/powerpoint/2010/main" val="3904498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800100" lvl="1" indent="-342900" algn="just">
              <a:lnSpc>
                <a:spcPct val="100000"/>
              </a:lnSpc>
              <a:spcBef>
                <a:spcPts val="1200"/>
              </a:spcBef>
              <a:buClr>
                <a:srgbClr val="973735"/>
              </a:buClr>
              <a:buSzPct val="50000"/>
              <a:buFont typeface="Wingdings" pitchFamily="2" charset="2"/>
              <a:buChar char="u"/>
              <a:defRPr/>
            </a:pPr>
            <a:r>
              <a:rPr lang="en-US" sz="2800" b="1" dirty="0"/>
              <a:t>Tacit knowledge: </a:t>
            </a:r>
          </a:p>
          <a:p>
            <a:pPr marL="1257300" lvl="2" indent="-342900" algn="just">
              <a:lnSpc>
                <a:spcPct val="100000"/>
              </a:lnSpc>
              <a:spcBef>
                <a:spcPts val="1200"/>
              </a:spcBef>
              <a:buClr>
                <a:srgbClr val="973735"/>
              </a:buClr>
              <a:buSzPct val="50000"/>
              <a:buFont typeface="Wingdings" pitchFamily="2" charset="2"/>
              <a:buChar char="u"/>
              <a:defRPr/>
            </a:pPr>
            <a:r>
              <a:rPr lang="en-US" sz="2600" b="1" dirty="0"/>
              <a:t>Difficult to articulate </a:t>
            </a:r>
            <a:r>
              <a:rPr lang="en-US" sz="2600" dirty="0"/>
              <a:t>and difficult to put into words, text, or drawings.</a:t>
            </a:r>
          </a:p>
          <a:p>
            <a:pPr marL="1257300" lvl="2" indent="-342900" algn="just">
              <a:lnSpc>
                <a:spcPct val="100000"/>
              </a:lnSpc>
              <a:spcBef>
                <a:spcPts val="1200"/>
              </a:spcBef>
              <a:buClr>
                <a:srgbClr val="973735"/>
              </a:buClr>
              <a:buSzPct val="50000"/>
              <a:buFont typeface="Wingdings" pitchFamily="2" charset="2"/>
              <a:buChar char="u"/>
              <a:defRPr/>
            </a:pPr>
            <a:r>
              <a:rPr lang="en-US" sz="2600" dirty="0"/>
              <a:t>Reside within the </a:t>
            </a:r>
            <a:r>
              <a:rPr lang="en-US" sz="2600" b="1" dirty="0"/>
              <a:t>heads of “knowers”.</a:t>
            </a:r>
          </a:p>
          <a:p>
            <a:pPr marL="800100" lvl="1" indent="-342900" algn="just">
              <a:lnSpc>
                <a:spcPct val="100000"/>
              </a:lnSpc>
              <a:spcBef>
                <a:spcPts val="1200"/>
              </a:spcBef>
              <a:buClr>
                <a:srgbClr val="973735"/>
              </a:buClr>
              <a:buSzPct val="50000"/>
              <a:buFont typeface="Wingdings" pitchFamily="2" charset="2"/>
              <a:buChar char="u"/>
              <a:defRPr/>
            </a:pPr>
            <a:r>
              <a:rPr lang="en-US" sz="2800" b="1" dirty="0"/>
              <a:t>Explicit knowledge:</a:t>
            </a:r>
          </a:p>
          <a:p>
            <a:pPr marL="1257300" lvl="2" indent="-342900" algn="just">
              <a:lnSpc>
                <a:spcPct val="100000"/>
              </a:lnSpc>
              <a:spcBef>
                <a:spcPts val="1200"/>
              </a:spcBef>
              <a:buClr>
                <a:srgbClr val="973735"/>
              </a:buClr>
              <a:buSzPct val="50000"/>
              <a:buFont typeface="Wingdings" pitchFamily="2" charset="2"/>
              <a:buChar char="u"/>
              <a:defRPr/>
            </a:pPr>
            <a:r>
              <a:rPr lang="en-US" sz="2600" dirty="0"/>
              <a:t>Content that has been </a:t>
            </a:r>
            <a:r>
              <a:rPr lang="en-US" sz="2600" b="1" dirty="0"/>
              <a:t>captured</a:t>
            </a:r>
            <a:r>
              <a:rPr lang="en-US" sz="2600" dirty="0"/>
              <a:t> in some tangible form such as words, audio recordings, or images.</a:t>
            </a:r>
          </a:p>
          <a:p>
            <a:pPr marL="1257300" lvl="2" indent="-342900" algn="just">
              <a:lnSpc>
                <a:spcPct val="100000"/>
              </a:lnSpc>
              <a:spcBef>
                <a:spcPts val="1200"/>
              </a:spcBef>
              <a:buClr>
                <a:srgbClr val="973735"/>
              </a:buClr>
              <a:buSzPct val="50000"/>
              <a:buFont typeface="Wingdings" pitchFamily="2" charset="2"/>
              <a:buChar char="u"/>
              <a:defRPr/>
            </a:pPr>
            <a:r>
              <a:rPr lang="en-US" sz="2600" dirty="0"/>
              <a:t>Reside within </a:t>
            </a:r>
            <a:r>
              <a:rPr lang="en-US" sz="2600" b="1" dirty="0"/>
              <a:t>tangible or concrete </a:t>
            </a:r>
            <a:r>
              <a:rPr lang="en-US" sz="2600" dirty="0"/>
              <a:t>media.</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2069583" cy="709226"/>
          </a:xfrm>
        </p:spPr>
        <p:txBody>
          <a:bodyPr>
            <a:normAutofit fontScale="90000"/>
          </a:bodyPr>
          <a:lstStyle/>
          <a:p>
            <a:r>
              <a:rPr lang="en-US" sz="4000" b="1" dirty="0">
                <a:solidFill>
                  <a:srgbClr val="ED7D31"/>
                </a:solidFill>
              </a:rPr>
              <a:t>The Two Major Types of Knowledge: Tacit and Explicit</a:t>
            </a:r>
          </a:p>
        </p:txBody>
      </p:sp>
    </p:spTree>
    <p:extLst>
      <p:ext uri="{BB962C8B-B14F-4D97-AF65-F5344CB8AC3E}">
        <p14:creationId xmlns:p14="http://schemas.microsoft.com/office/powerpoint/2010/main" val="170602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2082283" cy="709226"/>
          </a:xfrm>
        </p:spPr>
        <p:txBody>
          <a:bodyPr>
            <a:normAutofit fontScale="90000"/>
          </a:bodyPr>
          <a:lstStyle/>
          <a:p>
            <a:r>
              <a:rPr lang="en-US" sz="4000" b="1" dirty="0">
                <a:solidFill>
                  <a:srgbClr val="ED7D31"/>
                </a:solidFill>
              </a:rPr>
              <a:t>The Two Major Types of Knowledge: Tacit and Explicit</a:t>
            </a:r>
            <a:endParaRPr lang="en-US" sz="4000" b="1" dirty="0"/>
          </a:p>
        </p:txBody>
      </p:sp>
      <p:graphicFrame>
        <p:nvGraphicFramePr>
          <p:cNvPr id="2" name="Table 3">
            <a:extLst>
              <a:ext uri="{FF2B5EF4-FFF2-40B4-BE49-F238E27FC236}">
                <a16:creationId xmlns:a16="http://schemas.microsoft.com/office/drawing/2014/main" id="{E0F9A9D9-167B-679F-A353-7C0EE3561BBF}"/>
              </a:ext>
            </a:extLst>
          </p:cNvPr>
          <p:cNvGraphicFramePr>
            <a:graphicFrameLocks noGrp="1"/>
          </p:cNvGraphicFramePr>
          <p:nvPr>
            <p:extLst>
              <p:ext uri="{D42A27DB-BD31-4B8C-83A1-F6EECF244321}">
                <p14:modId xmlns:p14="http://schemas.microsoft.com/office/powerpoint/2010/main" val="4167850490"/>
              </p:ext>
            </p:extLst>
          </p:nvPr>
        </p:nvGraphicFramePr>
        <p:xfrm>
          <a:off x="558059" y="1881679"/>
          <a:ext cx="11162886" cy="3329662"/>
        </p:xfrm>
        <a:graphic>
          <a:graphicData uri="http://schemas.openxmlformats.org/drawingml/2006/table">
            <a:tbl>
              <a:tblPr firstRow="1" bandRow="1">
                <a:tableStyleId>{21E4AEA4-8DFA-4A89-87EB-49C32662AFE0}</a:tableStyleId>
              </a:tblPr>
              <a:tblGrid>
                <a:gridCol w="5581443">
                  <a:extLst>
                    <a:ext uri="{9D8B030D-6E8A-4147-A177-3AD203B41FA5}">
                      <a16:colId xmlns:a16="http://schemas.microsoft.com/office/drawing/2014/main" val="4103906213"/>
                    </a:ext>
                  </a:extLst>
                </a:gridCol>
                <a:gridCol w="5581443">
                  <a:extLst>
                    <a:ext uri="{9D8B030D-6E8A-4147-A177-3AD203B41FA5}">
                      <a16:colId xmlns:a16="http://schemas.microsoft.com/office/drawing/2014/main" val="3982920607"/>
                    </a:ext>
                  </a:extLst>
                </a:gridCol>
              </a:tblGrid>
              <a:tr h="567551">
                <a:tc>
                  <a:txBody>
                    <a:bodyPr/>
                    <a:lstStyle/>
                    <a:p>
                      <a:pPr algn="ctr"/>
                      <a:r>
                        <a:rPr lang="en-US" sz="1800" dirty="0"/>
                        <a:t>Properties of tacit knowledge </a:t>
                      </a:r>
                    </a:p>
                  </a:txBody>
                  <a:tcPr anchor="ctr"/>
                </a:tc>
                <a:tc>
                  <a:txBody>
                    <a:bodyPr/>
                    <a:lstStyle/>
                    <a:p>
                      <a:pPr algn="ctr"/>
                      <a:r>
                        <a:rPr lang="en-US" sz="1800" dirty="0"/>
                        <a:t>Properties of explicit knowledge</a:t>
                      </a:r>
                    </a:p>
                  </a:txBody>
                  <a:tcPr anchor="ctr"/>
                </a:tc>
                <a:extLst>
                  <a:ext uri="{0D108BD9-81ED-4DB2-BD59-A6C34878D82A}">
                    <a16:rowId xmlns:a16="http://schemas.microsoft.com/office/drawing/2014/main" val="1946447117"/>
                  </a:ext>
                </a:extLst>
              </a:tr>
              <a:tr h="567551">
                <a:tc>
                  <a:txBody>
                    <a:bodyPr/>
                    <a:lstStyle/>
                    <a:p>
                      <a:r>
                        <a:rPr lang="en-US" sz="1800" dirty="0"/>
                        <a:t>Ability to adapt, to deal with new and exceptional situations</a:t>
                      </a:r>
                    </a:p>
                  </a:txBody>
                  <a:tcPr anchor="ctr"/>
                </a:tc>
                <a:tc>
                  <a:txBody>
                    <a:bodyPr/>
                    <a:lstStyle/>
                    <a:p>
                      <a:r>
                        <a:rPr lang="en-US" sz="1800" dirty="0"/>
                        <a:t>Ability to disseminate, to reproduce, to access and re-apply throughout the organization</a:t>
                      </a:r>
                    </a:p>
                  </a:txBody>
                  <a:tcPr anchor="ctr"/>
                </a:tc>
                <a:extLst>
                  <a:ext uri="{0D108BD9-81ED-4DB2-BD59-A6C34878D82A}">
                    <a16:rowId xmlns:a16="http://schemas.microsoft.com/office/drawing/2014/main" val="38491841"/>
                  </a:ext>
                </a:extLst>
              </a:tr>
              <a:tr h="567551">
                <a:tc>
                  <a:txBody>
                    <a:bodyPr/>
                    <a:lstStyle/>
                    <a:p>
                      <a:r>
                        <a:rPr lang="en-US" sz="1800" dirty="0"/>
                        <a:t>Expertise, know-how, know-why, and care why</a:t>
                      </a:r>
                    </a:p>
                  </a:txBody>
                  <a:tcPr anchor="ctr"/>
                </a:tc>
                <a:tc>
                  <a:txBody>
                    <a:bodyPr/>
                    <a:lstStyle/>
                    <a:p>
                      <a:r>
                        <a:rPr lang="en-US" sz="1800" dirty="0"/>
                        <a:t>Ability to teach, to train</a:t>
                      </a:r>
                    </a:p>
                  </a:txBody>
                  <a:tcPr anchor="ctr"/>
                </a:tc>
                <a:extLst>
                  <a:ext uri="{0D108BD9-81ED-4DB2-BD59-A6C34878D82A}">
                    <a16:rowId xmlns:a16="http://schemas.microsoft.com/office/drawing/2014/main" val="3207341603"/>
                  </a:ext>
                </a:extLst>
              </a:tr>
              <a:tr h="567551">
                <a:tc>
                  <a:txBody>
                    <a:bodyPr/>
                    <a:lstStyle/>
                    <a:p>
                      <a:r>
                        <a:rPr lang="en-US" sz="1800" dirty="0"/>
                        <a:t>Ability to collaborate, to share a vision, to transmit a culture</a:t>
                      </a:r>
                    </a:p>
                  </a:txBody>
                  <a:tcPr anchor="ctr"/>
                </a:tc>
                <a:tc>
                  <a:txBody>
                    <a:bodyPr/>
                    <a:lstStyle/>
                    <a:p>
                      <a:r>
                        <a:rPr lang="en-US" sz="1800" dirty="0"/>
                        <a:t>Ability to organize, to systematize; to translate a vision into a mission statement, into operational guidelines</a:t>
                      </a:r>
                    </a:p>
                  </a:txBody>
                  <a:tcPr anchor="ctr"/>
                </a:tc>
                <a:extLst>
                  <a:ext uri="{0D108BD9-81ED-4DB2-BD59-A6C34878D82A}">
                    <a16:rowId xmlns:a16="http://schemas.microsoft.com/office/drawing/2014/main" val="3780236024"/>
                  </a:ext>
                </a:extLst>
              </a:tr>
              <a:tr h="567551">
                <a:tc>
                  <a:txBody>
                    <a:bodyPr/>
                    <a:lstStyle/>
                    <a:p>
                      <a:r>
                        <a:rPr lang="en-US" sz="1800" dirty="0"/>
                        <a:t>Coaching and mentoring to transfer experiential knowledge on a one-to-one, face-to-face basis</a:t>
                      </a:r>
                    </a:p>
                  </a:txBody>
                  <a:tcPr anchor="ctr"/>
                </a:tc>
                <a:tc>
                  <a:txBody>
                    <a:bodyPr/>
                    <a:lstStyle/>
                    <a:p>
                      <a:r>
                        <a:rPr lang="en-US" sz="1800" dirty="0"/>
                        <a:t>Transfer knowledge via products, services, and documented processes</a:t>
                      </a:r>
                    </a:p>
                  </a:txBody>
                  <a:tcPr anchor="ctr"/>
                </a:tc>
                <a:extLst>
                  <a:ext uri="{0D108BD9-81ED-4DB2-BD59-A6C34878D82A}">
                    <a16:rowId xmlns:a16="http://schemas.microsoft.com/office/drawing/2014/main" val="4139493593"/>
                  </a:ext>
                </a:extLst>
              </a:tr>
            </a:tbl>
          </a:graphicData>
        </a:graphic>
      </p:graphicFrame>
      <p:graphicFrame>
        <p:nvGraphicFramePr>
          <p:cNvPr id="4" name="Object 3">
            <a:extLst>
              <a:ext uri="{FF2B5EF4-FFF2-40B4-BE49-F238E27FC236}">
                <a16:creationId xmlns:a16="http://schemas.microsoft.com/office/drawing/2014/main" id="{896D3E0A-16D1-6727-93C1-7C836B3BDE84}"/>
              </a:ext>
            </a:extLst>
          </p:cNvPr>
          <p:cNvGraphicFramePr>
            <a:graphicFrameLocks noChangeAspect="1"/>
          </p:cNvGraphicFramePr>
          <p:nvPr>
            <p:extLst>
              <p:ext uri="{D42A27DB-BD31-4B8C-83A1-F6EECF244321}">
                <p14:modId xmlns:p14="http://schemas.microsoft.com/office/powerpoint/2010/main" val="3635489680"/>
              </p:ext>
            </p:extLst>
          </p:nvPr>
        </p:nvGraphicFramePr>
        <p:xfrm>
          <a:off x="2090439" y="5526281"/>
          <a:ext cx="7804526" cy="365124"/>
        </p:xfrm>
        <a:graphic>
          <a:graphicData uri="http://schemas.openxmlformats.org/presentationml/2006/ole">
            <mc:AlternateContent xmlns:mc="http://schemas.openxmlformats.org/markup-compatibility/2006">
              <mc:Choice xmlns:v="urn:schemas-microsoft-com:vml" Requires="v">
                <p:oleObj name="Bitmap Image" r:id="rId3" imgW="6515280" imgH="304920" progId="PBrush">
                  <p:embed/>
                </p:oleObj>
              </mc:Choice>
              <mc:Fallback>
                <p:oleObj name="Bitmap Image" r:id="rId3" imgW="6515280" imgH="304920" progId="PBrush">
                  <p:embed/>
                  <p:pic>
                    <p:nvPicPr>
                      <p:cNvPr id="0" name=""/>
                      <p:cNvPicPr/>
                      <p:nvPr/>
                    </p:nvPicPr>
                    <p:blipFill>
                      <a:blip r:embed="rId4"/>
                      <a:stretch>
                        <a:fillRect/>
                      </a:stretch>
                    </p:blipFill>
                    <p:spPr>
                      <a:xfrm>
                        <a:off x="2090439" y="5526281"/>
                        <a:ext cx="7804526" cy="365124"/>
                      </a:xfrm>
                      <a:prstGeom prst="rect">
                        <a:avLst/>
                      </a:prstGeom>
                    </p:spPr>
                  </p:pic>
                </p:oleObj>
              </mc:Fallback>
            </mc:AlternateContent>
          </a:graphicData>
        </a:graphic>
      </p:graphicFrame>
    </p:spTree>
    <p:extLst>
      <p:ext uri="{BB962C8B-B14F-4D97-AF65-F5344CB8AC3E}">
        <p14:creationId xmlns:p14="http://schemas.microsoft.com/office/powerpoint/2010/main" val="1287773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904483" cy="709226"/>
          </a:xfrm>
        </p:spPr>
        <p:txBody>
          <a:bodyPr>
            <a:normAutofit fontScale="90000"/>
          </a:bodyPr>
          <a:lstStyle/>
          <a:p>
            <a:r>
              <a:rPr lang="en-US" sz="4000" b="1" dirty="0">
                <a:solidFill>
                  <a:srgbClr val="ED7D31"/>
                </a:solidFill>
              </a:rPr>
              <a:t>The Two Major Types of Knowledge: Tacit and Explicit</a:t>
            </a:r>
            <a:endParaRPr lang="en-US" sz="4000" b="1" dirty="0"/>
          </a:p>
        </p:txBody>
      </p:sp>
      <p:graphicFrame>
        <p:nvGraphicFramePr>
          <p:cNvPr id="4" name="Object 3">
            <a:extLst>
              <a:ext uri="{FF2B5EF4-FFF2-40B4-BE49-F238E27FC236}">
                <a16:creationId xmlns:a16="http://schemas.microsoft.com/office/drawing/2014/main" id="{85DEF67B-8537-38B5-A6C7-D5F9DCC38C50}"/>
              </a:ext>
            </a:extLst>
          </p:cNvPr>
          <p:cNvGraphicFramePr>
            <a:graphicFrameLocks noChangeAspect="1"/>
          </p:cNvGraphicFramePr>
          <p:nvPr>
            <p:extLst>
              <p:ext uri="{D42A27DB-BD31-4B8C-83A1-F6EECF244321}">
                <p14:modId xmlns:p14="http://schemas.microsoft.com/office/powerpoint/2010/main" val="1126410129"/>
              </p:ext>
            </p:extLst>
          </p:nvPr>
        </p:nvGraphicFramePr>
        <p:xfrm>
          <a:off x="90466" y="1983628"/>
          <a:ext cx="12011067" cy="3514648"/>
        </p:xfrm>
        <a:graphic>
          <a:graphicData uri="http://schemas.openxmlformats.org/presentationml/2006/ole">
            <mc:AlternateContent xmlns:mc="http://schemas.openxmlformats.org/markup-compatibility/2006">
              <mc:Choice xmlns:v="urn:schemas-microsoft-com:vml" Requires="v">
                <p:oleObj name="Bitmap Image" r:id="rId3" imgW="5913000" imgH="1729800" progId="PBrush">
                  <p:embed/>
                </p:oleObj>
              </mc:Choice>
              <mc:Fallback>
                <p:oleObj name="Bitmap Image" r:id="rId3" imgW="5913000" imgH="1729800" progId="PBrush">
                  <p:embed/>
                  <p:pic>
                    <p:nvPicPr>
                      <p:cNvPr id="4" name="Object 3">
                        <a:extLst>
                          <a:ext uri="{FF2B5EF4-FFF2-40B4-BE49-F238E27FC236}">
                            <a16:creationId xmlns:a16="http://schemas.microsoft.com/office/drawing/2014/main" id="{EE0D44F9-4FA5-1E81-9C05-58C7C60BB3ED}"/>
                          </a:ext>
                        </a:extLst>
                      </p:cNvPr>
                      <p:cNvPicPr/>
                      <p:nvPr/>
                    </p:nvPicPr>
                    <p:blipFill>
                      <a:blip r:embed="rId4"/>
                      <a:stretch>
                        <a:fillRect/>
                      </a:stretch>
                    </p:blipFill>
                    <p:spPr>
                      <a:xfrm>
                        <a:off x="90466" y="1983628"/>
                        <a:ext cx="12011067" cy="3514648"/>
                      </a:xfrm>
                      <a:prstGeom prst="rect">
                        <a:avLst/>
                      </a:prstGeom>
                    </p:spPr>
                  </p:pic>
                </p:oleObj>
              </mc:Fallback>
            </mc:AlternateContent>
          </a:graphicData>
        </a:graphic>
      </p:graphicFrame>
    </p:spTree>
    <p:extLst>
      <p:ext uri="{BB962C8B-B14F-4D97-AF65-F5344CB8AC3E}">
        <p14:creationId xmlns:p14="http://schemas.microsoft.com/office/powerpoint/2010/main" val="3046899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000" dirty="0">
                <a:latin typeface="Arial" panose="020B0604020202020204" pitchFamily="34" charset="0"/>
              </a:rPr>
              <a:t>The Two Major Types of Knowledge: Tacit and Explicit</a:t>
            </a:r>
          </a:p>
          <a:p>
            <a:pPr marL="342900" indent="-342900" algn="just">
              <a:lnSpc>
                <a:spcPct val="150000"/>
              </a:lnSpc>
              <a:spcBef>
                <a:spcPts val="600"/>
              </a:spcBef>
              <a:buClr>
                <a:srgbClr val="973735"/>
              </a:buClr>
              <a:buSzPct val="50000"/>
              <a:buFont typeface="Wingdings" pitchFamily="2" charset="2"/>
              <a:buChar char="u"/>
              <a:defRPr/>
            </a:pPr>
            <a:r>
              <a:rPr lang="en-US" sz="3000" b="1" dirty="0">
                <a:solidFill>
                  <a:srgbClr val="ED7D31"/>
                </a:solidFill>
                <a:latin typeface="Arial" panose="020B0604020202020204" pitchFamily="34" charset="0"/>
              </a:rPr>
              <a:t>Properties of Knowledge</a:t>
            </a:r>
          </a:p>
          <a:p>
            <a:pPr marL="342900" indent="-342900" algn="just">
              <a:lnSpc>
                <a:spcPct val="150000"/>
              </a:lnSpc>
              <a:spcBef>
                <a:spcPts val="600"/>
              </a:spcBef>
              <a:buClr>
                <a:srgbClr val="973735"/>
              </a:buClr>
              <a:buSzPct val="50000"/>
              <a:buFont typeface="Wingdings" pitchFamily="2" charset="2"/>
              <a:buChar char="u"/>
              <a:defRPr/>
            </a:pPr>
            <a:r>
              <a:rPr lang="en-US" sz="3000" dirty="0">
                <a:effectLst/>
                <a:latin typeface="Arial" panose="020B0604020202020204" pitchFamily="34" charset="0"/>
              </a:rPr>
              <a:t>Concept Analysis Technique</a:t>
            </a:r>
          </a:p>
          <a:p>
            <a:pPr marL="342900" indent="-342900" algn="just">
              <a:lnSpc>
                <a:spcPct val="150000"/>
              </a:lnSpc>
              <a:spcBef>
                <a:spcPts val="600"/>
              </a:spcBef>
              <a:buClr>
                <a:srgbClr val="973735"/>
              </a:buClr>
              <a:buSzPct val="50000"/>
              <a:buFont typeface="Wingdings" pitchFamily="2" charset="2"/>
              <a:buChar char="u"/>
              <a:defRPr/>
            </a:pPr>
            <a:endParaRPr lang="en-US" sz="3200" dirty="0">
              <a:effectLst/>
              <a:latin typeface="Arial" panose="020B0604020202020204" pitchFamily="34" charset="0"/>
            </a:endParaRPr>
          </a:p>
          <a:p>
            <a:pPr marL="342900" indent="-342900" algn="just">
              <a:lnSpc>
                <a:spcPct val="150000"/>
              </a:lnSpc>
              <a:spcBef>
                <a:spcPts val="600"/>
              </a:spcBef>
              <a:buClr>
                <a:srgbClr val="973735"/>
              </a:buClr>
              <a:buSzPct val="50000"/>
              <a:buFont typeface="Wingdings" pitchFamily="2" charset="2"/>
              <a:buChar char="u"/>
              <a:defRPr/>
            </a:pPr>
            <a:endParaRPr lang="en-US" sz="3000" b="1" dirty="0">
              <a:effectLst/>
              <a:latin typeface="Arial" panose="020B0604020202020204" pitchFamily="34" charset="0"/>
            </a:endParaRPr>
          </a:p>
          <a:p>
            <a:pPr marL="800100" lvl="1" indent="-342900" algn="just">
              <a:lnSpc>
                <a:spcPct val="150000"/>
              </a:lnSpc>
              <a:spcBef>
                <a:spcPts val="6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Is KM?</a:t>
            </a:r>
          </a:p>
        </p:txBody>
      </p:sp>
    </p:spTree>
    <p:extLst>
      <p:ext uri="{BB962C8B-B14F-4D97-AF65-F5344CB8AC3E}">
        <p14:creationId xmlns:p14="http://schemas.microsoft.com/office/powerpoint/2010/main" val="935394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00000"/>
              </a:lnSpc>
              <a:spcBef>
                <a:spcPts val="2400"/>
              </a:spcBef>
              <a:buClr>
                <a:srgbClr val="973735"/>
              </a:buClr>
              <a:buSzPct val="50000"/>
              <a:buFont typeface="Wingdings" pitchFamily="2" charset="2"/>
              <a:buChar char="u"/>
              <a:defRPr/>
            </a:pPr>
            <a:r>
              <a:rPr lang="en-US" sz="2800" dirty="0"/>
              <a:t>Using knowledge does not consume it.</a:t>
            </a:r>
          </a:p>
          <a:p>
            <a:pPr marL="800100" lvl="1" indent="-342900" algn="just">
              <a:lnSpc>
                <a:spcPct val="100000"/>
              </a:lnSpc>
              <a:spcBef>
                <a:spcPts val="2400"/>
              </a:spcBef>
              <a:buClr>
                <a:srgbClr val="973735"/>
              </a:buClr>
              <a:buSzPct val="50000"/>
              <a:buFont typeface="Wingdings" pitchFamily="2" charset="2"/>
              <a:buChar char="u"/>
              <a:defRPr/>
            </a:pPr>
            <a:r>
              <a:rPr lang="en-US" sz="2800" dirty="0"/>
              <a:t>Transferring knowledge does not result in losing it.</a:t>
            </a:r>
          </a:p>
          <a:p>
            <a:pPr marL="800100" lvl="1" indent="-342900" algn="just">
              <a:lnSpc>
                <a:spcPct val="100000"/>
              </a:lnSpc>
              <a:spcBef>
                <a:spcPts val="2400"/>
              </a:spcBef>
              <a:buClr>
                <a:srgbClr val="973735"/>
              </a:buClr>
              <a:buSzPct val="50000"/>
              <a:buFont typeface="Wingdings" pitchFamily="2" charset="2"/>
              <a:buChar char="u"/>
              <a:defRPr/>
            </a:pPr>
            <a:r>
              <a:rPr lang="en-US" sz="2800" dirty="0"/>
              <a:t>Knowledge is abundant, but the ability to use it is scarce.</a:t>
            </a:r>
          </a:p>
          <a:p>
            <a:pPr marL="800100" lvl="1" indent="-342900" algn="just">
              <a:lnSpc>
                <a:spcPct val="100000"/>
              </a:lnSpc>
              <a:spcBef>
                <a:spcPts val="2400"/>
              </a:spcBef>
              <a:buClr>
                <a:srgbClr val="973735"/>
              </a:buClr>
              <a:buSzPct val="50000"/>
              <a:buFont typeface="Wingdings" pitchFamily="2" charset="2"/>
              <a:buChar char="u"/>
              <a:defRPr/>
            </a:pPr>
            <a:r>
              <a:rPr lang="en-US" sz="2800" dirty="0"/>
              <a:t>Much of an organization’s valuable knowledge walks out the door at the end of the day.</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Properties of Knowledge</a:t>
            </a:r>
          </a:p>
        </p:txBody>
      </p:sp>
    </p:spTree>
    <p:extLst>
      <p:ext uri="{BB962C8B-B14F-4D97-AF65-F5344CB8AC3E}">
        <p14:creationId xmlns:p14="http://schemas.microsoft.com/office/powerpoint/2010/main" val="15214646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000" dirty="0">
                <a:latin typeface="Arial" panose="020B0604020202020204" pitchFamily="34" charset="0"/>
              </a:rPr>
              <a:t>The Two Major Types of Knowledge: Tacit and Explicit</a:t>
            </a:r>
          </a:p>
          <a:p>
            <a:pPr marL="342900" indent="-342900" algn="just">
              <a:lnSpc>
                <a:spcPct val="150000"/>
              </a:lnSpc>
              <a:spcBef>
                <a:spcPts val="600"/>
              </a:spcBef>
              <a:buClr>
                <a:srgbClr val="973735"/>
              </a:buClr>
              <a:buSzPct val="50000"/>
              <a:buFont typeface="Wingdings" pitchFamily="2" charset="2"/>
              <a:buChar char="u"/>
              <a:defRPr/>
            </a:pPr>
            <a:r>
              <a:rPr lang="en-US" sz="3000" dirty="0">
                <a:latin typeface="Arial" panose="020B0604020202020204" pitchFamily="34" charset="0"/>
              </a:rPr>
              <a:t>Properties of Knowledge</a:t>
            </a:r>
          </a:p>
          <a:p>
            <a:pPr marL="342900" indent="-342900" algn="just">
              <a:lnSpc>
                <a:spcPct val="150000"/>
              </a:lnSpc>
              <a:spcBef>
                <a:spcPts val="600"/>
              </a:spcBef>
              <a:buClr>
                <a:srgbClr val="973735"/>
              </a:buClr>
              <a:buSzPct val="50000"/>
              <a:buFont typeface="Wingdings" pitchFamily="2" charset="2"/>
              <a:buChar char="u"/>
              <a:defRPr/>
            </a:pPr>
            <a:r>
              <a:rPr lang="en-US" sz="3000" b="1" dirty="0">
                <a:solidFill>
                  <a:srgbClr val="ED7D31"/>
                </a:solidFill>
                <a:latin typeface="Arial" panose="020B0604020202020204" pitchFamily="34" charset="0"/>
              </a:rPr>
              <a:t>Concept Analysis Technique</a:t>
            </a:r>
          </a:p>
          <a:p>
            <a:pPr marL="342900" indent="-342900" algn="just">
              <a:lnSpc>
                <a:spcPct val="150000"/>
              </a:lnSpc>
              <a:spcBef>
                <a:spcPts val="600"/>
              </a:spcBef>
              <a:buClr>
                <a:srgbClr val="973735"/>
              </a:buClr>
              <a:buSzPct val="50000"/>
              <a:buFont typeface="Wingdings" pitchFamily="2" charset="2"/>
              <a:buChar char="u"/>
              <a:defRPr/>
            </a:pPr>
            <a:endParaRPr lang="en-US" sz="3200" dirty="0">
              <a:effectLst/>
              <a:latin typeface="Arial" panose="020B0604020202020204" pitchFamily="34" charset="0"/>
            </a:endParaRPr>
          </a:p>
          <a:p>
            <a:pPr marL="342900" indent="-342900" algn="just">
              <a:lnSpc>
                <a:spcPct val="150000"/>
              </a:lnSpc>
              <a:spcBef>
                <a:spcPts val="600"/>
              </a:spcBef>
              <a:buClr>
                <a:srgbClr val="973735"/>
              </a:buClr>
              <a:buSzPct val="50000"/>
              <a:buFont typeface="Wingdings" pitchFamily="2" charset="2"/>
              <a:buChar char="u"/>
              <a:defRPr/>
            </a:pPr>
            <a:endParaRPr lang="en-US" sz="3000" b="1" dirty="0">
              <a:effectLst/>
              <a:latin typeface="Arial" panose="020B0604020202020204" pitchFamily="34" charset="0"/>
            </a:endParaRPr>
          </a:p>
          <a:p>
            <a:pPr marL="800100" lvl="1" indent="-342900" algn="just">
              <a:lnSpc>
                <a:spcPct val="150000"/>
              </a:lnSpc>
              <a:spcBef>
                <a:spcPts val="6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Is KM?</a:t>
            </a:r>
          </a:p>
        </p:txBody>
      </p:sp>
    </p:spTree>
    <p:extLst>
      <p:ext uri="{BB962C8B-B14F-4D97-AF65-F5344CB8AC3E}">
        <p14:creationId xmlns:p14="http://schemas.microsoft.com/office/powerpoint/2010/main" val="3900362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00000"/>
              </a:lnSpc>
              <a:spcBef>
                <a:spcPts val="2400"/>
              </a:spcBef>
              <a:buClr>
                <a:srgbClr val="973735"/>
              </a:buClr>
              <a:buSzPct val="50000"/>
              <a:buFont typeface="Wingdings" pitchFamily="2" charset="2"/>
              <a:buChar char="u"/>
              <a:defRPr/>
            </a:pPr>
            <a:r>
              <a:rPr lang="en-US" sz="2800" dirty="0"/>
              <a:t>Concept analysis is an established technique used in the social sciences (such as philosophy and education) in order to derive a formula that in turn can be used to generate definitions and descriptive phrases for highly complex terms</a:t>
            </a:r>
          </a:p>
          <a:p>
            <a:pPr marL="800100" lvl="1" indent="-342900" algn="just">
              <a:lnSpc>
                <a:spcPct val="100000"/>
              </a:lnSpc>
              <a:spcBef>
                <a:spcPts val="2400"/>
              </a:spcBef>
              <a:buClr>
                <a:srgbClr val="973735"/>
              </a:buClr>
              <a:buSzPct val="50000"/>
              <a:buFont typeface="Wingdings" pitchFamily="2" charset="2"/>
              <a:buChar char="u"/>
              <a:defRPr/>
            </a:pPr>
            <a:r>
              <a:rPr lang="en-US" sz="2800" dirty="0"/>
              <a:t>Framework used in social science</a:t>
            </a:r>
          </a:p>
          <a:p>
            <a:pPr marL="800100" lvl="1" indent="-342900" algn="just">
              <a:lnSpc>
                <a:spcPct val="100000"/>
              </a:lnSpc>
              <a:spcBef>
                <a:spcPts val="2400"/>
              </a:spcBef>
              <a:buClr>
                <a:srgbClr val="973735"/>
              </a:buClr>
              <a:buSzPct val="50000"/>
              <a:buFont typeface="Wingdings" pitchFamily="2" charset="2"/>
              <a:buChar char="u"/>
              <a:defRPr/>
            </a:pPr>
            <a:r>
              <a:rPr lang="en-US" sz="2800" dirty="0"/>
              <a:t>Useful in situation where the concept are complex and subjective</a:t>
            </a:r>
          </a:p>
          <a:p>
            <a:pPr marL="457200" lvl="1" indent="0" algn="just">
              <a:lnSpc>
                <a:spcPct val="150000"/>
              </a:lnSpc>
              <a:spcBef>
                <a:spcPts val="600"/>
              </a:spcBef>
              <a:buClr>
                <a:srgbClr val="973735"/>
              </a:buClr>
              <a:buSzPct val="50000"/>
              <a:buNone/>
              <a:defRPr/>
            </a:pPr>
            <a:endParaRPr lang="en-US" dirty="0"/>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Concept Analysis Technique</a:t>
            </a:r>
          </a:p>
        </p:txBody>
      </p:sp>
    </p:spTree>
    <p:extLst>
      <p:ext uri="{BB962C8B-B14F-4D97-AF65-F5344CB8AC3E}">
        <p14:creationId xmlns:p14="http://schemas.microsoft.com/office/powerpoint/2010/main" val="2895073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633200" cy="4255275"/>
          </a:xfrm>
        </p:spPr>
        <p:txBody>
          <a:bodyPr>
            <a:normAutofit/>
          </a:bodyPr>
          <a:lstStyle/>
          <a:p>
            <a:pPr marL="457200" lvl="1" indent="0" algn="just">
              <a:lnSpc>
                <a:spcPct val="100000"/>
              </a:lnSpc>
              <a:spcBef>
                <a:spcPts val="1200"/>
              </a:spcBef>
              <a:buClr>
                <a:srgbClr val="973735"/>
              </a:buClr>
              <a:buSzPct val="50000"/>
              <a:buNone/>
              <a:defRPr/>
            </a:pPr>
            <a:endParaRPr lang="en-US" dirty="0"/>
          </a:p>
          <a:p>
            <a:pPr marL="457200" lvl="1" indent="0" algn="just">
              <a:lnSpc>
                <a:spcPct val="100000"/>
              </a:lnSpc>
              <a:spcBef>
                <a:spcPts val="1200"/>
              </a:spcBef>
              <a:buClr>
                <a:srgbClr val="973735"/>
              </a:buClr>
              <a:buSzPct val="50000"/>
              <a:buNone/>
              <a:defRPr/>
            </a:pPr>
            <a:r>
              <a:rPr lang="en-US" sz="2600" dirty="0"/>
              <a:t>=&gt; A technique used to visually map out conceptual information in the process of defining a word. This is a technique derived from the fields of philosophy and science education and it is typically used in clearly defining complex, value-laden terms such as democracy or religion.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Concept Analysis Technique</a:t>
            </a:r>
          </a:p>
        </p:txBody>
      </p:sp>
    </p:spTree>
    <p:extLst>
      <p:ext uri="{BB962C8B-B14F-4D97-AF65-F5344CB8AC3E}">
        <p14:creationId xmlns:p14="http://schemas.microsoft.com/office/powerpoint/2010/main" val="1598476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Concept Analysis Technique</a:t>
            </a:r>
          </a:p>
        </p:txBody>
      </p:sp>
      <p:graphicFrame>
        <p:nvGraphicFramePr>
          <p:cNvPr id="2" name="Object 1">
            <a:extLst>
              <a:ext uri="{FF2B5EF4-FFF2-40B4-BE49-F238E27FC236}">
                <a16:creationId xmlns:a16="http://schemas.microsoft.com/office/drawing/2014/main" id="{63340465-5254-84C0-6354-65BA834B986E}"/>
              </a:ext>
            </a:extLst>
          </p:cNvPr>
          <p:cNvGraphicFramePr>
            <a:graphicFrameLocks noChangeAspect="1"/>
          </p:cNvGraphicFramePr>
          <p:nvPr>
            <p:extLst>
              <p:ext uri="{D42A27DB-BD31-4B8C-83A1-F6EECF244321}">
                <p14:modId xmlns:p14="http://schemas.microsoft.com/office/powerpoint/2010/main" val="2635387865"/>
              </p:ext>
            </p:extLst>
          </p:nvPr>
        </p:nvGraphicFramePr>
        <p:xfrm>
          <a:off x="5384801" y="1403239"/>
          <a:ext cx="6586376" cy="4633246"/>
        </p:xfrm>
        <a:graphic>
          <a:graphicData uri="http://schemas.openxmlformats.org/presentationml/2006/ole">
            <mc:AlternateContent xmlns:mc="http://schemas.openxmlformats.org/markup-compatibility/2006">
              <mc:Choice xmlns:v="urn:schemas-microsoft-com:vml" Requires="v">
                <p:oleObj name="Bitmap Image" r:id="rId3" imgW="6012360" imgH="4229280" progId="PBrush">
                  <p:embed/>
                </p:oleObj>
              </mc:Choice>
              <mc:Fallback>
                <p:oleObj name="Bitmap Image" r:id="rId3" imgW="6012360" imgH="4229280" progId="PBrush">
                  <p:embed/>
                  <p:pic>
                    <p:nvPicPr>
                      <p:cNvPr id="0" name=""/>
                      <p:cNvPicPr/>
                      <p:nvPr/>
                    </p:nvPicPr>
                    <p:blipFill>
                      <a:blip r:embed="rId4"/>
                      <a:stretch>
                        <a:fillRect/>
                      </a:stretch>
                    </p:blipFill>
                    <p:spPr>
                      <a:xfrm>
                        <a:off x="5384801" y="1403239"/>
                        <a:ext cx="6586376" cy="4633246"/>
                      </a:xfrm>
                      <a:prstGeom prst="rect">
                        <a:avLst/>
                      </a:prstGeom>
                    </p:spPr>
                  </p:pic>
                </p:oleObj>
              </mc:Fallback>
            </mc:AlternateContent>
          </a:graphicData>
        </a:graphic>
      </p:graphicFrame>
      <p:sp>
        <p:nvSpPr>
          <p:cNvPr id="5" name="Content Placeholder 3">
            <a:extLst>
              <a:ext uri="{FF2B5EF4-FFF2-40B4-BE49-F238E27FC236}">
                <a16:creationId xmlns:a16="http://schemas.microsoft.com/office/drawing/2014/main" id="{A640247B-4F9C-293E-18AE-CE1CFC6BC57F}"/>
              </a:ext>
            </a:extLst>
          </p:cNvPr>
          <p:cNvSpPr txBox="1">
            <a:spLocks/>
          </p:cNvSpPr>
          <p:nvPr/>
        </p:nvSpPr>
        <p:spPr>
          <a:xfrm>
            <a:off x="-867488" y="1731078"/>
            <a:ext cx="5807788" cy="488532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57300" lvl="2" indent="-342900" algn="just">
              <a:lnSpc>
                <a:spcPct val="100000"/>
              </a:lnSpc>
              <a:spcBef>
                <a:spcPts val="2400"/>
              </a:spcBef>
              <a:buClr>
                <a:srgbClr val="973735"/>
              </a:buClr>
              <a:buSzPct val="50000"/>
              <a:buFont typeface="Wingdings" pitchFamily="2" charset="2"/>
              <a:buChar char="u"/>
              <a:defRPr/>
            </a:pPr>
            <a:r>
              <a:rPr lang="en-US" sz="2600" b="1" dirty="0"/>
              <a:t>Key attributes: </a:t>
            </a:r>
            <a:r>
              <a:rPr lang="en-US" sz="2600" dirty="0"/>
              <a:t>A list of key attributes that must be present in the definition, vision, or mission statement.</a:t>
            </a:r>
          </a:p>
          <a:p>
            <a:pPr marL="1257300" lvl="2" indent="-342900" algn="just">
              <a:lnSpc>
                <a:spcPct val="100000"/>
              </a:lnSpc>
              <a:spcBef>
                <a:spcPts val="2400"/>
              </a:spcBef>
              <a:buClr>
                <a:srgbClr val="973735"/>
              </a:buClr>
              <a:buSzPct val="50000"/>
              <a:buFont typeface="Wingdings" pitchFamily="2" charset="2"/>
              <a:buChar char="u"/>
              <a:defRPr/>
            </a:pPr>
            <a:r>
              <a:rPr lang="en-US" sz="2600" b="1" dirty="0"/>
              <a:t>Examples:</a:t>
            </a:r>
            <a:r>
              <a:rPr lang="en-US" sz="2600" dirty="0"/>
              <a:t> A list of illustrative examples.</a:t>
            </a:r>
          </a:p>
          <a:p>
            <a:pPr marL="1257300" lvl="2" indent="-342900" algn="just">
              <a:lnSpc>
                <a:spcPct val="100000"/>
              </a:lnSpc>
              <a:spcBef>
                <a:spcPts val="2400"/>
              </a:spcBef>
              <a:buClr>
                <a:srgbClr val="973735"/>
              </a:buClr>
              <a:buSzPct val="50000"/>
              <a:buFont typeface="Wingdings" pitchFamily="2" charset="2"/>
              <a:buChar char="u"/>
              <a:defRPr/>
            </a:pPr>
            <a:r>
              <a:rPr lang="en-US" sz="2600" b="1" dirty="0"/>
              <a:t>Nonexamples:</a:t>
            </a:r>
            <a:r>
              <a:rPr lang="en-US" sz="2600" dirty="0"/>
              <a:t> A list of illustrative non examples.</a:t>
            </a:r>
          </a:p>
        </p:txBody>
      </p:sp>
      <p:graphicFrame>
        <p:nvGraphicFramePr>
          <p:cNvPr id="4" name="Object 3">
            <a:extLst>
              <a:ext uri="{FF2B5EF4-FFF2-40B4-BE49-F238E27FC236}">
                <a16:creationId xmlns:a16="http://schemas.microsoft.com/office/drawing/2014/main" id="{76F89E16-ECEB-A604-8F3D-E61D5DDC0976}"/>
              </a:ext>
            </a:extLst>
          </p:cNvPr>
          <p:cNvGraphicFramePr>
            <a:graphicFrameLocks noChangeAspect="1"/>
          </p:cNvGraphicFramePr>
          <p:nvPr>
            <p:extLst>
              <p:ext uri="{D42A27DB-BD31-4B8C-83A1-F6EECF244321}">
                <p14:modId xmlns:p14="http://schemas.microsoft.com/office/powerpoint/2010/main" val="662483942"/>
              </p:ext>
            </p:extLst>
          </p:nvPr>
        </p:nvGraphicFramePr>
        <p:xfrm>
          <a:off x="6096000" y="6071705"/>
          <a:ext cx="5707063" cy="388937"/>
        </p:xfrm>
        <a:graphic>
          <a:graphicData uri="http://schemas.openxmlformats.org/presentationml/2006/ole">
            <mc:AlternateContent xmlns:mc="http://schemas.openxmlformats.org/markup-compatibility/2006">
              <mc:Choice xmlns:v="urn:schemas-microsoft-com:vml" Requires="v">
                <p:oleObj name="Bitmap Image" r:id="rId5" imgW="5707440" imgH="388800" progId="PBrush">
                  <p:embed/>
                </p:oleObj>
              </mc:Choice>
              <mc:Fallback>
                <p:oleObj name="Bitmap Image" r:id="rId5" imgW="5707440" imgH="388800" progId="PBrush">
                  <p:embed/>
                  <p:pic>
                    <p:nvPicPr>
                      <p:cNvPr id="0" name=""/>
                      <p:cNvPicPr/>
                      <p:nvPr/>
                    </p:nvPicPr>
                    <p:blipFill>
                      <a:blip r:embed="rId6"/>
                      <a:stretch>
                        <a:fillRect/>
                      </a:stretch>
                    </p:blipFill>
                    <p:spPr>
                      <a:xfrm>
                        <a:off x="6096000" y="6071705"/>
                        <a:ext cx="5707063" cy="388937"/>
                      </a:xfrm>
                      <a:prstGeom prst="rect">
                        <a:avLst/>
                      </a:prstGeom>
                    </p:spPr>
                  </p:pic>
                </p:oleObj>
              </mc:Fallback>
            </mc:AlternateContent>
          </a:graphicData>
        </a:graphic>
      </p:graphicFrame>
    </p:spTree>
    <p:extLst>
      <p:ext uri="{BB962C8B-B14F-4D97-AF65-F5344CB8AC3E}">
        <p14:creationId xmlns:p14="http://schemas.microsoft.com/office/powerpoint/2010/main" val="834204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00000"/>
              </a:lnSpc>
              <a:spcBef>
                <a:spcPts val="2400"/>
              </a:spcBef>
              <a:buClr>
                <a:srgbClr val="973735"/>
              </a:buClr>
              <a:buSzPct val="50000"/>
              <a:buFont typeface="Wingdings" pitchFamily="2" charset="2"/>
              <a:buChar char="u"/>
              <a:defRPr/>
            </a:pPr>
            <a:r>
              <a:rPr lang="en-US" dirty="0"/>
              <a:t>The best way to organizations use this framework is </a:t>
            </a:r>
            <a:r>
              <a:rPr lang="en-US" b="1" dirty="0">
                <a:solidFill>
                  <a:srgbClr val="C00000"/>
                </a:solidFill>
              </a:rPr>
              <a:t>within a group</a:t>
            </a:r>
            <a:r>
              <a:rPr lang="en-US" dirty="0">
                <a:solidFill>
                  <a:srgbClr val="C00000"/>
                </a:solidFill>
              </a:rPr>
              <a:t>.</a:t>
            </a:r>
          </a:p>
          <a:p>
            <a:pPr marL="342900" indent="-342900" algn="just">
              <a:lnSpc>
                <a:spcPct val="100000"/>
              </a:lnSpc>
              <a:spcBef>
                <a:spcPts val="2400"/>
              </a:spcBef>
              <a:buClr>
                <a:srgbClr val="973735"/>
              </a:buClr>
              <a:buSzPct val="50000"/>
              <a:buFont typeface="Wingdings" pitchFamily="2" charset="2"/>
              <a:buChar char="u"/>
              <a:defRPr/>
            </a:pPr>
            <a:r>
              <a:rPr lang="en-US" dirty="0"/>
              <a:t>There is no right answer for “</a:t>
            </a:r>
            <a:r>
              <a:rPr lang="en-US" b="1" dirty="0">
                <a:solidFill>
                  <a:srgbClr val="C00000"/>
                </a:solidFill>
              </a:rPr>
              <a:t>What is Knowledge Management to me?</a:t>
            </a:r>
            <a:r>
              <a:rPr lang="en-US" b="1" dirty="0"/>
              <a:t>”. </a:t>
            </a:r>
            <a:r>
              <a:rPr lang="en-US" dirty="0"/>
              <a:t>Each company needs to find its own</a:t>
            </a:r>
          </a:p>
          <a:p>
            <a:pPr marL="342900" indent="-342900" algn="just">
              <a:lnSpc>
                <a:spcPct val="100000"/>
              </a:lnSpc>
              <a:spcBef>
                <a:spcPts val="2400"/>
              </a:spcBef>
              <a:buClr>
                <a:srgbClr val="973735"/>
              </a:buClr>
              <a:buSzPct val="50000"/>
              <a:buFont typeface="Wingdings" pitchFamily="2" charset="2"/>
              <a:buChar char="u"/>
              <a:defRPr/>
            </a:pPr>
            <a:r>
              <a:rPr lang="en-US" dirty="0"/>
              <a:t>Each organization should define Knowledge Management in terms of the </a:t>
            </a:r>
            <a:r>
              <a:rPr lang="en-US" b="1" dirty="0">
                <a:solidFill>
                  <a:srgbClr val="C00000"/>
                </a:solidFill>
              </a:rPr>
              <a:t>business objective</a:t>
            </a:r>
            <a:r>
              <a:rPr lang="en-US" dirty="0"/>
              <a:t>. Concept analysis is one way of accomplishing this.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Concept Analysis Technique</a:t>
            </a:r>
          </a:p>
        </p:txBody>
      </p:sp>
    </p:spTree>
    <p:extLst>
      <p:ext uri="{BB962C8B-B14F-4D97-AF65-F5344CB8AC3E}">
        <p14:creationId xmlns:p14="http://schemas.microsoft.com/office/powerpoint/2010/main" val="36380973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000" b="1" dirty="0">
                <a:solidFill>
                  <a:srgbClr val="ED7D31"/>
                </a:solidFill>
              </a:rPr>
              <a:t>The </a:t>
            </a:r>
            <a:r>
              <a:rPr lang="en-US" sz="3000" b="1" dirty="0" err="1">
                <a:solidFill>
                  <a:srgbClr val="ED7D31"/>
                </a:solidFill>
              </a:rPr>
              <a:t>Entovation</a:t>
            </a:r>
            <a:r>
              <a:rPr lang="en-US" sz="3000" b="1" dirty="0">
                <a:solidFill>
                  <a:srgbClr val="ED7D31"/>
                </a:solidFill>
              </a:rPr>
              <a:t> timeline</a:t>
            </a:r>
          </a:p>
          <a:p>
            <a:pPr marL="342900" indent="-342900" algn="just">
              <a:lnSpc>
                <a:spcPct val="150000"/>
              </a:lnSpc>
              <a:spcBef>
                <a:spcPts val="600"/>
              </a:spcBef>
              <a:buClr>
                <a:srgbClr val="973735"/>
              </a:buClr>
              <a:buSzPct val="50000"/>
              <a:buFont typeface="Wingdings" pitchFamily="2" charset="2"/>
              <a:buChar char="u"/>
              <a:defRPr/>
            </a:pPr>
            <a:r>
              <a:rPr lang="en-US" sz="3000" dirty="0"/>
              <a:t>The various eras</a:t>
            </a:r>
          </a:p>
          <a:p>
            <a:pPr marL="342900" indent="-342900" algn="just">
              <a:lnSpc>
                <a:spcPct val="150000"/>
              </a:lnSpc>
              <a:spcBef>
                <a:spcPts val="600"/>
              </a:spcBef>
              <a:buClr>
                <a:srgbClr val="973735"/>
              </a:buClr>
              <a:buSzPct val="50000"/>
              <a:buFont typeface="Wingdings" pitchFamily="2" charset="2"/>
              <a:buChar char="u"/>
              <a:defRPr/>
            </a:pPr>
            <a:r>
              <a:rPr lang="en-US" sz="3000" dirty="0"/>
              <a:t>Knowledge management milestones</a:t>
            </a:r>
          </a:p>
          <a:p>
            <a:pPr marL="342900" indent="-342900" algn="just">
              <a:lnSpc>
                <a:spcPct val="150000"/>
              </a:lnSpc>
              <a:spcBef>
                <a:spcPts val="600"/>
              </a:spcBef>
              <a:buClr>
                <a:srgbClr val="973735"/>
              </a:buClr>
              <a:buSzPct val="50000"/>
              <a:buFont typeface="Wingdings" pitchFamily="2" charset="2"/>
              <a:buChar char="u"/>
              <a:defRPr/>
            </a:pPr>
            <a:r>
              <a:rPr lang="en-US" sz="3000" dirty="0"/>
              <a:t>From Physical Assets to Knowledge Assets</a:t>
            </a:r>
          </a:p>
          <a:p>
            <a:pPr marL="342900" indent="-342900" algn="just">
              <a:lnSpc>
                <a:spcPct val="150000"/>
              </a:lnSpc>
              <a:spcBef>
                <a:spcPts val="600"/>
              </a:spcBef>
              <a:buClr>
                <a:srgbClr val="973735"/>
              </a:buClr>
              <a:buSzPct val="50000"/>
              <a:buFont typeface="Wingdings" pitchFamily="2" charset="2"/>
              <a:buChar char="u"/>
              <a:defRPr/>
            </a:pPr>
            <a:r>
              <a:rPr lang="en-US" sz="3000" dirty="0"/>
              <a:t>Organizational Perspectives on Knowledge Management</a:t>
            </a:r>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History of KM</a:t>
            </a:r>
          </a:p>
        </p:txBody>
      </p:sp>
    </p:spTree>
    <p:extLst>
      <p:ext uri="{BB962C8B-B14F-4D97-AF65-F5344CB8AC3E}">
        <p14:creationId xmlns:p14="http://schemas.microsoft.com/office/powerpoint/2010/main" val="2091513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The </a:t>
            </a:r>
            <a:r>
              <a:rPr lang="en-US" sz="4000" b="1" dirty="0" err="1">
                <a:solidFill>
                  <a:srgbClr val="ED7D31"/>
                </a:solidFill>
              </a:rPr>
              <a:t>Entovation</a:t>
            </a:r>
            <a:r>
              <a:rPr lang="en-US" sz="4000" b="1" dirty="0">
                <a:solidFill>
                  <a:srgbClr val="ED7D31"/>
                </a:solidFill>
              </a:rPr>
              <a:t> timeline</a:t>
            </a:r>
          </a:p>
        </p:txBody>
      </p:sp>
      <p:graphicFrame>
        <p:nvGraphicFramePr>
          <p:cNvPr id="2" name="Object 1">
            <a:extLst>
              <a:ext uri="{FF2B5EF4-FFF2-40B4-BE49-F238E27FC236}">
                <a16:creationId xmlns:a16="http://schemas.microsoft.com/office/drawing/2014/main" id="{57D7D00C-7D2A-9D8B-6E19-8D17DDFB6A24}"/>
              </a:ext>
            </a:extLst>
          </p:cNvPr>
          <p:cNvGraphicFramePr>
            <a:graphicFrameLocks noChangeAspect="1"/>
          </p:cNvGraphicFramePr>
          <p:nvPr>
            <p:extLst>
              <p:ext uri="{D42A27DB-BD31-4B8C-83A1-F6EECF244321}">
                <p14:modId xmlns:p14="http://schemas.microsoft.com/office/powerpoint/2010/main" val="1742398181"/>
              </p:ext>
            </p:extLst>
          </p:nvPr>
        </p:nvGraphicFramePr>
        <p:xfrm>
          <a:off x="1910650" y="1545445"/>
          <a:ext cx="9228406" cy="4374423"/>
        </p:xfrm>
        <a:graphic>
          <a:graphicData uri="http://schemas.openxmlformats.org/presentationml/2006/ole">
            <mc:AlternateContent xmlns:mc="http://schemas.openxmlformats.org/markup-compatibility/2006">
              <mc:Choice xmlns:v="urn:schemas-microsoft-com:vml" Requires="v">
                <p:oleObj name="Bitmap Image" r:id="rId3" imgW="7025760" imgH="3330000" progId="PBrush">
                  <p:embed/>
                </p:oleObj>
              </mc:Choice>
              <mc:Fallback>
                <p:oleObj name="Bitmap Image" r:id="rId3" imgW="7025760" imgH="3330000" progId="PBrush">
                  <p:embed/>
                  <p:pic>
                    <p:nvPicPr>
                      <p:cNvPr id="0" name=""/>
                      <p:cNvPicPr/>
                      <p:nvPr/>
                    </p:nvPicPr>
                    <p:blipFill>
                      <a:blip r:embed="rId4"/>
                      <a:stretch>
                        <a:fillRect/>
                      </a:stretch>
                    </p:blipFill>
                    <p:spPr>
                      <a:xfrm>
                        <a:off x="1910650" y="1545445"/>
                        <a:ext cx="9228406" cy="4374423"/>
                      </a:xfrm>
                      <a:prstGeom prst="rect">
                        <a:avLst/>
                      </a:prstGeom>
                    </p:spPr>
                  </p:pic>
                </p:oleObj>
              </mc:Fallback>
            </mc:AlternateContent>
          </a:graphicData>
        </a:graphic>
      </p:graphicFrame>
      <p:graphicFrame>
        <p:nvGraphicFramePr>
          <p:cNvPr id="5" name="Object 4">
            <a:extLst>
              <a:ext uri="{FF2B5EF4-FFF2-40B4-BE49-F238E27FC236}">
                <a16:creationId xmlns:a16="http://schemas.microsoft.com/office/drawing/2014/main" id="{12A679DB-0962-296F-5C6B-4F262E508DFE}"/>
              </a:ext>
            </a:extLst>
          </p:cNvPr>
          <p:cNvGraphicFramePr>
            <a:graphicFrameLocks noChangeAspect="1"/>
          </p:cNvGraphicFramePr>
          <p:nvPr>
            <p:extLst>
              <p:ext uri="{D42A27DB-BD31-4B8C-83A1-F6EECF244321}">
                <p14:modId xmlns:p14="http://schemas.microsoft.com/office/powerpoint/2010/main" val="3856905325"/>
              </p:ext>
            </p:extLst>
          </p:nvPr>
        </p:nvGraphicFramePr>
        <p:xfrm>
          <a:off x="4146179" y="6052516"/>
          <a:ext cx="6011863" cy="381000"/>
        </p:xfrm>
        <a:graphic>
          <a:graphicData uri="http://schemas.openxmlformats.org/presentationml/2006/ole">
            <mc:AlternateContent xmlns:mc="http://schemas.openxmlformats.org/markup-compatibility/2006">
              <mc:Choice xmlns:v="urn:schemas-microsoft-com:vml" Requires="v">
                <p:oleObj name="Bitmap Image" r:id="rId5" imgW="6012360" imgH="380880" progId="PBrush">
                  <p:embed/>
                </p:oleObj>
              </mc:Choice>
              <mc:Fallback>
                <p:oleObj name="Bitmap Image" r:id="rId5" imgW="6012360" imgH="380880" progId="PBrush">
                  <p:embed/>
                  <p:pic>
                    <p:nvPicPr>
                      <p:cNvPr id="0" name=""/>
                      <p:cNvPicPr/>
                      <p:nvPr/>
                    </p:nvPicPr>
                    <p:blipFill>
                      <a:blip r:embed="rId6"/>
                      <a:stretch>
                        <a:fillRect/>
                      </a:stretch>
                    </p:blipFill>
                    <p:spPr>
                      <a:xfrm>
                        <a:off x="4146179" y="6052516"/>
                        <a:ext cx="6011863" cy="381000"/>
                      </a:xfrm>
                      <a:prstGeom prst="rect">
                        <a:avLst/>
                      </a:prstGeom>
                    </p:spPr>
                  </p:pic>
                </p:oleObj>
              </mc:Fallback>
            </mc:AlternateContent>
          </a:graphicData>
        </a:graphic>
      </p:graphicFrame>
    </p:spTree>
    <p:extLst>
      <p:ext uri="{BB962C8B-B14F-4D97-AF65-F5344CB8AC3E}">
        <p14:creationId xmlns:p14="http://schemas.microsoft.com/office/powerpoint/2010/main" val="3603132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000" dirty="0"/>
              <a:t>The </a:t>
            </a:r>
            <a:r>
              <a:rPr lang="en-US" sz="3000" dirty="0" err="1"/>
              <a:t>Entovation</a:t>
            </a:r>
            <a:r>
              <a:rPr lang="en-US" sz="3000" dirty="0"/>
              <a:t> timeline</a:t>
            </a:r>
          </a:p>
          <a:p>
            <a:pPr marL="342900" indent="-342900" algn="just">
              <a:lnSpc>
                <a:spcPct val="150000"/>
              </a:lnSpc>
              <a:spcBef>
                <a:spcPts val="600"/>
              </a:spcBef>
              <a:buClr>
                <a:srgbClr val="973735"/>
              </a:buClr>
              <a:buSzPct val="50000"/>
              <a:buFont typeface="Wingdings" pitchFamily="2" charset="2"/>
              <a:buChar char="u"/>
              <a:defRPr/>
            </a:pPr>
            <a:r>
              <a:rPr lang="en-US" sz="3000" b="1" dirty="0">
                <a:solidFill>
                  <a:srgbClr val="ED7D31"/>
                </a:solidFill>
              </a:rPr>
              <a:t>The various eras</a:t>
            </a:r>
          </a:p>
          <a:p>
            <a:pPr marL="342900" indent="-342900" algn="just">
              <a:lnSpc>
                <a:spcPct val="150000"/>
              </a:lnSpc>
              <a:spcBef>
                <a:spcPts val="600"/>
              </a:spcBef>
              <a:buClr>
                <a:srgbClr val="973735"/>
              </a:buClr>
              <a:buSzPct val="50000"/>
              <a:buFont typeface="Wingdings" pitchFamily="2" charset="2"/>
              <a:buChar char="u"/>
              <a:defRPr/>
            </a:pPr>
            <a:r>
              <a:rPr lang="en-US" sz="3000" dirty="0"/>
              <a:t>Knowledge management milestones</a:t>
            </a:r>
          </a:p>
          <a:p>
            <a:pPr marL="342900" indent="-342900" algn="just">
              <a:lnSpc>
                <a:spcPct val="150000"/>
              </a:lnSpc>
              <a:spcBef>
                <a:spcPts val="600"/>
              </a:spcBef>
              <a:buClr>
                <a:srgbClr val="973735"/>
              </a:buClr>
              <a:buSzPct val="50000"/>
              <a:buFont typeface="Wingdings" pitchFamily="2" charset="2"/>
              <a:buChar char="u"/>
              <a:defRPr/>
            </a:pPr>
            <a:r>
              <a:rPr lang="en-US" sz="3000" dirty="0"/>
              <a:t>From Physical Assets to Knowledge Assets</a:t>
            </a:r>
          </a:p>
          <a:p>
            <a:pPr marL="342900" indent="-342900" algn="just">
              <a:lnSpc>
                <a:spcPct val="150000"/>
              </a:lnSpc>
              <a:spcBef>
                <a:spcPts val="600"/>
              </a:spcBef>
              <a:buClr>
                <a:srgbClr val="973735"/>
              </a:buClr>
              <a:buSzPct val="50000"/>
              <a:buFont typeface="Wingdings" pitchFamily="2" charset="2"/>
              <a:buChar char="u"/>
              <a:defRPr/>
            </a:pPr>
            <a:r>
              <a:rPr lang="en-US" sz="3000" dirty="0"/>
              <a:t>Organizational Perspectives on Knowledge Management</a:t>
            </a:r>
          </a:p>
          <a:p>
            <a:pPr marL="342900" indent="-342900" algn="just">
              <a:lnSpc>
                <a:spcPct val="150000"/>
              </a:lnSpc>
              <a:spcBef>
                <a:spcPts val="600"/>
              </a:spcBef>
              <a:buClr>
                <a:srgbClr val="973735"/>
              </a:buClr>
              <a:buSzPct val="50000"/>
              <a:buFont typeface="Wingdings" pitchFamily="2" charset="2"/>
              <a:buChar char="u"/>
              <a:defRPr/>
            </a:pPr>
            <a:endParaRPr lang="en-US" sz="30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History of KM</a:t>
            </a:r>
          </a:p>
        </p:txBody>
      </p:sp>
    </p:spTree>
    <p:extLst>
      <p:ext uri="{BB962C8B-B14F-4D97-AF65-F5344CB8AC3E}">
        <p14:creationId xmlns:p14="http://schemas.microsoft.com/office/powerpoint/2010/main" val="4119750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a:extLst>
              <a:ext uri="{FF2B5EF4-FFF2-40B4-BE49-F238E27FC236}">
                <a16:creationId xmlns:a16="http://schemas.microsoft.com/office/drawing/2014/main" id="{DEADD588-0837-07B2-F98A-2C9A3D51E13C}"/>
              </a:ext>
            </a:extLst>
          </p:cNvPr>
          <p:cNvGraphicFramePr>
            <a:graphicFrameLocks noChangeAspect="1"/>
          </p:cNvGraphicFramePr>
          <p:nvPr>
            <p:extLst>
              <p:ext uri="{D42A27DB-BD31-4B8C-83A1-F6EECF244321}">
                <p14:modId xmlns:p14="http://schemas.microsoft.com/office/powerpoint/2010/main" val="3519325417"/>
              </p:ext>
            </p:extLst>
          </p:nvPr>
        </p:nvGraphicFramePr>
        <p:xfrm>
          <a:off x="2790701" y="12175"/>
          <a:ext cx="9224194" cy="5672361"/>
        </p:xfrm>
        <a:graphic>
          <a:graphicData uri="http://schemas.openxmlformats.org/presentationml/2006/ole">
            <mc:AlternateContent xmlns:mc="http://schemas.openxmlformats.org/markup-compatibility/2006">
              <mc:Choice xmlns:v="urn:schemas-microsoft-com:vml" Requires="v">
                <p:oleObj name="Bitmap Image" r:id="rId3" imgW="6926760" imgH="4259520" progId="PBrush">
                  <p:embed/>
                </p:oleObj>
              </mc:Choice>
              <mc:Fallback>
                <p:oleObj name="Bitmap Image" r:id="rId3" imgW="6926760" imgH="4259520" progId="PBrush">
                  <p:embed/>
                  <p:pic>
                    <p:nvPicPr>
                      <p:cNvPr id="5" name="Object 4">
                        <a:extLst>
                          <a:ext uri="{FF2B5EF4-FFF2-40B4-BE49-F238E27FC236}">
                            <a16:creationId xmlns:a16="http://schemas.microsoft.com/office/drawing/2014/main" id="{DEADD588-0837-07B2-F98A-2C9A3D51E13C}"/>
                          </a:ext>
                        </a:extLst>
                      </p:cNvPr>
                      <p:cNvPicPr/>
                      <p:nvPr/>
                    </p:nvPicPr>
                    <p:blipFill>
                      <a:blip r:embed="rId4"/>
                      <a:stretch>
                        <a:fillRect/>
                      </a:stretch>
                    </p:blipFill>
                    <p:spPr>
                      <a:xfrm>
                        <a:off x="2790701" y="12175"/>
                        <a:ext cx="9224194" cy="5672361"/>
                      </a:xfrm>
                      <a:prstGeom prst="rect">
                        <a:avLst/>
                      </a:prstGeom>
                    </p:spPr>
                  </p:pic>
                </p:oleObj>
              </mc:Fallback>
            </mc:AlternateContent>
          </a:graphicData>
        </a:graphic>
      </p:graphicFrame>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4957583" cy="709226"/>
          </a:xfrm>
        </p:spPr>
        <p:txBody>
          <a:bodyPr>
            <a:normAutofit/>
          </a:bodyPr>
          <a:lstStyle/>
          <a:p>
            <a:r>
              <a:rPr lang="en-US" sz="4000" b="1" dirty="0">
                <a:solidFill>
                  <a:srgbClr val="ED7D31"/>
                </a:solidFill>
              </a:rPr>
              <a:t>The various eras</a:t>
            </a:r>
          </a:p>
        </p:txBody>
      </p:sp>
      <p:graphicFrame>
        <p:nvGraphicFramePr>
          <p:cNvPr id="2" name="Object 1">
            <a:extLst>
              <a:ext uri="{FF2B5EF4-FFF2-40B4-BE49-F238E27FC236}">
                <a16:creationId xmlns:a16="http://schemas.microsoft.com/office/drawing/2014/main" id="{E7CF85BA-ED13-B85D-EDEA-4BFECB909FD3}"/>
              </a:ext>
            </a:extLst>
          </p:cNvPr>
          <p:cNvGraphicFramePr>
            <a:graphicFrameLocks noChangeAspect="1"/>
          </p:cNvGraphicFramePr>
          <p:nvPr>
            <p:extLst>
              <p:ext uri="{D42A27DB-BD31-4B8C-83A1-F6EECF244321}">
                <p14:modId xmlns:p14="http://schemas.microsoft.com/office/powerpoint/2010/main" val="981942843"/>
              </p:ext>
            </p:extLst>
          </p:nvPr>
        </p:nvGraphicFramePr>
        <p:xfrm>
          <a:off x="5158635" y="5875735"/>
          <a:ext cx="4899025" cy="358775"/>
        </p:xfrm>
        <a:graphic>
          <a:graphicData uri="http://schemas.openxmlformats.org/presentationml/2006/ole">
            <mc:AlternateContent xmlns:mc="http://schemas.openxmlformats.org/markup-compatibility/2006">
              <mc:Choice xmlns:v="urn:schemas-microsoft-com:vml" Requires="v">
                <p:oleObj name="Bitmap Image" r:id="rId5" imgW="4899600" imgH="358200" progId="PBrush">
                  <p:embed/>
                </p:oleObj>
              </mc:Choice>
              <mc:Fallback>
                <p:oleObj name="Bitmap Image" r:id="rId5" imgW="4899600" imgH="358200" progId="PBrush">
                  <p:embed/>
                  <p:pic>
                    <p:nvPicPr>
                      <p:cNvPr id="0" name=""/>
                      <p:cNvPicPr/>
                      <p:nvPr/>
                    </p:nvPicPr>
                    <p:blipFill>
                      <a:blip r:embed="rId6"/>
                      <a:stretch>
                        <a:fillRect/>
                      </a:stretch>
                    </p:blipFill>
                    <p:spPr>
                      <a:xfrm>
                        <a:off x="5158635" y="5875735"/>
                        <a:ext cx="4899025" cy="358775"/>
                      </a:xfrm>
                      <a:prstGeom prst="rect">
                        <a:avLst/>
                      </a:prstGeom>
                    </p:spPr>
                  </p:pic>
                </p:oleObj>
              </mc:Fallback>
            </mc:AlternateContent>
          </a:graphicData>
        </a:graphic>
      </p:graphicFrame>
    </p:spTree>
    <p:extLst>
      <p:ext uri="{BB962C8B-B14F-4D97-AF65-F5344CB8AC3E}">
        <p14:creationId xmlns:p14="http://schemas.microsoft.com/office/powerpoint/2010/main" val="3295999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000" dirty="0"/>
              <a:t>The </a:t>
            </a:r>
            <a:r>
              <a:rPr lang="en-US" sz="3000" dirty="0" err="1"/>
              <a:t>Entovation</a:t>
            </a:r>
            <a:r>
              <a:rPr lang="en-US" sz="3000" dirty="0"/>
              <a:t> timeline</a:t>
            </a:r>
          </a:p>
          <a:p>
            <a:pPr marL="342900" indent="-342900" algn="just">
              <a:lnSpc>
                <a:spcPct val="150000"/>
              </a:lnSpc>
              <a:spcBef>
                <a:spcPts val="600"/>
              </a:spcBef>
              <a:buClr>
                <a:srgbClr val="973735"/>
              </a:buClr>
              <a:buSzPct val="50000"/>
              <a:buFont typeface="Wingdings" pitchFamily="2" charset="2"/>
              <a:buChar char="u"/>
              <a:defRPr/>
            </a:pPr>
            <a:r>
              <a:rPr lang="en-US" sz="3000" dirty="0"/>
              <a:t>The various eras</a:t>
            </a:r>
          </a:p>
          <a:p>
            <a:pPr marL="342900" indent="-342900" algn="just">
              <a:lnSpc>
                <a:spcPct val="150000"/>
              </a:lnSpc>
              <a:spcBef>
                <a:spcPts val="600"/>
              </a:spcBef>
              <a:buClr>
                <a:srgbClr val="973735"/>
              </a:buClr>
              <a:buSzPct val="50000"/>
              <a:buFont typeface="Wingdings" pitchFamily="2" charset="2"/>
              <a:buChar char="u"/>
              <a:defRPr/>
            </a:pPr>
            <a:r>
              <a:rPr lang="en-US" sz="3000" b="1" dirty="0">
                <a:solidFill>
                  <a:srgbClr val="ED7D31"/>
                </a:solidFill>
              </a:rPr>
              <a:t>Knowledge management milestones</a:t>
            </a:r>
          </a:p>
          <a:p>
            <a:pPr marL="342900" indent="-342900" algn="just">
              <a:lnSpc>
                <a:spcPct val="150000"/>
              </a:lnSpc>
              <a:spcBef>
                <a:spcPts val="600"/>
              </a:spcBef>
              <a:buClr>
                <a:srgbClr val="973735"/>
              </a:buClr>
              <a:buSzPct val="50000"/>
              <a:buFont typeface="Wingdings" pitchFamily="2" charset="2"/>
              <a:buChar char="u"/>
              <a:defRPr/>
            </a:pPr>
            <a:r>
              <a:rPr lang="en-US" sz="3000" dirty="0"/>
              <a:t>From Physical Assets to Knowledge Assets</a:t>
            </a:r>
          </a:p>
          <a:p>
            <a:pPr marL="342900" indent="-342900" algn="just">
              <a:lnSpc>
                <a:spcPct val="150000"/>
              </a:lnSpc>
              <a:spcBef>
                <a:spcPts val="600"/>
              </a:spcBef>
              <a:buClr>
                <a:srgbClr val="973735"/>
              </a:buClr>
              <a:buSzPct val="50000"/>
              <a:buFont typeface="Wingdings" pitchFamily="2" charset="2"/>
              <a:buChar char="u"/>
              <a:defRPr/>
            </a:pPr>
            <a:r>
              <a:rPr lang="en-US" sz="3000" dirty="0"/>
              <a:t>Organizational Perspectives on Knowledge Management</a:t>
            </a:r>
          </a:p>
          <a:p>
            <a:pPr marL="342900" indent="-342900" algn="just">
              <a:lnSpc>
                <a:spcPct val="150000"/>
              </a:lnSpc>
              <a:spcBef>
                <a:spcPts val="600"/>
              </a:spcBef>
              <a:buClr>
                <a:srgbClr val="973735"/>
              </a:buClr>
              <a:buSzPct val="50000"/>
              <a:buFont typeface="Wingdings" pitchFamily="2" charset="2"/>
              <a:buChar char="u"/>
              <a:defRPr/>
            </a:pPr>
            <a:endParaRPr lang="en-US" sz="30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History of KM</a:t>
            </a:r>
          </a:p>
        </p:txBody>
      </p:sp>
    </p:spTree>
    <p:extLst>
      <p:ext uri="{BB962C8B-B14F-4D97-AF65-F5344CB8AC3E}">
        <p14:creationId xmlns:p14="http://schemas.microsoft.com/office/powerpoint/2010/main" val="26426821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0545583" cy="709226"/>
          </a:xfrm>
        </p:spPr>
        <p:txBody>
          <a:bodyPr>
            <a:normAutofit/>
          </a:bodyPr>
          <a:lstStyle/>
          <a:p>
            <a:r>
              <a:rPr lang="en-US" sz="4000" b="1" dirty="0">
                <a:solidFill>
                  <a:srgbClr val="ED7D31"/>
                </a:solidFill>
              </a:rPr>
              <a:t>Knowledge management milestones</a:t>
            </a:r>
          </a:p>
        </p:txBody>
      </p:sp>
      <p:graphicFrame>
        <p:nvGraphicFramePr>
          <p:cNvPr id="7" name="Table 7">
            <a:extLst>
              <a:ext uri="{FF2B5EF4-FFF2-40B4-BE49-F238E27FC236}">
                <a16:creationId xmlns:a16="http://schemas.microsoft.com/office/drawing/2014/main" id="{FEFC4D68-6E64-62B7-535F-782C3437226E}"/>
              </a:ext>
            </a:extLst>
          </p:cNvPr>
          <p:cNvGraphicFramePr>
            <a:graphicFrameLocks noGrp="1"/>
          </p:cNvGraphicFramePr>
          <p:nvPr>
            <p:extLst>
              <p:ext uri="{D42A27DB-BD31-4B8C-83A1-F6EECF244321}">
                <p14:modId xmlns:p14="http://schemas.microsoft.com/office/powerpoint/2010/main" val="3871890061"/>
              </p:ext>
            </p:extLst>
          </p:nvPr>
        </p:nvGraphicFramePr>
        <p:xfrm>
          <a:off x="615821" y="2371180"/>
          <a:ext cx="11010121" cy="2966720"/>
        </p:xfrm>
        <a:graphic>
          <a:graphicData uri="http://schemas.openxmlformats.org/drawingml/2006/table">
            <a:tbl>
              <a:tblPr firstRow="1" bandRow="1">
                <a:tableStyleId>{5C22544A-7EE6-4342-B048-85BDC9FD1C3A}</a:tableStyleId>
              </a:tblPr>
              <a:tblGrid>
                <a:gridCol w="962982">
                  <a:extLst>
                    <a:ext uri="{9D8B030D-6E8A-4147-A177-3AD203B41FA5}">
                      <a16:colId xmlns:a16="http://schemas.microsoft.com/office/drawing/2014/main" val="1031144184"/>
                    </a:ext>
                  </a:extLst>
                </a:gridCol>
                <a:gridCol w="3614802">
                  <a:extLst>
                    <a:ext uri="{9D8B030D-6E8A-4147-A177-3AD203B41FA5}">
                      <a16:colId xmlns:a16="http://schemas.microsoft.com/office/drawing/2014/main" val="3327101623"/>
                    </a:ext>
                  </a:extLst>
                </a:gridCol>
                <a:gridCol w="6432337">
                  <a:extLst>
                    <a:ext uri="{9D8B030D-6E8A-4147-A177-3AD203B41FA5}">
                      <a16:colId xmlns:a16="http://schemas.microsoft.com/office/drawing/2014/main" val="539810773"/>
                    </a:ext>
                  </a:extLst>
                </a:gridCol>
              </a:tblGrid>
              <a:tr h="370840">
                <a:tc>
                  <a:txBody>
                    <a:bodyPr/>
                    <a:lstStyle/>
                    <a:p>
                      <a:pPr algn="ctr" fontAlgn="b">
                        <a:spcBef>
                          <a:spcPts val="600"/>
                        </a:spcBef>
                        <a:spcAft>
                          <a:spcPts val="600"/>
                        </a:spcAft>
                      </a:pPr>
                      <a:r>
                        <a:rPr lang="en-US" sz="1800" b="1" kern="1200" dirty="0">
                          <a:solidFill>
                            <a:schemeClr val="lt1"/>
                          </a:solidFill>
                          <a:effectLst/>
                          <a:latin typeface="+mn-lt"/>
                          <a:ea typeface="+mn-ea"/>
                          <a:cs typeface="+mn-cs"/>
                        </a:rPr>
                        <a:t>Year</a:t>
                      </a:r>
                    </a:p>
                  </a:txBody>
                  <a:tcPr marL="7620" marR="7620" marT="7620" marB="0" anchor="b">
                    <a:solidFill>
                      <a:srgbClr val="ED7D31"/>
                    </a:solidFill>
                  </a:tcPr>
                </a:tc>
                <a:tc>
                  <a:txBody>
                    <a:bodyPr/>
                    <a:lstStyle/>
                    <a:p>
                      <a:pPr algn="ctr" fontAlgn="b">
                        <a:spcBef>
                          <a:spcPts val="600"/>
                        </a:spcBef>
                        <a:spcAft>
                          <a:spcPts val="600"/>
                        </a:spcAft>
                      </a:pPr>
                      <a:r>
                        <a:rPr lang="en-US" sz="1800" b="1" kern="1200" dirty="0">
                          <a:solidFill>
                            <a:schemeClr val="lt1"/>
                          </a:solidFill>
                          <a:effectLst/>
                          <a:latin typeface="+mn-lt"/>
                          <a:ea typeface="+mn-ea"/>
                          <a:cs typeface="+mn-cs"/>
                        </a:rPr>
                        <a:t>Entity</a:t>
                      </a:r>
                    </a:p>
                  </a:txBody>
                  <a:tcPr marL="7620" marR="7620" marT="7620" marB="0" anchor="b">
                    <a:solidFill>
                      <a:srgbClr val="ED7D31"/>
                    </a:solidFill>
                  </a:tcPr>
                </a:tc>
                <a:tc>
                  <a:txBody>
                    <a:bodyPr/>
                    <a:lstStyle/>
                    <a:p>
                      <a:pPr algn="ctr" fontAlgn="b">
                        <a:spcBef>
                          <a:spcPts val="600"/>
                        </a:spcBef>
                        <a:spcAft>
                          <a:spcPts val="600"/>
                        </a:spcAft>
                      </a:pPr>
                      <a:r>
                        <a:rPr lang="en-US" sz="1800" b="1" kern="1200" dirty="0">
                          <a:solidFill>
                            <a:schemeClr val="lt1"/>
                          </a:solidFill>
                          <a:effectLst/>
                          <a:latin typeface="+mn-lt"/>
                          <a:ea typeface="+mn-ea"/>
                          <a:cs typeface="+mn-cs"/>
                        </a:rPr>
                        <a:t>Event</a:t>
                      </a:r>
                    </a:p>
                  </a:txBody>
                  <a:tcPr marL="7620" marR="7620" marT="7620" marB="0" anchor="b">
                    <a:solidFill>
                      <a:srgbClr val="ED7D31"/>
                    </a:solidFill>
                  </a:tcPr>
                </a:tc>
                <a:extLst>
                  <a:ext uri="{0D108BD9-81ED-4DB2-BD59-A6C34878D82A}">
                    <a16:rowId xmlns:a16="http://schemas.microsoft.com/office/drawing/2014/main" val="1819094295"/>
                  </a:ext>
                </a:extLst>
              </a:tr>
              <a:tr h="370840">
                <a:tc>
                  <a:txBody>
                    <a:bodyPr/>
                    <a:lstStyle/>
                    <a:p>
                      <a:pPr algn="ctr" fontAlgn="b">
                        <a:spcBef>
                          <a:spcPts val="600"/>
                        </a:spcBef>
                        <a:spcAft>
                          <a:spcPts val="600"/>
                        </a:spcAft>
                      </a:pPr>
                      <a:r>
                        <a:rPr lang="en-US" sz="1800" kern="1200" dirty="0">
                          <a:solidFill>
                            <a:schemeClr val="dk1"/>
                          </a:solidFill>
                          <a:effectLst/>
                          <a:latin typeface="+mn-lt"/>
                          <a:ea typeface="+mn-ea"/>
                          <a:cs typeface="+mn-cs"/>
                        </a:rPr>
                        <a:t>1980</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DEC, CMU</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XCON Expert System</a:t>
                      </a:r>
                    </a:p>
                  </a:txBody>
                  <a:tcPr marL="7620" marR="7620" marT="7620" marB="0" anchor="b"/>
                </a:tc>
                <a:extLst>
                  <a:ext uri="{0D108BD9-81ED-4DB2-BD59-A6C34878D82A}">
                    <a16:rowId xmlns:a16="http://schemas.microsoft.com/office/drawing/2014/main" val="2810780549"/>
                  </a:ext>
                </a:extLst>
              </a:tr>
              <a:tr h="370840">
                <a:tc>
                  <a:txBody>
                    <a:bodyPr/>
                    <a:lstStyle/>
                    <a:p>
                      <a:pPr algn="ctr" fontAlgn="b">
                        <a:spcBef>
                          <a:spcPts val="600"/>
                        </a:spcBef>
                        <a:spcAft>
                          <a:spcPts val="600"/>
                        </a:spcAft>
                      </a:pPr>
                      <a:r>
                        <a:rPr lang="en-US" sz="1800" kern="1200" dirty="0">
                          <a:solidFill>
                            <a:schemeClr val="dk1"/>
                          </a:solidFill>
                          <a:effectLst/>
                          <a:latin typeface="+mn-lt"/>
                          <a:ea typeface="+mn-ea"/>
                          <a:cs typeface="+mn-cs"/>
                        </a:rPr>
                        <a:t>1986</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Dr. K Wiig</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Coined KM concept at UN</a:t>
                      </a:r>
                    </a:p>
                  </a:txBody>
                  <a:tcPr marL="7620" marR="7620" marT="7620" marB="0" anchor="b"/>
                </a:tc>
                <a:extLst>
                  <a:ext uri="{0D108BD9-81ED-4DB2-BD59-A6C34878D82A}">
                    <a16:rowId xmlns:a16="http://schemas.microsoft.com/office/drawing/2014/main" val="2012705419"/>
                  </a:ext>
                </a:extLst>
              </a:tr>
              <a:tr h="370840">
                <a:tc>
                  <a:txBody>
                    <a:bodyPr/>
                    <a:lstStyle/>
                    <a:p>
                      <a:pPr algn="ctr" fontAlgn="b">
                        <a:spcBef>
                          <a:spcPts val="600"/>
                        </a:spcBef>
                        <a:spcAft>
                          <a:spcPts val="600"/>
                        </a:spcAft>
                      </a:pPr>
                      <a:r>
                        <a:rPr lang="en-US" sz="1800" kern="1200" dirty="0">
                          <a:solidFill>
                            <a:schemeClr val="dk1"/>
                          </a:solidFill>
                          <a:effectLst/>
                          <a:latin typeface="+mn-lt"/>
                          <a:ea typeface="+mn-ea"/>
                          <a:cs typeface="+mn-cs"/>
                        </a:rPr>
                        <a:t>1989</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Consulting firms</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Started internal KM projects</a:t>
                      </a:r>
                    </a:p>
                  </a:txBody>
                  <a:tcPr marL="7620" marR="7620" marT="7620" marB="0" anchor="b"/>
                </a:tc>
                <a:extLst>
                  <a:ext uri="{0D108BD9-81ED-4DB2-BD59-A6C34878D82A}">
                    <a16:rowId xmlns:a16="http://schemas.microsoft.com/office/drawing/2014/main" val="609565985"/>
                  </a:ext>
                </a:extLst>
              </a:tr>
              <a:tr h="370840">
                <a:tc>
                  <a:txBody>
                    <a:bodyPr/>
                    <a:lstStyle/>
                    <a:p>
                      <a:pPr algn="ctr" fontAlgn="b">
                        <a:spcBef>
                          <a:spcPts val="600"/>
                        </a:spcBef>
                        <a:spcAft>
                          <a:spcPts val="600"/>
                        </a:spcAft>
                      </a:pPr>
                      <a:r>
                        <a:rPr lang="en-US" sz="1800" kern="1200" dirty="0">
                          <a:solidFill>
                            <a:schemeClr val="dk1"/>
                          </a:solidFill>
                          <a:effectLst/>
                          <a:latin typeface="+mn-lt"/>
                          <a:ea typeface="+mn-ea"/>
                          <a:cs typeface="+mn-cs"/>
                        </a:rPr>
                        <a:t>1991</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Nonaka and Takeuchi</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HBR article</a:t>
                      </a:r>
                    </a:p>
                  </a:txBody>
                  <a:tcPr marL="7620" marR="7620" marT="7620" marB="0" anchor="b"/>
                </a:tc>
                <a:extLst>
                  <a:ext uri="{0D108BD9-81ED-4DB2-BD59-A6C34878D82A}">
                    <a16:rowId xmlns:a16="http://schemas.microsoft.com/office/drawing/2014/main" val="1049621788"/>
                  </a:ext>
                </a:extLst>
              </a:tr>
              <a:tr h="370840">
                <a:tc>
                  <a:txBody>
                    <a:bodyPr/>
                    <a:lstStyle/>
                    <a:p>
                      <a:pPr algn="ctr" fontAlgn="b">
                        <a:spcBef>
                          <a:spcPts val="600"/>
                        </a:spcBef>
                        <a:spcAft>
                          <a:spcPts val="600"/>
                        </a:spcAft>
                      </a:pPr>
                      <a:r>
                        <a:rPr lang="en-US" sz="1800" kern="1200" dirty="0">
                          <a:solidFill>
                            <a:schemeClr val="dk1"/>
                          </a:solidFill>
                          <a:effectLst/>
                          <a:latin typeface="+mn-lt"/>
                          <a:ea typeface="+mn-ea"/>
                          <a:cs typeface="+mn-cs"/>
                        </a:rPr>
                        <a:t>1993</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Dr. K Wiig</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First KM book published</a:t>
                      </a:r>
                    </a:p>
                  </a:txBody>
                  <a:tcPr marL="7620" marR="7620" marT="7620" marB="0" anchor="b"/>
                </a:tc>
                <a:extLst>
                  <a:ext uri="{0D108BD9-81ED-4DB2-BD59-A6C34878D82A}">
                    <a16:rowId xmlns:a16="http://schemas.microsoft.com/office/drawing/2014/main" val="2379880387"/>
                  </a:ext>
                </a:extLst>
              </a:tr>
              <a:tr h="370840">
                <a:tc>
                  <a:txBody>
                    <a:bodyPr/>
                    <a:lstStyle/>
                    <a:p>
                      <a:pPr algn="ctr" fontAlgn="b">
                        <a:spcBef>
                          <a:spcPts val="600"/>
                        </a:spcBef>
                        <a:spcAft>
                          <a:spcPts val="600"/>
                        </a:spcAft>
                      </a:pPr>
                      <a:r>
                        <a:rPr lang="en-US" sz="1800" kern="1200" dirty="0">
                          <a:solidFill>
                            <a:schemeClr val="dk1"/>
                          </a:solidFill>
                          <a:effectLst/>
                          <a:latin typeface="+mn-lt"/>
                          <a:ea typeface="+mn-ea"/>
                          <a:cs typeface="+mn-cs"/>
                        </a:rPr>
                        <a:t>1994</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KM Network</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First KM Conference</a:t>
                      </a:r>
                    </a:p>
                  </a:txBody>
                  <a:tcPr marL="7620" marR="7620" marT="7620" marB="0" anchor="b"/>
                </a:tc>
                <a:extLst>
                  <a:ext uri="{0D108BD9-81ED-4DB2-BD59-A6C34878D82A}">
                    <a16:rowId xmlns:a16="http://schemas.microsoft.com/office/drawing/2014/main" val="2458474964"/>
                  </a:ext>
                </a:extLst>
              </a:tr>
              <a:tr h="370840">
                <a:tc>
                  <a:txBody>
                    <a:bodyPr/>
                    <a:lstStyle/>
                    <a:p>
                      <a:pPr algn="ctr" fontAlgn="b">
                        <a:spcBef>
                          <a:spcPts val="600"/>
                        </a:spcBef>
                        <a:spcAft>
                          <a:spcPts val="600"/>
                        </a:spcAft>
                      </a:pPr>
                      <a:r>
                        <a:rPr lang="en-US" sz="1800" kern="1200" dirty="0">
                          <a:solidFill>
                            <a:schemeClr val="dk1"/>
                          </a:solidFill>
                          <a:effectLst/>
                          <a:latin typeface="+mn-lt"/>
                          <a:ea typeface="+mn-ea"/>
                          <a:cs typeface="+mn-cs"/>
                        </a:rPr>
                        <a:t>1998</a:t>
                      </a: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Davenport and </a:t>
                      </a:r>
                      <a:r>
                        <a:rPr lang="en-US" sz="1800" kern="1200" dirty="0" err="1">
                          <a:solidFill>
                            <a:schemeClr val="dk1"/>
                          </a:solidFill>
                          <a:effectLst/>
                          <a:latin typeface="+mn-lt"/>
                          <a:ea typeface="+mn-ea"/>
                          <a:cs typeface="+mn-cs"/>
                        </a:rPr>
                        <a:t>Prusak</a:t>
                      </a:r>
                      <a:endParaRPr lang="en-US" sz="1800" kern="1200" dirty="0">
                        <a:solidFill>
                          <a:schemeClr val="dk1"/>
                        </a:solidFill>
                        <a:effectLst/>
                        <a:latin typeface="+mn-lt"/>
                        <a:ea typeface="+mn-ea"/>
                        <a:cs typeface="+mn-cs"/>
                      </a:endParaRPr>
                    </a:p>
                  </a:txBody>
                  <a:tcPr marL="7620" marR="7620" marT="7620" marB="0" anchor="b"/>
                </a:tc>
                <a:tc>
                  <a:txBody>
                    <a:bodyPr/>
                    <a:lstStyle/>
                    <a:p>
                      <a:pPr algn="l" fontAlgn="b">
                        <a:spcBef>
                          <a:spcPts val="600"/>
                        </a:spcBef>
                        <a:spcAft>
                          <a:spcPts val="600"/>
                        </a:spcAft>
                      </a:pPr>
                      <a:r>
                        <a:rPr lang="en-US" sz="1800" kern="1200" dirty="0">
                          <a:solidFill>
                            <a:schemeClr val="dk1"/>
                          </a:solidFill>
                          <a:effectLst/>
                          <a:latin typeface="+mn-lt"/>
                          <a:ea typeface="+mn-ea"/>
                          <a:cs typeface="+mn-cs"/>
                        </a:rPr>
                        <a:t> Publish Working Knowledge</a:t>
                      </a:r>
                    </a:p>
                  </a:txBody>
                  <a:tcPr marL="7620" marR="7620" marT="7620" marB="0" anchor="b"/>
                </a:tc>
                <a:extLst>
                  <a:ext uri="{0D108BD9-81ED-4DB2-BD59-A6C34878D82A}">
                    <a16:rowId xmlns:a16="http://schemas.microsoft.com/office/drawing/2014/main" val="1834019729"/>
                  </a:ext>
                </a:extLst>
              </a:tr>
            </a:tbl>
          </a:graphicData>
        </a:graphic>
      </p:graphicFrame>
      <p:graphicFrame>
        <p:nvGraphicFramePr>
          <p:cNvPr id="2" name="Object 1">
            <a:extLst>
              <a:ext uri="{FF2B5EF4-FFF2-40B4-BE49-F238E27FC236}">
                <a16:creationId xmlns:a16="http://schemas.microsoft.com/office/drawing/2014/main" id="{0C7029E2-7F60-B142-70A4-7CC717946A54}"/>
              </a:ext>
            </a:extLst>
          </p:cNvPr>
          <p:cNvGraphicFramePr>
            <a:graphicFrameLocks noChangeAspect="1"/>
          </p:cNvGraphicFramePr>
          <p:nvPr>
            <p:extLst>
              <p:ext uri="{D42A27DB-BD31-4B8C-83A1-F6EECF244321}">
                <p14:modId xmlns:p14="http://schemas.microsoft.com/office/powerpoint/2010/main" val="600015321"/>
              </p:ext>
            </p:extLst>
          </p:nvPr>
        </p:nvGraphicFramePr>
        <p:xfrm>
          <a:off x="2911836" y="1766664"/>
          <a:ext cx="5614834" cy="377825"/>
        </p:xfrm>
        <a:graphic>
          <a:graphicData uri="http://schemas.openxmlformats.org/presentationml/2006/ole">
            <mc:AlternateContent xmlns:mc="http://schemas.openxmlformats.org/markup-compatibility/2006">
              <mc:Choice xmlns:v="urn:schemas-microsoft-com:vml" Requires="v">
                <p:oleObj name="Bitmap Image" r:id="rId3" imgW="4412160" imgH="297360" progId="PBrush">
                  <p:embed/>
                </p:oleObj>
              </mc:Choice>
              <mc:Fallback>
                <p:oleObj name="Bitmap Image" r:id="rId3" imgW="4412160" imgH="297360" progId="PBrush">
                  <p:embed/>
                  <p:pic>
                    <p:nvPicPr>
                      <p:cNvPr id="0" name=""/>
                      <p:cNvPicPr/>
                      <p:nvPr/>
                    </p:nvPicPr>
                    <p:blipFill>
                      <a:blip r:embed="rId4"/>
                      <a:stretch>
                        <a:fillRect/>
                      </a:stretch>
                    </p:blipFill>
                    <p:spPr>
                      <a:xfrm>
                        <a:off x="2911836" y="1766664"/>
                        <a:ext cx="5614834" cy="377825"/>
                      </a:xfrm>
                      <a:prstGeom prst="rect">
                        <a:avLst/>
                      </a:prstGeom>
                    </p:spPr>
                  </p:pic>
                </p:oleObj>
              </mc:Fallback>
            </mc:AlternateContent>
          </a:graphicData>
        </a:graphic>
      </p:graphicFrame>
    </p:spTree>
    <p:extLst>
      <p:ext uri="{BB962C8B-B14F-4D97-AF65-F5344CB8AC3E}">
        <p14:creationId xmlns:p14="http://schemas.microsoft.com/office/powerpoint/2010/main" val="3249326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0545583" cy="709226"/>
          </a:xfrm>
        </p:spPr>
        <p:txBody>
          <a:bodyPr>
            <a:normAutofit/>
          </a:bodyPr>
          <a:lstStyle/>
          <a:p>
            <a:r>
              <a:rPr lang="en-US" sz="4000" b="1" dirty="0">
                <a:solidFill>
                  <a:srgbClr val="ED7D31"/>
                </a:solidFill>
              </a:rPr>
              <a:t>Knowledge management milestones</a:t>
            </a:r>
          </a:p>
        </p:txBody>
      </p:sp>
      <p:graphicFrame>
        <p:nvGraphicFramePr>
          <p:cNvPr id="2" name="Table 7">
            <a:extLst>
              <a:ext uri="{FF2B5EF4-FFF2-40B4-BE49-F238E27FC236}">
                <a16:creationId xmlns:a16="http://schemas.microsoft.com/office/drawing/2014/main" id="{DFBEFB0C-6B24-D6A8-DA16-9E24F69BCEF5}"/>
              </a:ext>
            </a:extLst>
          </p:cNvPr>
          <p:cNvGraphicFramePr>
            <a:graphicFrameLocks noGrp="1"/>
          </p:cNvGraphicFramePr>
          <p:nvPr>
            <p:extLst>
              <p:ext uri="{D42A27DB-BD31-4B8C-83A1-F6EECF244321}">
                <p14:modId xmlns:p14="http://schemas.microsoft.com/office/powerpoint/2010/main" val="3883683340"/>
              </p:ext>
            </p:extLst>
          </p:nvPr>
        </p:nvGraphicFramePr>
        <p:xfrm>
          <a:off x="615821" y="1836228"/>
          <a:ext cx="11010121" cy="3982720"/>
        </p:xfrm>
        <a:graphic>
          <a:graphicData uri="http://schemas.openxmlformats.org/drawingml/2006/table">
            <a:tbl>
              <a:tblPr firstRow="1" bandRow="1">
                <a:tableStyleId>{5C22544A-7EE6-4342-B048-85BDC9FD1C3A}</a:tableStyleId>
              </a:tblPr>
              <a:tblGrid>
                <a:gridCol w="961052">
                  <a:extLst>
                    <a:ext uri="{9D8B030D-6E8A-4147-A177-3AD203B41FA5}">
                      <a16:colId xmlns:a16="http://schemas.microsoft.com/office/drawing/2014/main" val="1031144184"/>
                    </a:ext>
                  </a:extLst>
                </a:gridCol>
                <a:gridCol w="3616732">
                  <a:extLst>
                    <a:ext uri="{9D8B030D-6E8A-4147-A177-3AD203B41FA5}">
                      <a16:colId xmlns:a16="http://schemas.microsoft.com/office/drawing/2014/main" val="3327101623"/>
                    </a:ext>
                  </a:extLst>
                </a:gridCol>
                <a:gridCol w="6432337">
                  <a:extLst>
                    <a:ext uri="{9D8B030D-6E8A-4147-A177-3AD203B41FA5}">
                      <a16:colId xmlns:a16="http://schemas.microsoft.com/office/drawing/2014/main" val="539810773"/>
                    </a:ext>
                  </a:extLst>
                </a:gridCol>
              </a:tblGrid>
              <a:tr h="370840">
                <a:tc>
                  <a:txBody>
                    <a:bodyPr/>
                    <a:lstStyle/>
                    <a:p>
                      <a:pPr algn="ctr"/>
                      <a:r>
                        <a:rPr lang="en-US" sz="1800" b="1" kern="1200" dirty="0">
                          <a:solidFill>
                            <a:schemeClr val="lt1"/>
                          </a:solidFill>
                          <a:effectLst/>
                          <a:latin typeface="+mn-lt"/>
                          <a:ea typeface="+mn-ea"/>
                          <a:cs typeface="+mn-cs"/>
                        </a:rPr>
                        <a:t>Year </a:t>
                      </a:r>
                      <a:endParaRPr lang="en-US" dirty="0"/>
                    </a:p>
                  </a:txBody>
                  <a:tcPr anchor="ctr">
                    <a:solidFill>
                      <a:srgbClr val="ED7D31"/>
                    </a:solidFill>
                  </a:tcPr>
                </a:tc>
                <a:tc>
                  <a:txBody>
                    <a:bodyPr/>
                    <a:lstStyle/>
                    <a:p>
                      <a:pPr algn="ctr"/>
                      <a:r>
                        <a:rPr lang="en-US" sz="1800" b="1" kern="1200" dirty="0">
                          <a:solidFill>
                            <a:schemeClr val="lt1"/>
                          </a:solidFill>
                          <a:effectLst/>
                          <a:latin typeface="+mn-lt"/>
                          <a:ea typeface="+mn-ea"/>
                          <a:cs typeface="+mn-cs"/>
                        </a:rPr>
                        <a:t>Entity </a:t>
                      </a:r>
                      <a:endParaRPr lang="en-US" dirty="0"/>
                    </a:p>
                  </a:txBody>
                  <a:tcPr anchor="ctr">
                    <a:solidFill>
                      <a:srgbClr val="ED7D31"/>
                    </a:solidFill>
                  </a:tcPr>
                </a:tc>
                <a:tc>
                  <a:txBody>
                    <a:bodyPr/>
                    <a:lstStyle/>
                    <a:p>
                      <a:pPr algn="ctr"/>
                      <a:r>
                        <a:rPr lang="en-US" sz="1800" b="1" kern="1200">
                          <a:solidFill>
                            <a:schemeClr val="lt1"/>
                          </a:solidFill>
                          <a:effectLst/>
                          <a:latin typeface="+mn-lt"/>
                          <a:ea typeface="+mn-ea"/>
                          <a:cs typeface="+mn-cs"/>
                        </a:rPr>
                        <a:t>Event</a:t>
                      </a:r>
                      <a:endParaRPr lang="en-US" dirty="0"/>
                    </a:p>
                  </a:txBody>
                  <a:tcPr anchor="ctr">
                    <a:solidFill>
                      <a:srgbClr val="ED7D31"/>
                    </a:solidFill>
                  </a:tcPr>
                </a:tc>
                <a:extLst>
                  <a:ext uri="{0D108BD9-81ED-4DB2-BD59-A6C34878D82A}">
                    <a16:rowId xmlns:a16="http://schemas.microsoft.com/office/drawing/2014/main" val="1819094295"/>
                  </a:ext>
                </a:extLst>
              </a:tr>
              <a:tr h="370840">
                <a:tc>
                  <a:txBody>
                    <a:bodyPr/>
                    <a:lstStyle/>
                    <a:p>
                      <a:pPr algn="l" fontAlgn="b"/>
                      <a:r>
                        <a:rPr lang="en-US" sz="1800" kern="1200" dirty="0">
                          <a:solidFill>
                            <a:schemeClr val="dk1"/>
                          </a:solidFill>
                          <a:effectLst/>
                          <a:latin typeface="+mn-lt"/>
                          <a:ea typeface="+mn-ea"/>
                          <a:cs typeface="+mn-cs"/>
                        </a:rPr>
                        <a:t>Mid-1990s</a:t>
                      </a:r>
                    </a:p>
                  </a:txBody>
                  <a:tcPr marL="7620" marR="7620" marT="7620" marB="0" anchor="ctr"/>
                </a:tc>
                <a:tc>
                  <a:txBody>
                    <a:bodyPr/>
                    <a:lstStyle/>
                    <a:p>
                      <a:pPr algn="l" fontAlgn="b"/>
                      <a:r>
                        <a:rPr lang="en-US" sz="1800" kern="1200" dirty="0">
                          <a:solidFill>
                            <a:schemeClr val="dk1"/>
                          </a:solidFill>
                          <a:effectLst/>
                          <a:latin typeface="+mn-lt"/>
                          <a:ea typeface="+mn-ea"/>
                          <a:cs typeface="+mn-cs"/>
                        </a:rPr>
                        <a:t>Consulting firms </a:t>
                      </a:r>
                    </a:p>
                  </a:txBody>
                  <a:tcPr marL="7620" marR="7620" marT="7620" marB="0" anchor="ctr"/>
                </a:tc>
                <a:tc>
                  <a:txBody>
                    <a:bodyPr/>
                    <a:lstStyle/>
                    <a:p>
                      <a:pPr algn="l" fontAlgn="b"/>
                      <a:r>
                        <a:rPr lang="en-US" sz="1800" kern="1200" dirty="0">
                          <a:solidFill>
                            <a:schemeClr val="dk1"/>
                          </a:solidFill>
                          <a:effectLst/>
                          <a:latin typeface="+mn-lt"/>
                          <a:ea typeface="+mn-ea"/>
                          <a:cs typeface="+mn-cs"/>
                        </a:rPr>
                        <a:t>Start offering KM services</a:t>
                      </a:r>
                    </a:p>
                  </a:txBody>
                  <a:tcPr marL="7620" marR="7620" marT="7620" marB="0" anchor="ctr"/>
                </a:tc>
                <a:extLst>
                  <a:ext uri="{0D108BD9-81ED-4DB2-BD59-A6C34878D82A}">
                    <a16:rowId xmlns:a16="http://schemas.microsoft.com/office/drawing/2014/main" val="2810780549"/>
                  </a:ext>
                </a:extLst>
              </a:tr>
              <a:tr h="370840">
                <a:tc>
                  <a:txBody>
                    <a:bodyPr/>
                    <a:lstStyle/>
                    <a:p>
                      <a:pPr algn="l" fontAlgn="b"/>
                      <a:r>
                        <a:rPr lang="en-US" sz="1800" kern="1200" dirty="0">
                          <a:solidFill>
                            <a:schemeClr val="dk1"/>
                          </a:solidFill>
                          <a:effectLst/>
                          <a:latin typeface="+mn-lt"/>
                          <a:ea typeface="+mn-ea"/>
                          <a:cs typeface="+mn-cs"/>
                        </a:rPr>
                        <a:t>Late 1990s</a:t>
                      </a:r>
                    </a:p>
                  </a:txBody>
                  <a:tcPr marL="7620" marR="7620" marT="7620" marB="0" anchor="ctr"/>
                </a:tc>
                <a:tc>
                  <a:txBody>
                    <a:bodyPr/>
                    <a:lstStyle/>
                    <a:p>
                      <a:pPr algn="l" fontAlgn="b"/>
                      <a:r>
                        <a:rPr lang="en-US" sz="1800" kern="1200" dirty="0">
                          <a:solidFill>
                            <a:schemeClr val="dk1"/>
                          </a:solidFill>
                          <a:effectLst/>
                          <a:latin typeface="+mn-lt"/>
                          <a:ea typeface="+mn-ea"/>
                          <a:cs typeface="+mn-cs"/>
                        </a:rPr>
                        <a:t>Key vertical industries</a:t>
                      </a:r>
                    </a:p>
                  </a:txBody>
                  <a:tcPr marL="7620" marR="7620" marT="7620" marB="0" anchor="ctr"/>
                </a:tc>
                <a:tc>
                  <a:txBody>
                    <a:bodyPr/>
                    <a:lstStyle/>
                    <a:p>
                      <a:pPr algn="l" fontAlgn="b"/>
                      <a:r>
                        <a:rPr lang="en-US" sz="1800" kern="1200" dirty="0">
                          <a:solidFill>
                            <a:schemeClr val="dk1"/>
                          </a:solidFill>
                          <a:effectLst/>
                          <a:latin typeface="+mn-lt"/>
                          <a:ea typeface="+mn-ea"/>
                          <a:cs typeface="+mn-cs"/>
                        </a:rPr>
                        <a:t>Implement KM and start seeing benefits</a:t>
                      </a:r>
                    </a:p>
                  </a:txBody>
                  <a:tcPr marL="7620" marR="7620" marT="7620" marB="0" anchor="ctr"/>
                </a:tc>
                <a:extLst>
                  <a:ext uri="{0D108BD9-81ED-4DB2-BD59-A6C34878D82A}">
                    <a16:rowId xmlns:a16="http://schemas.microsoft.com/office/drawing/2014/main" val="2012705419"/>
                  </a:ext>
                </a:extLst>
              </a:tr>
              <a:tr h="370840">
                <a:tc>
                  <a:txBody>
                    <a:bodyPr/>
                    <a:lstStyle/>
                    <a:p>
                      <a:pPr algn="l" fontAlgn="b"/>
                      <a:r>
                        <a:rPr lang="en-US" sz="1800" kern="1200" dirty="0">
                          <a:solidFill>
                            <a:schemeClr val="dk1"/>
                          </a:solidFill>
                          <a:effectLst/>
                          <a:latin typeface="+mn-lt"/>
                          <a:ea typeface="+mn-ea"/>
                          <a:cs typeface="+mn-cs"/>
                        </a:rPr>
                        <a:t>2000–2003</a:t>
                      </a:r>
                    </a:p>
                  </a:txBody>
                  <a:tcPr marL="7620" marR="7620" marT="7620" marB="0" anchor="ctr"/>
                </a:tc>
                <a:tc>
                  <a:txBody>
                    <a:bodyPr/>
                    <a:lstStyle/>
                    <a:p>
                      <a:pPr algn="l" fontAlgn="b"/>
                      <a:r>
                        <a:rPr lang="en-US" sz="1800" kern="1200" dirty="0">
                          <a:solidFill>
                            <a:schemeClr val="dk1"/>
                          </a:solidFill>
                          <a:effectLst/>
                          <a:latin typeface="+mn-lt"/>
                          <a:ea typeface="+mn-ea"/>
                          <a:cs typeface="+mn-cs"/>
                        </a:rPr>
                        <a:t>Academia</a:t>
                      </a:r>
                    </a:p>
                  </a:txBody>
                  <a:tcPr marL="7620" marR="7620" marT="7620" marB="0" anchor="ctr"/>
                </a:tc>
                <a:tc>
                  <a:txBody>
                    <a:bodyPr/>
                    <a:lstStyle/>
                    <a:p>
                      <a:pPr algn="l" fontAlgn="b"/>
                      <a:r>
                        <a:rPr lang="en-US" sz="1800" kern="1200" dirty="0">
                          <a:solidFill>
                            <a:schemeClr val="dk1"/>
                          </a:solidFill>
                          <a:effectLst/>
                          <a:latin typeface="+mn-lt"/>
                          <a:ea typeface="+mn-ea"/>
                          <a:cs typeface="+mn-cs"/>
                        </a:rPr>
                        <a:t>KM courses/programs in universities with KM texts</a:t>
                      </a:r>
                    </a:p>
                  </a:txBody>
                  <a:tcPr marL="7620" marR="7620" marT="7620" marB="0" anchor="ctr"/>
                </a:tc>
                <a:extLst>
                  <a:ext uri="{0D108BD9-81ED-4DB2-BD59-A6C34878D82A}">
                    <a16:rowId xmlns:a16="http://schemas.microsoft.com/office/drawing/2014/main" val="609565985"/>
                  </a:ext>
                </a:extLst>
              </a:tr>
              <a:tr h="370840">
                <a:tc>
                  <a:txBody>
                    <a:bodyPr/>
                    <a:lstStyle/>
                    <a:p>
                      <a:pPr algn="l" fontAlgn="b"/>
                      <a:r>
                        <a:rPr lang="en-US" sz="1800" kern="1200" dirty="0">
                          <a:solidFill>
                            <a:schemeClr val="dk1"/>
                          </a:solidFill>
                          <a:effectLst/>
                          <a:latin typeface="+mn-lt"/>
                          <a:ea typeface="+mn-ea"/>
                          <a:cs typeface="+mn-cs"/>
                        </a:rPr>
                        <a:t>2003 to present</a:t>
                      </a:r>
                    </a:p>
                  </a:txBody>
                  <a:tcPr marL="7620" marR="7620" marT="7620" marB="0" anchor="ctr"/>
                </a:tc>
                <a:tc>
                  <a:txBody>
                    <a:bodyPr/>
                    <a:lstStyle/>
                    <a:p>
                      <a:pPr algn="l" fontAlgn="b"/>
                      <a:r>
                        <a:rPr lang="en-US" sz="1800" kern="1200" dirty="0">
                          <a:solidFill>
                            <a:schemeClr val="dk1"/>
                          </a:solidFill>
                          <a:effectLst/>
                          <a:latin typeface="+mn-lt"/>
                          <a:ea typeface="+mn-ea"/>
                          <a:cs typeface="+mn-cs"/>
                        </a:rPr>
                        <a:t>Professional and Academic Certification</a:t>
                      </a:r>
                    </a:p>
                  </a:txBody>
                  <a:tcPr marL="7620" marR="7620" marT="7620" marB="0" anchor="ctr"/>
                </a:tc>
                <a:tc>
                  <a:txBody>
                    <a:bodyPr/>
                    <a:lstStyle/>
                    <a:p>
                      <a:pPr algn="l" fontAlgn="b"/>
                      <a:r>
                        <a:rPr lang="en-US" sz="1800" kern="1200" dirty="0">
                          <a:solidFill>
                            <a:schemeClr val="dk1"/>
                          </a:solidFill>
                          <a:effectLst/>
                          <a:latin typeface="+mn-lt"/>
                          <a:ea typeface="+mn-ea"/>
                          <a:cs typeface="+mn-cs"/>
                        </a:rPr>
                        <a:t>KM degrees offered by universities, by professional institutions such as KMCI Knowledge Management Consortium International</a:t>
                      </a:r>
                    </a:p>
                  </a:txBody>
                  <a:tcPr marL="7620" marR="7620" marT="7620" marB="0" anchor="ctr"/>
                </a:tc>
                <a:extLst>
                  <a:ext uri="{0D108BD9-81ED-4DB2-BD59-A6C34878D82A}">
                    <a16:rowId xmlns:a16="http://schemas.microsoft.com/office/drawing/2014/main" val="1049621788"/>
                  </a:ext>
                </a:extLst>
              </a:tr>
              <a:tr h="370840">
                <a:tc>
                  <a:txBody>
                    <a:bodyPr/>
                    <a:lstStyle/>
                    <a:p>
                      <a:pPr algn="l" fontAlgn="b"/>
                      <a:r>
                        <a:rPr lang="en-US" sz="1800" kern="1200" dirty="0">
                          <a:solidFill>
                            <a:schemeClr val="dk1"/>
                          </a:solidFill>
                          <a:effectLst/>
                          <a:latin typeface="+mn-lt"/>
                          <a:ea typeface="+mn-ea"/>
                          <a:cs typeface="+mn-cs"/>
                        </a:rPr>
                        <a:t>2015</a:t>
                      </a:r>
                    </a:p>
                  </a:txBody>
                  <a:tcPr marL="7620" marR="7620" marT="7620" marB="0" anchor="ctr"/>
                </a:tc>
                <a:tc>
                  <a:txBody>
                    <a:bodyPr/>
                    <a:lstStyle/>
                    <a:p>
                      <a:pPr algn="l" fontAlgn="b"/>
                      <a:r>
                        <a:rPr lang="en-US" sz="1800" kern="1200" dirty="0">
                          <a:solidFill>
                            <a:schemeClr val="dk1"/>
                          </a:solidFill>
                          <a:effectLst/>
                          <a:latin typeface="+mn-lt"/>
                          <a:ea typeface="+mn-ea"/>
                          <a:cs typeface="+mn-cs"/>
                        </a:rPr>
                        <a:t>KM added to ISO Standard 9001: 2015</a:t>
                      </a:r>
                    </a:p>
                  </a:txBody>
                  <a:tcPr marL="7620" marR="7620" marT="7620" marB="0" anchor="ctr"/>
                </a:tc>
                <a:tc>
                  <a:txBody>
                    <a:bodyPr/>
                    <a:lstStyle/>
                    <a:p>
                      <a:pPr algn="l" fontAlgn="b"/>
                      <a:r>
                        <a:rPr lang="en-US" sz="1800" kern="1200" dirty="0">
                          <a:solidFill>
                            <a:schemeClr val="dk1"/>
                          </a:solidFill>
                          <a:effectLst/>
                          <a:latin typeface="+mn-lt"/>
                          <a:ea typeface="+mn-ea"/>
                          <a:cs typeface="+mn-cs"/>
                        </a:rPr>
                        <a:t>While not a KM standard per se, knowledge is recognized as an organizational resource to be managed in a new clause</a:t>
                      </a:r>
                    </a:p>
                  </a:txBody>
                  <a:tcPr marL="7620" marR="7620" marT="7620" marB="0" anchor="ctr"/>
                </a:tc>
                <a:extLst>
                  <a:ext uri="{0D108BD9-81ED-4DB2-BD59-A6C34878D82A}">
                    <a16:rowId xmlns:a16="http://schemas.microsoft.com/office/drawing/2014/main" val="2379880387"/>
                  </a:ext>
                </a:extLst>
              </a:tr>
              <a:tr h="370840">
                <a:tc>
                  <a:txBody>
                    <a:bodyPr/>
                    <a:lstStyle/>
                    <a:p>
                      <a:pPr algn="l" fontAlgn="b"/>
                      <a:r>
                        <a:rPr lang="en-US" sz="1800" kern="1200" dirty="0">
                          <a:solidFill>
                            <a:schemeClr val="dk1"/>
                          </a:solidFill>
                          <a:effectLst/>
                          <a:latin typeface="+mn-lt"/>
                          <a:ea typeface="+mn-ea"/>
                          <a:cs typeface="+mn-cs"/>
                        </a:rPr>
                        <a:t>2013 to present</a:t>
                      </a:r>
                    </a:p>
                  </a:txBody>
                  <a:tcPr marL="7620" marR="7620" marT="7620" marB="0" anchor="ctr"/>
                </a:tc>
                <a:tc>
                  <a:txBody>
                    <a:bodyPr/>
                    <a:lstStyle/>
                    <a:p>
                      <a:pPr algn="l" fontAlgn="b"/>
                      <a:r>
                        <a:rPr lang="en-US" sz="1800" kern="1200" dirty="0">
                          <a:solidFill>
                            <a:schemeClr val="dk1"/>
                          </a:solidFill>
                          <a:effectLst/>
                          <a:latin typeface="+mn-lt"/>
                          <a:ea typeface="+mn-ea"/>
                          <a:cs typeface="+mn-cs"/>
                        </a:rPr>
                        <a:t>AIIM Standards Board Committee on KM Education Standards</a:t>
                      </a:r>
                    </a:p>
                  </a:txBody>
                  <a:tcPr marL="7620" marR="7620" marT="7620" marB="0" anchor="ctr"/>
                </a:tc>
                <a:tc>
                  <a:txBody>
                    <a:bodyPr/>
                    <a:lstStyle/>
                    <a:p>
                      <a:pPr algn="l" fontAlgn="b"/>
                      <a:r>
                        <a:rPr lang="en-US" sz="1800" kern="1200" dirty="0">
                          <a:solidFill>
                            <a:schemeClr val="dk1"/>
                          </a:solidFill>
                          <a:effectLst/>
                          <a:latin typeface="+mn-lt"/>
                          <a:ea typeface="+mn-ea"/>
                          <a:cs typeface="+mn-cs"/>
                        </a:rPr>
                        <a:t>The Association for Information and Image Management Standards</a:t>
                      </a:r>
                    </a:p>
                  </a:txBody>
                  <a:tcPr marL="7620" marR="7620" marT="7620" marB="0" anchor="ctr"/>
                </a:tc>
                <a:extLst>
                  <a:ext uri="{0D108BD9-81ED-4DB2-BD59-A6C34878D82A}">
                    <a16:rowId xmlns:a16="http://schemas.microsoft.com/office/drawing/2014/main" val="2458474964"/>
                  </a:ext>
                </a:extLst>
              </a:tr>
            </a:tbl>
          </a:graphicData>
        </a:graphic>
      </p:graphicFrame>
    </p:spTree>
    <p:extLst>
      <p:ext uri="{BB962C8B-B14F-4D97-AF65-F5344CB8AC3E}">
        <p14:creationId xmlns:p14="http://schemas.microsoft.com/office/powerpoint/2010/main" val="1316851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000" dirty="0"/>
              <a:t>The </a:t>
            </a:r>
            <a:r>
              <a:rPr lang="en-US" sz="3000" dirty="0" err="1"/>
              <a:t>Entovation</a:t>
            </a:r>
            <a:r>
              <a:rPr lang="en-US" sz="3000" dirty="0"/>
              <a:t> timeline</a:t>
            </a:r>
          </a:p>
          <a:p>
            <a:pPr marL="342900" indent="-342900" algn="just">
              <a:lnSpc>
                <a:spcPct val="150000"/>
              </a:lnSpc>
              <a:spcBef>
                <a:spcPts val="600"/>
              </a:spcBef>
              <a:buClr>
                <a:srgbClr val="973735"/>
              </a:buClr>
              <a:buSzPct val="50000"/>
              <a:buFont typeface="Wingdings" pitchFamily="2" charset="2"/>
              <a:buChar char="u"/>
              <a:defRPr/>
            </a:pPr>
            <a:r>
              <a:rPr lang="en-US" sz="3000" dirty="0"/>
              <a:t>The various eras</a:t>
            </a:r>
          </a:p>
          <a:p>
            <a:pPr marL="342900" indent="-342900" algn="just">
              <a:lnSpc>
                <a:spcPct val="150000"/>
              </a:lnSpc>
              <a:spcBef>
                <a:spcPts val="600"/>
              </a:spcBef>
              <a:buClr>
                <a:srgbClr val="973735"/>
              </a:buClr>
              <a:buSzPct val="50000"/>
              <a:buFont typeface="Wingdings" pitchFamily="2" charset="2"/>
              <a:buChar char="u"/>
              <a:defRPr/>
            </a:pPr>
            <a:r>
              <a:rPr lang="en-US" sz="3000" dirty="0"/>
              <a:t>Knowledge management milestones</a:t>
            </a:r>
          </a:p>
          <a:p>
            <a:pPr marL="342900" indent="-342900" algn="just">
              <a:lnSpc>
                <a:spcPct val="150000"/>
              </a:lnSpc>
              <a:spcBef>
                <a:spcPts val="600"/>
              </a:spcBef>
              <a:buClr>
                <a:srgbClr val="973735"/>
              </a:buClr>
              <a:buSzPct val="50000"/>
              <a:buFont typeface="Wingdings" pitchFamily="2" charset="2"/>
              <a:buChar char="u"/>
              <a:defRPr/>
            </a:pPr>
            <a:r>
              <a:rPr lang="en-US" sz="3000" b="1" dirty="0">
                <a:solidFill>
                  <a:srgbClr val="ED7D31"/>
                </a:solidFill>
              </a:rPr>
              <a:t>From Physical Assets to Knowledge Assets</a:t>
            </a:r>
          </a:p>
          <a:p>
            <a:pPr marL="342900" indent="-342900" algn="just">
              <a:lnSpc>
                <a:spcPct val="150000"/>
              </a:lnSpc>
              <a:spcBef>
                <a:spcPts val="600"/>
              </a:spcBef>
              <a:buClr>
                <a:srgbClr val="973735"/>
              </a:buClr>
              <a:buSzPct val="50000"/>
              <a:buFont typeface="Wingdings" pitchFamily="2" charset="2"/>
              <a:buChar char="u"/>
              <a:defRPr/>
            </a:pPr>
            <a:r>
              <a:rPr lang="en-US" sz="3000" dirty="0"/>
              <a:t>Organizational Perspectives on Knowledge Management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History of KM</a:t>
            </a:r>
          </a:p>
        </p:txBody>
      </p:sp>
    </p:spTree>
    <p:extLst>
      <p:ext uri="{BB962C8B-B14F-4D97-AF65-F5344CB8AC3E}">
        <p14:creationId xmlns:p14="http://schemas.microsoft.com/office/powerpoint/2010/main" val="7887824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a:bodyPr>
          <a:lstStyle/>
          <a:p>
            <a:r>
              <a:rPr lang="en-US" sz="4000" b="1" dirty="0">
                <a:solidFill>
                  <a:srgbClr val="ED7D31"/>
                </a:solidFill>
              </a:rPr>
              <a:t>From Physical Assets to Knowledge Assets</a:t>
            </a:r>
          </a:p>
        </p:txBody>
      </p:sp>
      <p:graphicFrame>
        <p:nvGraphicFramePr>
          <p:cNvPr id="2" name="Object 1">
            <a:extLst>
              <a:ext uri="{FF2B5EF4-FFF2-40B4-BE49-F238E27FC236}">
                <a16:creationId xmlns:a16="http://schemas.microsoft.com/office/drawing/2014/main" id="{E0F01DC8-E2B6-1068-6C73-22366F854FAF}"/>
              </a:ext>
            </a:extLst>
          </p:cNvPr>
          <p:cNvGraphicFramePr>
            <a:graphicFrameLocks noChangeAspect="1"/>
          </p:cNvGraphicFramePr>
          <p:nvPr>
            <p:extLst>
              <p:ext uri="{D42A27DB-BD31-4B8C-83A1-F6EECF244321}">
                <p14:modId xmlns:p14="http://schemas.microsoft.com/office/powerpoint/2010/main" val="3094864556"/>
              </p:ext>
            </p:extLst>
          </p:nvPr>
        </p:nvGraphicFramePr>
        <p:xfrm>
          <a:off x="5332021" y="1479821"/>
          <a:ext cx="6546372" cy="4579106"/>
        </p:xfrm>
        <a:graphic>
          <a:graphicData uri="http://schemas.openxmlformats.org/presentationml/2006/ole">
            <mc:AlternateContent xmlns:mc="http://schemas.openxmlformats.org/markup-compatibility/2006">
              <mc:Choice xmlns:v="urn:schemas-microsoft-com:vml" Requires="v">
                <p:oleObj name="Bitmap Image" r:id="rId3" imgW="5577840" imgH="3901320" progId="PBrush">
                  <p:embed/>
                </p:oleObj>
              </mc:Choice>
              <mc:Fallback>
                <p:oleObj name="Bitmap Image" r:id="rId3" imgW="5577840" imgH="3901320" progId="PBrush">
                  <p:embed/>
                  <p:pic>
                    <p:nvPicPr>
                      <p:cNvPr id="0" name=""/>
                      <p:cNvPicPr/>
                      <p:nvPr/>
                    </p:nvPicPr>
                    <p:blipFill>
                      <a:blip r:embed="rId4"/>
                      <a:stretch>
                        <a:fillRect/>
                      </a:stretch>
                    </p:blipFill>
                    <p:spPr>
                      <a:xfrm>
                        <a:off x="5332021" y="1479821"/>
                        <a:ext cx="6546372" cy="4579106"/>
                      </a:xfrm>
                      <a:prstGeom prst="rect">
                        <a:avLst/>
                      </a:prstGeom>
                    </p:spPr>
                  </p:pic>
                </p:oleObj>
              </mc:Fallback>
            </mc:AlternateContent>
          </a:graphicData>
        </a:graphic>
      </p:graphicFrame>
      <p:sp>
        <p:nvSpPr>
          <p:cNvPr id="8" name="Content Placeholder 3">
            <a:extLst>
              <a:ext uri="{FF2B5EF4-FFF2-40B4-BE49-F238E27FC236}">
                <a16:creationId xmlns:a16="http://schemas.microsoft.com/office/drawing/2014/main" id="{5793C21B-E5C9-707A-A122-8DE4BC4F33A7}"/>
              </a:ext>
            </a:extLst>
          </p:cNvPr>
          <p:cNvSpPr txBox="1">
            <a:spLocks/>
          </p:cNvSpPr>
          <p:nvPr/>
        </p:nvSpPr>
        <p:spPr>
          <a:xfrm>
            <a:off x="-727788" y="1664593"/>
            <a:ext cx="5668088" cy="49352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57300" lvl="2" indent="-342900" algn="just">
              <a:lnSpc>
                <a:spcPct val="100000"/>
              </a:lnSpc>
              <a:spcBef>
                <a:spcPts val="2400"/>
              </a:spcBef>
              <a:buClr>
                <a:srgbClr val="973735"/>
              </a:buClr>
              <a:buSzPct val="50000"/>
              <a:buFont typeface="Wingdings" pitchFamily="2" charset="2"/>
              <a:buChar char="u"/>
              <a:defRPr/>
            </a:pPr>
            <a:r>
              <a:rPr lang="en-US" sz="2800" b="1" dirty="0"/>
              <a:t>Strategic level: </a:t>
            </a:r>
            <a:endParaRPr lang="en-US" sz="2800" dirty="0"/>
          </a:p>
          <a:p>
            <a:pPr marL="1714500" lvl="3" indent="-342900">
              <a:lnSpc>
                <a:spcPct val="100000"/>
              </a:lnSpc>
              <a:spcBef>
                <a:spcPts val="2400"/>
              </a:spcBef>
              <a:buClr>
                <a:srgbClr val="973735"/>
              </a:buClr>
              <a:buSzPct val="50000"/>
              <a:buFont typeface="Wingdings" pitchFamily="2" charset="2"/>
              <a:buChar char="u"/>
              <a:defRPr/>
            </a:pPr>
            <a:r>
              <a:rPr lang="en-US" sz="2600" dirty="0"/>
              <a:t>Establishing a “knowledge-oriented” mentality in a firm.</a:t>
            </a:r>
          </a:p>
          <a:p>
            <a:pPr marL="1714500" lvl="3" indent="-342900">
              <a:lnSpc>
                <a:spcPct val="100000"/>
              </a:lnSpc>
              <a:spcBef>
                <a:spcPts val="2400"/>
              </a:spcBef>
              <a:buClr>
                <a:srgbClr val="973735"/>
              </a:buClr>
              <a:buSzPct val="50000"/>
              <a:buFont typeface="Wingdings" pitchFamily="2" charset="2"/>
              <a:buChar char="u"/>
              <a:defRPr/>
            </a:pPr>
            <a:r>
              <a:rPr lang="en-US" sz="2600" dirty="0"/>
              <a:t>Analyzing the current knowledge.</a:t>
            </a:r>
          </a:p>
          <a:p>
            <a:pPr marL="1714500" lvl="3" indent="-342900">
              <a:lnSpc>
                <a:spcPct val="100000"/>
              </a:lnSpc>
              <a:spcBef>
                <a:spcPts val="2400"/>
              </a:spcBef>
              <a:buClr>
                <a:srgbClr val="973735"/>
              </a:buClr>
              <a:buSzPct val="50000"/>
              <a:buFont typeface="Wingdings" pitchFamily="2" charset="2"/>
              <a:buChar char="u"/>
              <a:defRPr/>
            </a:pPr>
            <a:r>
              <a:rPr lang="en-US" sz="2600" dirty="0"/>
              <a:t>Plaining the knowledge needed in the future.</a:t>
            </a:r>
          </a:p>
          <a:p>
            <a:pPr marL="1714500" lvl="3" indent="-342900" algn="just">
              <a:lnSpc>
                <a:spcPct val="100000"/>
              </a:lnSpc>
              <a:spcBef>
                <a:spcPts val="1200"/>
              </a:spcBef>
              <a:buClr>
                <a:srgbClr val="973735"/>
              </a:buClr>
              <a:buSzPct val="50000"/>
              <a:buFont typeface="Wingdings" pitchFamily="2" charset="2"/>
              <a:buChar char="u"/>
              <a:defRPr/>
            </a:pPr>
            <a:endParaRPr lang="en-US" sz="2600" dirty="0"/>
          </a:p>
        </p:txBody>
      </p:sp>
      <p:graphicFrame>
        <p:nvGraphicFramePr>
          <p:cNvPr id="4" name="Object 3">
            <a:extLst>
              <a:ext uri="{FF2B5EF4-FFF2-40B4-BE49-F238E27FC236}">
                <a16:creationId xmlns:a16="http://schemas.microsoft.com/office/drawing/2014/main" id="{5A58C9B4-ED05-E66E-39D5-56C32D2954DF}"/>
              </a:ext>
            </a:extLst>
          </p:cNvPr>
          <p:cNvGraphicFramePr>
            <a:graphicFrameLocks noChangeAspect="1"/>
          </p:cNvGraphicFramePr>
          <p:nvPr>
            <p:extLst>
              <p:ext uri="{D42A27DB-BD31-4B8C-83A1-F6EECF244321}">
                <p14:modId xmlns:p14="http://schemas.microsoft.com/office/powerpoint/2010/main" val="1165279154"/>
              </p:ext>
            </p:extLst>
          </p:nvPr>
        </p:nvGraphicFramePr>
        <p:xfrm>
          <a:off x="5879963" y="6090426"/>
          <a:ext cx="4572000" cy="358775"/>
        </p:xfrm>
        <a:graphic>
          <a:graphicData uri="http://schemas.openxmlformats.org/presentationml/2006/ole">
            <mc:AlternateContent xmlns:mc="http://schemas.openxmlformats.org/markup-compatibility/2006">
              <mc:Choice xmlns:v="urn:schemas-microsoft-com:vml" Requires="v">
                <p:oleObj name="Bitmap Image" r:id="rId5" imgW="4572000" imgH="358200" progId="PBrush">
                  <p:embed/>
                </p:oleObj>
              </mc:Choice>
              <mc:Fallback>
                <p:oleObj name="Bitmap Image" r:id="rId5" imgW="4572000" imgH="358200" progId="PBrush">
                  <p:embed/>
                  <p:pic>
                    <p:nvPicPr>
                      <p:cNvPr id="0" name=""/>
                      <p:cNvPicPr/>
                      <p:nvPr/>
                    </p:nvPicPr>
                    <p:blipFill>
                      <a:blip r:embed="rId6"/>
                      <a:stretch>
                        <a:fillRect/>
                      </a:stretch>
                    </p:blipFill>
                    <p:spPr>
                      <a:xfrm>
                        <a:off x="5879963" y="6090426"/>
                        <a:ext cx="4572000" cy="358775"/>
                      </a:xfrm>
                      <a:prstGeom prst="rect">
                        <a:avLst/>
                      </a:prstGeom>
                    </p:spPr>
                  </p:pic>
                </p:oleObj>
              </mc:Fallback>
            </mc:AlternateContent>
          </a:graphicData>
        </a:graphic>
      </p:graphicFrame>
    </p:spTree>
    <p:extLst>
      <p:ext uri="{BB962C8B-B14F-4D97-AF65-F5344CB8AC3E}">
        <p14:creationId xmlns:p14="http://schemas.microsoft.com/office/powerpoint/2010/main" val="34571231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674951"/>
            <a:ext cx="11683659" cy="709226"/>
          </a:xfrm>
        </p:spPr>
        <p:txBody>
          <a:bodyPr>
            <a:normAutofit/>
          </a:bodyPr>
          <a:lstStyle/>
          <a:p>
            <a:r>
              <a:rPr lang="en-US" sz="4000" b="1" dirty="0">
                <a:solidFill>
                  <a:srgbClr val="ED7D31"/>
                </a:solidFill>
              </a:rPr>
              <a:t>From Physical Assets to Knowledge Assets</a:t>
            </a:r>
          </a:p>
        </p:txBody>
      </p:sp>
      <p:sp>
        <p:nvSpPr>
          <p:cNvPr id="5" name="Content Placeholder 3">
            <a:extLst>
              <a:ext uri="{FF2B5EF4-FFF2-40B4-BE49-F238E27FC236}">
                <a16:creationId xmlns:a16="http://schemas.microsoft.com/office/drawing/2014/main" id="{36890E77-AF33-21FE-D6C8-778CCB70EBD4}"/>
              </a:ext>
            </a:extLst>
          </p:cNvPr>
          <p:cNvSpPr txBox="1">
            <a:spLocks/>
          </p:cNvSpPr>
          <p:nvPr/>
        </p:nvSpPr>
        <p:spPr>
          <a:xfrm>
            <a:off x="-727789" y="1664593"/>
            <a:ext cx="12698963" cy="49352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57300" lvl="2" indent="-342900" algn="just">
              <a:lnSpc>
                <a:spcPct val="150000"/>
              </a:lnSpc>
              <a:spcBef>
                <a:spcPts val="600"/>
              </a:spcBef>
              <a:buClr>
                <a:srgbClr val="973735"/>
              </a:buClr>
              <a:buSzPct val="50000"/>
              <a:buFont typeface="Wingdings" pitchFamily="2" charset="2"/>
              <a:buChar char="u"/>
              <a:defRPr/>
            </a:pPr>
            <a:r>
              <a:rPr lang="en-US" sz="2800" b="1" dirty="0"/>
              <a:t>Tactical level:</a:t>
            </a:r>
            <a:r>
              <a:rPr lang="en-US" sz="2800" dirty="0"/>
              <a:t> </a:t>
            </a:r>
          </a:p>
          <a:p>
            <a:pPr marL="1714500" lvl="3" indent="-342900" algn="just">
              <a:lnSpc>
                <a:spcPct val="100000"/>
              </a:lnSpc>
              <a:spcBef>
                <a:spcPts val="600"/>
              </a:spcBef>
              <a:buClr>
                <a:srgbClr val="973735"/>
              </a:buClr>
              <a:buSzPct val="50000"/>
              <a:buFont typeface="Wingdings" pitchFamily="2" charset="2"/>
              <a:buChar char="u"/>
              <a:defRPr/>
            </a:pPr>
            <a:r>
              <a:rPr lang="en-US" sz="2600" dirty="0"/>
              <a:t>Proper identification of the existing knowledge.</a:t>
            </a:r>
          </a:p>
          <a:p>
            <a:pPr marL="1714500" lvl="3" indent="-342900" algn="just">
              <a:lnSpc>
                <a:spcPct val="100000"/>
              </a:lnSpc>
              <a:spcBef>
                <a:spcPts val="1200"/>
              </a:spcBef>
              <a:buClr>
                <a:srgbClr val="973735"/>
              </a:buClr>
              <a:buSzPct val="50000"/>
              <a:buFont typeface="Wingdings" pitchFamily="2" charset="2"/>
              <a:buChar char="u"/>
              <a:defRPr/>
            </a:pPr>
            <a:r>
              <a:rPr lang="en-US" sz="2600" dirty="0"/>
              <a:t>Acquisition and proper archiving of new knowledge in organizational memories.</a:t>
            </a:r>
          </a:p>
          <a:p>
            <a:pPr marL="1714500" lvl="3" indent="-342900" algn="just">
              <a:lnSpc>
                <a:spcPct val="100000"/>
              </a:lnSpc>
              <a:spcBef>
                <a:spcPts val="1200"/>
              </a:spcBef>
              <a:buClr>
                <a:srgbClr val="973735"/>
              </a:buClr>
              <a:buSzPct val="50000"/>
              <a:buFont typeface="Wingdings" pitchFamily="2" charset="2"/>
              <a:buChar char="u"/>
              <a:defRPr/>
            </a:pPr>
            <a:r>
              <a:rPr lang="en-US" sz="2600" dirty="0"/>
              <a:t>Effective and efficient allocation of the knowledge with in a firm.</a:t>
            </a:r>
          </a:p>
          <a:p>
            <a:pPr marL="1257300" lvl="2" indent="-342900" algn="just">
              <a:lnSpc>
                <a:spcPct val="150000"/>
              </a:lnSpc>
              <a:spcBef>
                <a:spcPts val="1200"/>
              </a:spcBef>
              <a:buClr>
                <a:srgbClr val="973735"/>
              </a:buClr>
              <a:buSzPct val="50000"/>
              <a:buFont typeface="Wingdings" pitchFamily="2" charset="2"/>
              <a:buChar char="u"/>
              <a:defRPr/>
            </a:pPr>
            <a:r>
              <a:rPr lang="en-US" sz="2800" b="1" dirty="0"/>
              <a:t>Operational level:</a:t>
            </a:r>
          </a:p>
          <a:p>
            <a:pPr marL="1714500" lvl="3" indent="-342900" algn="just">
              <a:lnSpc>
                <a:spcPct val="100000"/>
              </a:lnSpc>
              <a:spcBef>
                <a:spcPts val="600"/>
              </a:spcBef>
              <a:buClr>
                <a:srgbClr val="973735"/>
              </a:buClr>
              <a:buSzPct val="50000"/>
              <a:buFont typeface="Wingdings" pitchFamily="2" charset="2"/>
              <a:buChar char="u"/>
              <a:defRPr/>
            </a:pPr>
            <a:r>
              <a:rPr lang="en-US" sz="2600" dirty="0"/>
              <a:t>Ensuring that knowledge is used in everyday practice by those who need access to the right knowledge, at the right location.</a:t>
            </a:r>
          </a:p>
          <a:p>
            <a:pPr marL="1714500" lvl="3" indent="-342900" algn="just">
              <a:lnSpc>
                <a:spcPct val="100000"/>
              </a:lnSpc>
              <a:spcBef>
                <a:spcPts val="600"/>
              </a:spcBef>
              <a:buClr>
                <a:srgbClr val="973735"/>
              </a:buClr>
              <a:buSzPct val="50000"/>
              <a:buFont typeface="Wingdings" pitchFamily="2" charset="2"/>
              <a:buChar char="u"/>
              <a:defRPr/>
            </a:pPr>
            <a:endParaRPr lang="en-US" sz="2400" dirty="0"/>
          </a:p>
        </p:txBody>
      </p:sp>
    </p:spTree>
    <p:extLst>
      <p:ext uri="{BB962C8B-B14F-4D97-AF65-F5344CB8AC3E}">
        <p14:creationId xmlns:p14="http://schemas.microsoft.com/office/powerpoint/2010/main" val="1237623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3000" dirty="0"/>
              <a:t>The </a:t>
            </a:r>
            <a:r>
              <a:rPr lang="en-US" sz="3000" dirty="0" err="1"/>
              <a:t>Entovation</a:t>
            </a:r>
            <a:r>
              <a:rPr lang="en-US" sz="3000" dirty="0"/>
              <a:t> timeline</a:t>
            </a:r>
          </a:p>
          <a:p>
            <a:pPr marL="342900" indent="-342900" algn="just">
              <a:lnSpc>
                <a:spcPct val="150000"/>
              </a:lnSpc>
              <a:spcBef>
                <a:spcPts val="600"/>
              </a:spcBef>
              <a:buClr>
                <a:srgbClr val="973735"/>
              </a:buClr>
              <a:buSzPct val="50000"/>
              <a:buFont typeface="Wingdings" pitchFamily="2" charset="2"/>
              <a:buChar char="u"/>
              <a:defRPr/>
            </a:pPr>
            <a:r>
              <a:rPr lang="en-US" sz="3000" dirty="0"/>
              <a:t>The various eras</a:t>
            </a:r>
          </a:p>
          <a:p>
            <a:pPr marL="342900" indent="-342900" algn="just">
              <a:lnSpc>
                <a:spcPct val="150000"/>
              </a:lnSpc>
              <a:spcBef>
                <a:spcPts val="600"/>
              </a:spcBef>
              <a:buClr>
                <a:srgbClr val="973735"/>
              </a:buClr>
              <a:buSzPct val="50000"/>
              <a:buFont typeface="Wingdings" pitchFamily="2" charset="2"/>
              <a:buChar char="u"/>
              <a:defRPr/>
            </a:pPr>
            <a:r>
              <a:rPr lang="en-US" sz="3000" dirty="0"/>
              <a:t>Knowledge management milestones</a:t>
            </a:r>
          </a:p>
          <a:p>
            <a:pPr marL="342900" indent="-342900" algn="just">
              <a:lnSpc>
                <a:spcPct val="150000"/>
              </a:lnSpc>
              <a:spcBef>
                <a:spcPts val="600"/>
              </a:spcBef>
              <a:buClr>
                <a:srgbClr val="973735"/>
              </a:buClr>
              <a:buSzPct val="50000"/>
              <a:buFont typeface="Wingdings" pitchFamily="2" charset="2"/>
              <a:buChar char="u"/>
              <a:defRPr/>
            </a:pPr>
            <a:r>
              <a:rPr lang="en-US" sz="3000" dirty="0"/>
              <a:t>From Physical Assets to Knowledge Assets</a:t>
            </a:r>
          </a:p>
          <a:p>
            <a:pPr marL="342900" indent="-342900" algn="just">
              <a:lnSpc>
                <a:spcPct val="150000"/>
              </a:lnSpc>
              <a:spcBef>
                <a:spcPts val="600"/>
              </a:spcBef>
              <a:buClr>
                <a:srgbClr val="973735"/>
              </a:buClr>
              <a:buSzPct val="50000"/>
              <a:buFont typeface="Wingdings" pitchFamily="2" charset="2"/>
              <a:buChar char="u"/>
              <a:defRPr/>
            </a:pPr>
            <a:r>
              <a:rPr lang="en-US" sz="3000" b="1" dirty="0">
                <a:solidFill>
                  <a:srgbClr val="ED7D31"/>
                </a:solidFill>
              </a:rPr>
              <a:t>Organizational Perspectives on Knowledge Management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History of KM</a:t>
            </a:r>
          </a:p>
        </p:txBody>
      </p:sp>
    </p:spTree>
    <p:extLst>
      <p:ext uri="{BB962C8B-B14F-4D97-AF65-F5344CB8AC3E}">
        <p14:creationId xmlns:p14="http://schemas.microsoft.com/office/powerpoint/2010/main" val="22104181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971176" cy="4255275"/>
          </a:xfrm>
        </p:spPr>
        <p:txBody>
          <a:bodyPr>
            <a:noAutofit/>
          </a:bodyPr>
          <a:lstStyle/>
          <a:p>
            <a:pPr marL="800100" lvl="1" indent="-342900" algn="just">
              <a:lnSpc>
                <a:spcPct val="100000"/>
              </a:lnSpc>
              <a:spcBef>
                <a:spcPts val="1200"/>
              </a:spcBef>
              <a:buClr>
                <a:srgbClr val="973735"/>
              </a:buClr>
              <a:buSzPct val="50000"/>
              <a:buFont typeface="Wingdings" pitchFamily="2" charset="2"/>
              <a:buChar char="u"/>
              <a:defRPr/>
            </a:pPr>
            <a:r>
              <a:rPr lang="en-US" sz="2600" b="1" dirty="0"/>
              <a:t>Business perspective: </a:t>
            </a:r>
            <a:r>
              <a:rPr lang="en-US" sz="2600" dirty="0"/>
              <a:t>focusing on why, where, and to what extent the organization must invest in or exploit knowledge. Strategies, products and services, alliances, acquisitions, or divestments should be considered from knowledge-related points of view.</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Management perspective: </a:t>
            </a:r>
            <a:r>
              <a:rPr lang="en-US" sz="2600" dirty="0"/>
              <a:t>focusing on determining, organizing, directing, facilitating, and monitoring knowledge-related practices and activities required to achieve the desired business strategies and objectives.</a:t>
            </a:r>
          </a:p>
          <a:p>
            <a:pPr marL="800100" lvl="1" indent="-342900" algn="just">
              <a:lnSpc>
                <a:spcPct val="100000"/>
              </a:lnSpc>
              <a:spcBef>
                <a:spcPts val="1200"/>
              </a:spcBef>
              <a:buClr>
                <a:srgbClr val="973735"/>
              </a:buClr>
              <a:buSzPct val="50000"/>
              <a:buFont typeface="Wingdings" pitchFamily="2" charset="2"/>
              <a:buChar char="u"/>
              <a:defRPr/>
            </a:pPr>
            <a:r>
              <a:rPr lang="en-US" sz="2600" b="1" dirty="0"/>
              <a:t>Hands-on perspective: </a:t>
            </a:r>
            <a:r>
              <a:rPr lang="en-US" sz="2600" dirty="0"/>
              <a:t>focusing on applying the expertise to conduct explicit knowledge-related work and tasks.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41201"/>
            <a:ext cx="12086572" cy="709226"/>
          </a:xfrm>
        </p:spPr>
        <p:txBody>
          <a:bodyPr>
            <a:normAutofit fontScale="90000"/>
          </a:bodyPr>
          <a:lstStyle/>
          <a:p>
            <a:r>
              <a:rPr lang="en-US" sz="4000" b="1" dirty="0">
                <a:solidFill>
                  <a:srgbClr val="ED7D31"/>
                </a:solidFill>
              </a:rPr>
              <a:t>Organizational Perspectives on Knowledge Management</a:t>
            </a:r>
          </a:p>
        </p:txBody>
      </p:sp>
    </p:spTree>
    <p:extLst>
      <p:ext uri="{BB962C8B-B14F-4D97-AF65-F5344CB8AC3E}">
        <p14:creationId xmlns:p14="http://schemas.microsoft.com/office/powerpoint/2010/main" val="15902889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Why Is KM Important Today?</a:t>
            </a:r>
          </a:p>
        </p:txBody>
      </p:sp>
      <p:sp>
        <p:nvSpPr>
          <p:cNvPr id="4" name="Content Placeholder 3"/>
          <p:cNvSpPr>
            <a:spLocks noGrp="1"/>
          </p:cNvSpPr>
          <p:nvPr>
            <p:ph idx="1"/>
          </p:nvPr>
        </p:nvSpPr>
        <p:spPr>
          <a:xfrm>
            <a:off x="0" y="1664593"/>
            <a:ext cx="11971176" cy="4816106"/>
          </a:xfrm>
        </p:spPr>
        <p:txBody>
          <a:bodyPr>
            <a:noAutofit/>
          </a:bodyPr>
          <a:lstStyle/>
          <a:p>
            <a:pPr marL="342900"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Globalization of business</a:t>
            </a:r>
            <a:r>
              <a:rPr lang="en-US" b="1" dirty="0">
                <a:solidFill>
                  <a:srgbClr val="ED7D31"/>
                </a:solidFill>
              </a:rPr>
              <a:t>: </a:t>
            </a:r>
          </a:p>
          <a:p>
            <a:pPr marL="800100" lvl="1" indent="-342900" algn="just">
              <a:lnSpc>
                <a:spcPct val="100000"/>
              </a:lnSpc>
              <a:spcBef>
                <a:spcPts val="600"/>
              </a:spcBef>
              <a:buClr>
                <a:srgbClr val="973735"/>
              </a:buClr>
              <a:buSzPct val="50000"/>
              <a:buFont typeface="Wingdings" pitchFamily="2" charset="2"/>
              <a:buChar char="u"/>
              <a:defRPr/>
            </a:pPr>
            <a:r>
              <a:rPr lang="en-US" sz="2600" dirty="0"/>
              <a:t>Organizations today are more global—multisite, multilingual, and multicultural in nature.</a:t>
            </a:r>
          </a:p>
          <a:p>
            <a:pPr marL="342900"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Corporate amnesia</a:t>
            </a:r>
            <a:r>
              <a:rPr lang="en-US" b="1" dirty="0">
                <a:solidFill>
                  <a:srgbClr val="ED7D31"/>
                </a:solidFill>
              </a:rPr>
              <a:t>: </a:t>
            </a:r>
          </a:p>
          <a:p>
            <a:pPr marL="800100" lvl="1" indent="-342900" algn="just">
              <a:lnSpc>
                <a:spcPct val="100000"/>
              </a:lnSpc>
              <a:spcBef>
                <a:spcPts val="600"/>
              </a:spcBef>
              <a:buClr>
                <a:srgbClr val="973735"/>
              </a:buClr>
              <a:buSzPct val="50000"/>
              <a:buFont typeface="Wingdings" pitchFamily="2" charset="2"/>
              <a:buChar char="u"/>
              <a:defRPr/>
            </a:pPr>
            <a:r>
              <a:rPr lang="en-US" sz="2600" dirty="0"/>
              <a:t>We are more mobile as a workforce, which creates problems of knowledge continuity for the organization and places continuous learning demands on the knowledge worker—we no longer expect to work for the same organization for our entire career.</a:t>
            </a:r>
          </a:p>
          <a:p>
            <a:pPr marL="342900" indent="-342900" algn="just">
              <a:lnSpc>
                <a:spcPct val="150000"/>
              </a:lnSpc>
              <a:spcBef>
                <a:spcPts val="600"/>
              </a:spcBef>
              <a:buClr>
                <a:srgbClr val="973735"/>
              </a:buClr>
              <a:buSzPct val="50000"/>
              <a:buFont typeface="Wingdings" pitchFamily="2" charset="2"/>
              <a:buChar char="u"/>
              <a:defRPr/>
            </a:pPr>
            <a:endParaRPr lang="en-US" sz="2600" dirty="0"/>
          </a:p>
        </p:txBody>
      </p:sp>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Tree>
    <p:extLst>
      <p:ext uri="{BB962C8B-B14F-4D97-AF65-F5344CB8AC3E}">
        <p14:creationId xmlns:p14="http://schemas.microsoft.com/office/powerpoint/2010/main" val="7211945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Why Is KM Important Today?</a:t>
            </a:r>
          </a:p>
        </p:txBody>
      </p:sp>
      <p:sp>
        <p:nvSpPr>
          <p:cNvPr id="4" name="Content Placeholder 3"/>
          <p:cNvSpPr>
            <a:spLocks noGrp="1"/>
          </p:cNvSpPr>
          <p:nvPr>
            <p:ph idx="1"/>
          </p:nvPr>
        </p:nvSpPr>
        <p:spPr>
          <a:xfrm>
            <a:off x="0" y="1664593"/>
            <a:ext cx="11971176" cy="4816106"/>
          </a:xfrm>
        </p:spPr>
        <p:txBody>
          <a:bodyPr>
            <a:noAutofit/>
          </a:bodyPr>
          <a:lstStyle/>
          <a:p>
            <a:pPr marL="342900" indent="-342900" algn="just">
              <a:lnSpc>
                <a:spcPct val="150000"/>
              </a:lnSpc>
              <a:spcBef>
                <a:spcPts val="1200"/>
              </a:spcBef>
              <a:buClr>
                <a:srgbClr val="973735"/>
              </a:buClr>
              <a:buSzPct val="50000"/>
              <a:buFont typeface="Wingdings" pitchFamily="2" charset="2"/>
              <a:buChar char="u"/>
              <a:defRPr/>
            </a:pPr>
            <a:r>
              <a:rPr lang="en-US" b="1" dirty="0">
                <a:solidFill>
                  <a:srgbClr val="ED7D31"/>
                </a:solidFill>
              </a:rPr>
              <a:t>Leaner organizations: </a:t>
            </a:r>
          </a:p>
          <a:p>
            <a:pPr marL="800100" lvl="1" indent="-342900" algn="just">
              <a:lnSpc>
                <a:spcPct val="100000"/>
              </a:lnSpc>
              <a:spcBef>
                <a:spcPts val="1200"/>
              </a:spcBef>
              <a:buClr>
                <a:srgbClr val="973735"/>
              </a:buClr>
              <a:buSzPct val="50000"/>
              <a:buFont typeface="Wingdings" pitchFamily="2" charset="2"/>
              <a:buChar char="u"/>
              <a:defRPr/>
            </a:pPr>
            <a:r>
              <a:rPr lang="en-US" sz="2600" dirty="0"/>
              <a:t>We are doing more and we are doing it faster but we also need to work smarter as knowledge workers—increased pace and workload.</a:t>
            </a:r>
          </a:p>
          <a:p>
            <a:pPr marL="342900" indent="-342900" algn="just">
              <a:lnSpc>
                <a:spcPct val="150000"/>
              </a:lnSpc>
              <a:spcBef>
                <a:spcPts val="1200"/>
              </a:spcBef>
              <a:buClr>
                <a:srgbClr val="973735"/>
              </a:buClr>
              <a:buSzPct val="50000"/>
              <a:buFont typeface="Wingdings" pitchFamily="2" charset="2"/>
              <a:buChar char="u"/>
              <a:defRPr/>
            </a:pPr>
            <a:r>
              <a:rPr lang="en-US" b="1" dirty="0">
                <a:solidFill>
                  <a:srgbClr val="ED7D31"/>
                </a:solidFill>
              </a:rPr>
              <a:t>Technological advances: </a:t>
            </a:r>
          </a:p>
          <a:p>
            <a:pPr marL="800100" lvl="1" indent="-342900" algn="just">
              <a:lnSpc>
                <a:spcPct val="100000"/>
              </a:lnSpc>
              <a:spcBef>
                <a:spcPts val="1200"/>
              </a:spcBef>
              <a:buClr>
                <a:srgbClr val="973735"/>
              </a:buClr>
              <a:buSzPct val="50000"/>
              <a:buFont typeface="Wingdings" pitchFamily="2" charset="2"/>
              <a:buChar char="u"/>
              <a:defRPr/>
            </a:pPr>
            <a:r>
              <a:rPr lang="en-US" sz="2600" dirty="0"/>
              <a:t>We are more connected—information technology advances have made connectivity not only ubiquitous but has radically changed expectations: we are expected to be on at all times and the turnaround time in responding is now measured in minutes not weeks.</a:t>
            </a:r>
          </a:p>
          <a:p>
            <a:pPr marL="342900" indent="-342900" algn="just">
              <a:lnSpc>
                <a:spcPct val="150000"/>
              </a:lnSpc>
              <a:spcBef>
                <a:spcPts val="600"/>
              </a:spcBef>
              <a:buClr>
                <a:srgbClr val="973735"/>
              </a:buClr>
              <a:buSzPct val="50000"/>
              <a:buFont typeface="Wingdings" pitchFamily="2" charset="2"/>
              <a:buChar char="u"/>
              <a:defRPr/>
            </a:pPr>
            <a:endParaRPr lang="en-US" sz="2600" dirty="0"/>
          </a:p>
        </p:txBody>
      </p:sp>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Tree>
    <p:extLst>
      <p:ext uri="{BB962C8B-B14F-4D97-AF65-F5344CB8AC3E}">
        <p14:creationId xmlns:p14="http://schemas.microsoft.com/office/powerpoint/2010/main" val="31648733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Definition of key knowledge management concepts.</a:t>
            </a:r>
          </a:p>
          <a:p>
            <a:pPr marL="342900" indent="-342900" algn="just">
              <a:lnSpc>
                <a:spcPct val="150000"/>
              </a:lnSpc>
              <a:spcBef>
                <a:spcPts val="600"/>
              </a:spcBef>
              <a:buClr>
                <a:srgbClr val="973735"/>
              </a:buClr>
              <a:buSzPct val="50000"/>
              <a:buFont typeface="Wingdings" pitchFamily="2" charset="2"/>
              <a:buChar char="u"/>
              <a:defRPr/>
            </a:pPr>
            <a:r>
              <a:rPr lang="en-US" dirty="0"/>
              <a:t>Learning a useful framework.</a:t>
            </a:r>
          </a:p>
          <a:p>
            <a:pPr marL="342900" indent="-342900" algn="just">
              <a:lnSpc>
                <a:spcPct val="150000"/>
              </a:lnSpc>
              <a:spcBef>
                <a:spcPts val="600"/>
              </a:spcBef>
              <a:buClr>
                <a:srgbClr val="973735"/>
              </a:buClr>
              <a:buSzPct val="50000"/>
              <a:buFont typeface="Wingdings" pitchFamily="2" charset="2"/>
              <a:buChar char="u"/>
              <a:defRPr/>
            </a:pPr>
            <a:r>
              <a:rPr lang="en-US" dirty="0"/>
              <a:t>Description of the key roles and responsibilities.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Summary</a:t>
            </a:r>
          </a:p>
        </p:txBody>
      </p:sp>
    </p:spTree>
    <p:extLst>
      <p:ext uri="{BB962C8B-B14F-4D97-AF65-F5344CB8AC3E}">
        <p14:creationId xmlns:p14="http://schemas.microsoft.com/office/powerpoint/2010/main" val="3092462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Discussion Vectors &amp; Illustrations for Free Download | Freepik">
            <a:extLst>
              <a:ext uri="{FF2B5EF4-FFF2-40B4-BE49-F238E27FC236}">
                <a16:creationId xmlns:a16="http://schemas.microsoft.com/office/drawing/2014/main" id="{32677152-BE56-62FD-A902-277EDC9E4FE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62109" y="4209286"/>
            <a:ext cx="3324961" cy="2179641"/>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714726"/>
            <a:ext cx="12002308" cy="4765973"/>
          </a:xfrm>
        </p:spPr>
        <p:txBody>
          <a:bodyPr>
            <a:normAutofit fontScale="77500" lnSpcReduction="20000"/>
          </a:bodyPr>
          <a:lstStyle/>
          <a:p>
            <a:pPr marL="514350" indent="-514350" algn="just">
              <a:lnSpc>
                <a:spcPct val="120000"/>
              </a:lnSpc>
              <a:spcBef>
                <a:spcPts val="1200"/>
              </a:spcBef>
              <a:buClr>
                <a:srgbClr val="973735"/>
              </a:buClr>
              <a:buSzPct val="100000"/>
              <a:buFont typeface="+mj-lt"/>
              <a:buAutoNum type="arabicPeriod"/>
              <a:defRPr/>
            </a:pPr>
            <a:r>
              <a:rPr lang="en-US" dirty="0"/>
              <a:t>Use concept analysis to clarify the following terms: </a:t>
            </a:r>
          </a:p>
          <a:p>
            <a:pPr marL="914400" lvl="1" indent="-457200" algn="just">
              <a:lnSpc>
                <a:spcPct val="120000"/>
              </a:lnSpc>
              <a:spcBef>
                <a:spcPts val="1200"/>
              </a:spcBef>
              <a:buClr>
                <a:srgbClr val="973735"/>
              </a:buClr>
              <a:buSzPct val="100000"/>
              <a:buFont typeface="+mj-lt"/>
              <a:buAutoNum type="alphaLcParenR"/>
              <a:defRPr/>
            </a:pPr>
            <a:r>
              <a:rPr lang="en-US" dirty="0"/>
              <a:t>a. Intellectual capital versus physical assets </a:t>
            </a:r>
          </a:p>
          <a:p>
            <a:pPr marL="914400" lvl="1" indent="-457200" algn="just">
              <a:lnSpc>
                <a:spcPct val="120000"/>
              </a:lnSpc>
              <a:spcBef>
                <a:spcPts val="1200"/>
              </a:spcBef>
              <a:buClr>
                <a:srgbClr val="973735"/>
              </a:buClr>
              <a:buSzPct val="100000"/>
              <a:buFont typeface="+mj-lt"/>
              <a:buAutoNum type="alphaLcParenR"/>
              <a:defRPr/>
            </a:pPr>
            <a:r>
              <a:rPr lang="en-US" dirty="0"/>
              <a:t>b. Tacit knowledge versus explicit knowledge c. Use versus reuse </a:t>
            </a:r>
          </a:p>
          <a:p>
            <a:pPr marL="514350" indent="-514350" algn="just">
              <a:lnSpc>
                <a:spcPct val="120000"/>
              </a:lnSpc>
              <a:spcBef>
                <a:spcPts val="1200"/>
              </a:spcBef>
              <a:buClr>
                <a:srgbClr val="973735"/>
              </a:buClr>
              <a:buSzPct val="100000"/>
              <a:buFont typeface="+mj-lt"/>
              <a:buAutoNum type="arabicPeriod"/>
              <a:defRPr/>
            </a:pPr>
            <a:r>
              <a:rPr lang="en-US" dirty="0"/>
              <a:t>“Knowledge management is not anything new.” Would you argue that this statement is largely true or false? Why or why not? Use historical antecedents to justify your arguments. </a:t>
            </a:r>
          </a:p>
          <a:p>
            <a:pPr marL="514350" indent="-514350" algn="just">
              <a:lnSpc>
                <a:spcPct val="120000"/>
              </a:lnSpc>
              <a:spcBef>
                <a:spcPts val="1200"/>
              </a:spcBef>
              <a:buClr>
                <a:srgbClr val="973735"/>
              </a:buClr>
              <a:buSzPct val="100000"/>
              <a:buFont typeface="+mj-lt"/>
              <a:buAutoNum type="arabicPeriod"/>
              <a:defRPr/>
            </a:pPr>
            <a:r>
              <a:rPr lang="en-US" dirty="0"/>
              <a:t>What are the three generations of knowledge management to date? What was the primary focus of each? </a:t>
            </a:r>
          </a:p>
          <a:p>
            <a:pPr marL="514350" indent="-514350" algn="just">
              <a:lnSpc>
                <a:spcPct val="120000"/>
              </a:lnSpc>
              <a:spcBef>
                <a:spcPts val="1200"/>
              </a:spcBef>
              <a:buClr>
                <a:srgbClr val="973735"/>
              </a:buClr>
              <a:buSzPct val="100000"/>
              <a:buFont typeface="+mj-lt"/>
              <a:buAutoNum type="arabicPeriod"/>
              <a:defRPr/>
            </a:pPr>
            <a:r>
              <a:rPr lang="en-US" dirty="0"/>
              <a:t>What are the different types of roles required for each of the above three generations? </a:t>
            </a:r>
          </a:p>
          <a:p>
            <a:pPr marL="514350" indent="-514350" algn="just">
              <a:lnSpc>
                <a:spcPct val="120000"/>
              </a:lnSpc>
              <a:spcBef>
                <a:spcPts val="1200"/>
              </a:spcBef>
              <a:buClr>
                <a:srgbClr val="973735"/>
              </a:buClr>
              <a:buSzPct val="100000"/>
              <a:buFont typeface="+mj-lt"/>
              <a:buAutoNum type="arabicPeriod"/>
              <a:defRPr/>
            </a:pPr>
            <a:r>
              <a:rPr lang="en-US" dirty="0"/>
              <a:t>What are the two major overarching goals for KM? </a:t>
            </a:r>
          </a:p>
          <a:p>
            <a:pPr marL="514350" indent="-514350" algn="just">
              <a:lnSpc>
                <a:spcPct val="120000"/>
              </a:lnSpc>
              <a:spcBef>
                <a:spcPts val="1200"/>
              </a:spcBef>
              <a:buClr>
                <a:srgbClr val="973735"/>
              </a:buClr>
              <a:buSzPct val="100000"/>
              <a:buFont typeface="+mj-lt"/>
              <a:buAutoNum type="arabicPeriod"/>
              <a:defRPr/>
            </a:pPr>
            <a:r>
              <a:rPr lang="en-US" dirty="0"/>
              <a:t>What are the key benefits of KM?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sp>
        <p:nvSpPr>
          <p:cNvPr id="7" name="Oval 6">
            <a:extLst>
              <a:ext uri="{FF2B5EF4-FFF2-40B4-BE49-F238E27FC236}">
                <a16:creationId xmlns:a16="http://schemas.microsoft.com/office/drawing/2014/main" id="{CD6BF0AF-55D5-32CA-A0D3-B30EDE1582FC}"/>
              </a:ext>
            </a:extLst>
          </p:cNvPr>
          <p:cNvSpPr/>
          <p:nvPr/>
        </p:nvSpPr>
        <p:spPr>
          <a:xfrm>
            <a:off x="7370931" y="1590406"/>
            <a:ext cx="4631377" cy="9144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i="1" dirty="0"/>
              <a:t>will be </a:t>
            </a:r>
            <a:r>
              <a:rPr lang="en-US" b="1" i="1" dirty="0"/>
              <a:t>asked again </a:t>
            </a:r>
            <a:r>
              <a:rPr lang="en-US" i="1" dirty="0"/>
              <a:t>before going through </a:t>
            </a:r>
            <a:r>
              <a:rPr lang="en-US" b="1" i="1" dirty="0"/>
              <a:t>new content</a:t>
            </a:r>
          </a:p>
        </p:txBody>
      </p:sp>
    </p:spTree>
    <p:extLst>
      <p:ext uri="{BB962C8B-B14F-4D97-AF65-F5344CB8AC3E}">
        <p14:creationId xmlns:p14="http://schemas.microsoft.com/office/powerpoint/2010/main" val="41975558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2964</TotalTime>
  <Words>1710</Words>
  <Application>Microsoft Office PowerPoint</Application>
  <PresentationFormat>Widescreen</PresentationFormat>
  <Paragraphs>304</Paragraphs>
  <Slides>35</Slides>
  <Notes>32</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0" baseType="lpstr">
      <vt:lpstr>Arial</vt:lpstr>
      <vt:lpstr>Calibri</vt:lpstr>
      <vt:lpstr>Wingdings</vt:lpstr>
      <vt:lpstr>Office Theme</vt:lpstr>
      <vt:lpstr>Bitmap Image</vt:lpstr>
      <vt:lpstr>Chapter 01 Introduction to Knowledge Management</vt:lpstr>
      <vt:lpstr>Objectives</vt:lpstr>
      <vt:lpstr>What Is Knowledge Management (KM)?</vt:lpstr>
      <vt:lpstr>PowerPoint Presentation</vt:lpstr>
      <vt:lpstr>What Is KM?</vt:lpstr>
      <vt:lpstr>PowerPoint Presentation</vt:lpstr>
      <vt:lpstr>PowerPoint Presentation</vt:lpstr>
      <vt:lpstr>What Is KM?</vt:lpstr>
      <vt:lpstr>What Is KM?</vt:lpstr>
      <vt:lpstr>The Two Major Types of Knowledge: Tacit and Explicit</vt:lpstr>
      <vt:lpstr>The Two Major Types of Knowledge: Tacit and Explicit</vt:lpstr>
      <vt:lpstr>The Two Major Types of Knowledge: Tacit and Explicit</vt:lpstr>
      <vt:lpstr>What Is KM?</vt:lpstr>
      <vt:lpstr>Properties of Knowledge</vt:lpstr>
      <vt:lpstr>What Is KM?</vt:lpstr>
      <vt:lpstr>Concept Analysis Technique</vt:lpstr>
      <vt:lpstr>Concept Analysis Technique</vt:lpstr>
      <vt:lpstr>Concept Analysis Technique</vt:lpstr>
      <vt:lpstr>Concept Analysis Technique</vt:lpstr>
      <vt:lpstr>History of KM</vt:lpstr>
      <vt:lpstr>The Entovation timeline</vt:lpstr>
      <vt:lpstr>History of KM</vt:lpstr>
      <vt:lpstr>The various eras</vt:lpstr>
      <vt:lpstr>History of KM</vt:lpstr>
      <vt:lpstr>Knowledge management milestones</vt:lpstr>
      <vt:lpstr>Knowledge management milestones</vt:lpstr>
      <vt:lpstr>History of KM</vt:lpstr>
      <vt:lpstr>From Physical Assets to Knowledge Assets</vt:lpstr>
      <vt:lpstr>From Physical Assets to Knowledge Assets</vt:lpstr>
      <vt:lpstr>History of KM</vt:lpstr>
      <vt:lpstr>Organizational Perspectives on Knowledge Management</vt:lpstr>
      <vt:lpstr>Why Is KM Important Today?</vt:lpstr>
      <vt:lpstr>Why Is KM Important Today?</vt:lpstr>
      <vt:lpstr>Summary</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132</cp:revision>
  <dcterms:created xsi:type="dcterms:W3CDTF">2021-01-25T08:25:31Z</dcterms:created>
  <dcterms:modified xsi:type="dcterms:W3CDTF">2023-09-20T21:04:07Z</dcterms:modified>
</cp:coreProperties>
</file>