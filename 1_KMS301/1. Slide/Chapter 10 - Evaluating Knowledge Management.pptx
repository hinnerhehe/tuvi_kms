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256" r:id="rId2"/>
    <p:sldId id="278" r:id="rId3"/>
    <p:sldId id="313" r:id="rId4"/>
    <p:sldId id="404" r:id="rId5"/>
    <p:sldId id="432" r:id="rId6"/>
    <p:sldId id="405" r:id="rId7"/>
    <p:sldId id="430" r:id="rId8"/>
    <p:sldId id="431" r:id="rId9"/>
    <p:sldId id="406" r:id="rId10"/>
    <p:sldId id="409" r:id="rId11"/>
    <p:sldId id="429" r:id="rId12"/>
    <p:sldId id="416" r:id="rId13"/>
    <p:sldId id="413" r:id="rId14"/>
    <p:sldId id="428" r:id="rId15"/>
    <p:sldId id="420" r:id="rId16"/>
    <p:sldId id="427" r:id="rId17"/>
    <p:sldId id="424" r:id="rId18"/>
    <p:sldId id="425" r:id="rId19"/>
    <p:sldId id="421" r:id="rId20"/>
    <p:sldId id="426" r:id="rId21"/>
    <p:sldId id="326" r:id="rId22"/>
    <p:sldId id="452" r:id="rId23"/>
    <p:sldId id="40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6353" autoAdjust="0"/>
    <p:restoredTop sz="64395" autoAdjust="0"/>
  </p:normalViewPr>
  <p:slideViewPr>
    <p:cSldViewPr snapToGrid="0">
      <p:cViewPr varScale="1">
        <p:scale>
          <a:sx n="88" d="100"/>
          <a:sy n="88" d="100"/>
        </p:scale>
        <p:origin x="432" y="72"/>
      </p:cViewPr>
      <p:guideLst/>
    </p:cSldViewPr>
  </p:slideViewPr>
  <p:notesTextViewPr>
    <p:cViewPr>
      <p:scale>
        <a:sx n="150" d="100"/>
        <a:sy n="1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49DFF5-E44F-48DD-8FAD-EF15CFF7F474}" type="datetimeFigureOut">
              <a:rPr lang="en-US" smtClean="0"/>
              <a:t>9/21/2023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431253-AA71-4F4F-9BF6-D6DC574A3AAF}" type="slidenum">
              <a:rPr lang="en-US" smtClean="0"/>
              <a:t>‹#›</a:t>
            </a:fld>
            <a:endParaRPr lang="en-US"/>
          </a:p>
        </p:txBody>
      </p:sp>
    </p:spTree>
    <p:extLst>
      <p:ext uri="{BB962C8B-B14F-4D97-AF65-F5344CB8AC3E}">
        <p14:creationId xmlns:p14="http://schemas.microsoft.com/office/powerpoint/2010/main" val="16768054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7A13E-60FF-453F-B712-D9BBD0C85FA1}" type="datetimeFigureOut">
              <a:rPr lang="en-US" smtClean="0"/>
              <a:t>9/21/2023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6C0E5-5FD0-48D4-A8DC-243893429241}" type="slidenum">
              <a:rPr lang="en-US" smtClean="0"/>
              <a:t>‹#›</a:t>
            </a:fld>
            <a:endParaRPr lang="en-US"/>
          </a:p>
        </p:txBody>
      </p:sp>
    </p:spTree>
    <p:extLst>
      <p:ext uri="{BB962C8B-B14F-4D97-AF65-F5344CB8AC3E}">
        <p14:creationId xmlns:p14="http://schemas.microsoft.com/office/powerpoint/2010/main" val="429129828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a:t>
            </a:fld>
            <a:endParaRPr lang="en-US"/>
          </a:p>
        </p:txBody>
      </p:sp>
    </p:spTree>
    <p:extLst>
      <p:ext uri="{BB962C8B-B14F-4D97-AF65-F5344CB8AC3E}">
        <p14:creationId xmlns:p14="http://schemas.microsoft.com/office/powerpoint/2010/main" val="3639860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2</a:t>
            </a:fld>
            <a:endParaRPr lang="en-US"/>
          </a:p>
        </p:txBody>
      </p:sp>
    </p:spTree>
    <p:extLst>
      <p:ext uri="{BB962C8B-B14F-4D97-AF65-F5344CB8AC3E}">
        <p14:creationId xmlns:p14="http://schemas.microsoft.com/office/powerpoint/2010/main" val="628968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a:t>
            </a:fld>
            <a:endParaRPr lang="en-US"/>
          </a:p>
        </p:txBody>
      </p:sp>
    </p:spTree>
    <p:extLst>
      <p:ext uri="{BB962C8B-B14F-4D97-AF65-F5344CB8AC3E}">
        <p14:creationId xmlns:p14="http://schemas.microsoft.com/office/powerpoint/2010/main" val="19367221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a:t>
            </a:fld>
            <a:endParaRPr lang="en-US"/>
          </a:p>
        </p:txBody>
      </p:sp>
    </p:spTree>
    <p:extLst>
      <p:ext uri="{BB962C8B-B14F-4D97-AF65-F5344CB8AC3E}">
        <p14:creationId xmlns:p14="http://schemas.microsoft.com/office/powerpoint/2010/main" val="2159933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a:t>
            </a:fld>
            <a:endParaRPr lang="en-US"/>
          </a:p>
        </p:txBody>
      </p:sp>
    </p:spTree>
    <p:extLst>
      <p:ext uri="{BB962C8B-B14F-4D97-AF65-F5344CB8AC3E}">
        <p14:creationId xmlns:p14="http://schemas.microsoft.com/office/powerpoint/2010/main" val="8738166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6</a:t>
            </a:fld>
            <a:endParaRPr lang="en-US"/>
          </a:p>
        </p:txBody>
      </p:sp>
    </p:spTree>
    <p:extLst>
      <p:ext uri="{BB962C8B-B14F-4D97-AF65-F5344CB8AC3E}">
        <p14:creationId xmlns:p14="http://schemas.microsoft.com/office/powerpoint/2010/main" val="25198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7</a:t>
            </a:fld>
            <a:endParaRPr lang="en-US"/>
          </a:p>
        </p:txBody>
      </p:sp>
    </p:spTree>
    <p:extLst>
      <p:ext uri="{BB962C8B-B14F-4D97-AF65-F5344CB8AC3E}">
        <p14:creationId xmlns:p14="http://schemas.microsoft.com/office/powerpoint/2010/main" val="40154437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8</a:t>
            </a:fld>
            <a:endParaRPr lang="en-US"/>
          </a:p>
        </p:txBody>
      </p:sp>
    </p:spTree>
    <p:extLst>
      <p:ext uri="{BB962C8B-B14F-4D97-AF65-F5344CB8AC3E}">
        <p14:creationId xmlns:p14="http://schemas.microsoft.com/office/powerpoint/2010/main" val="40945220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9</a:t>
            </a:fld>
            <a:endParaRPr lang="en-US"/>
          </a:p>
        </p:txBody>
      </p:sp>
    </p:spTree>
    <p:extLst>
      <p:ext uri="{BB962C8B-B14F-4D97-AF65-F5344CB8AC3E}">
        <p14:creationId xmlns:p14="http://schemas.microsoft.com/office/powerpoint/2010/main" val="20370995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10</a:t>
            </a:fld>
            <a:endParaRPr lang="en-US"/>
          </a:p>
        </p:txBody>
      </p:sp>
    </p:spTree>
    <p:extLst>
      <p:ext uri="{BB962C8B-B14F-4D97-AF65-F5344CB8AC3E}">
        <p14:creationId xmlns:p14="http://schemas.microsoft.com/office/powerpoint/2010/main" val="6491759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11</a:t>
            </a:fld>
            <a:endParaRPr lang="en-US"/>
          </a:p>
        </p:txBody>
      </p:sp>
    </p:spTree>
    <p:extLst>
      <p:ext uri="{BB962C8B-B14F-4D97-AF65-F5344CB8AC3E}">
        <p14:creationId xmlns:p14="http://schemas.microsoft.com/office/powerpoint/2010/main" val="3198849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12</a:t>
            </a:fld>
            <a:endParaRPr lang="en-US"/>
          </a:p>
        </p:txBody>
      </p:sp>
    </p:spTree>
    <p:extLst>
      <p:ext uri="{BB962C8B-B14F-4D97-AF65-F5344CB8AC3E}">
        <p14:creationId xmlns:p14="http://schemas.microsoft.com/office/powerpoint/2010/main" val="5053017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13</a:t>
            </a:fld>
            <a:endParaRPr lang="en-US"/>
          </a:p>
        </p:txBody>
      </p:sp>
    </p:spTree>
    <p:extLst>
      <p:ext uri="{BB962C8B-B14F-4D97-AF65-F5344CB8AC3E}">
        <p14:creationId xmlns:p14="http://schemas.microsoft.com/office/powerpoint/2010/main" val="5023053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14</a:t>
            </a:fld>
            <a:endParaRPr lang="en-US"/>
          </a:p>
        </p:txBody>
      </p:sp>
    </p:spTree>
    <p:extLst>
      <p:ext uri="{BB962C8B-B14F-4D97-AF65-F5344CB8AC3E}">
        <p14:creationId xmlns:p14="http://schemas.microsoft.com/office/powerpoint/2010/main" val="33727522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15</a:t>
            </a:fld>
            <a:endParaRPr lang="en-US"/>
          </a:p>
        </p:txBody>
      </p:sp>
    </p:spTree>
    <p:extLst>
      <p:ext uri="{BB962C8B-B14F-4D97-AF65-F5344CB8AC3E}">
        <p14:creationId xmlns:p14="http://schemas.microsoft.com/office/powerpoint/2010/main" val="5972610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16</a:t>
            </a:fld>
            <a:endParaRPr lang="en-US"/>
          </a:p>
        </p:txBody>
      </p:sp>
    </p:spTree>
    <p:extLst>
      <p:ext uri="{BB962C8B-B14F-4D97-AF65-F5344CB8AC3E}">
        <p14:creationId xmlns:p14="http://schemas.microsoft.com/office/powerpoint/2010/main" val="22373109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17</a:t>
            </a:fld>
            <a:endParaRPr lang="en-US"/>
          </a:p>
        </p:txBody>
      </p:sp>
    </p:spTree>
    <p:extLst>
      <p:ext uri="{BB962C8B-B14F-4D97-AF65-F5344CB8AC3E}">
        <p14:creationId xmlns:p14="http://schemas.microsoft.com/office/powerpoint/2010/main" val="37809412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18</a:t>
            </a:fld>
            <a:endParaRPr lang="en-US"/>
          </a:p>
        </p:txBody>
      </p:sp>
    </p:spTree>
    <p:extLst>
      <p:ext uri="{BB962C8B-B14F-4D97-AF65-F5344CB8AC3E}">
        <p14:creationId xmlns:p14="http://schemas.microsoft.com/office/powerpoint/2010/main" val="4651003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19</a:t>
            </a:fld>
            <a:endParaRPr lang="en-US"/>
          </a:p>
        </p:txBody>
      </p:sp>
    </p:spTree>
    <p:extLst>
      <p:ext uri="{BB962C8B-B14F-4D97-AF65-F5344CB8AC3E}">
        <p14:creationId xmlns:p14="http://schemas.microsoft.com/office/powerpoint/2010/main" val="13285921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20</a:t>
            </a:fld>
            <a:endParaRPr lang="en-US"/>
          </a:p>
        </p:txBody>
      </p:sp>
    </p:spTree>
    <p:extLst>
      <p:ext uri="{BB962C8B-B14F-4D97-AF65-F5344CB8AC3E}">
        <p14:creationId xmlns:p14="http://schemas.microsoft.com/office/powerpoint/2010/main" val="35464660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21</a:t>
            </a:fld>
            <a:endParaRPr lang="en-US"/>
          </a:p>
        </p:txBody>
      </p:sp>
    </p:spTree>
    <p:extLst>
      <p:ext uri="{BB962C8B-B14F-4D97-AF65-F5344CB8AC3E}">
        <p14:creationId xmlns:p14="http://schemas.microsoft.com/office/powerpoint/2010/main" val="19655192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22</a:t>
            </a:fld>
            <a:endParaRPr lang="en-US"/>
          </a:p>
        </p:txBody>
      </p:sp>
    </p:spTree>
    <p:extLst>
      <p:ext uri="{BB962C8B-B14F-4D97-AF65-F5344CB8AC3E}">
        <p14:creationId xmlns:p14="http://schemas.microsoft.com/office/powerpoint/2010/main" val="19624753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23</a:t>
            </a:fld>
            <a:endParaRPr lang="en-US"/>
          </a:p>
        </p:txBody>
      </p:sp>
    </p:spTree>
    <p:extLst>
      <p:ext uri="{BB962C8B-B14F-4D97-AF65-F5344CB8AC3E}">
        <p14:creationId xmlns:p14="http://schemas.microsoft.com/office/powerpoint/2010/main" val="19624753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12068"/>
            <a:ext cx="9144000" cy="1797894"/>
          </a:xfrm>
          <a:solidFill>
            <a:schemeClr val="accent2"/>
          </a:solidFill>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22741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Box 9"/>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pic>
        <p:nvPicPr>
          <p:cNvPr id="4" name="Picture 3">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0"/>
            <a:ext cx="1182835" cy="575433"/>
          </a:xfrm>
          <a:prstGeom prst="rect">
            <a:avLst/>
          </a:prstGeom>
          <a:noFill/>
          <a:ln w="9525">
            <a:noFill/>
            <a:miter lim="800000"/>
            <a:headEnd/>
            <a:tailEnd/>
          </a:ln>
        </p:spPr>
      </p:pic>
    </p:spTree>
    <p:extLst>
      <p:ext uri="{BB962C8B-B14F-4D97-AF65-F5344CB8AC3E}">
        <p14:creationId xmlns:p14="http://schemas.microsoft.com/office/powerpoint/2010/main" val="120955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sp>
        <p:nvSpPr>
          <p:cNvPr id="2" name="Title 1"/>
          <p:cNvSpPr>
            <a:spLocks noGrp="1"/>
          </p:cNvSpPr>
          <p:nvPr>
            <p:ph type="title"/>
          </p:nvPr>
        </p:nvSpPr>
        <p:spPr>
          <a:solidFill>
            <a:schemeClr val="bg1"/>
          </a:solidFill>
        </p:spPr>
        <p:txBody>
          <a:bodyPr/>
          <a:lstStyle/>
          <a:p>
            <a:r>
              <a:rPr lang="en-US"/>
              <a:t>Click to edit Master title style</a:t>
            </a:r>
          </a:p>
        </p:txBody>
      </p:sp>
      <p:sp>
        <p:nvSpPr>
          <p:cNvPr id="3" name="Content Placeholder 2"/>
          <p:cNvSpPr>
            <a:spLocks noGrp="1"/>
          </p:cNvSpPr>
          <p:nvPr>
            <p:ph idx="1"/>
          </p:nvPr>
        </p:nvSpPr>
        <p:spPr>
          <a:xfrm>
            <a:off x="864093" y="1917739"/>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a:t>
            </a:fld>
            <a:endParaRPr lang="en-US"/>
          </a:p>
        </p:txBody>
      </p:sp>
      <p:sp>
        <p:nvSpPr>
          <p:cNvPr id="13" name="TextBox 12"/>
          <p:cNvSpPr txBox="1"/>
          <p:nvPr userDrawn="1"/>
        </p:nvSpPr>
        <p:spPr>
          <a:xfrm>
            <a:off x="1" y="600803"/>
            <a:ext cx="207390" cy="973473"/>
          </a:xfrm>
          <a:prstGeom prst="rect">
            <a:avLst/>
          </a:prstGeom>
          <a:solidFill>
            <a:srgbClr val="F4AF80"/>
          </a:solidFill>
        </p:spPr>
        <p:txBody>
          <a:bodyPr wrap="square" rtlCol="0">
            <a:spAutoFit/>
          </a:bodyPr>
          <a:lstStyle/>
          <a:p>
            <a:endParaRPr lang="en-US"/>
          </a:p>
        </p:txBody>
      </p:sp>
      <p:sp>
        <p:nvSpPr>
          <p:cNvPr id="4" name="Date Placeholder 3"/>
          <p:cNvSpPr>
            <a:spLocks noGrp="1"/>
          </p:cNvSpPr>
          <p:nvPr>
            <p:ph type="dt" sz="half" idx="10"/>
          </p:nvPr>
        </p:nvSpPr>
        <p:spPr>
          <a:xfrm>
            <a:off x="838200" y="6480699"/>
            <a:ext cx="2743200" cy="365125"/>
          </a:xfrm>
        </p:spPr>
        <p:txBody>
          <a:bodyPr/>
          <a:lstStyle>
            <a:lvl1pPr>
              <a:defRPr>
                <a:solidFill>
                  <a:schemeClr val="tx1"/>
                </a:solidFill>
              </a:defRPr>
            </a:lvl1pPr>
          </a:lstStyle>
          <a:p>
            <a:fld id="{17256740-3DC7-40BE-968F-29F94186F3AD}" type="datetime1">
              <a:rPr lang="vi-VN" smtClean="0"/>
              <a:t>21/09/2023</a:t>
            </a:fld>
            <a:endParaRPr lang="en-US"/>
          </a:p>
        </p:txBody>
      </p:sp>
      <p:pic>
        <p:nvPicPr>
          <p:cNvPr id="5" name="Picture 4">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0"/>
            <a:ext cx="1182835" cy="575433"/>
          </a:xfrm>
          <a:prstGeom prst="rect">
            <a:avLst/>
          </a:prstGeom>
          <a:noFill/>
          <a:ln w="9525">
            <a:noFill/>
            <a:miter lim="800000"/>
            <a:headEnd/>
            <a:tailEnd/>
          </a:ln>
        </p:spPr>
      </p:pic>
    </p:spTree>
    <p:extLst>
      <p:ext uri="{BB962C8B-B14F-4D97-AF65-F5344CB8AC3E}">
        <p14:creationId xmlns:p14="http://schemas.microsoft.com/office/powerpoint/2010/main" val="236222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848059-8CC8-4876-B763-1BEA3FA0F124}"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9908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B3963C-A6AA-4DDF-B85B-BE123D65B285}"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410112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9F11605-F8CD-44C6-A79B-BEBA9358497C}" type="datetime1">
              <a:rPr lang="vi-VN" smtClean="0"/>
              <a:t>21/09/2023</a:t>
            </a:fld>
            <a:endParaRPr lang="en-US"/>
          </a:p>
        </p:txBody>
      </p:sp>
      <p:sp>
        <p:nvSpPr>
          <p:cNvPr id="8" name="Footer Placeholder 7"/>
          <p:cNvSpPr>
            <a:spLocks noGrp="1"/>
          </p:cNvSpPr>
          <p:nvPr>
            <p:ph type="ftr" sz="quarter" idx="11"/>
          </p:nvPr>
        </p:nvSpPr>
        <p:spPr/>
        <p:txBody>
          <a:bodyPr/>
          <a:lstStyle/>
          <a:p>
            <a:r>
              <a:rPr lang="en-US"/>
              <a:t>Course Introduction</a:t>
            </a:r>
          </a:p>
        </p:txBody>
      </p:sp>
      <p:sp>
        <p:nvSpPr>
          <p:cNvPr id="9" name="Slide Number Placeholder 8"/>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933054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73410B-B6B3-4AF4-A9DB-DC0340309754}" type="datetime1">
              <a:rPr lang="vi-VN" smtClean="0"/>
              <a:t>21/09/2023</a:t>
            </a:fld>
            <a:endParaRPr lang="en-US"/>
          </a:p>
        </p:txBody>
      </p:sp>
      <p:sp>
        <p:nvSpPr>
          <p:cNvPr id="4" name="Footer Placeholder 3"/>
          <p:cNvSpPr>
            <a:spLocks noGrp="1"/>
          </p:cNvSpPr>
          <p:nvPr>
            <p:ph type="ftr" sz="quarter" idx="11"/>
          </p:nvPr>
        </p:nvSpPr>
        <p:spPr/>
        <p:txBody>
          <a:bodyPr/>
          <a:lstStyle/>
          <a:p>
            <a:r>
              <a:rPr lang="en-US"/>
              <a:t>Course Introduction</a:t>
            </a:r>
          </a:p>
        </p:txBody>
      </p:sp>
      <p:sp>
        <p:nvSpPr>
          <p:cNvPr id="5" name="Slide Number Placeholder 4"/>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62313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5606E5-9CA3-4971-89BF-F965F9043882}" type="datetime1">
              <a:rPr lang="vi-VN" smtClean="0"/>
              <a:t>21/09/2023</a:t>
            </a:fld>
            <a:endParaRPr lang="en-US"/>
          </a:p>
        </p:txBody>
      </p:sp>
      <p:sp>
        <p:nvSpPr>
          <p:cNvPr id="3" name="Footer Placeholder 2"/>
          <p:cNvSpPr>
            <a:spLocks noGrp="1"/>
          </p:cNvSpPr>
          <p:nvPr>
            <p:ph type="ftr" sz="quarter" idx="11"/>
          </p:nvPr>
        </p:nvSpPr>
        <p:spPr/>
        <p:txBody>
          <a:bodyPr/>
          <a:lstStyle/>
          <a:p>
            <a:r>
              <a:rPr lang="en-US"/>
              <a:t>Course Introduction</a:t>
            </a:r>
          </a:p>
        </p:txBody>
      </p:sp>
      <p:sp>
        <p:nvSpPr>
          <p:cNvPr id="4" name="Slide Number Placeholder 3"/>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32044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4316FA-E3CF-4C73-A815-C13A824B339A}"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151107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C6D87B-52FF-4B7F-A538-F746ED572E26}"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24117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1C2434-2AF2-4BF2-BD0B-95CBD5EB0128}"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2204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576082-5D4E-4969-8016-69F376C871AD}"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82559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8BA729-DBE2-49EE-91FE-3D8B2D9BF9AB}" type="datetime1">
              <a:rPr lang="vi-VN" smtClean="0"/>
              <a:t>21/09/2023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Course Introduction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91216-F62E-4FB8-B968-3BF60F6CBEA2}" type="slidenum">
              <a:rPr lang="en-US" smtClean="0"/>
              <a:t>‹#›</a:t>
            </a:fld>
            <a:endParaRPr lang="en-US"/>
          </a:p>
        </p:txBody>
      </p:sp>
    </p:spTree>
    <p:extLst>
      <p:ext uri="{BB962C8B-B14F-4D97-AF65-F5344CB8AC3E}">
        <p14:creationId xmlns:p14="http://schemas.microsoft.com/office/powerpoint/2010/main" val="130478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9837" y="2241457"/>
            <a:ext cx="11094098" cy="1789121"/>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sz="3200" b="1" dirty="0">
                <a:solidFill>
                  <a:schemeClr val="bg2">
                    <a:lumMod val="50000"/>
                  </a:schemeClr>
                </a:solidFill>
                <a:latin typeface="Arial" panose="020B0604020202020204" pitchFamily="34" charset="0"/>
                <a:cs typeface="Arial" panose="020B0604020202020204" pitchFamily="34" charset="0"/>
              </a:rPr>
              <a:t>Chapter 10</a:t>
            </a:r>
            <a:br>
              <a:rPr lang="en-US" sz="4400" b="1" dirty="0">
                <a:solidFill>
                  <a:schemeClr val="accent2"/>
                </a:solidFill>
                <a:latin typeface="Arial" panose="020B0604020202020204" pitchFamily="34" charset="0"/>
                <a:cs typeface="Arial" panose="020B0604020202020204" pitchFamily="34" charset="0"/>
              </a:rPr>
            </a:br>
            <a:r>
              <a:rPr lang="en-US" sz="4400" b="1" dirty="0">
                <a:solidFill>
                  <a:schemeClr val="accent2"/>
                </a:solidFill>
                <a:latin typeface="Arial" panose="020B0604020202020204" pitchFamily="34" charset="0"/>
                <a:cs typeface="Arial" panose="020B0604020202020204" pitchFamily="34" charset="0"/>
              </a:rPr>
              <a:t>Evaluating Knowledge Management</a:t>
            </a:r>
          </a:p>
        </p:txBody>
      </p:sp>
    </p:spTree>
    <p:extLst>
      <p:ext uri="{BB962C8B-B14F-4D97-AF65-F5344CB8AC3E}">
        <p14:creationId xmlns:p14="http://schemas.microsoft.com/office/powerpoint/2010/main" val="157539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a:t>
            </a:fld>
            <a:endParaRPr kumimoji="0" lang="en-US" dirty="0"/>
          </a:p>
        </p:txBody>
      </p:sp>
      <p:sp>
        <p:nvSpPr>
          <p:cNvPr id="4" name="Content Placeholder 3"/>
          <p:cNvSpPr>
            <a:spLocks noGrp="1"/>
          </p:cNvSpPr>
          <p:nvPr>
            <p:ph sz="quarter" idx="1"/>
          </p:nvPr>
        </p:nvSpPr>
        <p:spPr>
          <a:xfrm>
            <a:off x="0" y="1714726"/>
            <a:ext cx="12002308" cy="4322181"/>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a:t>KM Return on Investment (ROI) and Metrics</a:t>
            </a:r>
          </a:p>
          <a:p>
            <a:pPr marL="342900" indent="-342900" algn="just">
              <a:lnSpc>
                <a:spcPct val="150000"/>
              </a:lnSpc>
              <a:spcBef>
                <a:spcPts val="600"/>
              </a:spcBef>
              <a:buClr>
                <a:srgbClr val="973735"/>
              </a:buClr>
              <a:buSzPct val="50000"/>
              <a:buFont typeface="Wingdings" pitchFamily="2" charset="2"/>
              <a:buChar char="u"/>
              <a:defRPr/>
            </a:pPr>
            <a:r>
              <a:rPr lang="en-US" dirty="0"/>
              <a:t>Measuring the Success of Knowledge Networks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a:t>
            </a:fld>
            <a:endParaRPr kumimoji="0" lang="en-US" dirty="0"/>
          </a:p>
        </p:txBody>
      </p:sp>
      <p:sp>
        <p:nvSpPr>
          <p:cNvPr id="4" name="Content Placeholder 3"/>
          <p:cNvSpPr>
            <a:spLocks noGrp="1"/>
          </p:cNvSpPr>
          <p:nvPr>
            <p:ph sz="quarter" idx="1"/>
          </p:nvPr>
        </p:nvSpPr>
        <p:spPr>
          <a:xfrm>
            <a:off x="0" y="1664593"/>
            <a:ext cx="11833412" cy="4816106"/>
          </a:xfrm>
        </p:spPr>
        <p:txBody>
          <a:bodyPr>
            <a:normAutofit lnSpcReduction="10000"/>
          </a:bodyPr>
          <a:lstStyle/>
          <a:p>
            <a:pPr marL="342900" indent="-342900" algn="just">
              <a:lnSpc>
                <a:spcPct val="100000"/>
              </a:lnSpc>
              <a:spcBef>
                <a:spcPts val="1800"/>
              </a:spcBef>
              <a:buClr>
                <a:srgbClr val="973735"/>
              </a:buClr>
              <a:buSzPct val="50000"/>
              <a:buFont typeface="Wingdings" pitchFamily="2" charset="2"/>
              <a:buChar char="u"/>
              <a:defRPr/>
            </a:pPr>
            <a:r>
              <a:rPr lang="en-US" dirty="0"/>
              <a:t>The Skandia Intellectual Capital model is called the Skandia Navigator (Wall, Kirk, and Martin, 2004). Four key dimensions of business form the core of this model:</a:t>
            </a:r>
          </a:p>
          <a:p>
            <a:pPr marL="457200" lvl="1" indent="0" algn="just">
              <a:lnSpc>
                <a:spcPct val="100000"/>
              </a:lnSpc>
              <a:spcBef>
                <a:spcPts val="1800"/>
              </a:spcBef>
              <a:buClr>
                <a:srgbClr val="973735"/>
              </a:buClr>
              <a:buSzPct val="50000"/>
              <a:buNone/>
              <a:defRPr/>
            </a:pPr>
            <a:r>
              <a:rPr lang="en-US" sz="2600" dirty="0"/>
              <a:t>1. Financial focus, represented in monetary terms</a:t>
            </a:r>
          </a:p>
          <a:p>
            <a:pPr marL="457200" lvl="1" indent="0" algn="just">
              <a:lnSpc>
                <a:spcPct val="100000"/>
              </a:lnSpc>
              <a:spcBef>
                <a:spcPts val="1800"/>
              </a:spcBef>
              <a:buClr>
                <a:srgbClr val="973735"/>
              </a:buClr>
              <a:buSzPct val="50000"/>
              <a:buNone/>
              <a:defRPr/>
            </a:pPr>
            <a:r>
              <a:rPr lang="en-US" sz="2600" dirty="0"/>
              <a:t>2. Customer focus, a financial and nonfinancial measure of the value of customer capital</a:t>
            </a:r>
          </a:p>
          <a:p>
            <a:pPr marL="457200" lvl="1" indent="0" algn="just">
              <a:lnSpc>
                <a:spcPct val="100000"/>
              </a:lnSpc>
              <a:spcBef>
                <a:spcPts val="1800"/>
              </a:spcBef>
              <a:buClr>
                <a:srgbClr val="973735"/>
              </a:buClr>
              <a:buSzPct val="50000"/>
              <a:buNone/>
              <a:defRPr/>
            </a:pPr>
            <a:r>
              <a:rPr lang="en-US" sz="2600" dirty="0"/>
              <a:t>3. Process focus, addressing the effective use of technology within the organization</a:t>
            </a:r>
          </a:p>
          <a:p>
            <a:pPr marL="457200" lvl="1" indent="0" algn="just">
              <a:lnSpc>
                <a:spcPct val="100000"/>
              </a:lnSpc>
              <a:spcBef>
                <a:spcPts val="1800"/>
              </a:spcBef>
              <a:buClr>
                <a:srgbClr val="973735"/>
              </a:buClr>
              <a:buSzPct val="50000"/>
              <a:buNone/>
              <a:defRPr/>
            </a:pPr>
            <a:r>
              <a:rPr lang="en-US" sz="2600" dirty="0"/>
              <a:t>4. Renewal and development focus, which attempts to capture the innovative capabilities of the organization.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KM Return on Investment (ROI) and Metrics</a:t>
            </a:r>
          </a:p>
        </p:txBody>
      </p:sp>
    </p:spTree>
    <p:extLst>
      <p:ext uri="{BB962C8B-B14F-4D97-AF65-F5344CB8AC3E}">
        <p14:creationId xmlns:p14="http://schemas.microsoft.com/office/powerpoint/2010/main" val="948614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a:t>
            </a:fld>
            <a:endParaRPr kumimoji="0" lang="en-US" dirty="0"/>
          </a:p>
        </p:txBody>
      </p:sp>
      <p:sp>
        <p:nvSpPr>
          <p:cNvPr id="4" name="Content Placeholder 3"/>
          <p:cNvSpPr>
            <a:spLocks noGrp="1"/>
          </p:cNvSpPr>
          <p:nvPr>
            <p:ph sz="quarter" idx="1"/>
          </p:nvPr>
        </p:nvSpPr>
        <p:spPr>
          <a:xfrm>
            <a:off x="0" y="1664593"/>
            <a:ext cx="11971176" cy="4924466"/>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dirty="0"/>
              <a:t>The KM measurement process will therefore consist of the following major steps:</a:t>
            </a:r>
          </a:p>
          <a:p>
            <a:pPr marL="457200" lvl="1" indent="0" algn="just">
              <a:lnSpc>
                <a:spcPct val="100000"/>
              </a:lnSpc>
              <a:spcBef>
                <a:spcPts val="2400"/>
              </a:spcBef>
              <a:buClr>
                <a:srgbClr val="973735"/>
              </a:buClr>
              <a:buSzPct val="50000"/>
              <a:buNone/>
              <a:defRPr/>
            </a:pPr>
            <a:r>
              <a:rPr lang="en-US" sz="2600" dirty="0"/>
              <a:t>1. Define the business objective(s) addressed by the KM initiative or project.</a:t>
            </a:r>
          </a:p>
          <a:p>
            <a:pPr marL="457200" lvl="1" indent="0" algn="just">
              <a:lnSpc>
                <a:spcPct val="100000"/>
              </a:lnSpc>
              <a:spcBef>
                <a:spcPts val="2400"/>
              </a:spcBef>
              <a:buClr>
                <a:srgbClr val="973735"/>
              </a:buClr>
              <a:buSzPct val="50000"/>
              <a:buNone/>
              <a:defRPr/>
            </a:pPr>
            <a:r>
              <a:rPr lang="en-US" sz="2600" dirty="0"/>
              <a:t>2. Define are the stakeholders and determine what they need to know.</a:t>
            </a:r>
          </a:p>
          <a:p>
            <a:pPr marL="457200" lvl="1" indent="0" algn="just">
              <a:lnSpc>
                <a:spcPct val="100000"/>
              </a:lnSpc>
              <a:spcBef>
                <a:spcPts val="2400"/>
              </a:spcBef>
              <a:buClr>
                <a:srgbClr val="973735"/>
              </a:buClr>
              <a:buSzPct val="50000"/>
              <a:buNone/>
              <a:defRPr/>
            </a:pPr>
            <a:r>
              <a:rPr lang="en-US" sz="2600" dirty="0"/>
              <a:t>3. Determine which measurement framework(s) is best to align KM measures with the business objectives.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KM Return on Investment (ROI) and Metrics</a:t>
            </a:r>
          </a:p>
        </p:txBody>
      </p:sp>
    </p:spTree>
    <p:extLst>
      <p:ext uri="{BB962C8B-B14F-4D97-AF65-F5344CB8AC3E}">
        <p14:creationId xmlns:p14="http://schemas.microsoft.com/office/powerpoint/2010/main" val="3632594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a:t>
            </a:fld>
            <a:endParaRPr kumimoji="0" lang="en-US" dirty="0"/>
          </a:p>
        </p:txBody>
      </p:sp>
      <p:sp>
        <p:nvSpPr>
          <p:cNvPr id="4" name="Content Placeholder 3"/>
          <p:cNvSpPr>
            <a:spLocks noGrp="1"/>
          </p:cNvSpPr>
          <p:nvPr>
            <p:ph sz="quarter" idx="1"/>
          </p:nvPr>
        </p:nvSpPr>
        <p:spPr>
          <a:xfrm>
            <a:off x="0" y="1664593"/>
            <a:ext cx="11971176" cy="4924466"/>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dirty="0"/>
              <a:t>The KM measurement process will therefore consist of the following major steps:</a:t>
            </a:r>
          </a:p>
          <a:p>
            <a:pPr marL="457200" lvl="1" indent="0" algn="just">
              <a:lnSpc>
                <a:spcPct val="100000"/>
              </a:lnSpc>
              <a:spcBef>
                <a:spcPts val="2400"/>
              </a:spcBef>
              <a:buClr>
                <a:srgbClr val="973735"/>
              </a:buClr>
              <a:buSzPct val="50000"/>
              <a:buNone/>
              <a:defRPr/>
            </a:pPr>
            <a:r>
              <a:rPr lang="en-US" sz="2600" dirty="0"/>
              <a:t>4. Modify the framework(s) based on measurements are needed.</a:t>
            </a:r>
          </a:p>
          <a:p>
            <a:pPr marL="457200" lvl="1" indent="0" algn="just">
              <a:lnSpc>
                <a:spcPct val="100000"/>
              </a:lnSpc>
              <a:spcBef>
                <a:spcPts val="2400"/>
              </a:spcBef>
              <a:buClr>
                <a:srgbClr val="973735"/>
              </a:buClr>
              <a:buSzPct val="50000"/>
              <a:buNone/>
              <a:defRPr/>
            </a:pPr>
            <a:r>
              <a:rPr lang="en-US" sz="2600" dirty="0"/>
              <a:t>5. Decide on a data collection and analysis strategy.</a:t>
            </a:r>
          </a:p>
          <a:p>
            <a:pPr marL="457200" lvl="1" indent="0" algn="just">
              <a:lnSpc>
                <a:spcPct val="100000"/>
              </a:lnSpc>
              <a:spcBef>
                <a:spcPts val="2400"/>
              </a:spcBef>
              <a:buClr>
                <a:srgbClr val="973735"/>
              </a:buClr>
              <a:buSzPct val="50000"/>
              <a:buNone/>
              <a:defRPr/>
            </a:pPr>
            <a:r>
              <a:rPr lang="en-US" sz="2600" dirty="0"/>
              <a:t>6. Get management to sign off on the measurement strategy.</a:t>
            </a:r>
          </a:p>
          <a:p>
            <a:pPr marL="457200" lvl="1" indent="0" algn="just">
              <a:lnSpc>
                <a:spcPct val="100000"/>
              </a:lnSpc>
              <a:spcBef>
                <a:spcPts val="2400"/>
              </a:spcBef>
              <a:buClr>
                <a:srgbClr val="973735"/>
              </a:buClr>
              <a:buSzPct val="50000"/>
              <a:buNone/>
              <a:defRPr/>
            </a:pPr>
            <a:r>
              <a:rPr lang="en-US" sz="2600" dirty="0"/>
              <a:t>7. Implement measures and present the results in a form that is most appropriate for each stakeholder.</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KM Return on Investment (ROI) and Metrics</a:t>
            </a:r>
          </a:p>
        </p:txBody>
      </p:sp>
    </p:spTree>
    <p:extLst>
      <p:ext uri="{BB962C8B-B14F-4D97-AF65-F5344CB8AC3E}">
        <p14:creationId xmlns:p14="http://schemas.microsoft.com/office/powerpoint/2010/main" val="1646765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6</a:t>
            </a:fld>
            <a:endParaRPr kumimoji="0" lang="en-US" dirty="0"/>
          </a:p>
        </p:txBody>
      </p:sp>
      <p:sp>
        <p:nvSpPr>
          <p:cNvPr id="4" name="Content Placeholder 3"/>
          <p:cNvSpPr>
            <a:spLocks noGrp="1"/>
          </p:cNvSpPr>
          <p:nvPr>
            <p:ph sz="quarter" idx="1"/>
          </p:nvPr>
        </p:nvSpPr>
        <p:spPr>
          <a:xfrm>
            <a:off x="0" y="1664593"/>
            <a:ext cx="11779624" cy="4816106"/>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b="1" dirty="0"/>
              <a:t>The Benchmarking Method</a:t>
            </a:r>
          </a:p>
          <a:p>
            <a:pPr marL="800100" lvl="1" indent="-342900" algn="just">
              <a:lnSpc>
                <a:spcPct val="100000"/>
              </a:lnSpc>
              <a:spcBef>
                <a:spcPts val="1800"/>
              </a:spcBef>
              <a:buClr>
                <a:srgbClr val="973735"/>
              </a:buClr>
              <a:buSzPct val="50000"/>
              <a:buFont typeface="Wingdings" pitchFamily="2" charset="2"/>
              <a:buChar char="u"/>
              <a:defRPr/>
            </a:pPr>
            <a:r>
              <a:rPr lang="en-US" sz="2600" dirty="0"/>
              <a:t>Benchmarking is a fairly straightforward KM metric that often represents a good starting point.</a:t>
            </a:r>
          </a:p>
          <a:p>
            <a:pPr marL="800100" lvl="1" indent="-342900" algn="just">
              <a:lnSpc>
                <a:spcPct val="100000"/>
              </a:lnSpc>
              <a:spcBef>
                <a:spcPts val="1800"/>
              </a:spcBef>
              <a:buClr>
                <a:srgbClr val="973735"/>
              </a:buClr>
              <a:buSzPct val="50000"/>
              <a:buFont typeface="Wingdings" pitchFamily="2" charset="2"/>
              <a:buChar char="u"/>
              <a:defRPr/>
            </a:pPr>
            <a:r>
              <a:rPr lang="en-US" sz="2600" dirty="0"/>
              <a:t>There are two general types of benchmarking:</a:t>
            </a:r>
          </a:p>
          <a:p>
            <a:pPr marL="1257300" lvl="2" indent="-342900" algn="just">
              <a:lnSpc>
                <a:spcPct val="100000"/>
              </a:lnSpc>
              <a:spcBef>
                <a:spcPts val="1800"/>
              </a:spcBef>
              <a:buClr>
                <a:srgbClr val="973735"/>
              </a:buClr>
              <a:buSzPct val="50000"/>
              <a:buFont typeface="Wingdings" pitchFamily="2" charset="2"/>
              <a:buChar char="u"/>
              <a:defRPr/>
            </a:pPr>
            <a:r>
              <a:rPr lang="en-US" sz="2400" dirty="0"/>
              <a:t>Internal benchmarking, which involves comparisons against other units within the same organization or a comparison of a single unit over different time periods; and</a:t>
            </a:r>
          </a:p>
          <a:p>
            <a:pPr marL="1257300" lvl="2" indent="-342900" algn="just">
              <a:lnSpc>
                <a:spcPct val="100000"/>
              </a:lnSpc>
              <a:spcBef>
                <a:spcPts val="1800"/>
              </a:spcBef>
              <a:buClr>
                <a:srgbClr val="973735"/>
              </a:buClr>
              <a:buSzPct val="50000"/>
              <a:buFont typeface="Wingdings" pitchFamily="2" charset="2"/>
              <a:buChar char="u"/>
              <a:defRPr/>
            </a:pPr>
            <a:r>
              <a:rPr lang="en-US" sz="2400" dirty="0"/>
              <a:t>External benchmarking, which involves a comparison with other companies.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KM Return on Investment (ROI) and Metrics</a:t>
            </a:r>
          </a:p>
        </p:txBody>
      </p:sp>
    </p:spTree>
    <p:extLst>
      <p:ext uri="{BB962C8B-B14F-4D97-AF65-F5344CB8AC3E}">
        <p14:creationId xmlns:p14="http://schemas.microsoft.com/office/powerpoint/2010/main" val="3110557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7</a:t>
            </a:fld>
            <a:endParaRPr kumimoji="0" lang="en-US" dirty="0"/>
          </a:p>
        </p:txBody>
      </p:sp>
      <p:sp>
        <p:nvSpPr>
          <p:cNvPr id="4" name="Content Placeholder 3"/>
          <p:cNvSpPr>
            <a:spLocks noGrp="1"/>
          </p:cNvSpPr>
          <p:nvPr>
            <p:ph sz="quarter" idx="1"/>
          </p:nvPr>
        </p:nvSpPr>
        <p:spPr>
          <a:xfrm>
            <a:off x="0" y="1664593"/>
            <a:ext cx="11752729" cy="4816106"/>
          </a:xfrm>
        </p:spPr>
        <p:txBody>
          <a:bodyPr>
            <a:normAutofit/>
          </a:bodyPr>
          <a:lstStyle/>
          <a:p>
            <a:pPr marL="342900" indent="-342900" algn="just">
              <a:lnSpc>
                <a:spcPct val="120000"/>
              </a:lnSpc>
              <a:spcBef>
                <a:spcPts val="1200"/>
              </a:spcBef>
              <a:buClr>
                <a:srgbClr val="973735"/>
              </a:buClr>
              <a:buSzPct val="50000"/>
              <a:buFont typeface="Wingdings" pitchFamily="2" charset="2"/>
              <a:buChar char="u"/>
              <a:defRPr/>
            </a:pPr>
            <a:r>
              <a:rPr lang="en-US" b="1" dirty="0"/>
              <a:t>The Benchmarking Method</a:t>
            </a:r>
          </a:p>
          <a:p>
            <a:pPr marL="457200" lvl="1" indent="0" algn="just">
              <a:lnSpc>
                <a:spcPct val="100000"/>
              </a:lnSpc>
              <a:spcBef>
                <a:spcPts val="1800"/>
              </a:spcBef>
              <a:buClr>
                <a:srgbClr val="973735"/>
              </a:buClr>
              <a:buSzPct val="50000"/>
              <a:buNone/>
              <a:defRPr/>
            </a:pPr>
            <a:r>
              <a:rPr lang="en-US" sz="2600" dirty="0" err="1"/>
              <a:t>Spendolini</a:t>
            </a:r>
            <a:r>
              <a:rPr lang="en-US" sz="2600" dirty="0"/>
              <a:t> (1992) further describes four different types of benchmarking:</a:t>
            </a:r>
          </a:p>
          <a:p>
            <a:pPr marL="800100" lvl="1" indent="-342900" algn="just">
              <a:lnSpc>
                <a:spcPct val="100000"/>
              </a:lnSpc>
              <a:spcBef>
                <a:spcPts val="1800"/>
              </a:spcBef>
              <a:buClr>
                <a:srgbClr val="973735"/>
              </a:buClr>
              <a:buSzPct val="50000"/>
              <a:buFont typeface="Wingdings" pitchFamily="2" charset="2"/>
              <a:buChar char="u"/>
              <a:defRPr/>
            </a:pPr>
            <a:r>
              <a:rPr lang="en-US" sz="2600" dirty="0"/>
              <a:t>Industry group measurements</a:t>
            </a:r>
          </a:p>
          <a:p>
            <a:pPr marL="1257300" lvl="2" indent="-342900" algn="just">
              <a:lnSpc>
                <a:spcPct val="100000"/>
              </a:lnSpc>
              <a:spcBef>
                <a:spcPts val="1800"/>
              </a:spcBef>
              <a:buClr>
                <a:srgbClr val="973735"/>
              </a:buClr>
              <a:buSzPct val="50000"/>
              <a:buFont typeface="Wingdings" pitchFamily="2" charset="2"/>
              <a:buChar char="u"/>
              <a:defRPr/>
            </a:pPr>
            <a:r>
              <a:rPr lang="en-US" sz="2400" dirty="0"/>
              <a:t>This involves the measurement of various facets of one operation compared to similar measurements from other companies.</a:t>
            </a:r>
          </a:p>
          <a:p>
            <a:pPr marL="800100" lvl="1" indent="-342900" algn="just">
              <a:lnSpc>
                <a:spcPct val="100000"/>
              </a:lnSpc>
              <a:spcBef>
                <a:spcPts val="1800"/>
              </a:spcBef>
              <a:buClr>
                <a:srgbClr val="973735"/>
              </a:buClr>
              <a:buSzPct val="50000"/>
              <a:buFont typeface="Wingdings" pitchFamily="2" charset="2"/>
              <a:buChar char="u"/>
              <a:defRPr/>
            </a:pPr>
            <a:r>
              <a:rPr lang="en-US" sz="2600" dirty="0"/>
              <a:t>Best Practice studies</a:t>
            </a:r>
          </a:p>
          <a:p>
            <a:pPr marL="1257300" lvl="2" indent="-342900" algn="just">
              <a:lnSpc>
                <a:spcPct val="100000"/>
              </a:lnSpc>
              <a:spcBef>
                <a:spcPts val="1800"/>
              </a:spcBef>
              <a:buClr>
                <a:srgbClr val="973735"/>
              </a:buClr>
              <a:buSzPct val="50000"/>
              <a:buFont typeface="Wingdings" pitchFamily="2" charset="2"/>
              <a:buChar char="u"/>
              <a:defRPr/>
            </a:pPr>
            <a:r>
              <a:rPr lang="en-US" sz="2400" dirty="0"/>
              <a:t>These are studies and lists of what works best. These are useful to benchmarking research, but they are not useful as metric.</a:t>
            </a:r>
          </a:p>
          <a:p>
            <a:pPr marL="342900" indent="-342900" algn="just">
              <a:lnSpc>
                <a:spcPct val="120000"/>
              </a:lnSpc>
              <a:spcBef>
                <a:spcPts val="12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KM Return on Investment (ROI) and Metrics</a:t>
            </a:r>
          </a:p>
        </p:txBody>
      </p:sp>
    </p:spTree>
    <p:extLst>
      <p:ext uri="{BB962C8B-B14F-4D97-AF65-F5344CB8AC3E}">
        <p14:creationId xmlns:p14="http://schemas.microsoft.com/office/powerpoint/2010/main" val="3571400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8</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20000"/>
              </a:lnSpc>
              <a:spcBef>
                <a:spcPts val="1200"/>
              </a:spcBef>
              <a:buClr>
                <a:srgbClr val="973735"/>
              </a:buClr>
              <a:buSzPct val="50000"/>
              <a:buFont typeface="Wingdings" pitchFamily="2" charset="2"/>
              <a:buChar char="u"/>
              <a:defRPr/>
            </a:pPr>
            <a:r>
              <a:rPr lang="en-US" b="1" dirty="0"/>
              <a:t>The Benchmarking Method</a:t>
            </a:r>
          </a:p>
          <a:p>
            <a:pPr marL="457200" lvl="1" indent="0" algn="just">
              <a:lnSpc>
                <a:spcPct val="120000"/>
              </a:lnSpc>
              <a:spcBef>
                <a:spcPts val="1200"/>
              </a:spcBef>
              <a:buClr>
                <a:srgbClr val="973735"/>
              </a:buClr>
              <a:buSzPct val="50000"/>
              <a:buNone/>
              <a:defRPr/>
            </a:pPr>
            <a:r>
              <a:rPr lang="en-US" sz="2600" dirty="0" err="1"/>
              <a:t>Spendolini</a:t>
            </a:r>
            <a:r>
              <a:rPr lang="en-US" sz="2600" dirty="0"/>
              <a:t> (1992) further describes four different types of benchmarking:</a:t>
            </a:r>
          </a:p>
          <a:p>
            <a:pPr marL="800100" lvl="1" indent="-342900" algn="just">
              <a:lnSpc>
                <a:spcPct val="120000"/>
              </a:lnSpc>
              <a:spcBef>
                <a:spcPts val="1200"/>
              </a:spcBef>
              <a:buClr>
                <a:srgbClr val="973735"/>
              </a:buClr>
              <a:buSzPct val="50000"/>
              <a:buFont typeface="Wingdings" pitchFamily="2" charset="2"/>
              <a:buChar char="u"/>
              <a:defRPr/>
            </a:pPr>
            <a:r>
              <a:rPr lang="en-US" sz="2600" dirty="0"/>
              <a:t>Cooperative benchmarking</a:t>
            </a:r>
          </a:p>
          <a:p>
            <a:pPr marL="1257300" lvl="2" indent="-342900" algn="just">
              <a:lnSpc>
                <a:spcPct val="120000"/>
              </a:lnSpc>
              <a:spcBef>
                <a:spcPts val="1200"/>
              </a:spcBef>
              <a:buClr>
                <a:srgbClr val="973735"/>
              </a:buClr>
              <a:buSzPct val="50000"/>
              <a:buFont typeface="Wingdings" pitchFamily="2" charset="2"/>
              <a:buChar char="u"/>
              <a:defRPr/>
            </a:pPr>
            <a:r>
              <a:rPr lang="en-US" sz="2400" dirty="0"/>
              <a:t>This involves the measurement of key production functions of input, outputs and outcomes with the aim of improving them.</a:t>
            </a:r>
          </a:p>
          <a:p>
            <a:pPr marL="800100" lvl="1" indent="-342900" algn="just">
              <a:lnSpc>
                <a:spcPct val="120000"/>
              </a:lnSpc>
              <a:spcBef>
                <a:spcPts val="1200"/>
              </a:spcBef>
              <a:buClr>
                <a:srgbClr val="973735"/>
              </a:buClr>
              <a:buSzPct val="50000"/>
              <a:buFont typeface="Wingdings" pitchFamily="2" charset="2"/>
              <a:buChar char="u"/>
              <a:defRPr/>
            </a:pPr>
            <a:r>
              <a:rPr lang="en-US" sz="2600" dirty="0"/>
              <a:t>Competitive benchmarking</a:t>
            </a:r>
          </a:p>
          <a:p>
            <a:pPr marL="1257300" lvl="2" indent="-342900" algn="just">
              <a:lnSpc>
                <a:spcPct val="120000"/>
              </a:lnSpc>
              <a:spcBef>
                <a:spcPts val="1200"/>
              </a:spcBef>
              <a:buClr>
                <a:srgbClr val="973735"/>
              </a:buClr>
              <a:buSzPct val="50000"/>
              <a:buFont typeface="Wingdings" pitchFamily="2" charset="2"/>
              <a:buChar char="u"/>
              <a:defRPr/>
            </a:pPr>
            <a:r>
              <a:rPr lang="en-US" sz="2400" dirty="0"/>
              <a:t>This is the study and measurement of a competitor without their cooperation for the purposes of process or product quality improvement.</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KM Return on Investment (ROI) and Metrics</a:t>
            </a:r>
          </a:p>
        </p:txBody>
      </p:sp>
    </p:spTree>
    <p:extLst>
      <p:ext uri="{BB962C8B-B14F-4D97-AF65-F5344CB8AC3E}">
        <p14:creationId xmlns:p14="http://schemas.microsoft.com/office/powerpoint/2010/main" val="4011403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9</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t>The Balanced Scorecard Method</a:t>
            </a:r>
          </a:p>
          <a:p>
            <a:pPr marL="800100" lvl="1" indent="-342900" algn="just">
              <a:lnSpc>
                <a:spcPct val="100000"/>
              </a:lnSpc>
              <a:spcBef>
                <a:spcPts val="1800"/>
              </a:spcBef>
              <a:buClr>
                <a:srgbClr val="973735"/>
              </a:buClr>
              <a:buSzPct val="50000"/>
              <a:buFont typeface="Wingdings" pitchFamily="2" charset="2"/>
              <a:buChar char="u"/>
              <a:defRPr/>
            </a:pPr>
            <a:r>
              <a:rPr lang="en-US" sz="2600" dirty="0"/>
              <a:t>The balanced scorecard method (BSC) is a measurement and management system that enables organizations to clarify their vision and strategy and to translate them into action.</a:t>
            </a:r>
          </a:p>
          <a:p>
            <a:pPr marL="800100" lvl="1" indent="-342900" algn="just">
              <a:lnSpc>
                <a:spcPct val="100000"/>
              </a:lnSpc>
              <a:spcBef>
                <a:spcPts val="1800"/>
              </a:spcBef>
              <a:buClr>
                <a:srgbClr val="973735"/>
              </a:buClr>
              <a:buSzPct val="50000"/>
              <a:buFont typeface="Wingdings" pitchFamily="2" charset="2"/>
              <a:buChar char="u"/>
              <a:defRPr/>
            </a:pPr>
            <a:r>
              <a:rPr lang="en-US" sz="2600" dirty="0"/>
              <a:t>It provides feedback on both the internal business processes and external outcomes in order to continuously improve strategic performance and results.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KM Return on Investment (ROI) and Metrics</a:t>
            </a:r>
          </a:p>
        </p:txBody>
      </p:sp>
    </p:spTree>
    <p:extLst>
      <p:ext uri="{BB962C8B-B14F-4D97-AF65-F5344CB8AC3E}">
        <p14:creationId xmlns:p14="http://schemas.microsoft.com/office/powerpoint/2010/main" val="1881218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10</a:t>
            </a:fld>
            <a:endParaRPr kumimoji="0" lang="en-US" dirty="0"/>
          </a:p>
        </p:txBody>
      </p:sp>
      <p:sp>
        <p:nvSpPr>
          <p:cNvPr id="4" name="Content Placeholder 3"/>
          <p:cNvSpPr>
            <a:spLocks noGrp="1"/>
          </p:cNvSpPr>
          <p:nvPr>
            <p:ph sz="quarter" idx="1"/>
          </p:nvPr>
        </p:nvSpPr>
        <p:spPr>
          <a:xfrm>
            <a:off x="0" y="1664593"/>
            <a:ext cx="11739282"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b="1" dirty="0"/>
              <a:t>The House of Quality Method</a:t>
            </a:r>
          </a:p>
          <a:p>
            <a:pPr marL="800100" lvl="1" indent="-342900" algn="just">
              <a:lnSpc>
                <a:spcPct val="100000"/>
              </a:lnSpc>
              <a:spcBef>
                <a:spcPts val="1800"/>
              </a:spcBef>
              <a:buClr>
                <a:srgbClr val="973735"/>
              </a:buClr>
              <a:buSzPct val="50000"/>
              <a:buFont typeface="Wingdings" pitchFamily="2" charset="2"/>
              <a:buChar char="u"/>
              <a:defRPr/>
            </a:pPr>
            <a:r>
              <a:rPr lang="en-US" dirty="0"/>
              <a:t>The house of quality method was developed to show the connections between true quality, quality characteristics, and process characteristics.</a:t>
            </a:r>
          </a:p>
          <a:p>
            <a:pPr marL="800100" lvl="1" indent="-342900" algn="just">
              <a:lnSpc>
                <a:spcPct val="100000"/>
              </a:lnSpc>
              <a:spcBef>
                <a:spcPts val="1800"/>
              </a:spcBef>
              <a:buClr>
                <a:srgbClr val="973735"/>
              </a:buClr>
              <a:buSzPct val="50000"/>
              <a:buFont typeface="Wingdings" pitchFamily="2" charset="2"/>
              <a:buChar char="u"/>
              <a:defRPr/>
            </a:pPr>
            <a:r>
              <a:rPr lang="en-US" dirty="0"/>
              <a:t>This was done using the Fishbone Diagram, with true quality in the heads and quality and process characteristics in the bones.</a:t>
            </a:r>
          </a:p>
          <a:p>
            <a:pPr marL="800100" lvl="1" indent="-342900" algn="just">
              <a:lnSpc>
                <a:spcPct val="100000"/>
              </a:lnSpc>
              <a:spcBef>
                <a:spcPts val="1800"/>
              </a:spcBef>
              <a:buClr>
                <a:srgbClr val="973735"/>
              </a:buClr>
              <a:buSzPct val="50000"/>
              <a:buFont typeface="Wingdings" pitchFamily="2" charset="2"/>
              <a:buChar char="u"/>
              <a:defRPr/>
            </a:pPr>
            <a:r>
              <a:rPr lang="en-US" dirty="0"/>
              <a:t>This technique is also referred to as quality function deployment (QFD; Mazur, 1993) as it links the needs of the customer with marketing, design, development, engineering, manufacturing, and service functions.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KM Return on Investment (ROI) and Metrics</a:t>
            </a:r>
          </a:p>
        </p:txBody>
      </p:sp>
    </p:spTree>
    <p:extLst>
      <p:ext uri="{BB962C8B-B14F-4D97-AF65-F5344CB8AC3E}">
        <p14:creationId xmlns:p14="http://schemas.microsoft.com/office/powerpoint/2010/main" val="934693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11</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b="1" dirty="0"/>
              <a:t>The House of Quality Method</a:t>
            </a:r>
          </a:p>
          <a:p>
            <a:pPr marL="800100" lvl="1" indent="-342900" algn="just">
              <a:lnSpc>
                <a:spcPct val="100000"/>
              </a:lnSpc>
              <a:spcBef>
                <a:spcPts val="1800"/>
              </a:spcBef>
              <a:buClr>
                <a:srgbClr val="973735"/>
              </a:buClr>
              <a:buSzPct val="50000"/>
              <a:buFont typeface="Wingdings" pitchFamily="2" charset="2"/>
              <a:buChar char="u"/>
              <a:defRPr/>
            </a:pPr>
            <a:r>
              <a:rPr lang="en-US" sz="2600" dirty="0"/>
              <a:t>Some popular house of quality metrics used for KM projects include:</a:t>
            </a:r>
          </a:p>
          <a:p>
            <a:pPr marL="914400" lvl="2" indent="0" algn="just">
              <a:lnSpc>
                <a:spcPct val="100000"/>
              </a:lnSpc>
              <a:spcBef>
                <a:spcPts val="1800"/>
              </a:spcBef>
              <a:buClr>
                <a:srgbClr val="973735"/>
              </a:buClr>
              <a:buSzPct val="50000"/>
              <a:buNone/>
              <a:defRPr/>
            </a:pPr>
            <a:r>
              <a:rPr lang="en-US" sz="2400" dirty="0"/>
              <a:t>1. The expense of reinventing solutions per year (or rework)</a:t>
            </a:r>
          </a:p>
          <a:p>
            <a:pPr marL="914400" lvl="2" indent="0" algn="just">
              <a:lnSpc>
                <a:spcPct val="100000"/>
              </a:lnSpc>
              <a:spcBef>
                <a:spcPts val="1800"/>
              </a:spcBef>
              <a:buClr>
                <a:srgbClr val="973735"/>
              </a:buClr>
              <a:buSzPct val="50000"/>
              <a:buNone/>
              <a:defRPr/>
            </a:pPr>
            <a:r>
              <a:rPr lang="en-US" sz="2400" dirty="0"/>
              <a:t>2. The information/knowledge seeking time spent on average employee</a:t>
            </a:r>
          </a:p>
          <a:p>
            <a:pPr marL="914400" lvl="2" indent="0" algn="just">
              <a:lnSpc>
                <a:spcPct val="100000"/>
              </a:lnSpc>
              <a:spcBef>
                <a:spcPts val="1800"/>
              </a:spcBef>
              <a:buClr>
                <a:srgbClr val="973735"/>
              </a:buClr>
              <a:buSzPct val="50000"/>
              <a:buNone/>
              <a:defRPr/>
            </a:pPr>
            <a:r>
              <a:rPr lang="en-US" sz="2400" dirty="0"/>
              <a:t>3. Number of ideas that were implemented from the suggestion box per year</a:t>
            </a:r>
          </a:p>
          <a:p>
            <a:pPr marL="914400" lvl="2" indent="0" algn="just">
              <a:lnSpc>
                <a:spcPct val="100000"/>
              </a:lnSpc>
              <a:spcBef>
                <a:spcPts val="1800"/>
              </a:spcBef>
              <a:buClr>
                <a:srgbClr val="973735"/>
              </a:buClr>
              <a:buSzPct val="50000"/>
              <a:buNone/>
              <a:defRPr/>
            </a:pPr>
            <a:r>
              <a:rPr lang="en-US" sz="2400" dirty="0"/>
              <a:t>4. The percent of employees who are aware of what KM exists within their organization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KM Return on Investment (ROI) and Metrics</a:t>
            </a:r>
          </a:p>
        </p:txBody>
      </p:sp>
    </p:spTree>
    <p:extLst>
      <p:ext uri="{BB962C8B-B14F-4D97-AF65-F5344CB8AC3E}">
        <p14:creationId xmlns:p14="http://schemas.microsoft.com/office/powerpoint/2010/main" val="3413662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12</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b="1" dirty="0"/>
              <a:t>The House of Quality Method</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KM Return on Investment (ROI) and Metrics</a:t>
            </a:r>
          </a:p>
        </p:txBody>
      </p:sp>
      <p:graphicFrame>
        <p:nvGraphicFramePr>
          <p:cNvPr id="5" name="Object 4">
            <a:extLst>
              <a:ext uri="{FF2B5EF4-FFF2-40B4-BE49-F238E27FC236}">
                <a16:creationId xmlns:a16="http://schemas.microsoft.com/office/drawing/2014/main" id="{F2465151-A3E0-7E97-D4FE-5541FCD2A51F}"/>
              </a:ext>
            </a:extLst>
          </p:cNvPr>
          <p:cNvGraphicFramePr>
            <a:graphicFrameLocks noChangeAspect="1"/>
          </p:cNvGraphicFramePr>
          <p:nvPr>
            <p:extLst>
              <p:ext uri="{D42A27DB-BD31-4B8C-83A1-F6EECF244321}">
                <p14:modId xmlns:p14="http://schemas.microsoft.com/office/powerpoint/2010/main" val="1909703855"/>
              </p:ext>
            </p:extLst>
          </p:nvPr>
        </p:nvGraphicFramePr>
        <p:xfrm>
          <a:off x="5985588" y="1384177"/>
          <a:ext cx="6134100" cy="4457700"/>
        </p:xfrm>
        <a:graphic>
          <a:graphicData uri="http://schemas.openxmlformats.org/presentationml/2006/ole">
            <mc:AlternateContent xmlns:mc="http://schemas.openxmlformats.org/markup-compatibility/2006">
              <mc:Choice xmlns:v="urn:schemas-microsoft-com:vml" Requires="v">
                <p:oleObj name="Bitmap Image" r:id="rId3" imgW="6134040" imgH="4457880" progId="PBrush">
                  <p:embed/>
                </p:oleObj>
              </mc:Choice>
              <mc:Fallback>
                <p:oleObj name="Bitmap Image" r:id="rId3" imgW="6134040" imgH="4457880" progId="PBrush">
                  <p:embed/>
                  <p:pic>
                    <p:nvPicPr>
                      <p:cNvPr id="0" name=""/>
                      <p:cNvPicPr/>
                      <p:nvPr/>
                    </p:nvPicPr>
                    <p:blipFill>
                      <a:blip r:embed="rId4"/>
                      <a:stretch>
                        <a:fillRect/>
                      </a:stretch>
                    </p:blipFill>
                    <p:spPr>
                      <a:xfrm>
                        <a:off x="5985588" y="1384177"/>
                        <a:ext cx="6134100" cy="44577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895F3253-1FE4-3C61-5E7F-E76C06534828}"/>
              </a:ext>
            </a:extLst>
          </p:cNvPr>
          <p:cNvGraphicFramePr>
            <a:graphicFrameLocks noChangeAspect="1"/>
          </p:cNvGraphicFramePr>
          <p:nvPr>
            <p:extLst>
              <p:ext uri="{D42A27DB-BD31-4B8C-83A1-F6EECF244321}">
                <p14:modId xmlns:p14="http://schemas.microsoft.com/office/powerpoint/2010/main" val="3070008480"/>
              </p:ext>
            </p:extLst>
          </p:nvPr>
        </p:nvGraphicFramePr>
        <p:xfrm>
          <a:off x="6850775" y="6038586"/>
          <a:ext cx="4403725" cy="288925"/>
        </p:xfrm>
        <a:graphic>
          <a:graphicData uri="http://schemas.openxmlformats.org/presentationml/2006/ole">
            <mc:AlternateContent xmlns:mc="http://schemas.openxmlformats.org/markup-compatibility/2006">
              <mc:Choice xmlns:v="urn:schemas-microsoft-com:vml" Requires="v">
                <p:oleObj name="Bitmap Image" r:id="rId5" imgW="4404240" imgH="289440" progId="PBrush">
                  <p:embed/>
                </p:oleObj>
              </mc:Choice>
              <mc:Fallback>
                <p:oleObj name="Bitmap Image" r:id="rId5" imgW="4404240" imgH="289440" progId="PBrush">
                  <p:embed/>
                  <p:pic>
                    <p:nvPicPr>
                      <p:cNvPr id="0" name=""/>
                      <p:cNvPicPr/>
                      <p:nvPr/>
                    </p:nvPicPr>
                    <p:blipFill>
                      <a:blip r:embed="rId6"/>
                      <a:stretch>
                        <a:fillRect/>
                      </a:stretch>
                    </p:blipFill>
                    <p:spPr>
                      <a:xfrm>
                        <a:off x="6850775" y="6038586"/>
                        <a:ext cx="4403725" cy="288925"/>
                      </a:xfrm>
                      <a:prstGeom prst="rect">
                        <a:avLst/>
                      </a:prstGeom>
                    </p:spPr>
                  </p:pic>
                </p:oleObj>
              </mc:Fallback>
            </mc:AlternateContent>
          </a:graphicData>
        </a:graphic>
      </p:graphicFrame>
    </p:spTree>
    <p:extLst>
      <p:ext uri="{BB962C8B-B14F-4D97-AF65-F5344CB8AC3E}">
        <p14:creationId xmlns:p14="http://schemas.microsoft.com/office/powerpoint/2010/main" val="3406755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13</a:t>
            </a:fld>
            <a:endParaRPr kumimoji="0" lang="en-US" dirty="0"/>
          </a:p>
        </p:txBody>
      </p:sp>
      <p:sp>
        <p:nvSpPr>
          <p:cNvPr id="4" name="Content Placeholder 3"/>
          <p:cNvSpPr>
            <a:spLocks noGrp="1"/>
          </p:cNvSpPr>
          <p:nvPr>
            <p:ph sz="quarter" idx="1"/>
          </p:nvPr>
        </p:nvSpPr>
        <p:spPr>
          <a:xfrm>
            <a:off x="0" y="2393576"/>
            <a:ext cx="11846859" cy="4452248"/>
          </a:xfrm>
        </p:spPr>
        <p:txBody>
          <a:bodyPr>
            <a:normAutofit/>
          </a:bodyPr>
          <a:lstStyle/>
          <a:p>
            <a:pPr marL="342900" indent="-342900" algn="just">
              <a:lnSpc>
                <a:spcPct val="120000"/>
              </a:lnSpc>
              <a:spcBef>
                <a:spcPts val="1200"/>
              </a:spcBef>
              <a:buClr>
                <a:srgbClr val="973735"/>
              </a:buClr>
              <a:buSzPct val="50000"/>
              <a:buFont typeface="Wingdings" pitchFamily="2" charset="2"/>
              <a:buChar char="u"/>
              <a:defRPr/>
            </a:pPr>
            <a:r>
              <a:rPr lang="en-US" dirty="0" err="1"/>
              <a:t>Tiwana</a:t>
            </a:r>
            <a:r>
              <a:rPr lang="en-US" dirty="0"/>
              <a:t> (2000) recommends using </a:t>
            </a:r>
            <a:r>
              <a:rPr lang="en-US" b="1" dirty="0"/>
              <a:t>indicators</a:t>
            </a:r>
            <a:r>
              <a:rPr lang="en-US" dirty="0"/>
              <a:t> and other useful </a:t>
            </a:r>
            <a:r>
              <a:rPr lang="en-US" b="1" dirty="0"/>
              <a:t>parameters</a:t>
            </a:r>
            <a:r>
              <a:rPr lang="en-US" dirty="0"/>
              <a:t> from the Skandia Intellectual </a:t>
            </a:r>
            <a:r>
              <a:rPr lang="en-US" b="1" dirty="0"/>
              <a:t>Capital annual report instrument</a:t>
            </a:r>
            <a:r>
              <a:rPr lang="en-US" dirty="0"/>
              <a:t> as house of quality outcomes in order to analyze KM effectiveness. </a:t>
            </a:r>
            <a:endParaRPr lang="en-US" sz="24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KM Return on Investment (ROI) and Metrics</a:t>
            </a:r>
          </a:p>
        </p:txBody>
      </p:sp>
    </p:spTree>
    <p:extLst>
      <p:ext uri="{BB962C8B-B14F-4D97-AF65-F5344CB8AC3E}">
        <p14:creationId xmlns:p14="http://schemas.microsoft.com/office/powerpoint/2010/main" val="1342267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14</a:t>
            </a:fld>
            <a:endParaRPr kumimoji="0" lang="en-US" dirty="0"/>
          </a:p>
        </p:txBody>
      </p:sp>
      <p:sp>
        <p:nvSpPr>
          <p:cNvPr id="4" name="Content Placeholder 3"/>
          <p:cNvSpPr>
            <a:spLocks noGrp="1"/>
          </p:cNvSpPr>
          <p:nvPr>
            <p:ph sz="quarter" idx="1"/>
          </p:nvPr>
        </p:nvSpPr>
        <p:spPr>
          <a:xfrm>
            <a:off x="0" y="1909483"/>
            <a:ext cx="11672047" cy="4936342"/>
          </a:xfrm>
        </p:spPr>
        <p:txBody>
          <a:bodyPr>
            <a:normAutofit/>
          </a:bodyPr>
          <a:lstStyle/>
          <a:p>
            <a:pPr marL="342900" indent="-342900" algn="just">
              <a:lnSpc>
                <a:spcPct val="120000"/>
              </a:lnSpc>
              <a:spcBef>
                <a:spcPts val="1200"/>
              </a:spcBef>
              <a:buClr>
                <a:srgbClr val="973735"/>
              </a:buClr>
              <a:buSzPct val="50000"/>
              <a:buFont typeface="Wingdings" pitchFamily="2" charset="2"/>
              <a:buChar char="u"/>
              <a:defRPr/>
            </a:pPr>
            <a:r>
              <a:rPr lang="en-US" dirty="0"/>
              <a:t>These indicators include:</a:t>
            </a:r>
          </a:p>
          <a:p>
            <a:pPr marL="914400" lvl="2" indent="0" algn="just">
              <a:lnSpc>
                <a:spcPct val="100000"/>
              </a:lnSpc>
              <a:spcBef>
                <a:spcPts val="1200"/>
              </a:spcBef>
              <a:buClr>
                <a:srgbClr val="973735"/>
              </a:buClr>
              <a:buSzPct val="50000"/>
              <a:buNone/>
              <a:defRPr/>
            </a:pPr>
            <a:r>
              <a:rPr lang="en-US" sz="2600" dirty="0"/>
              <a:t>1. Competence development expenses ($ per employee),</a:t>
            </a:r>
          </a:p>
          <a:p>
            <a:pPr marL="914400" lvl="2" indent="0" algn="just">
              <a:lnSpc>
                <a:spcPct val="100000"/>
              </a:lnSpc>
              <a:spcBef>
                <a:spcPts val="1200"/>
              </a:spcBef>
              <a:buClr>
                <a:srgbClr val="973735"/>
              </a:buClr>
              <a:buSzPct val="50000"/>
              <a:buNone/>
              <a:defRPr/>
            </a:pPr>
            <a:r>
              <a:rPr lang="en-US" sz="2600" dirty="0"/>
              <a:t>2. Employee satisfaction,</a:t>
            </a:r>
          </a:p>
          <a:p>
            <a:pPr marL="914400" lvl="2" indent="0" algn="just">
              <a:lnSpc>
                <a:spcPct val="100000"/>
              </a:lnSpc>
              <a:spcBef>
                <a:spcPts val="1200"/>
              </a:spcBef>
              <a:buClr>
                <a:srgbClr val="973735"/>
              </a:buClr>
              <a:buSzPct val="50000"/>
              <a:buNone/>
              <a:defRPr/>
            </a:pPr>
            <a:r>
              <a:rPr lang="en-US" sz="2600" dirty="0"/>
              <a:t>3. Time spent on systematic packaging of know-how for future reuse when a project has been completed</a:t>
            </a:r>
          </a:p>
          <a:p>
            <a:pPr marL="914400" lvl="2" indent="0" algn="just">
              <a:lnSpc>
                <a:spcPct val="100000"/>
              </a:lnSpc>
              <a:spcBef>
                <a:spcPts val="1200"/>
              </a:spcBef>
              <a:buClr>
                <a:srgbClr val="973735"/>
              </a:buClr>
              <a:buSzPct val="50000"/>
              <a:buNone/>
              <a:defRPr/>
            </a:pPr>
            <a:r>
              <a:rPr lang="en-US" sz="2600" dirty="0"/>
              <a:t>4. Training expenses per employee,</a:t>
            </a:r>
          </a:p>
          <a:p>
            <a:pPr marL="914400" lvl="2" indent="0" algn="just">
              <a:lnSpc>
                <a:spcPct val="100000"/>
              </a:lnSpc>
              <a:spcBef>
                <a:spcPts val="1200"/>
              </a:spcBef>
              <a:buClr>
                <a:srgbClr val="973735"/>
              </a:buClr>
              <a:buSzPct val="50000"/>
              <a:buNone/>
              <a:defRPr/>
            </a:pPr>
            <a:r>
              <a:rPr lang="en-US" sz="2600" dirty="0"/>
              <a:t>5. Information-gathering expenses per existing customer,</a:t>
            </a:r>
          </a:p>
          <a:p>
            <a:pPr marL="914400" lvl="2" indent="0" algn="just">
              <a:lnSpc>
                <a:spcPct val="100000"/>
              </a:lnSpc>
              <a:spcBef>
                <a:spcPts val="1200"/>
              </a:spcBef>
              <a:buClr>
                <a:srgbClr val="973735"/>
              </a:buClr>
              <a:buSzPct val="50000"/>
              <a:buNone/>
              <a:defRPr/>
            </a:pPr>
            <a:r>
              <a:rPr lang="en-US" sz="2600" dirty="0"/>
              <a:t>6. Total number of patents held,</a:t>
            </a:r>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KM Return on Investment (ROI) and Metrics</a:t>
            </a:r>
          </a:p>
        </p:txBody>
      </p:sp>
    </p:spTree>
    <p:extLst>
      <p:ext uri="{BB962C8B-B14F-4D97-AF65-F5344CB8AC3E}">
        <p14:creationId xmlns:p14="http://schemas.microsoft.com/office/powerpoint/2010/main" val="2633565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15</a:t>
            </a:fld>
            <a:endParaRPr kumimoji="0" lang="en-US" dirty="0"/>
          </a:p>
        </p:txBody>
      </p:sp>
      <p:sp>
        <p:nvSpPr>
          <p:cNvPr id="4" name="Content Placeholder 3"/>
          <p:cNvSpPr>
            <a:spLocks noGrp="1"/>
          </p:cNvSpPr>
          <p:nvPr>
            <p:ph sz="quarter" idx="1"/>
          </p:nvPr>
        </p:nvSpPr>
        <p:spPr>
          <a:xfrm>
            <a:off x="0" y="1664593"/>
            <a:ext cx="11860306" cy="5058936"/>
          </a:xfrm>
        </p:spPr>
        <p:txBody>
          <a:bodyPr>
            <a:normAutofit/>
          </a:bodyPr>
          <a:lstStyle/>
          <a:p>
            <a:pPr marL="0" indent="0" algn="just">
              <a:lnSpc>
                <a:spcPct val="100000"/>
              </a:lnSpc>
              <a:spcBef>
                <a:spcPts val="1200"/>
              </a:spcBef>
              <a:buClr>
                <a:srgbClr val="973735"/>
              </a:buClr>
              <a:buSzPct val="50000"/>
              <a:buNone/>
              <a:defRPr/>
            </a:pPr>
            <a:r>
              <a:rPr lang="en-US" dirty="0"/>
              <a:t>There are three types of value that can result (Krebs, 2008):</a:t>
            </a:r>
          </a:p>
          <a:p>
            <a:pPr marL="457200" lvl="1" indent="0" algn="just">
              <a:lnSpc>
                <a:spcPct val="100000"/>
              </a:lnSpc>
              <a:spcBef>
                <a:spcPts val="1200"/>
              </a:spcBef>
              <a:buClr>
                <a:srgbClr val="973735"/>
              </a:buClr>
              <a:buSzPct val="50000"/>
              <a:buNone/>
              <a:defRPr/>
            </a:pPr>
            <a:r>
              <a:rPr lang="en-US" sz="2600" b="1" dirty="0"/>
              <a:t>1. Structural value: </a:t>
            </a:r>
            <a:r>
              <a:rPr lang="en-US" sz="2600" dirty="0"/>
              <a:t>The creation of connections in a network; the amount of time spent in interacting with others; the flow of knowledge among network members (typically measured using social network analysis [SNA] techniques)</a:t>
            </a:r>
          </a:p>
          <a:p>
            <a:pPr marL="457200" lvl="1" indent="0" algn="just">
              <a:lnSpc>
                <a:spcPct val="100000"/>
              </a:lnSpc>
              <a:spcBef>
                <a:spcPts val="1200"/>
              </a:spcBef>
              <a:buClr>
                <a:srgbClr val="973735"/>
              </a:buClr>
              <a:buSzPct val="50000"/>
              <a:buNone/>
              <a:defRPr/>
            </a:pPr>
            <a:r>
              <a:rPr lang="en-US" sz="2600" b="1" dirty="0"/>
              <a:t>2. Relational value: </a:t>
            </a:r>
            <a:r>
              <a:rPr lang="en-US" sz="2600" dirty="0"/>
              <a:t>The maintenance of connections; their longevity; the degree of reciprocity in network interactions (typically assessed through surveys and anecdotes)</a:t>
            </a:r>
          </a:p>
          <a:p>
            <a:pPr marL="457200" lvl="1" indent="0" algn="just">
              <a:lnSpc>
                <a:spcPct val="100000"/>
              </a:lnSpc>
              <a:spcBef>
                <a:spcPts val="1200"/>
              </a:spcBef>
              <a:buClr>
                <a:srgbClr val="973735"/>
              </a:buClr>
              <a:buSzPct val="50000"/>
              <a:buNone/>
              <a:defRPr/>
            </a:pPr>
            <a:r>
              <a:rPr lang="en-US" sz="2600" b="1" dirty="0"/>
              <a:t>3. Cognitive value: </a:t>
            </a:r>
            <a:r>
              <a:rPr lang="en-US" sz="2600" dirty="0"/>
              <a:t>The commonality or cohesiveness of the network (which can be assessed through SNA and interviewing techniques)</a:t>
            </a:r>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683659" cy="709226"/>
          </a:xfrm>
        </p:spPr>
        <p:txBody>
          <a:bodyPr>
            <a:normAutofit fontScale="90000"/>
          </a:bodyPr>
          <a:lstStyle/>
          <a:p>
            <a:r>
              <a:rPr lang="en-US" sz="4000" b="1" dirty="0"/>
              <a:t>Measuring the Success of Knowledge Networks</a:t>
            </a:r>
          </a:p>
        </p:txBody>
      </p:sp>
    </p:spTree>
    <p:extLst>
      <p:ext uri="{BB962C8B-B14F-4D97-AF65-F5344CB8AC3E}">
        <p14:creationId xmlns:p14="http://schemas.microsoft.com/office/powerpoint/2010/main" val="3503133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16</a:t>
            </a:fld>
            <a:endParaRPr kumimoji="0" lang="en-US" dirty="0"/>
          </a:p>
        </p:txBody>
      </p:sp>
      <p:sp>
        <p:nvSpPr>
          <p:cNvPr id="4" name="Content Placeholder 3"/>
          <p:cNvSpPr>
            <a:spLocks noGrp="1"/>
          </p:cNvSpPr>
          <p:nvPr>
            <p:ph sz="quarter" idx="1"/>
          </p:nvPr>
        </p:nvSpPr>
        <p:spPr>
          <a:xfrm>
            <a:off x="0" y="1664593"/>
            <a:ext cx="11971176" cy="5058936"/>
          </a:xfrm>
        </p:spPr>
        <p:txBody>
          <a:bodyPr>
            <a:normAutofit/>
          </a:bodyPr>
          <a:lstStyle/>
          <a:p>
            <a:pPr marL="342900" indent="-342900" algn="just">
              <a:lnSpc>
                <a:spcPct val="110000"/>
              </a:lnSpc>
              <a:spcBef>
                <a:spcPts val="1200"/>
              </a:spcBef>
              <a:buClr>
                <a:srgbClr val="973735"/>
              </a:buClr>
              <a:buSzPct val="50000"/>
              <a:buFont typeface="Wingdings" pitchFamily="2" charset="2"/>
              <a:buChar char="u"/>
              <a:defRPr/>
            </a:pPr>
            <a:r>
              <a:rPr lang="en-US" sz="2600" dirty="0"/>
              <a:t>Stories are a good way to illustrate the links between community activities, performance outcomes, and value. Some sample questions to elicit such stories would be:</a:t>
            </a:r>
          </a:p>
          <a:p>
            <a:pPr marL="800100" lvl="1" indent="-342900" algn="just">
              <a:lnSpc>
                <a:spcPct val="110000"/>
              </a:lnSpc>
              <a:spcBef>
                <a:spcPts val="1200"/>
              </a:spcBef>
              <a:buClr>
                <a:srgbClr val="973735"/>
              </a:buClr>
              <a:buSzPct val="50000"/>
              <a:buFont typeface="Wingdings" pitchFamily="2" charset="2"/>
              <a:buChar char="u"/>
              <a:defRPr/>
            </a:pPr>
            <a:r>
              <a:rPr lang="en-US" dirty="0"/>
              <a:t>What would have not happened without this CoP in place?</a:t>
            </a:r>
          </a:p>
          <a:p>
            <a:pPr marL="800100" lvl="1" indent="-342900" algn="just">
              <a:lnSpc>
                <a:spcPct val="110000"/>
              </a:lnSpc>
              <a:spcBef>
                <a:spcPts val="1200"/>
              </a:spcBef>
              <a:buClr>
                <a:srgbClr val="973735"/>
              </a:buClr>
              <a:buSzPct val="50000"/>
              <a:buFont typeface="Wingdings" pitchFamily="2" charset="2"/>
              <a:buChar char="u"/>
              <a:defRPr/>
            </a:pPr>
            <a:r>
              <a:rPr lang="en-US" dirty="0"/>
              <a:t>Did you save time because you had access to the community resources, including other people?</a:t>
            </a:r>
          </a:p>
          <a:p>
            <a:pPr marL="800100" lvl="1" indent="-342900" algn="just">
              <a:lnSpc>
                <a:spcPct val="110000"/>
              </a:lnSpc>
              <a:spcBef>
                <a:spcPts val="1200"/>
              </a:spcBef>
              <a:buClr>
                <a:srgbClr val="973735"/>
              </a:buClr>
              <a:buSzPct val="50000"/>
              <a:buFont typeface="Wingdings" pitchFamily="2" charset="2"/>
              <a:buChar char="u"/>
              <a:defRPr/>
            </a:pPr>
            <a:r>
              <a:rPr lang="en-US" dirty="0"/>
              <a:t>Did you find the answer to a question more quickly or did you solve a problem more rapidly?</a:t>
            </a:r>
          </a:p>
          <a:p>
            <a:pPr marL="800100" lvl="1" indent="-342900" algn="just">
              <a:lnSpc>
                <a:spcPct val="110000"/>
              </a:lnSpc>
              <a:spcBef>
                <a:spcPts val="1200"/>
              </a:spcBef>
              <a:buClr>
                <a:srgbClr val="973735"/>
              </a:buClr>
              <a:buSzPct val="50000"/>
              <a:buFont typeface="Wingdings" pitchFamily="2" charset="2"/>
              <a:buChar char="u"/>
              <a:defRPr/>
            </a:pPr>
            <a:r>
              <a:rPr lang="en-US" dirty="0"/>
              <a:t>Has your decision-making confidence increased since you have become a member of this CoP?</a:t>
            </a:r>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683659" cy="709226"/>
          </a:xfrm>
        </p:spPr>
        <p:txBody>
          <a:bodyPr>
            <a:normAutofit fontScale="90000"/>
          </a:bodyPr>
          <a:lstStyle/>
          <a:p>
            <a:r>
              <a:rPr lang="en-US" sz="4000" b="1" dirty="0"/>
              <a:t>Measuring the Success of Knowledge Networks</a:t>
            </a:r>
          </a:p>
        </p:txBody>
      </p:sp>
    </p:spTree>
    <p:extLst>
      <p:ext uri="{BB962C8B-B14F-4D97-AF65-F5344CB8AC3E}">
        <p14:creationId xmlns:p14="http://schemas.microsoft.com/office/powerpoint/2010/main" val="2565804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17</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Social network analysis (SNA) is a good tool to map out the patterns of network interactions. SNA can also be very useful in establishing a baseline measure for a given CoP and be used to track changes over time as well as to identify “hidden experts.” </a:t>
            </a:r>
          </a:p>
          <a:p>
            <a:pPr marL="342900" indent="-342900" algn="just">
              <a:lnSpc>
                <a:spcPct val="100000"/>
              </a:lnSpc>
              <a:spcBef>
                <a:spcPts val="1800"/>
              </a:spcBef>
              <a:buClr>
                <a:srgbClr val="973735"/>
              </a:buClr>
              <a:buSzPct val="50000"/>
              <a:buFont typeface="Wingdings" pitchFamily="2" charset="2"/>
              <a:buChar char="u"/>
              <a:defRPr/>
            </a:pPr>
            <a:r>
              <a:rPr lang="en-US" sz="2600" dirty="0"/>
              <a:t>Hidden experts are readily visible in a social network map as they appear as a node at the center of dense connections, people who can quickly connect you to other people or to valuable content because they just know who knows what and where the useful knowledge resides.</a:t>
            </a:r>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683659" cy="709226"/>
          </a:xfrm>
        </p:spPr>
        <p:txBody>
          <a:bodyPr>
            <a:normAutofit fontScale="90000"/>
          </a:bodyPr>
          <a:lstStyle/>
          <a:p>
            <a:r>
              <a:rPr lang="en-US" sz="4000" b="1" dirty="0"/>
              <a:t>Measuring the Success of Knowledge Networks</a:t>
            </a:r>
          </a:p>
        </p:txBody>
      </p:sp>
    </p:spTree>
    <p:extLst>
      <p:ext uri="{BB962C8B-B14F-4D97-AF65-F5344CB8AC3E}">
        <p14:creationId xmlns:p14="http://schemas.microsoft.com/office/powerpoint/2010/main" val="206134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18</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0" indent="0" algn="just">
              <a:lnSpc>
                <a:spcPct val="100000"/>
              </a:lnSpc>
              <a:spcBef>
                <a:spcPts val="1800"/>
              </a:spcBef>
              <a:buClr>
                <a:srgbClr val="973735"/>
              </a:buClr>
              <a:buSzPct val="50000"/>
              <a:buNone/>
              <a:defRPr/>
            </a:pPr>
            <a:r>
              <a:rPr lang="en-US" sz="2600" dirty="0"/>
              <a:t>Benefits of a CoP to an individual, to the community, and to the organization:</a:t>
            </a:r>
          </a:p>
          <a:p>
            <a:pPr marL="342900" indent="-342900" algn="just">
              <a:lnSpc>
                <a:spcPct val="100000"/>
              </a:lnSpc>
              <a:spcBef>
                <a:spcPts val="1800"/>
              </a:spcBef>
              <a:buClr>
                <a:srgbClr val="973735"/>
              </a:buClr>
              <a:buSzPct val="50000"/>
              <a:buFont typeface="Wingdings" pitchFamily="2" charset="2"/>
              <a:buChar char="u"/>
              <a:defRPr/>
            </a:pPr>
            <a:r>
              <a:rPr lang="en-US" sz="2600" b="1" dirty="0"/>
              <a:t>Individual (how does an individual participating in a CoP benefit?)</a:t>
            </a:r>
          </a:p>
          <a:p>
            <a:pPr marL="800100" lvl="1" indent="-342900" algn="just">
              <a:lnSpc>
                <a:spcPct val="100000"/>
              </a:lnSpc>
              <a:spcBef>
                <a:spcPts val="1800"/>
              </a:spcBef>
              <a:buClr>
                <a:srgbClr val="973735"/>
              </a:buClr>
              <a:buSzPct val="50000"/>
              <a:buFont typeface="Wingdings" pitchFamily="2" charset="2"/>
              <a:buChar char="u"/>
              <a:defRPr/>
            </a:pPr>
            <a:r>
              <a:rPr lang="en-US" sz="2600" dirty="0"/>
              <a:t>Skills and know-how increased</a:t>
            </a:r>
          </a:p>
          <a:p>
            <a:pPr marL="800100" lvl="1" indent="-342900" algn="just">
              <a:lnSpc>
                <a:spcPct val="100000"/>
              </a:lnSpc>
              <a:spcBef>
                <a:spcPts val="1800"/>
              </a:spcBef>
              <a:buClr>
                <a:srgbClr val="973735"/>
              </a:buClr>
              <a:buSzPct val="50000"/>
              <a:buFont typeface="Wingdings" pitchFamily="2" charset="2"/>
              <a:buChar char="u"/>
              <a:defRPr/>
            </a:pPr>
            <a:r>
              <a:rPr lang="en-US" sz="2600" dirty="0"/>
              <a:t>Increased personal productivity</a:t>
            </a:r>
          </a:p>
          <a:p>
            <a:pPr marL="800100" lvl="1" indent="-342900" algn="just">
              <a:lnSpc>
                <a:spcPct val="100000"/>
              </a:lnSpc>
              <a:spcBef>
                <a:spcPts val="1800"/>
              </a:spcBef>
              <a:buClr>
                <a:srgbClr val="973735"/>
              </a:buClr>
              <a:buSzPct val="50000"/>
              <a:buFont typeface="Wingdings" pitchFamily="2" charset="2"/>
              <a:buChar char="u"/>
              <a:defRPr/>
            </a:pPr>
            <a:r>
              <a:rPr lang="en-US" sz="2600" dirty="0"/>
              <a:t>Increased job satisfaction</a:t>
            </a:r>
          </a:p>
          <a:p>
            <a:pPr marL="800100" lvl="1" indent="-342900" algn="just">
              <a:lnSpc>
                <a:spcPct val="100000"/>
              </a:lnSpc>
              <a:spcBef>
                <a:spcPts val="1800"/>
              </a:spcBef>
              <a:buClr>
                <a:srgbClr val="973735"/>
              </a:buClr>
              <a:buSzPct val="50000"/>
              <a:buFont typeface="Wingdings" pitchFamily="2" charset="2"/>
              <a:buChar char="u"/>
              <a:defRPr/>
            </a:pPr>
            <a:r>
              <a:rPr lang="en-US" sz="2600" dirty="0"/>
              <a:t>Enhanced personal reputation</a:t>
            </a:r>
          </a:p>
          <a:p>
            <a:pPr marL="800100" lvl="1" indent="-342900" algn="just">
              <a:lnSpc>
                <a:spcPct val="100000"/>
              </a:lnSpc>
              <a:spcBef>
                <a:spcPts val="1800"/>
              </a:spcBef>
              <a:buClr>
                <a:srgbClr val="973735"/>
              </a:buClr>
              <a:buSzPct val="50000"/>
              <a:buFont typeface="Wingdings" pitchFamily="2" charset="2"/>
              <a:buChar char="u"/>
              <a:defRPr/>
            </a:pPr>
            <a:r>
              <a:rPr lang="en-US" sz="2600" dirty="0"/>
              <a:t>Increased sense of belonging</a:t>
            </a:r>
          </a:p>
          <a:p>
            <a:pPr marL="342900" indent="-342900" algn="just">
              <a:lnSpc>
                <a:spcPct val="120000"/>
              </a:lnSpc>
              <a:spcBef>
                <a:spcPts val="12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dirty="0"/>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683659" cy="709226"/>
          </a:xfrm>
        </p:spPr>
        <p:txBody>
          <a:bodyPr>
            <a:normAutofit fontScale="90000"/>
          </a:bodyPr>
          <a:lstStyle/>
          <a:p>
            <a:r>
              <a:rPr lang="en-US" sz="4000" b="1" dirty="0"/>
              <a:t>Measuring the Success of Knowledge Networks</a:t>
            </a:r>
          </a:p>
        </p:txBody>
      </p:sp>
    </p:spTree>
    <p:extLst>
      <p:ext uri="{BB962C8B-B14F-4D97-AF65-F5344CB8AC3E}">
        <p14:creationId xmlns:p14="http://schemas.microsoft.com/office/powerpoint/2010/main" val="30058073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19</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0" indent="0" algn="just">
              <a:lnSpc>
                <a:spcPct val="100000"/>
              </a:lnSpc>
              <a:spcBef>
                <a:spcPts val="1800"/>
              </a:spcBef>
              <a:buClr>
                <a:srgbClr val="973735"/>
              </a:buClr>
              <a:buSzPct val="50000"/>
              <a:buNone/>
              <a:defRPr/>
            </a:pPr>
            <a:r>
              <a:rPr lang="en-US" sz="2600" dirty="0"/>
              <a:t>Benefits of a CoP to an individual, to the community, and to the organization:</a:t>
            </a:r>
          </a:p>
          <a:p>
            <a:pPr marL="342900" indent="-342900" algn="just">
              <a:lnSpc>
                <a:spcPct val="100000"/>
              </a:lnSpc>
              <a:spcBef>
                <a:spcPts val="1800"/>
              </a:spcBef>
              <a:buClr>
                <a:srgbClr val="973735"/>
              </a:buClr>
              <a:buSzPct val="50000"/>
              <a:buFont typeface="Wingdings" pitchFamily="2" charset="2"/>
              <a:buChar char="u"/>
              <a:defRPr/>
            </a:pPr>
            <a:r>
              <a:rPr lang="en-US" sz="2600" b="1" dirty="0"/>
              <a:t>Community (how does the collective benefit?) </a:t>
            </a:r>
          </a:p>
          <a:p>
            <a:pPr marL="800100" lvl="1" indent="-342900" algn="just">
              <a:lnSpc>
                <a:spcPct val="100000"/>
              </a:lnSpc>
              <a:spcBef>
                <a:spcPts val="1800"/>
              </a:spcBef>
              <a:buClr>
                <a:srgbClr val="973735"/>
              </a:buClr>
              <a:buSzPct val="50000"/>
              <a:buFont typeface="Wingdings" pitchFamily="2" charset="2"/>
              <a:buChar char="u"/>
              <a:defRPr/>
            </a:pPr>
            <a:r>
              <a:rPr lang="en-US" dirty="0"/>
              <a:t>Increased availability and access to knowledge, expertise, and resources</a:t>
            </a:r>
          </a:p>
          <a:p>
            <a:pPr marL="800100" lvl="1" indent="-342900" algn="just">
              <a:lnSpc>
                <a:spcPct val="100000"/>
              </a:lnSpc>
              <a:spcBef>
                <a:spcPts val="1800"/>
              </a:spcBef>
              <a:buClr>
                <a:srgbClr val="973735"/>
              </a:buClr>
              <a:buSzPct val="50000"/>
              <a:buFont typeface="Wingdings" pitchFamily="2" charset="2"/>
              <a:buChar char="u"/>
              <a:defRPr/>
            </a:pPr>
            <a:r>
              <a:rPr lang="en-US" dirty="0"/>
              <a:t>Easier to reach a consensus</a:t>
            </a:r>
          </a:p>
          <a:p>
            <a:pPr marL="800100" lvl="1" indent="-342900" algn="just">
              <a:lnSpc>
                <a:spcPct val="100000"/>
              </a:lnSpc>
              <a:spcBef>
                <a:spcPts val="1800"/>
              </a:spcBef>
              <a:buClr>
                <a:srgbClr val="973735"/>
              </a:buClr>
              <a:buSzPct val="50000"/>
              <a:buFont typeface="Wingdings" pitchFamily="2" charset="2"/>
              <a:buChar char="u"/>
              <a:defRPr/>
            </a:pPr>
            <a:r>
              <a:rPr lang="en-US" dirty="0"/>
              <a:t>Faster problem solving</a:t>
            </a:r>
          </a:p>
          <a:p>
            <a:pPr marL="800100" lvl="1" indent="-342900" algn="just">
              <a:lnSpc>
                <a:spcPct val="100000"/>
              </a:lnSpc>
              <a:spcBef>
                <a:spcPts val="1800"/>
              </a:spcBef>
              <a:buClr>
                <a:srgbClr val="973735"/>
              </a:buClr>
              <a:buSzPct val="50000"/>
              <a:buFont typeface="Wingdings" pitchFamily="2" charset="2"/>
              <a:buChar char="u"/>
              <a:defRPr/>
            </a:pPr>
            <a:r>
              <a:rPr lang="en-US" dirty="0"/>
              <a:t>Enhanced community reputation and legitimacy</a:t>
            </a:r>
          </a:p>
          <a:p>
            <a:pPr marL="800100" lvl="1" indent="-342900" algn="just">
              <a:lnSpc>
                <a:spcPct val="100000"/>
              </a:lnSpc>
              <a:spcBef>
                <a:spcPts val="1800"/>
              </a:spcBef>
              <a:buClr>
                <a:srgbClr val="973735"/>
              </a:buClr>
              <a:buSzPct val="50000"/>
              <a:buFont typeface="Wingdings" pitchFamily="2" charset="2"/>
              <a:buChar char="u"/>
              <a:defRPr/>
            </a:pPr>
            <a:r>
              <a:rPr lang="en-US" dirty="0"/>
              <a:t>Increased trust between members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dirty="0"/>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683659" cy="709226"/>
          </a:xfrm>
        </p:spPr>
        <p:txBody>
          <a:bodyPr>
            <a:normAutofit fontScale="90000"/>
          </a:bodyPr>
          <a:lstStyle/>
          <a:p>
            <a:r>
              <a:rPr lang="en-US" sz="4000" b="1" dirty="0"/>
              <a:t>Measuring the Success of Knowledge Networks</a:t>
            </a:r>
          </a:p>
        </p:txBody>
      </p:sp>
    </p:spTree>
    <p:extLst>
      <p:ext uri="{BB962C8B-B14F-4D97-AF65-F5344CB8AC3E}">
        <p14:creationId xmlns:p14="http://schemas.microsoft.com/office/powerpoint/2010/main" val="35153549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20</a:t>
            </a:fld>
            <a:endParaRPr kumimoji="0" lang="en-US" dirty="0"/>
          </a:p>
        </p:txBody>
      </p:sp>
      <p:sp>
        <p:nvSpPr>
          <p:cNvPr id="4" name="Content Placeholder 3"/>
          <p:cNvSpPr>
            <a:spLocks noGrp="1"/>
          </p:cNvSpPr>
          <p:nvPr>
            <p:ph sz="quarter" idx="1"/>
          </p:nvPr>
        </p:nvSpPr>
        <p:spPr>
          <a:xfrm>
            <a:off x="0" y="1664593"/>
            <a:ext cx="11971176" cy="4951360"/>
          </a:xfrm>
        </p:spPr>
        <p:txBody>
          <a:bodyPr>
            <a:normAutofit/>
          </a:bodyPr>
          <a:lstStyle/>
          <a:p>
            <a:pPr marL="0" indent="0" algn="just">
              <a:lnSpc>
                <a:spcPct val="100000"/>
              </a:lnSpc>
              <a:spcBef>
                <a:spcPts val="1200"/>
              </a:spcBef>
              <a:buClr>
                <a:srgbClr val="973735"/>
              </a:buClr>
              <a:buSzPct val="50000"/>
              <a:buNone/>
              <a:defRPr/>
            </a:pPr>
            <a:r>
              <a:rPr lang="en-US" sz="2600" dirty="0"/>
              <a:t>Benefits of a CoP to an individual, to the community, and to the organization:</a:t>
            </a:r>
          </a:p>
          <a:p>
            <a:pPr marL="342900" indent="-342900" algn="just">
              <a:lnSpc>
                <a:spcPct val="100000"/>
              </a:lnSpc>
              <a:spcBef>
                <a:spcPts val="1200"/>
              </a:spcBef>
              <a:buClr>
                <a:srgbClr val="973735"/>
              </a:buClr>
              <a:buSzPct val="50000"/>
              <a:buFont typeface="Wingdings" pitchFamily="2" charset="2"/>
              <a:buChar char="u"/>
              <a:defRPr/>
            </a:pPr>
            <a:r>
              <a:rPr lang="en-US" sz="2600" b="1" dirty="0"/>
              <a:t>Organization (how does having this CoP benefit the host organization?)</a:t>
            </a:r>
          </a:p>
          <a:p>
            <a:pPr marL="800100" lvl="1" indent="-342900" algn="just">
              <a:lnSpc>
                <a:spcPct val="100000"/>
              </a:lnSpc>
              <a:spcBef>
                <a:spcPts val="1200"/>
              </a:spcBef>
              <a:buClr>
                <a:srgbClr val="973735"/>
              </a:buClr>
              <a:buSzPct val="50000"/>
              <a:buFont typeface="Wingdings" pitchFamily="2" charset="2"/>
              <a:buChar char="u"/>
              <a:defRPr/>
            </a:pPr>
            <a:r>
              <a:rPr lang="en-US" dirty="0"/>
              <a:t>Improved operational efficiency</a:t>
            </a:r>
          </a:p>
          <a:p>
            <a:pPr marL="800100" lvl="1" indent="-342900" algn="just">
              <a:lnSpc>
                <a:spcPct val="100000"/>
              </a:lnSpc>
              <a:spcBef>
                <a:spcPts val="1200"/>
              </a:spcBef>
              <a:buClr>
                <a:srgbClr val="973735"/>
              </a:buClr>
              <a:buSzPct val="50000"/>
              <a:buFont typeface="Wingdings" pitchFamily="2" charset="2"/>
              <a:buChar char="u"/>
              <a:defRPr/>
            </a:pPr>
            <a:r>
              <a:rPr lang="en-US" dirty="0"/>
              <a:t>Increased cost savings</a:t>
            </a:r>
          </a:p>
          <a:p>
            <a:pPr marL="800100" lvl="1" indent="-342900" algn="just">
              <a:lnSpc>
                <a:spcPct val="100000"/>
              </a:lnSpc>
              <a:spcBef>
                <a:spcPts val="1200"/>
              </a:spcBef>
              <a:buClr>
                <a:srgbClr val="973735"/>
              </a:buClr>
              <a:buSzPct val="50000"/>
              <a:buFont typeface="Wingdings" pitchFamily="2" charset="2"/>
              <a:buChar char="u"/>
              <a:defRPr/>
            </a:pPr>
            <a:r>
              <a:rPr lang="en-US" dirty="0"/>
              <a:t>Increased avoidance of problems</a:t>
            </a:r>
          </a:p>
          <a:p>
            <a:pPr marL="800100" lvl="1" indent="-342900" algn="just">
              <a:lnSpc>
                <a:spcPct val="100000"/>
              </a:lnSpc>
              <a:spcBef>
                <a:spcPts val="1200"/>
              </a:spcBef>
              <a:buClr>
                <a:srgbClr val="973735"/>
              </a:buClr>
              <a:buSzPct val="50000"/>
              <a:buFont typeface="Wingdings" pitchFamily="2" charset="2"/>
              <a:buChar char="u"/>
              <a:defRPr/>
            </a:pPr>
            <a:r>
              <a:rPr lang="en-US" dirty="0"/>
              <a:t>Improved quality of service</a:t>
            </a:r>
          </a:p>
          <a:p>
            <a:pPr marL="800100" lvl="1" indent="-342900" algn="just">
              <a:lnSpc>
                <a:spcPct val="100000"/>
              </a:lnSpc>
              <a:spcBef>
                <a:spcPts val="1200"/>
              </a:spcBef>
              <a:buClr>
                <a:srgbClr val="973735"/>
              </a:buClr>
              <a:buSzPct val="50000"/>
              <a:buFont typeface="Wingdings" pitchFamily="2" charset="2"/>
              <a:buChar char="u"/>
              <a:defRPr/>
            </a:pPr>
            <a:r>
              <a:rPr lang="en-US" dirty="0"/>
              <a:t>Increased speed of service</a:t>
            </a:r>
          </a:p>
          <a:p>
            <a:pPr marL="800100" lvl="1" indent="-342900" algn="just">
              <a:lnSpc>
                <a:spcPct val="100000"/>
              </a:lnSpc>
              <a:spcBef>
                <a:spcPts val="1200"/>
              </a:spcBef>
              <a:buClr>
                <a:srgbClr val="973735"/>
              </a:buClr>
              <a:buSzPct val="50000"/>
              <a:buFont typeface="Wingdings" pitchFamily="2" charset="2"/>
              <a:buChar char="u"/>
              <a:defRPr/>
            </a:pPr>
            <a:r>
              <a:rPr lang="en-US" dirty="0"/>
              <a:t>Increased employee retention/decreased turnover</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dirty="0"/>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683659" cy="709226"/>
          </a:xfrm>
        </p:spPr>
        <p:txBody>
          <a:bodyPr>
            <a:normAutofit fontScale="90000"/>
          </a:bodyPr>
          <a:lstStyle/>
          <a:p>
            <a:r>
              <a:rPr lang="en-US" sz="4000" b="1" dirty="0"/>
              <a:t>Measuring the Success of Knowledge Networks</a:t>
            </a:r>
          </a:p>
        </p:txBody>
      </p:sp>
    </p:spTree>
    <p:extLst>
      <p:ext uri="{BB962C8B-B14F-4D97-AF65-F5344CB8AC3E}">
        <p14:creationId xmlns:p14="http://schemas.microsoft.com/office/powerpoint/2010/main" val="3252212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21</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Identify the major types of value that KM can create for organizations, groups, and individual employees.</a:t>
            </a:r>
          </a:p>
          <a:p>
            <a:pPr marL="342900" indent="-342900" algn="just">
              <a:lnSpc>
                <a:spcPct val="100000"/>
              </a:lnSpc>
              <a:spcBef>
                <a:spcPts val="1200"/>
              </a:spcBef>
              <a:buClr>
                <a:srgbClr val="973735"/>
              </a:buClr>
              <a:buSzPct val="50000"/>
              <a:buFont typeface="Wingdings" pitchFamily="2" charset="2"/>
              <a:buChar char="u"/>
              <a:defRPr/>
            </a:pPr>
            <a:r>
              <a:rPr lang="en-US" dirty="0"/>
              <a:t>Understand the major advantages and shortcomings of the KM metrics.</a:t>
            </a:r>
          </a:p>
          <a:p>
            <a:pPr marL="342900" indent="-342900" algn="just">
              <a:lnSpc>
                <a:spcPct val="100000"/>
              </a:lnSpc>
              <a:spcBef>
                <a:spcPts val="1200"/>
              </a:spcBef>
              <a:buClr>
                <a:srgbClr val="973735"/>
              </a:buClr>
              <a:buSzPct val="50000"/>
              <a:buFont typeface="Wingdings" pitchFamily="2" charset="2"/>
              <a:buChar char="u"/>
              <a:defRPr/>
            </a:pPr>
            <a:r>
              <a:rPr lang="en-US"/>
              <a:t>Apply </a:t>
            </a:r>
            <a:r>
              <a:rPr lang="en-US" dirty="0"/>
              <a:t>the benchmarking, house of quality, and balanced scorecard methods and the results based assessment framework to knowledge management performance measurement systems.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819335"/>
            <a:ext cx="11587651" cy="709226"/>
          </a:xfrm>
        </p:spPr>
        <p:txBody>
          <a:bodyPr>
            <a:normAutofit/>
          </a:bodyPr>
          <a:lstStyle/>
          <a:p>
            <a:r>
              <a:rPr lang="en-US" sz="4000" b="1" dirty="0"/>
              <a:t>Summary</a:t>
            </a:r>
          </a:p>
        </p:txBody>
      </p:sp>
    </p:spTree>
    <p:extLst>
      <p:ext uri="{BB962C8B-B14F-4D97-AF65-F5344CB8AC3E}">
        <p14:creationId xmlns:p14="http://schemas.microsoft.com/office/powerpoint/2010/main" val="2736839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Discussion Vectors &amp; Illustrations for Free Download | Freepik">
            <a:extLst>
              <a:ext uri="{FF2B5EF4-FFF2-40B4-BE49-F238E27FC236}">
                <a16:creationId xmlns:a16="http://schemas.microsoft.com/office/drawing/2014/main" id="{0721092A-102E-71EA-F017-42E77E881BA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54789" y="3779705"/>
            <a:ext cx="3947520" cy="2587752"/>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CA15C064-DD44-4CAC-873E-2D1F54821676}" type="slidenum">
              <a:rPr kumimoji="0" lang="en-US" smtClean="0"/>
              <a:pPr/>
              <a:t>22</a:t>
            </a:fld>
            <a:endParaRPr kumimoji="0" lang="en-US" dirty="0"/>
          </a:p>
        </p:txBody>
      </p:sp>
      <p:sp>
        <p:nvSpPr>
          <p:cNvPr id="4" name="Content Placeholder 3"/>
          <p:cNvSpPr>
            <a:spLocks noGrp="1"/>
          </p:cNvSpPr>
          <p:nvPr>
            <p:ph sz="quarter" idx="1"/>
          </p:nvPr>
        </p:nvSpPr>
        <p:spPr>
          <a:xfrm>
            <a:off x="0" y="1714726"/>
            <a:ext cx="12002308" cy="4322181"/>
          </a:xfrm>
        </p:spPr>
        <p:txBody>
          <a:bodyPr>
            <a:normAutofit/>
          </a:bodyPr>
          <a:lstStyle/>
          <a:p>
            <a:pPr marL="514350" indent="-514350" algn="just">
              <a:lnSpc>
                <a:spcPct val="100000"/>
              </a:lnSpc>
              <a:spcBef>
                <a:spcPts val="1200"/>
              </a:spcBef>
              <a:buClr>
                <a:srgbClr val="973735"/>
              </a:buClr>
              <a:buSzPct val="100000"/>
              <a:buFont typeface="+mj-lt"/>
              <a:buAutoNum type="arabicPeriod"/>
              <a:defRPr/>
            </a:pPr>
            <a:r>
              <a:rPr lang="en-US" sz="2000" dirty="0"/>
              <a:t>KM metrics remains an issue, as it is often only too easy to measure the costs of implementing KM whereas the benefits prove too elusive to measure. Discuss this KM issue: what are some of the methods and measures that can be used to make KM benefits less elusive?</a:t>
            </a:r>
          </a:p>
          <a:p>
            <a:pPr marL="514350" indent="-514350" algn="just">
              <a:lnSpc>
                <a:spcPct val="100000"/>
              </a:lnSpc>
              <a:spcBef>
                <a:spcPts val="1200"/>
              </a:spcBef>
              <a:buClr>
                <a:srgbClr val="973735"/>
              </a:buClr>
              <a:buSzPct val="100000"/>
              <a:buFont typeface="+mj-lt"/>
              <a:buAutoNum type="arabicPeriod"/>
              <a:defRPr/>
            </a:pPr>
            <a:r>
              <a:rPr lang="en-US" sz="2000" dirty="0"/>
              <a:t>Compare and contrast the three KM metrics of benchmarking, BSC, and house of quality. What are their major advantages and major drawbacks in monitoring progress toward strategic KM and business goals?</a:t>
            </a:r>
          </a:p>
          <a:p>
            <a:pPr marL="514350" indent="-514350" algn="just">
              <a:lnSpc>
                <a:spcPct val="100000"/>
              </a:lnSpc>
              <a:spcBef>
                <a:spcPts val="1200"/>
              </a:spcBef>
              <a:buClr>
                <a:srgbClr val="973735"/>
              </a:buClr>
              <a:buSzPct val="100000"/>
              <a:buFont typeface="+mj-lt"/>
              <a:buAutoNum type="arabicPeriod"/>
              <a:defRPr/>
            </a:pPr>
            <a:r>
              <a:rPr lang="en-US" sz="2000" dirty="0"/>
              <a:t>What does the results-based approach offer that other methods do not?</a:t>
            </a:r>
          </a:p>
          <a:p>
            <a:pPr marL="514350" indent="-514350" algn="just">
              <a:lnSpc>
                <a:spcPct val="100000"/>
              </a:lnSpc>
              <a:spcBef>
                <a:spcPts val="1200"/>
              </a:spcBef>
              <a:buClr>
                <a:srgbClr val="973735"/>
              </a:buClr>
              <a:buSzPct val="100000"/>
              <a:buFont typeface="+mj-lt"/>
              <a:buAutoNum type="arabicPeriod"/>
              <a:defRPr/>
            </a:pPr>
            <a:r>
              <a:rPr lang="en-US" sz="2000" dirty="0"/>
              <a:t>How would you go about assessing the value of a CoP?</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Discussion / Homework / Team Activities</a:t>
            </a:r>
          </a:p>
        </p:txBody>
      </p:sp>
    </p:spTree>
    <p:extLst>
      <p:ext uri="{BB962C8B-B14F-4D97-AF65-F5344CB8AC3E}">
        <p14:creationId xmlns:p14="http://schemas.microsoft.com/office/powerpoint/2010/main" val="13276024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23</a:t>
            </a:fld>
            <a:endParaRPr kumimoji="0" lang="en-US" dirty="0"/>
          </a:p>
        </p:txBody>
      </p:sp>
      <p:sp>
        <p:nvSpPr>
          <p:cNvPr id="4" name="Content Placeholder 3"/>
          <p:cNvSpPr>
            <a:spLocks noGrp="1"/>
          </p:cNvSpPr>
          <p:nvPr>
            <p:ph sz="quarter" idx="1"/>
          </p:nvPr>
        </p:nvSpPr>
        <p:spPr>
          <a:xfrm>
            <a:off x="0" y="1714726"/>
            <a:ext cx="12002308" cy="4322181"/>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Discussion</a:t>
            </a:r>
          </a:p>
        </p:txBody>
      </p:sp>
      <p:pic>
        <p:nvPicPr>
          <p:cNvPr id="8194" name="Picture 2" descr="Discussion Vectors &amp; Illustrations for Free Download | Freepik">
            <a:extLst>
              <a:ext uri="{FF2B5EF4-FFF2-40B4-BE49-F238E27FC236}">
                <a16:creationId xmlns:a16="http://schemas.microsoft.com/office/drawing/2014/main" id="{A642F2C7-2523-4678-C65A-F521C8D27C8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9518" y="1783737"/>
            <a:ext cx="6382777" cy="4184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20556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1871</TotalTime>
  <Words>1582</Words>
  <Application>Microsoft Office PowerPoint</Application>
  <PresentationFormat>Widescreen</PresentationFormat>
  <Paragraphs>185</Paragraphs>
  <Slides>23</Slides>
  <Notes>23</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28" baseType="lpstr">
      <vt:lpstr>Arial</vt:lpstr>
      <vt:lpstr>Calibri</vt:lpstr>
      <vt:lpstr>Wingdings</vt:lpstr>
      <vt:lpstr>Office Theme</vt:lpstr>
      <vt:lpstr>Bitmap Image</vt:lpstr>
      <vt:lpstr>Chapter 10 Evaluating Knowledge Management</vt:lpstr>
      <vt:lpstr>Objectives</vt:lpstr>
      <vt:lpstr>KM Return on Investment (ROI) and Metrics</vt:lpstr>
      <vt:lpstr>KM Return on Investment (ROI) and Metrics</vt:lpstr>
      <vt:lpstr>KM Return on Investment (ROI) and Metrics</vt:lpstr>
      <vt:lpstr>KM Return on Investment (ROI) and Metrics</vt:lpstr>
      <vt:lpstr>KM Return on Investment (ROI) and Metrics</vt:lpstr>
      <vt:lpstr>KM Return on Investment (ROI) and Metrics</vt:lpstr>
      <vt:lpstr>KM Return on Investment (ROI) and Metrics</vt:lpstr>
      <vt:lpstr>KM Return on Investment (ROI) and Metrics</vt:lpstr>
      <vt:lpstr>KM Return on Investment (ROI) and Metrics</vt:lpstr>
      <vt:lpstr>KM Return on Investment (ROI) and Metrics</vt:lpstr>
      <vt:lpstr>KM Return on Investment (ROI) and Metrics</vt:lpstr>
      <vt:lpstr>KM Return on Investment (ROI) and Metrics</vt:lpstr>
      <vt:lpstr>Measuring the Success of Knowledge Networks</vt:lpstr>
      <vt:lpstr>Measuring the Success of Knowledge Networks</vt:lpstr>
      <vt:lpstr>Measuring the Success of Knowledge Networks</vt:lpstr>
      <vt:lpstr>Measuring the Success of Knowledge Networks</vt:lpstr>
      <vt:lpstr>Measuring the Success of Knowledge Networks</vt:lpstr>
      <vt:lpstr>Measuring the Success of Knowledge Networks</vt:lpstr>
      <vt:lpstr>Summary</vt:lpstr>
      <vt:lpstr>Discussion / Homework / Team Activities</vt:lpstr>
      <vt:lpstr>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Chu Dinh Phu 2 (FE Ban NCPT)</cp:lastModifiedBy>
  <cp:revision>117</cp:revision>
  <dcterms:created xsi:type="dcterms:W3CDTF">2021-01-25T08:25:31Z</dcterms:created>
  <dcterms:modified xsi:type="dcterms:W3CDTF">2023-09-20T21:10:41Z</dcterms:modified>
</cp:coreProperties>
</file>